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sldIdLst>
    <p:sldId id="256" r:id="rId2"/>
    <p:sldId id="257" r:id="rId3"/>
    <p:sldId id="28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5" r:id="rId21"/>
    <p:sldId id="274" r:id="rId22"/>
    <p:sldId id="282" r:id="rId23"/>
    <p:sldId id="276" r:id="rId24"/>
    <p:sldId id="277" r:id="rId25"/>
    <p:sldId id="278" r:id="rId26"/>
    <p:sldId id="279" r:id="rId27"/>
    <p:sldId id="280" r:id="rId28"/>
    <p:sldId id="281" r:id="rId29"/>
    <p:sldId id="284" r:id="rId30"/>
    <p:sldId id="285" r:id="rId31"/>
    <p:sldId id="288" r:id="rId32"/>
    <p:sldId id="287" r:id="rId33"/>
    <p:sldId id="317" r:id="rId34"/>
    <p:sldId id="31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9" r:id="rId6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94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A40C5-20FE-4D3B-8F66-5865CA5DF2DE}" type="datetimeFigureOut">
              <a:rPr lang="en-US" smtClean="0"/>
              <a:t>2/8/2012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0EA964-5468-47F3-BCFA-14639F3E77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032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0EA964-5468-47F3-BCFA-14639F3E77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787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任意多边形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任意多边形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AC51C42-2A3B-47C2-8BCB-1F5E683F8E6B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F82FBF3-9D07-451F-BF56-6C4E46A8AC8D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49B6CBA-B76F-46C4-827F-AF9847D4292B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77D67CA-53EA-40FE-8C3C-6DE97C8C718C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9CE8EB-95A2-4EB0-B815-D05D391A1CD2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6C5CB96-114C-4774-B9A9-AEBB6EBF0471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5D0EE27-E408-4F89-BB69-D498A780D7E2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88EDAF02-0151-463F-8EC3-6067344450E1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58672D43-E3CB-4D1B-85D9-FFD23823381A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任意多边形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直角三角形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2582EFDC-79E6-40DE-9214-B43180E32B59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5D03072-034A-4D55-86EF-9EDD36B8FE0C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任意多边形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直角三角形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CFF7F9C-FB6C-4BBD-A60E-8F969201A135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7.png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2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2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gif"/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从凸包开始</a:t>
            </a:r>
            <a:r>
              <a:rPr lang="en-US" altLang="zh-CN" smtClean="0"/>
              <a:t/>
            </a:r>
            <a:br>
              <a:rPr lang="en-US" altLang="zh-CN" smtClean="0"/>
            </a:br>
            <a:r>
              <a:rPr lang="zh-CN" altLang="en-US" dirty="0" smtClean="0"/>
              <a:t>浅谈一些几何问题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清华大学 交叉信息院</a:t>
            </a:r>
            <a:endParaRPr lang="en-US" altLang="zh-CN" dirty="0" smtClean="0"/>
          </a:p>
          <a:p>
            <a:r>
              <a:rPr lang="zh-CN" altLang="en-US" dirty="0" smtClean="0"/>
              <a:t>吴</a:t>
            </a:r>
            <a:r>
              <a:rPr lang="zh-CN" altLang="en-US" dirty="0" smtClean="0"/>
              <a:t>翼   </a:t>
            </a:r>
            <a:r>
              <a:rPr lang="en-US" altLang="zh-CN" dirty="0" smtClean="0"/>
              <a:t>Will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C7B3-5834-43D5-93CF-995855EE8820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清华大学交叉信息院 </a:t>
            </a:r>
            <a:r>
              <a:rPr lang="en-US" altLang="zh-CN" dirty="0" smtClean="0"/>
              <a:t>iiis.tsinghua.edu.cn</a:t>
            </a:r>
          </a:p>
          <a:p>
            <a:pPr lvl="1"/>
            <a:r>
              <a:rPr lang="en-US" altLang="zh-CN" dirty="0" smtClean="0"/>
              <a:t>2011</a:t>
            </a:r>
            <a:r>
              <a:rPr lang="zh-CN" altLang="en-US" dirty="0" smtClean="0"/>
              <a:t>年初成立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理论计算机中心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网络计算中心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量子中心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MIT</a:t>
            </a:r>
            <a:r>
              <a:rPr lang="zh-CN" altLang="en-US" dirty="0" smtClean="0"/>
              <a:t>，密歇根，香港中文大学等联合中心</a:t>
            </a:r>
            <a:endParaRPr lang="en-US" altLang="zh-CN" dirty="0" smtClean="0"/>
          </a:p>
          <a:p>
            <a:r>
              <a:rPr lang="zh-CN" altLang="en-US" dirty="0" smtClean="0"/>
              <a:t>计算机科学实验班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姚班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图灵奖得主姚期智先生于</a:t>
            </a:r>
            <a:r>
              <a:rPr lang="en-US" altLang="zh-CN" dirty="0" smtClean="0"/>
              <a:t>2004</a:t>
            </a:r>
            <a:r>
              <a:rPr lang="zh-CN" altLang="en-US" dirty="0" smtClean="0"/>
              <a:t>年创办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清华大学“学堂计划”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最优秀的师资配置，知名访问教授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丰富的交流活动</a:t>
            </a:r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一些题外话</a:t>
            </a:r>
            <a:endParaRPr lang="zh-CN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332656"/>
            <a:ext cx="1944216" cy="996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022E5-C251-4884-A983-60BDDD321426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PPT</a:t>
            </a:r>
            <a:r>
              <a:rPr lang="zh-CN" altLang="en-US" dirty="0" smtClean="0"/>
              <a:t>中有一些图片直接引用了</a:t>
            </a:r>
            <a:r>
              <a:rPr lang="en-US" altLang="zh-CN" dirty="0" smtClean="0"/>
              <a:t>Wikipedia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McHill</a:t>
            </a:r>
            <a:r>
              <a:rPr lang="zh-CN" altLang="en-US" dirty="0" smtClean="0"/>
              <a:t>大学，以及朱泽园</a:t>
            </a:r>
            <a:r>
              <a:rPr lang="en-US" altLang="zh-CN" dirty="0" smtClean="0"/>
              <a:t>2006</a:t>
            </a:r>
            <a:r>
              <a:rPr lang="zh-CN" altLang="en-US" dirty="0" smtClean="0"/>
              <a:t>集训队论文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/>
              <a:t>所</a:t>
            </a:r>
            <a:r>
              <a:rPr lang="zh-CN" altLang="en-US" dirty="0" smtClean="0"/>
              <a:t>有引用仅作教学用途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引用说明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C5F4A-D183-456E-975D-0E709378E726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345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机械自动控制</a:t>
            </a:r>
            <a:endParaRPr lang="en-US" altLang="zh-CN" dirty="0" smtClean="0"/>
          </a:p>
          <a:p>
            <a:r>
              <a:rPr lang="zh-CN" altLang="en-US" dirty="0" smtClean="0"/>
              <a:t>地理信息贪测</a:t>
            </a:r>
            <a:endParaRPr lang="en-US" altLang="zh-CN" dirty="0" smtClean="0"/>
          </a:p>
          <a:p>
            <a:r>
              <a:rPr lang="zh-CN" altLang="en-US" dirty="0" smtClean="0"/>
              <a:t>计算机辅助设计</a:t>
            </a:r>
            <a:endParaRPr lang="en-US" altLang="zh-CN" dirty="0" smtClean="0"/>
          </a:p>
          <a:p>
            <a:r>
              <a:rPr lang="zh-CN" altLang="en-US" dirty="0" smtClean="0"/>
              <a:t>模式识别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人脸识别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相关图像处理</a:t>
            </a:r>
            <a:endParaRPr lang="en-US" altLang="zh-CN" dirty="0" smtClean="0"/>
          </a:p>
          <a:p>
            <a:r>
              <a:rPr lang="zh-CN" altLang="en-US" dirty="0" smtClean="0"/>
              <a:t>游戏领域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碰撞检测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光线追踪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三维场景渲染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前言：计算几何与计算机科学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770F7-A299-4A14-809B-C7A581EE4AED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着重讨论</a:t>
            </a:r>
            <a:r>
              <a:rPr lang="en-US" altLang="zh-CN" dirty="0" smtClean="0"/>
              <a:t>2</a:t>
            </a:r>
            <a:r>
              <a:rPr lang="zh-CN" altLang="en-US" dirty="0" smtClean="0"/>
              <a:t>维平面内的问题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对一些算法做三维的拓展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着重介绍与从凸包展开的一些有凸性的多边形的相关问题和算法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一些约定和说明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0FE9F-A5CA-4A07-B393-AB44078FE9F1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5116024"/>
              </a:xfrm>
            </p:spPr>
            <p:txBody>
              <a:bodyPr/>
              <a:lstStyle/>
              <a:p>
                <a:r>
                  <a:rPr lang="zh-CN" altLang="en-US" dirty="0" smtClean="0"/>
                  <a:t>向量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二维平面：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点积（内积）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一般形式：内积空间（线性性，复对称性，正定性）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二维空间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正交向</a:t>
                </a:r>
                <a:r>
                  <a:rPr lang="zh-CN" altLang="en-US" dirty="0" smtClean="0"/>
                  <a:t>量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US" altLang="zh-CN" b="0" i="1" smtClean="0">
                            <a:latin typeface="Cambria Math"/>
                          </a:rPr>
                          <m:t>〈</m:t>
                        </m:r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𝑝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b="0" i="1" smtClean="0">
                            <a:latin typeface="Cambria Math"/>
                          </a:rPr>
                          <m:t>〉 </m:t>
                        </m:r>
                      </m:e>
                    </m:func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叉积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有向性！一般不多做推广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二维空间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平行向</a:t>
                </a:r>
                <a:r>
                  <a:rPr lang="zh-CN" altLang="en-US" dirty="0" smtClean="0"/>
                  <a:t>量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sub>
                    </m:sSub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altLang="zh-CN" b="0" i="1" smtClean="0">
                            <a:latin typeface="Cambria Math"/>
                          </a:rPr>
                          <m:t>〈</m:t>
                        </m:r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𝑝</m:t>
                            </m:r>
                          </m:e>
                        </m:acc>
                        <m:r>
                          <a:rPr lang="en-US" altLang="zh-CN" b="1" i="1" smtClean="0">
                            <a:latin typeface="Cambria Math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b="1" i="1" smtClean="0">
                            <a:latin typeface="Cambria Math"/>
                          </a:rPr>
                          <m:t>〉</m:t>
                        </m:r>
                      </m:e>
                    </m:func>
                  </m:oMath>
                </a14:m>
                <a:endParaRPr lang="en-US" altLang="zh-CN" b="1" dirty="0" smtClean="0"/>
              </a:p>
              <a:p>
                <a:pPr lvl="2"/>
                <a:endParaRPr lang="zh-CN" altLang="en-US" dirty="0"/>
              </a:p>
            </p:txBody>
          </p:sp>
        </mc:Choice>
        <mc:Fallback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5116024"/>
              </a:xfrm>
              <a:blipFill rotWithShape="1">
                <a:blip r:embed="rId3"/>
                <a:stretch>
                  <a:fillRect t="-17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预备知识：向量与向量运算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2483768" y="1916832"/>
          <a:ext cx="237331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074" name="Equation" r:id="rId4" imgW="1079280" imgH="203040" progId="Equation.DSMT4">
                  <p:embed/>
                </p:oleObj>
              </mc:Choice>
              <mc:Fallback>
                <p:oleObj name="Equation" r:id="rId4" imgW="1079280" imgH="2030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768" y="1916832"/>
                        <a:ext cx="2373313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"/>
          <p:cNvGrpSpPr/>
          <p:nvPr/>
        </p:nvGrpSpPr>
        <p:grpSpPr>
          <a:xfrm>
            <a:off x="6242741" y="3989357"/>
            <a:ext cx="1584176" cy="1959843"/>
            <a:chOff x="6242741" y="3989357"/>
            <a:chExt cx="1584176" cy="1959843"/>
          </a:xfrm>
        </p:grpSpPr>
        <p:cxnSp>
          <p:nvCxnSpPr>
            <p:cNvPr id="10" name="直接箭头连接符 9"/>
            <p:cNvCxnSpPr/>
            <p:nvPr/>
          </p:nvCxnSpPr>
          <p:spPr>
            <a:xfrm rot="5400000" flipH="1" flipV="1">
              <a:off x="6674789" y="4709437"/>
              <a:ext cx="1368152" cy="936104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rot="16200000" flipV="1">
              <a:off x="5918705" y="4889457"/>
              <a:ext cx="1512168" cy="432048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031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48650632"/>
                </p:ext>
              </p:extLst>
            </p:nvPr>
          </p:nvGraphicFramePr>
          <p:xfrm>
            <a:off x="7250853" y="5501525"/>
            <a:ext cx="33496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75" name="Equation" r:id="rId6" imgW="152280" imgH="203040" progId="Equation.DSMT4">
                    <p:embed/>
                  </p:oleObj>
                </mc:Choice>
                <mc:Fallback>
                  <p:oleObj name="Equation" r:id="rId6" imgW="152280" imgH="203040" progId="Equation.DSMT4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0853" y="5501525"/>
                          <a:ext cx="334962" cy="447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37075442"/>
                </p:ext>
              </p:extLst>
            </p:nvPr>
          </p:nvGraphicFramePr>
          <p:xfrm>
            <a:off x="6242741" y="4781445"/>
            <a:ext cx="279400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76" name="Equation" r:id="rId8" imgW="126720" imgH="203040" progId="Equation.DSMT4">
                    <p:embed/>
                  </p:oleObj>
                </mc:Choice>
                <mc:Fallback>
                  <p:oleObj name="Equation" r:id="rId8" imgW="126720" imgH="20304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42741" y="4781445"/>
                          <a:ext cx="279400" cy="447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下弧形箭头 14"/>
            <p:cNvSpPr/>
            <p:nvPr/>
          </p:nvSpPr>
          <p:spPr>
            <a:xfrm rot="11550134">
              <a:off x="6631507" y="4582673"/>
              <a:ext cx="864096" cy="360040"/>
            </a:xfrm>
            <a:prstGeom prst="curved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graphicFrame>
          <p:nvGraphicFramePr>
            <p:cNvPr id="1035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3780526"/>
                </p:ext>
              </p:extLst>
            </p:nvPr>
          </p:nvGraphicFramePr>
          <p:xfrm>
            <a:off x="6530773" y="3989357"/>
            <a:ext cx="1255712" cy="447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077" name="Equation" r:id="rId10" imgW="571320" imgH="203040" progId="Equation.DSMT4">
                    <p:embed/>
                  </p:oleObj>
                </mc:Choice>
                <mc:Fallback>
                  <p:oleObj name="Equation" r:id="rId10" imgW="571320" imgH="203040" progId="Equation.DSMT4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530773" y="3989357"/>
                          <a:ext cx="1255712" cy="447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CCC88-0034-41D0-95E5-F817D361F241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4972008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复数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𝑖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/>
                          </a:rPr>
                          <m:t>−1</m:t>
                        </m:r>
                      </m:e>
                    </m:rad>
                  </m:oMath>
                </a14:m>
                <a:r>
                  <a:rPr lang="en-US" altLang="zh-CN" b="0" dirty="0" smtClean="0"/>
                  <a:t>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𝑎</m:t>
                    </m:r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r>
                      <a:rPr lang="en-US" altLang="zh-CN" b="0" i="1" smtClean="0">
                        <a:latin typeface="Cambria Math"/>
                      </a:rPr>
                      <m:t>𝑏𝑖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𝜌</m:t>
                    </m:r>
                    <m:r>
                      <a:rPr lang="en-US" altLang="zh-CN" b="0" i="1" smtClean="0">
                        <a:latin typeface="Cambria Math"/>
                      </a:rPr>
                      <m:t>∠</m:t>
                    </m:r>
                    <m:r>
                      <a:rPr lang="en-US" altLang="zh-CN" b="0" i="1" smtClean="0">
                        <a:latin typeface="Cambria Math"/>
                      </a:rPr>
                      <m:t>𝜃</m:t>
                    </m:r>
                  </m:oMath>
                </a14:m>
                <a:r>
                  <a:rPr lang="en-US" altLang="zh-CN" dirty="0" smtClean="0"/>
                  <a:t>    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𝜌</m:t>
                    </m:r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dirty="0" smtClean="0"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b="0" i="1" dirty="0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共轭复数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对</a:t>
                </a:r>
                <a:r>
                  <a:rPr lang="zh-CN" altLang="en-US" dirty="0" smtClean="0"/>
                  <a:t>称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𝐶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𝑎</m:t>
                    </m:r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r>
                      <a:rPr lang="en-US" altLang="zh-CN" b="0" i="1" smtClean="0">
                        <a:latin typeface="Cambria Math"/>
                      </a:rPr>
                      <m:t>𝑏𝑖</m:t>
                    </m:r>
                  </m:oMath>
                </a14:m>
                <a:r>
                  <a:rPr lang="en-US" altLang="zh-CN" dirty="0" smtClean="0"/>
                  <a:t>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𝐶</m:t>
                        </m:r>
                      </m:e>
                    </m:acc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r>
                      <a:rPr lang="en-US" altLang="zh-CN" b="0" i="1" dirty="0" smtClean="0">
                        <a:latin typeface="Cambria Math"/>
                      </a:rPr>
                      <m:t>𝑎</m:t>
                    </m:r>
                    <m:r>
                      <a:rPr lang="en-US" altLang="zh-CN" b="0" i="1" dirty="0" smtClean="0">
                        <a:latin typeface="Cambria Math"/>
                      </a:rPr>
                      <m:t>−</m:t>
                    </m:r>
                    <m:r>
                      <a:rPr lang="en-US" altLang="zh-CN" b="0" i="1" dirty="0" smtClean="0">
                        <a:latin typeface="Cambria Math"/>
                      </a:rPr>
                      <m:t>𝑏𝑖</m:t>
                    </m:r>
                  </m:oMath>
                </a14:m>
                <a:r>
                  <a:rPr lang="en-US" altLang="zh-CN" dirty="0" smtClean="0"/>
                  <a:t>     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/>
                      </a:rPr>
                      <m:t>𝐶</m:t>
                    </m:r>
                    <m:r>
                      <a:rPr lang="en-US" altLang="zh-CN" b="0" i="1" dirty="0" smtClean="0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𝐶</m:t>
                        </m:r>
                      </m:e>
                    </m:acc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𝜌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高斯恒等</a:t>
                </a:r>
                <a:r>
                  <a:rPr lang="zh-CN" altLang="en-US" dirty="0" smtClean="0"/>
                  <a:t>式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/>
                          </a:rPr>
                          <m:t>𝜃</m:t>
                        </m:r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</m:sup>
                    </m:sSup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𝜃</m:t>
                        </m:r>
                      </m:e>
                    </m:func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sin</m:t>
                        </m:r>
                      </m:fName>
                      <m:e>
                        <m:r>
                          <a:rPr lang="en-US" altLang="zh-CN" b="0" i="1" smtClean="0">
                            <a:latin typeface="Cambria Math"/>
                          </a:rPr>
                          <m:t>𝜃</m:t>
                        </m:r>
                      </m:e>
                    </m:func>
                    <m:r>
                      <a:rPr lang="en-US" altLang="zh-CN" b="0" i="1" smtClean="0">
                        <a:latin typeface="Cambria Math"/>
                      </a:rPr>
                      <m:t>𝑖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旋转变换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复数相乘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复数与平面向量一一对应</a:t>
                </a:r>
                <a:endParaRPr lang="en-US" altLang="zh-CN" dirty="0" smtClean="0"/>
              </a:p>
              <a:p>
                <a:r>
                  <a:rPr lang="zh-CN" altLang="en-US" dirty="0" smtClean="0"/>
                  <a:t>与点</a:t>
                </a:r>
                <a:r>
                  <a:rPr lang="zh-CN" altLang="en-US" dirty="0" smtClean="0"/>
                  <a:t>积，叉积的</a:t>
                </a:r>
                <a:r>
                  <a:rPr lang="zh-CN" altLang="en-US" dirty="0" smtClean="0"/>
                  <a:t>关</a:t>
                </a:r>
                <a:r>
                  <a:rPr lang="zh-CN" altLang="en-US" dirty="0" smtClean="0"/>
                  <a:t>系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𝑝</m:t>
                    </m:r>
                    <m:r>
                      <a:rPr lang="en-US" altLang="zh-CN" b="0" i="1" smtClean="0">
                        <a:latin typeface="Cambria Math"/>
                      </a:rPr>
                      <m:t>×</m:t>
                    </m:r>
                    <m:acc>
                      <m:accPr>
                        <m:chr m:val="̅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𝑞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 </m:t>
                    </m:r>
                    <m:r>
                      <a:rPr lang="en-US" altLang="zh-CN" b="0" i="1" smtClean="0">
                        <a:latin typeface="Cambria Math"/>
                      </a:rPr>
                      <m:t>𝑖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4972008"/>
              </a:xfrm>
              <a:blipFill rotWithShape="1">
                <a:blip r:embed="rId2"/>
                <a:stretch>
                  <a:fillRect t="-1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预备知识：复数与平面向量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0B937-BA1D-4640-BCFD-308DC9523AA6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投影变换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点积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降低维度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延展到更复杂的情况</a:t>
            </a:r>
            <a:endParaRPr lang="en-US" altLang="zh-CN" dirty="0" smtClean="0"/>
          </a:p>
          <a:p>
            <a:r>
              <a:rPr lang="zh-CN" altLang="en-US" dirty="0" smtClean="0"/>
              <a:t>坐标系旋转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消除垂直或水平线段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纵切变换</a:t>
            </a:r>
            <a:r>
              <a:rPr lang="en-US" altLang="zh-CN" dirty="0" smtClean="0">
                <a:sym typeface="Wingdings" pitchFamily="2" charset="2"/>
              </a:rPr>
              <a:t>(</a:t>
            </a:r>
            <a:r>
              <a:rPr lang="en-US" altLang="zh-CN" dirty="0" err="1" smtClean="0">
                <a:sym typeface="Wingdings" pitchFamily="2" charset="2"/>
              </a:rPr>
              <a:t>x,y</a:t>
            </a:r>
            <a:r>
              <a:rPr lang="en-US" altLang="zh-CN" dirty="0" smtClean="0">
                <a:sym typeface="Wingdings" pitchFamily="2" charset="2"/>
              </a:rPr>
              <a:t>)(x+</a:t>
            </a:r>
            <a:r>
              <a:rPr lang="el-GR" altLang="zh-CN" dirty="0" smtClean="0">
                <a:latin typeface="Times New Roman"/>
                <a:cs typeface="Times New Roman"/>
                <a:sym typeface="Wingdings" pitchFamily="2" charset="2"/>
              </a:rPr>
              <a:t>ε</a:t>
            </a:r>
            <a:r>
              <a:rPr lang="en-US" altLang="zh-CN" dirty="0" err="1" smtClean="0">
                <a:sym typeface="Wingdings" pitchFamily="2" charset="2"/>
              </a:rPr>
              <a:t>y,y</a:t>
            </a:r>
            <a:r>
              <a:rPr lang="en-US" altLang="zh-CN" dirty="0" smtClean="0">
                <a:sym typeface="Wingdings" pitchFamily="2" charset="2"/>
              </a:rPr>
              <a:t>)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各个点</a:t>
            </a:r>
            <a:r>
              <a:rPr lang="en-US" altLang="zh-CN" dirty="0" smtClean="0"/>
              <a:t>x</a:t>
            </a:r>
            <a:r>
              <a:rPr lang="zh-CN" altLang="en-US" dirty="0" smtClean="0"/>
              <a:t>坐标不同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预备知识：坐标变换与简化约定</a:t>
            </a:r>
            <a:endParaRPr lang="zh-CN" altLang="en-US" dirty="0"/>
          </a:p>
        </p:txBody>
      </p:sp>
      <p:grpSp>
        <p:nvGrpSpPr>
          <p:cNvPr id="25" name="组合 24"/>
          <p:cNvGrpSpPr/>
          <p:nvPr/>
        </p:nvGrpSpPr>
        <p:grpSpPr>
          <a:xfrm>
            <a:off x="4211960" y="1700808"/>
            <a:ext cx="2520280" cy="937692"/>
            <a:chOff x="2915816" y="2060848"/>
            <a:chExt cx="2520280" cy="937692"/>
          </a:xfrm>
        </p:grpSpPr>
        <p:sp>
          <p:nvSpPr>
            <p:cNvPr id="6" name="椭圆 5"/>
            <p:cNvSpPr/>
            <p:nvPr/>
          </p:nvSpPr>
          <p:spPr>
            <a:xfrm>
              <a:off x="3995936" y="2060848"/>
              <a:ext cx="144016" cy="14401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6" name="组合 15"/>
            <p:cNvGrpSpPr/>
            <p:nvPr/>
          </p:nvGrpSpPr>
          <p:grpSpPr>
            <a:xfrm>
              <a:off x="2915816" y="2183773"/>
              <a:ext cx="2520280" cy="814767"/>
              <a:chOff x="2915816" y="2183773"/>
              <a:chExt cx="2520280" cy="814767"/>
            </a:xfrm>
          </p:grpSpPr>
          <p:cxnSp>
            <p:nvCxnSpPr>
              <p:cNvPr id="5" name="直接箭头连接符 4"/>
              <p:cNvCxnSpPr/>
              <p:nvPr/>
            </p:nvCxnSpPr>
            <p:spPr>
              <a:xfrm>
                <a:off x="2915816" y="2996952"/>
                <a:ext cx="2520280" cy="1588"/>
              </a:xfrm>
              <a:prstGeom prst="straightConnector1">
                <a:avLst/>
              </a:prstGeom>
              <a:ln w="38100">
                <a:solidFill>
                  <a:schemeClr val="accent4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/>
              <p:cNvCxnSpPr>
                <a:endCxn id="6" idx="3"/>
              </p:cNvCxnSpPr>
              <p:nvPr/>
            </p:nvCxnSpPr>
            <p:spPr>
              <a:xfrm flipV="1">
                <a:off x="2915816" y="2183773"/>
                <a:ext cx="1101211" cy="813179"/>
              </a:xfrm>
              <a:prstGeom prst="straightConnector1">
                <a:avLst/>
              </a:prstGeom>
              <a:ln w="38100">
                <a:prstDash val="sysDash"/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/>
              <p:cNvCxnSpPr>
                <a:endCxn id="6" idx="5"/>
              </p:cNvCxnSpPr>
              <p:nvPr/>
            </p:nvCxnSpPr>
            <p:spPr>
              <a:xfrm rot="16200000" flipV="1">
                <a:off x="3722818" y="2579817"/>
                <a:ext cx="813179" cy="21091"/>
              </a:xfrm>
              <a:prstGeom prst="straightConnector1">
                <a:avLst/>
              </a:prstGeom>
              <a:ln w="31750">
                <a:prstDash val="sys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组合 18"/>
          <p:cNvGrpSpPr/>
          <p:nvPr/>
        </p:nvGrpSpPr>
        <p:grpSpPr>
          <a:xfrm>
            <a:off x="5364088" y="2636912"/>
            <a:ext cx="2166179" cy="1663012"/>
            <a:chOff x="5286935" y="3422966"/>
            <a:chExt cx="2166179" cy="1663012"/>
          </a:xfrm>
        </p:grpSpPr>
        <p:grpSp>
          <p:nvGrpSpPr>
            <p:cNvPr id="20" name="组合 19"/>
            <p:cNvGrpSpPr/>
            <p:nvPr/>
          </p:nvGrpSpPr>
          <p:grpSpPr>
            <a:xfrm rot="19728281">
              <a:off x="5286935" y="3422966"/>
              <a:ext cx="1728986" cy="1296938"/>
              <a:chOff x="3131046" y="3573810"/>
              <a:chExt cx="1728986" cy="1296938"/>
            </a:xfrm>
          </p:grpSpPr>
          <p:cxnSp>
            <p:nvCxnSpPr>
              <p:cNvPr id="21" name="直接箭头连接符 20"/>
              <p:cNvCxnSpPr/>
              <p:nvPr/>
            </p:nvCxnSpPr>
            <p:spPr>
              <a:xfrm>
                <a:off x="3131840" y="4869954"/>
                <a:ext cx="1728192" cy="794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箭头连接符 21"/>
              <p:cNvCxnSpPr/>
              <p:nvPr/>
            </p:nvCxnSpPr>
            <p:spPr>
              <a:xfrm rot="5400000" flipH="1" flipV="1">
                <a:off x="2483768" y="4221088"/>
                <a:ext cx="1296144" cy="1588"/>
              </a:xfrm>
              <a:prstGeom prst="straightConnector1">
                <a:avLst/>
              </a:prstGeom>
              <a:ln w="38100">
                <a:solidFill>
                  <a:schemeClr val="accent2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组合 16"/>
            <p:cNvGrpSpPr/>
            <p:nvPr/>
          </p:nvGrpSpPr>
          <p:grpSpPr>
            <a:xfrm>
              <a:off x="5724128" y="3789040"/>
              <a:ext cx="1728986" cy="1296938"/>
              <a:chOff x="5724128" y="3789040"/>
              <a:chExt cx="1728986" cy="1296938"/>
            </a:xfrm>
          </p:grpSpPr>
          <p:grpSp>
            <p:nvGrpSpPr>
              <p:cNvPr id="18" name="组合 17"/>
              <p:cNvGrpSpPr/>
              <p:nvPr/>
            </p:nvGrpSpPr>
            <p:grpSpPr>
              <a:xfrm>
                <a:off x="5724128" y="3789040"/>
                <a:ext cx="1728986" cy="1296938"/>
                <a:chOff x="3131046" y="3573810"/>
                <a:chExt cx="1728986" cy="1296938"/>
              </a:xfrm>
            </p:grpSpPr>
            <p:cxnSp>
              <p:nvCxnSpPr>
                <p:cNvPr id="13" name="直接箭头连接符 12"/>
                <p:cNvCxnSpPr/>
                <p:nvPr/>
              </p:nvCxnSpPr>
              <p:spPr>
                <a:xfrm>
                  <a:off x="3131840" y="4869954"/>
                  <a:ext cx="1728192" cy="794"/>
                </a:xfrm>
                <a:prstGeom prst="straightConnector1">
                  <a:avLst/>
                </a:prstGeom>
                <a:ln w="38100">
                  <a:solidFill>
                    <a:schemeClr val="accent4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直接箭头连接符 14"/>
                <p:cNvCxnSpPr/>
                <p:nvPr/>
              </p:nvCxnSpPr>
              <p:spPr>
                <a:xfrm rot="5400000" flipH="1" flipV="1">
                  <a:off x="2483768" y="4221088"/>
                  <a:ext cx="1296144" cy="1588"/>
                </a:xfrm>
                <a:prstGeom prst="straightConnector1">
                  <a:avLst/>
                </a:prstGeom>
                <a:ln w="38100">
                  <a:solidFill>
                    <a:schemeClr val="accent4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" name="椭圆 13"/>
              <p:cNvSpPr/>
              <p:nvPr/>
            </p:nvSpPr>
            <p:spPr>
              <a:xfrm>
                <a:off x="6228184" y="4149080"/>
                <a:ext cx="144016" cy="14401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9" name="组合 28"/>
          <p:cNvGrpSpPr/>
          <p:nvPr/>
        </p:nvGrpSpPr>
        <p:grpSpPr>
          <a:xfrm>
            <a:off x="2987824" y="4941168"/>
            <a:ext cx="1728986" cy="1296938"/>
            <a:chOff x="2915022" y="4797152"/>
            <a:chExt cx="1728986" cy="1296938"/>
          </a:xfrm>
        </p:grpSpPr>
        <p:cxnSp>
          <p:nvCxnSpPr>
            <p:cNvPr id="26" name="直接箭头连接符 25"/>
            <p:cNvCxnSpPr/>
            <p:nvPr/>
          </p:nvCxnSpPr>
          <p:spPr>
            <a:xfrm>
              <a:off x="2915816" y="6093296"/>
              <a:ext cx="1728192" cy="794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rot="5400000" flipH="1" flipV="1">
              <a:off x="2267744" y="5444430"/>
              <a:ext cx="1296144" cy="1588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矩形 27"/>
            <p:cNvSpPr/>
            <p:nvPr/>
          </p:nvSpPr>
          <p:spPr>
            <a:xfrm>
              <a:off x="2915816" y="5157192"/>
              <a:ext cx="1224136" cy="936104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084168" y="5013176"/>
            <a:ext cx="1728986" cy="1296938"/>
            <a:chOff x="6012160" y="4797152"/>
            <a:chExt cx="1728986" cy="1296938"/>
          </a:xfrm>
        </p:grpSpPr>
        <p:cxnSp>
          <p:nvCxnSpPr>
            <p:cNvPr id="31" name="直接箭头连接符 30"/>
            <p:cNvCxnSpPr/>
            <p:nvPr/>
          </p:nvCxnSpPr>
          <p:spPr>
            <a:xfrm>
              <a:off x="6012954" y="6093296"/>
              <a:ext cx="1728192" cy="794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/>
            <p:nvPr/>
          </p:nvCxnSpPr>
          <p:spPr>
            <a:xfrm rot="5400000" flipH="1" flipV="1">
              <a:off x="5364882" y="5444430"/>
              <a:ext cx="1296144" cy="1588"/>
            </a:xfrm>
            <a:prstGeom prst="straightConnector1">
              <a:avLst/>
            </a:prstGeom>
            <a:ln w="38100">
              <a:solidFill>
                <a:schemeClr val="accent4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平行四边形 35"/>
            <p:cNvSpPr/>
            <p:nvPr/>
          </p:nvSpPr>
          <p:spPr>
            <a:xfrm>
              <a:off x="6012160" y="5157192"/>
              <a:ext cx="1440160" cy="936104"/>
            </a:xfrm>
            <a:prstGeom prst="parallelogram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8" name="右箭头 37"/>
          <p:cNvSpPr/>
          <p:nvPr/>
        </p:nvSpPr>
        <p:spPr>
          <a:xfrm>
            <a:off x="4788024" y="5373216"/>
            <a:ext cx="792088" cy="576064"/>
          </a:xfrm>
          <a:prstGeom prst="rightArrow">
            <a:avLst/>
          </a:prstGeom>
          <a:solidFill>
            <a:schemeClr val="accent5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73AD3-707A-4A74-9ACF-335FA6398D26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044016"/>
          </a:xfrm>
        </p:spPr>
        <p:txBody>
          <a:bodyPr/>
          <a:lstStyle/>
          <a:p>
            <a:r>
              <a:rPr lang="zh-CN" altLang="en-US" dirty="0" smtClean="0"/>
              <a:t>浮点数的表示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浮点误差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复杂数值函数的计算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迭代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向量运算的优点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高速，准确</a:t>
            </a:r>
            <a:endParaRPr lang="en-US" altLang="zh-CN" dirty="0" smtClean="0"/>
          </a:p>
          <a:p>
            <a:r>
              <a:rPr lang="zh-CN" altLang="en-US" dirty="0" smtClean="0"/>
              <a:t>角度运算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三角函数！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例子：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线段的相交测试与交点的计算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面积的计算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预备知识：数值计算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B39E-D486-46F5-8333-9D9120265B72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什么是“凸”的？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给定一个点集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</a:t>
            </a:r>
            <a:r>
              <a:rPr lang="zh-CN" altLang="en-US" dirty="0" smtClean="0"/>
              <a:t>的凸包为：顶点取自</a:t>
            </a:r>
            <a:r>
              <a:rPr lang="en-US" altLang="zh-CN" dirty="0" smtClean="0"/>
              <a:t>P</a:t>
            </a:r>
            <a:r>
              <a:rPr lang="zh-CN" altLang="en-US" dirty="0" smtClean="0"/>
              <a:t>中的点并且包含</a:t>
            </a:r>
            <a:r>
              <a:rPr lang="en-US" altLang="zh-CN" dirty="0" smtClean="0"/>
              <a:t>P</a:t>
            </a:r>
            <a:r>
              <a:rPr lang="zh-CN" altLang="en-US" dirty="0" smtClean="0"/>
              <a:t>中所有点的唯一的凸多边形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Section1. </a:t>
            </a:r>
            <a:r>
              <a:rPr lang="zh-CN" altLang="en-US" dirty="0" smtClean="0"/>
              <a:t>一个凸包的例子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C95E3-4DD2-4C92-AC37-5C969FB6E537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橡皮筋</a:t>
            </a:r>
            <a:endParaRPr lang="en-US" altLang="zh-CN" dirty="0" smtClean="0"/>
          </a:p>
          <a:p>
            <a:endParaRPr lang="en-US" altLang="zh-CN" dirty="0" smtClean="0"/>
          </a:p>
          <a:p>
            <a:pPr>
              <a:buNone/>
            </a:pPr>
            <a:endParaRPr lang="en-US" altLang="zh-CN" dirty="0" smtClean="0"/>
          </a:p>
          <a:p>
            <a:r>
              <a:rPr lang="zh-CN" altLang="en-US" dirty="0" smtClean="0"/>
              <a:t>卷包裹</a:t>
            </a:r>
            <a:r>
              <a:rPr lang="en-US" altLang="zh-CN" dirty="0" smtClean="0"/>
              <a:t>——Jarvis March (Gift wrapping)</a:t>
            </a:r>
          </a:p>
          <a:p>
            <a:r>
              <a:rPr lang="zh-CN" altLang="en-US" dirty="0" smtClean="0"/>
              <a:t>复杂度</a:t>
            </a:r>
            <a:r>
              <a:rPr lang="en-US" altLang="zh-CN" dirty="0" smtClean="0"/>
              <a:t>O(NH)</a:t>
            </a:r>
          </a:p>
          <a:p>
            <a:pPr lvl="1"/>
            <a:r>
              <a:rPr lang="en-US" altLang="zh-CN" dirty="0" smtClean="0"/>
              <a:t>H</a:t>
            </a:r>
            <a:r>
              <a:rPr lang="zh-CN" altLang="en-US" dirty="0" smtClean="0"/>
              <a:t>为最终凸包上点的个数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Output Sensitive </a:t>
            </a:r>
          </a:p>
          <a:p>
            <a:pPr lvl="1"/>
            <a:r>
              <a:rPr lang="zh-CN" altLang="en-US" dirty="0" smtClean="0"/>
              <a:t>可拓展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直观的理解</a:t>
            </a:r>
            <a:endParaRPr lang="zh-CN" alt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45939" y="980728"/>
            <a:ext cx="2442010" cy="1872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9992" y="3356992"/>
            <a:ext cx="3630538" cy="3265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D558-984C-444F-BD7E-8F15E1536440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Divide and Conquer——O(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 smtClean="0"/>
              <a:t>Bottleneck</a:t>
            </a:r>
            <a:r>
              <a:rPr lang="zh-CN" altLang="en-US" dirty="0" smtClean="0"/>
              <a:t>：合并两个凸包？</a:t>
            </a:r>
            <a:r>
              <a:rPr lang="en-US" altLang="zh-CN" dirty="0" smtClean="0"/>
              <a:t>O(N)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r>
              <a:rPr lang="en-US" altLang="zh-CN" dirty="0" smtClean="0"/>
              <a:t>Monotone Chain——O(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利用凸包横纵坐标的单调性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成功解决凸包合并问题！</a:t>
            </a:r>
            <a:endParaRPr lang="en-US" altLang="zh-CN" dirty="0" smtClean="0"/>
          </a:p>
          <a:p>
            <a:r>
              <a:rPr lang="en-US" altLang="zh-CN" dirty="0" smtClean="0"/>
              <a:t>Increment —— 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增加点之后如何维护？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可见的区域</a:t>
            </a:r>
            <a:r>
              <a:rPr lang="en-US" altLang="zh-CN" dirty="0" smtClean="0"/>
              <a:t>——O(</a:t>
            </a:r>
            <a:r>
              <a:rPr lang="en-US" altLang="zh-CN" dirty="0" err="1" smtClean="0"/>
              <a:t>logN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更好的拓展性！</a:t>
            </a:r>
            <a:endParaRPr lang="en-US" altLang="zh-CN" dirty="0" smtClean="0"/>
          </a:p>
          <a:p>
            <a:r>
              <a:rPr lang="en-US" altLang="zh-CN" dirty="0" smtClean="0"/>
              <a:t>Graham Scan ——</a:t>
            </a:r>
            <a:r>
              <a:rPr lang="zh-CN" altLang="en-US" dirty="0" smtClean="0"/>
              <a:t>经典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常用算法</a:t>
            </a:r>
            <a:endParaRPr lang="zh-CN" altLang="en-US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2492896"/>
            <a:ext cx="2736304" cy="20942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27D2E-CF72-489B-A69B-1905976C4655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QuickHull</a:t>
            </a:r>
            <a:r>
              <a:rPr lang="zh-CN" altLang="en-US" dirty="0" smtClean="0"/>
              <a:t>：更轻巧优美的算法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从一定在凸包上的点出发扩展出整个凸包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更强的拓展性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最坏情况复杂度</a:t>
            </a:r>
            <a:r>
              <a:rPr lang="en-US" altLang="zh-CN" dirty="0" smtClean="0"/>
              <a:t>O(NH)</a:t>
            </a:r>
          </a:p>
          <a:p>
            <a:pPr lvl="1"/>
            <a:r>
              <a:rPr lang="zh-CN" altLang="en-US" dirty="0" smtClean="0"/>
              <a:t>在随机情况下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NlgH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 smtClean="0"/>
              <a:t>与</a:t>
            </a:r>
            <a:r>
              <a:rPr lang="en-US" altLang="zh-CN" dirty="0" err="1" smtClean="0"/>
              <a:t>QuickSort</a:t>
            </a:r>
            <a:r>
              <a:rPr lang="zh-CN" altLang="en-US" dirty="0" smtClean="0"/>
              <a:t>类似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寻找距离直线最远的点？点积！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确定性的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NlogH</a:t>
            </a:r>
            <a:r>
              <a:rPr lang="en-US" altLang="zh-CN" dirty="0" smtClean="0"/>
              <a:t>)</a:t>
            </a:r>
            <a:r>
              <a:rPr lang="zh-CN" altLang="en-US" dirty="0" smtClean="0"/>
              <a:t>算法？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常用算法：</a:t>
            </a:r>
            <a:r>
              <a:rPr lang="en-US" altLang="zh-CN" dirty="0" err="1" smtClean="0"/>
              <a:t>QuickHull</a:t>
            </a:r>
            <a:endParaRPr lang="zh-CN" altLang="en-US" dirty="0"/>
          </a:p>
        </p:txBody>
      </p:sp>
      <p:grpSp>
        <p:nvGrpSpPr>
          <p:cNvPr id="20" name="组合 19"/>
          <p:cNvGrpSpPr/>
          <p:nvPr/>
        </p:nvGrpSpPr>
        <p:grpSpPr>
          <a:xfrm>
            <a:off x="5508103" y="3717032"/>
            <a:ext cx="2552215" cy="2160239"/>
            <a:chOff x="5364085" y="3933055"/>
            <a:chExt cx="1872209" cy="1800199"/>
          </a:xfrm>
        </p:grpSpPr>
        <p:sp>
          <p:nvSpPr>
            <p:cNvPr id="4" name="椭圆 3"/>
            <p:cNvSpPr/>
            <p:nvPr/>
          </p:nvSpPr>
          <p:spPr>
            <a:xfrm>
              <a:off x="5940150" y="3933055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5652118" y="4293095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6156174" y="4437111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6588222" y="4005063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5364085" y="4797151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/>
            <p:cNvSpPr/>
            <p:nvPr/>
          </p:nvSpPr>
          <p:spPr>
            <a:xfrm>
              <a:off x="6228181" y="4797151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6012157" y="5661246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7164286" y="4941166"/>
              <a:ext cx="72008" cy="7200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" name="直接连接符 12"/>
            <p:cNvCxnSpPr>
              <a:stCxn id="10" idx="1"/>
              <a:endCxn id="11" idx="4"/>
            </p:cNvCxnSpPr>
            <p:nvPr/>
          </p:nvCxnSpPr>
          <p:spPr>
            <a:xfrm rot="5400000" flipH="1" flipV="1">
              <a:off x="6282190" y="4753691"/>
              <a:ext cx="658616" cy="1177587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stCxn id="10" idx="0"/>
              <a:endCxn id="4" idx="4"/>
            </p:cNvCxnSpPr>
            <p:nvPr/>
          </p:nvCxnSpPr>
          <p:spPr>
            <a:xfrm rot="16200000" flipV="1">
              <a:off x="5184067" y="4797151"/>
              <a:ext cx="1656184" cy="72008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stCxn id="4" idx="6"/>
              <a:endCxn id="11" idx="1"/>
            </p:cNvCxnSpPr>
            <p:nvPr/>
          </p:nvCxnSpPr>
          <p:spPr>
            <a:xfrm>
              <a:off x="6012160" y="3969060"/>
              <a:ext cx="1162673" cy="982653"/>
            </a:xfrm>
            <a:prstGeom prst="line">
              <a:avLst/>
            </a:prstGeom>
            <a:ln w="38100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右箭头 20"/>
          <p:cNvSpPr/>
          <p:nvPr/>
        </p:nvSpPr>
        <p:spPr>
          <a:xfrm rot="13890302">
            <a:off x="7700907" y="4212879"/>
            <a:ext cx="833981" cy="397038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F42F1-830D-4B59-8A16-F2A7A9CD11E8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dirty="0" smtClean="0"/>
                  <a:t>假设凸包上的点数量为</a:t>
                </a:r>
                <a:r>
                  <a:rPr lang="en-US" altLang="zh-CN" dirty="0" smtClean="0"/>
                  <a:t>M</a:t>
                </a:r>
              </a:p>
              <a:p>
                <a:r>
                  <a:rPr lang="zh-CN" altLang="en-US" dirty="0" smtClean="0"/>
                  <a:t>算法流程：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N</a:t>
                </a:r>
                <a:r>
                  <a:rPr lang="zh-CN" altLang="en-US" dirty="0" smtClean="0"/>
                  <a:t>个点分成</a:t>
                </a:r>
                <a:r>
                  <a:rPr lang="en-US" altLang="zh-CN" dirty="0" smtClean="0"/>
                  <a:t>N/M</a:t>
                </a:r>
                <a:r>
                  <a:rPr lang="zh-CN" altLang="en-US" dirty="0" smtClean="0"/>
                  <a:t>组，每组</a:t>
                </a:r>
                <a:r>
                  <a:rPr lang="en-US" altLang="zh-CN" dirty="0" smtClean="0"/>
                  <a:t>M</a:t>
                </a:r>
                <a:r>
                  <a:rPr lang="zh-CN" altLang="en-US" dirty="0" smtClean="0"/>
                  <a:t>个点，每组内用</a:t>
                </a:r>
                <a:r>
                  <a:rPr lang="en-US" altLang="zh-CN" dirty="0" smtClean="0"/>
                  <a:t>Graham</a:t>
                </a:r>
              </a:p>
              <a:p>
                <a:pPr lvl="1"/>
                <a:r>
                  <a:rPr lang="zh-CN" altLang="en-US" dirty="0" smtClean="0"/>
                  <a:t>利用</a:t>
                </a:r>
                <a:r>
                  <a:rPr lang="en-US" altLang="zh-CN" dirty="0" smtClean="0"/>
                  <a:t>Jarvis March </a:t>
                </a:r>
                <a:r>
                  <a:rPr lang="zh-CN" altLang="en-US" dirty="0" smtClean="0"/>
                  <a:t>合并这</a:t>
                </a:r>
                <a:r>
                  <a:rPr lang="en-US" altLang="zh-CN" dirty="0" smtClean="0"/>
                  <a:t>N/M</a:t>
                </a:r>
                <a:r>
                  <a:rPr lang="zh-CN" altLang="en-US" dirty="0" smtClean="0"/>
                  <a:t>个凸包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找出</a:t>
                </a:r>
                <a:r>
                  <a:rPr lang="en-US" altLang="zh-CN" dirty="0" smtClean="0"/>
                  <a:t>x</a:t>
                </a:r>
                <a:r>
                  <a:rPr lang="zh-CN" altLang="en-US" dirty="0" smtClean="0"/>
                  <a:t>坐标最小的点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从</a:t>
                </a:r>
                <a:r>
                  <a:rPr lang="en-US" altLang="zh-CN" dirty="0" smtClean="0"/>
                  <a:t>N/M</a:t>
                </a:r>
                <a:r>
                  <a:rPr lang="zh-CN" altLang="en-US" dirty="0" smtClean="0"/>
                  <a:t>个凸包上分别找出距离旋转线最近的点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复杂</a:t>
                </a:r>
                <a:r>
                  <a:rPr lang="zh-CN" altLang="en-US" dirty="0" smtClean="0"/>
                  <a:t>度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𝑀</m:t>
                    </m:r>
                    <m:r>
                      <a:rPr lang="en-US" altLang="zh-CN" b="0" i="1" smtClean="0">
                        <a:latin typeface="Cambria Math"/>
                      </a:rPr>
                      <m:t>×</m:t>
                    </m:r>
                    <m:r>
                      <a:rPr lang="en-US" altLang="zh-CN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/>
                              </a:rPr>
                              <m:t>𝑁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/>
                              </a:rPr>
                              <m:t>𝑀</m:t>
                            </m:r>
                          </m:den>
                        </m:f>
                        <m:func>
                          <m:func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𝑀</m:t>
                            </m:r>
                          </m:e>
                        </m:func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𝑂</m:t>
                    </m:r>
                    <m:r>
                      <a:rPr lang="en-US" altLang="zh-CN" b="0" i="1" smtClean="0">
                        <a:latin typeface="Cambria Math"/>
                      </a:rPr>
                      <m:t>(</m:t>
                    </m:r>
                    <m:r>
                      <a:rPr lang="en-US" altLang="zh-CN" b="0" i="1" smtClean="0">
                        <a:latin typeface="Cambria Math"/>
                      </a:rPr>
                      <m:t>𝑁</m:t>
                    </m:r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log</m:t>
                        </m:r>
                      </m:fName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𝑀</m:t>
                        </m:r>
                      </m:e>
                    </m:func>
                    <m:r>
                      <a:rPr lang="en-US" altLang="zh-CN" b="0" i="1" smtClean="0">
                        <a:latin typeface="Cambria Math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H&lt;M</a:t>
                </a:r>
                <a:r>
                  <a:rPr lang="zh-CN" altLang="en-US" dirty="0" smtClean="0"/>
                  <a:t>？</a:t>
                </a:r>
                <a:r>
                  <a:rPr lang="en-US" altLang="zh-CN" dirty="0" smtClean="0"/>
                  <a:t>M=2</a:t>
                </a:r>
                <a:r>
                  <a:rPr lang="zh-CN" altLang="en-US" dirty="0" smtClean="0"/>
                  <a:t>开始，每次平方直到</a:t>
                </a:r>
                <a:r>
                  <a:rPr lang="en-US" altLang="zh-CN" dirty="0" smtClean="0"/>
                  <a:t>M&gt;H</a:t>
                </a:r>
              </a:p>
              <a:p>
                <a:r>
                  <a:rPr lang="zh-CN" altLang="en-US" dirty="0" smtClean="0"/>
                  <a:t>复杂</a:t>
                </a:r>
                <a:r>
                  <a:rPr lang="zh-CN" altLang="en-US" dirty="0" smtClean="0"/>
                  <a:t>度</a:t>
                </a:r>
                <a:endParaRPr lang="en-US" altLang="zh-CN" dirty="0" smtClean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=0</m:t>
                        </m:r>
                      </m:sub>
                      <m:sup>
                        <m:func>
                          <m:func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lg</m:t>
                            </m:r>
                          </m:fName>
                          <m:e>
                            <m:func>
                              <m:funcPr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/>
                                  </a:rPr>
                                  <m:t>lg</m:t>
                                </m:r>
                              </m:fName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𝐻</m:t>
                                </m:r>
                              </m:e>
                            </m:func>
                          </m:e>
                        </m:func>
                      </m:sup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  <m:func>
                          <m:func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lg</m:t>
                            </m:r>
                          </m:fName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2</m:t>
                                </m:r>
                              </m:e>
                              <m:sup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𝑡</m:t>
                                    </m:r>
                                  </m:sup>
                                </m:sSup>
                              </m:sup>
                            </m:sSup>
                          </m:e>
                        </m:func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𝑂</m:t>
                    </m:r>
                    <m:r>
                      <a:rPr lang="en-US" altLang="zh-CN" b="0" i="1" smtClean="0">
                        <a:latin typeface="Cambria Math"/>
                      </a:rPr>
                      <m:t>(</m:t>
                    </m:r>
                    <m:r>
                      <a:rPr lang="en-US" altLang="zh-CN" b="0" i="1" smtClean="0">
                        <a:latin typeface="Cambria Math"/>
                      </a:rPr>
                      <m:t>𝑁</m:t>
                    </m:r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lg</m:t>
                        </m:r>
                      </m:fName>
                      <m:e>
                        <m:r>
                          <a:rPr lang="en-US" altLang="zh-CN" b="0" i="1" smtClean="0">
                            <a:latin typeface="Cambria Math"/>
                          </a:rPr>
                          <m:t>𝐻</m:t>
                        </m:r>
                      </m:e>
                    </m:func>
                    <m:r>
                      <a:rPr lang="en-US" altLang="zh-CN" b="0" i="1" smtClean="0">
                        <a:latin typeface="Cambria Math"/>
                      </a:rPr>
                      <m:t> 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2" name="内容占位符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Chan’s Algorithm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37D90-315A-4E3A-8F94-2CB47061A0AF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问题的难易？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问题的规约：</a:t>
            </a:r>
            <a:r>
              <a:rPr lang="en-US" altLang="zh-CN" dirty="0" smtClean="0"/>
              <a:t>reduction</a:t>
            </a:r>
          </a:p>
          <a:p>
            <a:pPr lvl="1"/>
            <a:r>
              <a:rPr lang="en-US" altLang="zh-CN" dirty="0" smtClean="0"/>
              <a:t>P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NP-Complete</a:t>
            </a:r>
          </a:p>
          <a:p>
            <a:pPr lvl="1"/>
            <a:r>
              <a:rPr lang="en-US" altLang="zh-CN" dirty="0" smtClean="0"/>
              <a:t>NP-Complete</a:t>
            </a:r>
            <a:r>
              <a:rPr lang="zh-CN" altLang="en-US" dirty="0" smtClean="0"/>
              <a:t>是</a:t>
            </a:r>
            <a:r>
              <a:rPr lang="en-US" altLang="zh-CN" dirty="0" smtClean="0"/>
              <a:t>NP</a:t>
            </a:r>
            <a:r>
              <a:rPr lang="zh-CN" altLang="en-US" dirty="0" smtClean="0"/>
              <a:t>中最难的问题</a:t>
            </a:r>
            <a:endParaRPr lang="en-US" altLang="zh-CN" dirty="0" smtClean="0"/>
          </a:p>
          <a:p>
            <a:r>
              <a:rPr lang="zh-CN" altLang="en-US" dirty="0" smtClean="0"/>
              <a:t>排序问题的困难程度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判定树</a:t>
            </a:r>
            <a:endParaRPr lang="en-US" altLang="zh-CN" dirty="0" smtClean="0"/>
          </a:p>
          <a:p>
            <a:pPr lvl="1"/>
            <a:r>
              <a:rPr lang="el-GR" altLang="zh-CN" dirty="0" smtClean="0"/>
              <a:t>Ω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排序问题可规约至凸包问题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计算复杂性：</a:t>
            </a:r>
            <a:r>
              <a:rPr lang="el-GR" altLang="zh-CN" dirty="0" smtClean="0"/>
              <a:t>Ω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NlogH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192C3-35FD-4CD4-A3DC-0973384A7903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044016"/>
          </a:xfrm>
        </p:spPr>
        <p:txBody>
          <a:bodyPr/>
          <a:lstStyle/>
          <a:p>
            <a:r>
              <a:rPr lang="en-US" altLang="zh-CN" dirty="0" smtClean="0"/>
              <a:t>Orthogonal Convex Hull</a:t>
            </a:r>
          </a:p>
          <a:p>
            <a:r>
              <a:rPr lang="zh-CN" altLang="en-US" dirty="0" smtClean="0"/>
              <a:t>要求凸包的边界水平或垂直</a:t>
            </a:r>
            <a:endParaRPr lang="en-US" altLang="zh-CN" dirty="0" smtClean="0"/>
          </a:p>
          <a:p>
            <a:r>
              <a:rPr lang="zh-CN" altLang="en-US" dirty="0" smtClean="0"/>
              <a:t>并非严格的凸性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任意水平或垂直直线保证与凸包至多相交一个线段</a:t>
            </a:r>
            <a:endParaRPr lang="en-US" altLang="zh-CN" dirty="0" smtClean="0"/>
          </a:p>
          <a:p>
            <a:r>
              <a:rPr lang="zh-CN" altLang="en-US" dirty="0" smtClean="0"/>
              <a:t>计算方法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类似</a:t>
            </a:r>
            <a:r>
              <a:rPr lang="en-US" altLang="zh-CN" dirty="0" smtClean="0"/>
              <a:t>Monotone Chain 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</a:p>
          <a:p>
            <a:r>
              <a:rPr lang="zh-CN" altLang="en-US" dirty="0" smtClean="0"/>
              <a:t>更一般的性质与问题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简单正交多边形的正交凸包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口袋的面积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最小的周长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特殊的凸包：正交凸包</a:t>
            </a:r>
            <a:endParaRPr lang="zh-CN" altLang="en-US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08104" y="3573016"/>
            <a:ext cx="3324225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8033D-90F1-4228-83D1-2D3F74AE5325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凸包的定向</a:t>
            </a:r>
            <a:endParaRPr lang="en-US" altLang="zh-CN" dirty="0" smtClean="0"/>
          </a:p>
          <a:p>
            <a:r>
              <a:rPr lang="zh-CN" altLang="en-US" dirty="0" smtClean="0"/>
              <a:t>直线与凸包</a:t>
            </a:r>
            <a:endParaRPr lang="en-US" altLang="zh-CN" dirty="0" smtClean="0"/>
          </a:p>
          <a:p>
            <a:r>
              <a:rPr lang="zh-CN" altLang="en-US" dirty="0" smtClean="0"/>
              <a:t>矩形覆盖问题</a:t>
            </a:r>
            <a:endParaRPr lang="en-US" altLang="zh-CN" dirty="0" smtClean="0"/>
          </a:p>
          <a:p>
            <a:r>
              <a:rPr lang="zh-CN" altLang="en-US" dirty="0" smtClean="0"/>
              <a:t>点与凸包</a:t>
            </a:r>
            <a:endParaRPr lang="en-US" altLang="zh-CN" dirty="0" smtClean="0"/>
          </a:p>
          <a:p>
            <a:r>
              <a:rPr lang="zh-CN" altLang="en-US" dirty="0" smtClean="0"/>
              <a:t>凸包与凸包</a:t>
            </a:r>
            <a:endParaRPr lang="en-US" altLang="zh-CN" dirty="0" smtClean="0"/>
          </a:p>
          <a:p>
            <a:r>
              <a:rPr lang="zh-CN" altLang="en-US" dirty="0" smtClean="0"/>
              <a:t>凸包上的动态计算问题</a:t>
            </a:r>
            <a:endParaRPr lang="en-US" altLang="zh-CN" dirty="0" smtClean="0"/>
          </a:p>
          <a:p>
            <a:r>
              <a:rPr lang="zh-CN" altLang="en-US" dirty="0" smtClean="0"/>
              <a:t>凸包的划分问题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凸包上的序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凸性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89D7-28DE-4996-889E-F221422F7E58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逆时针与顺时针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坐标序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极角有序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循环有序！</a:t>
            </a:r>
            <a:endParaRPr lang="en-US" altLang="zh-CN" dirty="0" smtClean="0"/>
          </a:p>
          <a:p>
            <a:pPr lvl="1"/>
            <a:r>
              <a:rPr lang="zh-CN" altLang="en-US" dirty="0"/>
              <a:t>叉积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内侧与外侧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直线的有向性！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双向边表与右手法则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凸包上的序的确定</a:t>
            </a:r>
            <a:endParaRPr lang="zh-CN" altLang="en-US" dirty="0"/>
          </a:p>
        </p:txBody>
      </p:sp>
      <p:grpSp>
        <p:nvGrpSpPr>
          <p:cNvPr id="54" name="组合 53"/>
          <p:cNvGrpSpPr/>
          <p:nvPr/>
        </p:nvGrpSpPr>
        <p:grpSpPr>
          <a:xfrm>
            <a:off x="4572000" y="2564904"/>
            <a:ext cx="3528392" cy="3456384"/>
            <a:chOff x="4572000" y="2564904"/>
            <a:chExt cx="3528392" cy="3456384"/>
          </a:xfrm>
        </p:grpSpPr>
        <p:cxnSp>
          <p:nvCxnSpPr>
            <p:cNvPr id="6" name="直接箭头连接符 5"/>
            <p:cNvCxnSpPr/>
            <p:nvPr/>
          </p:nvCxnSpPr>
          <p:spPr>
            <a:xfrm rot="5400000">
              <a:off x="4283968" y="2852936"/>
              <a:ext cx="1152128" cy="576064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rot="16200000" flipH="1">
              <a:off x="3959932" y="4329100"/>
              <a:ext cx="1656184" cy="288032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>
              <a:off x="4932040" y="5229200"/>
              <a:ext cx="1728192" cy="792088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 flipV="1">
              <a:off x="6588224" y="4797152"/>
              <a:ext cx="1512168" cy="1224136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/>
          </p:nvCxnSpPr>
          <p:spPr>
            <a:xfrm rot="16200000" flipV="1">
              <a:off x="6804248" y="3645024"/>
              <a:ext cx="1944216" cy="504056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/>
            <p:nvPr/>
          </p:nvCxnSpPr>
          <p:spPr>
            <a:xfrm rot="10800000">
              <a:off x="5148064" y="2564904"/>
              <a:ext cx="2376264" cy="432048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下箭头 23"/>
          <p:cNvSpPr/>
          <p:nvPr/>
        </p:nvSpPr>
        <p:spPr>
          <a:xfrm rot="446630">
            <a:off x="6133657" y="3237625"/>
            <a:ext cx="432048" cy="792088"/>
          </a:xfrm>
          <a:prstGeom prst="down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下箭头 24"/>
          <p:cNvSpPr/>
          <p:nvPr/>
        </p:nvSpPr>
        <p:spPr>
          <a:xfrm rot="11406263">
            <a:off x="6277672" y="1725457"/>
            <a:ext cx="432048" cy="792088"/>
          </a:xfrm>
          <a:prstGeom prst="downArrow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6156176" y="436510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右箭头 27"/>
          <p:cNvSpPr/>
          <p:nvPr/>
        </p:nvSpPr>
        <p:spPr>
          <a:xfrm rot="15163630">
            <a:off x="7040850" y="3918537"/>
            <a:ext cx="1009101" cy="1828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/>
          <p:cNvCxnSpPr/>
          <p:nvPr/>
        </p:nvCxnSpPr>
        <p:spPr>
          <a:xfrm rot="16200000" flipV="1">
            <a:off x="4499992" y="1916832"/>
            <a:ext cx="936104" cy="360040"/>
          </a:xfrm>
          <a:prstGeom prst="straightConnector1">
            <a:avLst/>
          </a:prstGeom>
          <a:ln w="44450">
            <a:solidFill>
              <a:srgbClr val="0020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rot="5400000" flipH="1" flipV="1">
            <a:off x="7128284" y="2096852"/>
            <a:ext cx="1296144" cy="504056"/>
          </a:xfrm>
          <a:prstGeom prst="straightConnector1">
            <a:avLst/>
          </a:prstGeom>
          <a:ln w="44450">
            <a:solidFill>
              <a:srgbClr val="00206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6588224" y="6021288"/>
            <a:ext cx="2232248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236296" y="5445224"/>
            <a:ext cx="57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CN" sz="3200" b="1" dirty="0" smtClean="0">
                <a:latin typeface="Times New Roman"/>
                <a:cs typeface="Times New Roman"/>
              </a:rPr>
              <a:t>ϴ</a:t>
            </a:r>
            <a:endParaRPr lang="zh-CN" altLang="en-US" sz="3200" b="1" dirty="0"/>
          </a:p>
        </p:txBody>
      </p:sp>
      <p:sp>
        <p:nvSpPr>
          <p:cNvPr id="48" name="下弧形箭头 47"/>
          <p:cNvSpPr/>
          <p:nvPr/>
        </p:nvSpPr>
        <p:spPr>
          <a:xfrm rot="15369881">
            <a:off x="7454665" y="5533659"/>
            <a:ext cx="648072" cy="21602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7236296" y="4869160"/>
            <a:ext cx="1620688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4788024" y="2564904"/>
            <a:ext cx="1620688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下弧形箭头 52"/>
          <p:cNvSpPr/>
          <p:nvPr/>
        </p:nvSpPr>
        <p:spPr>
          <a:xfrm rot="8942534">
            <a:off x="4301622" y="2101544"/>
            <a:ext cx="1185580" cy="67692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9E8C9-5FEE-4A65-BC6C-3EDE8919EF74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4" grpId="0" animBg="1"/>
      <p:bldP spid="25" grpId="0" animBg="1"/>
      <p:bldP spid="26" grpId="0" animBg="1"/>
      <p:bldP spid="28" grpId="0" animBg="1"/>
      <p:bldP spid="46" grpId="0"/>
      <p:bldP spid="48" grpId="0" animBg="1"/>
      <p:bldP spid="5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给出直线的向量形式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有向直线！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半平面！</a:t>
            </a:r>
            <a:endParaRPr lang="en-US" altLang="zh-CN" dirty="0" smtClean="0"/>
          </a:p>
          <a:p>
            <a:r>
              <a:rPr lang="zh-CN" altLang="en-US" dirty="0" smtClean="0"/>
              <a:t>最近点与最远点？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寻找斜率最接近的向量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二分！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角度？叉积！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直线的一般形式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直线与凸包相交？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交点查询？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凸包与直线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572000" y="2564904"/>
            <a:ext cx="3528392" cy="3456384"/>
            <a:chOff x="4572000" y="2564904"/>
            <a:chExt cx="3528392" cy="3456384"/>
          </a:xfrm>
        </p:grpSpPr>
        <p:cxnSp>
          <p:nvCxnSpPr>
            <p:cNvPr id="5" name="直接箭头连接符 4"/>
            <p:cNvCxnSpPr/>
            <p:nvPr/>
          </p:nvCxnSpPr>
          <p:spPr>
            <a:xfrm rot="5400000">
              <a:off x="4283968" y="2852936"/>
              <a:ext cx="1152128" cy="576064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 rot="16200000" flipH="1">
              <a:off x="3959932" y="4329100"/>
              <a:ext cx="1656184" cy="288032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4932040" y="5229200"/>
              <a:ext cx="1728192" cy="792088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6588224" y="4797152"/>
              <a:ext cx="1512168" cy="1224136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rot="16200000" flipV="1">
              <a:off x="6804248" y="3645024"/>
              <a:ext cx="1944216" cy="504056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rot="10800000">
              <a:off x="5148064" y="2564904"/>
              <a:ext cx="2376264" cy="432048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" name="直接箭头连接符 10"/>
          <p:cNvCxnSpPr/>
          <p:nvPr/>
        </p:nvCxnSpPr>
        <p:spPr>
          <a:xfrm rot="16200000" flipH="1">
            <a:off x="3671900" y="4257092"/>
            <a:ext cx="1656184" cy="288032"/>
          </a:xfrm>
          <a:prstGeom prst="straightConnector1">
            <a:avLst/>
          </a:prstGeom>
          <a:ln w="4445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rot="16200000" flipV="1">
            <a:off x="7272300" y="3609020"/>
            <a:ext cx="1728192" cy="504056"/>
          </a:xfrm>
          <a:prstGeom prst="straightConnector1">
            <a:avLst/>
          </a:prstGeom>
          <a:ln w="4445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rot="16200000" flipV="1">
            <a:off x="4378480" y="3544512"/>
            <a:ext cx="4392488" cy="1281143"/>
          </a:xfrm>
          <a:prstGeom prst="straightConnector1">
            <a:avLst/>
          </a:prstGeom>
          <a:ln w="44450">
            <a:solidFill>
              <a:schemeClr val="accent2"/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372200" y="6381328"/>
            <a:ext cx="2232248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6911752" y="4725144"/>
            <a:ext cx="2232248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779912" y="3573016"/>
            <a:ext cx="2232248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6B06D-D787-465C-8DEA-65FC5DCFF725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27992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最小面积矩形覆盖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最佳矩形一定至少与凸包的一条边重合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核心问题：给定斜率，求最远点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斜率单调变化：单调性！</a:t>
            </a:r>
            <a:endParaRPr lang="en-US" altLang="zh-CN" dirty="0" smtClean="0"/>
          </a:p>
          <a:p>
            <a:r>
              <a:rPr lang="zh-CN" altLang="en-US" dirty="0" smtClean="0"/>
              <a:t>最小周长矩形覆盖</a:t>
            </a:r>
            <a:endParaRPr lang="en-US" altLang="zh-CN" dirty="0" smtClean="0"/>
          </a:p>
          <a:p>
            <a:r>
              <a:rPr lang="zh-CN" altLang="en-US" dirty="0" smtClean="0"/>
              <a:t>特殊的视角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凸包的宽度</a:t>
            </a:r>
            <a:endParaRPr lang="en-US" altLang="zh-CN" dirty="0" smtClean="0"/>
          </a:p>
          <a:p>
            <a:pPr lvl="2"/>
            <a:r>
              <a:rPr lang="zh-CN" altLang="en-US" dirty="0"/>
              <a:t>给</a:t>
            </a:r>
            <a:r>
              <a:rPr lang="zh-CN" altLang="en-US" dirty="0" smtClean="0"/>
              <a:t>定斜率，最小宽度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最远点对</a:t>
            </a:r>
            <a:endParaRPr lang="en-US" altLang="zh-CN" dirty="0" smtClean="0"/>
          </a:p>
          <a:p>
            <a:pPr lvl="2"/>
            <a:r>
              <a:rPr lang="zh-CN" altLang="en-US" dirty="0"/>
              <a:t>寻</a:t>
            </a:r>
            <a:r>
              <a:rPr lang="zh-CN" altLang="en-US" dirty="0" smtClean="0"/>
              <a:t>找所有可能的斜率</a:t>
            </a:r>
            <a:endParaRPr lang="en-US" altLang="zh-CN" dirty="0" smtClean="0"/>
          </a:p>
          <a:p>
            <a:pPr lvl="2"/>
            <a:r>
              <a:rPr lang="en-US" altLang="zh-CN" dirty="0" smtClean="0"/>
              <a:t>O(N)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凸包的矩形覆盖：旋转卡壳</a:t>
            </a:r>
            <a:endParaRPr lang="zh-CN" altLang="en-US" dirty="0"/>
          </a:p>
        </p:txBody>
      </p:sp>
      <p:pic>
        <p:nvPicPr>
          <p:cNvPr id="26628" name="Picture 4" descr="http://cgm.cs.mcgill.ca/~orm/images/maer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2348880"/>
            <a:ext cx="2392071" cy="1728192"/>
          </a:xfrm>
          <a:prstGeom prst="rect">
            <a:avLst/>
          </a:prstGeom>
          <a:noFill/>
        </p:spPr>
      </p:pic>
      <p:pic>
        <p:nvPicPr>
          <p:cNvPr id="26630" name="Picture 6" descr="Minimum area vs. minimum perimeter enclosing rectangl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9511" y="4293096"/>
            <a:ext cx="4848357" cy="2220466"/>
          </a:xfrm>
          <a:prstGeom prst="rect">
            <a:avLst/>
          </a:prstGeom>
          <a:noFill/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D6E5-7255-48EC-8349-5931639974A5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点在凸包内外？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射线法</a:t>
            </a:r>
            <a:r>
              <a:rPr lang="en-US" altLang="zh-CN" dirty="0" smtClean="0">
                <a:sym typeface="Wingdings" pitchFamily="2" charset="2"/>
              </a:rPr>
              <a:t></a:t>
            </a:r>
            <a:r>
              <a:rPr lang="zh-CN" altLang="en-US" dirty="0" smtClean="0">
                <a:sym typeface="Wingdings" pitchFamily="2" charset="2"/>
              </a:rPr>
              <a:t>直线法</a:t>
            </a:r>
            <a:endParaRPr lang="en-US" altLang="zh-CN" dirty="0" smtClean="0">
              <a:sym typeface="Wingdings" pitchFamily="2" charset="2"/>
            </a:endParaRPr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可见区域？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Supporting Line</a:t>
            </a:r>
          </a:p>
          <a:p>
            <a:pPr lvl="1"/>
            <a:r>
              <a:rPr lang="en-US" altLang="zh-CN" dirty="0" smtClean="0"/>
              <a:t>Concave OR Reflex?</a:t>
            </a:r>
          </a:p>
          <a:p>
            <a:pPr lvl="1"/>
            <a:r>
              <a:rPr lang="zh-CN" altLang="en-US" dirty="0"/>
              <a:t>圆环上</a:t>
            </a:r>
            <a:r>
              <a:rPr lang="zh-CN" altLang="en-US" dirty="0" smtClean="0"/>
              <a:t>的</a:t>
            </a:r>
            <a:r>
              <a:rPr lang="en-US" altLang="zh-CN" dirty="0" smtClean="0"/>
              <a:t>0/1</a:t>
            </a:r>
            <a:r>
              <a:rPr lang="zh-CN" altLang="en-US" dirty="0" smtClean="0"/>
              <a:t>查找问题？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Key: </a:t>
            </a:r>
            <a:r>
              <a:rPr lang="zh-CN" altLang="en-US" dirty="0" smtClean="0"/>
              <a:t>确定一个</a:t>
            </a:r>
            <a:r>
              <a:rPr lang="en-US" altLang="zh-CN" dirty="0" smtClean="0"/>
              <a:t>0</a:t>
            </a:r>
            <a:r>
              <a:rPr lang="zh-CN" altLang="en-US" dirty="0" smtClean="0"/>
              <a:t>和</a:t>
            </a:r>
            <a:r>
              <a:rPr lang="en-US" altLang="zh-CN" dirty="0" smtClean="0"/>
              <a:t>1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解决了</a:t>
            </a:r>
            <a:r>
              <a:rPr lang="en-US" altLang="zh-CN" dirty="0" smtClean="0"/>
              <a:t>Increment</a:t>
            </a:r>
            <a:r>
              <a:rPr lang="zh-CN" altLang="en-US" dirty="0" smtClean="0"/>
              <a:t>算法！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凸包与点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788024" y="2564904"/>
            <a:ext cx="3528392" cy="3456384"/>
            <a:chOff x="4572000" y="2564904"/>
            <a:chExt cx="3528392" cy="3456384"/>
          </a:xfrm>
        </p:grpSpPr>
        <p:cxnSp>
          <p:nvCxnSpPr>
            <p:cNvPr id="5" name="直接箭头连接符 4"/>
            <p:cNvCxnSpPr/>
            <p:nvPr/>
          </p:nvCxnSpPr>
          <p:spPr>
            <a:xfrm rot="5400000">
              <a:off x="4283968" y="2852936"/>
              <a:ext cx="1152128" cy="576064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 rot="16200000" flipH="1">
              <a:off x="3959932" y="4329100"/>
              <a:ext cx="1656184" cy="288032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4932040" y="5229200"/>
              <a:ext cx="1728192" cy="792088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6588224" y="4797152"/>
              <a:ext cx="1512168" cy="1224136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rot="16200000" flipV="1">
              <a:off x="6804248" y="3645024"/>
              <a:ext cx="1944216" cy="504056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rot="10800000">
              <a:off x="5148064" y="2564904"/>
              <a:ext cx="2376264" cy="432048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椭圆 10"/>
          <p:cNvSpPr/>
          <p:nvPr/>
        </p:nvSpPr>
        <p:spPr>
          <a:xfrm>
            <a:off x="7812360" y="148478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6084168" y="458112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>
            <a:stCxn id="12" idx="4"/>
          </p:cNvCxnSpPr>
          <p:nvPr/>
        </p:nvCxnSpPr>
        <p:spPr>
          <a:xfrm rot="5400000">
            <a:off x="5400092" y="5481228"/>
            <a:ext cx="1512168" cy="1588"/>
          </a:xfrm>
          <a:prstGeom prst="straightConnector1">
            <a:avLst/>
          </a:prstGeom>
          <a:ln w="4445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1" idx="2"/>
          </p:cNvCxnSpPr>
          <p:nvPr/>
        </p:nvCxnSpPr>
        <p:spPr>
          <a:xfrm rot="10800000" flipV="1">
            <a:off x="5364088" y="1556792"/>
            <a:ext cx="2448272" cy="1008112"/>
          </a:xfrm>
          <a:prstGeom prst="straightConnector1">
            <a:avLst/>
          </a:prstGeom>
          <a:ln w="4445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1" idx="5"/>
          </p:cNvCxnSpPr>
          <p:nvPr/>
        </p:nvCxnSpPr>
        <p:spPr>
          <a:xfrm rot="5400000">
            <a:off x="7179202" y="2240868"/>
            <a:ext cx="1389243" cy="122925"/>
          </a:xfrm>
          <a:prstGeom prst="straightConnector1">
            <a:avLst/>
          </a:prstGeom>
          <a:ln w="44450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1" idx="5"/>
          </p:cNvCxnSpPr>
          <p:nvPr/>
        </p:nvCxnSpPr>
        <p:spPr>
          <a:xfrm rot="16200000" flipH="1">
            <a:off x="6459121" y="3083872"/>
            <a:ext cx="3261451" cy="309123"/>
          </a:xfrm>
          <a:prstGeom prst="straightConnector1">
            <a:avLst/>
          </a:prstGeom>
          <a:ln w="4445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4"/>
          <p:cNvCxnSpPr>
            <a:stCxn id="11" idx="3"/>
          </p:cNvCxnSpPr>
          <p:nvPr/>
        </p:nvCxnSpPr>
        <p:spPr>
          <a:xfrm flipH="1">
            <a:off x="5148064" y="1607709"/>
            <a:ext cx="2685387" cy="3621491"/>
          </a:xfrm>
          <a:prstGeom prst="straightConnector1">
            <a:avLst/>
          </a:prstGeom>
          <a:ln w="44450">
            <a:solidFill>
              <a:schemeClr val="accent4">
                <a:alpha val="72000"/>
              </a:schemeClr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793BA-58C0-40C6-AC43-A8D675736587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点与凸包的距离？</a:t>
            </a:r>
            <a:endParaRPr lang="en-US" altLang="zh-CN" dirty="0" smtClean="0"/>
          </a:p>
          <a:p>
            <a:pPr lvl="1"/>
            <a:r>
              <a:rPr lang="zh-CN" altLang="en-US" dirty="0"/>
              <a:t>一</a:t>
            </a:r>
            <a:r>
              <a:rPr lang="zh-CN" altLang="en-US" dirty="0" smtClean="0"/>
              <a:t>定是一个点？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可见域内单峰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一个简洁的做法：三分</a:t>
            </a:r>
            <a:endParaRPr lang="en-US" altLang="zh-CN" dirty="0" smtClean="0"/>
          </a:p>
          <a:p>
            <a:r>
              <a:rPr lang="zh-CN" altLang="en-US" dirty="0" smtClean="0"/>
              <a:t>凸</a:t>
            </a:r>
            <a:r>
              <a:rPr lang="zh-CN" altLang="en-US" dirty="0"/>
              <a:t>包</a:t>
            </a:r>
            <a:r>
              <a:rPr lang="zh-CN" altLang="en-US" dirty="0" smtClean="0"/>
              <a:t>上最远点距离？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Simple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Complicated!</a:t>
            </a:r>
          </a:p>
          <a:p>
            <a:pPr lvl="1"/>
            <a:r>
              <a:rPr lang="zh-CN" altLang="en-US" dirty="0" smtClean="0"/>
              <a:t>无法利用简单的单调性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en-US" altLang="zh-CN" dirty="0" smtClean="0"/>
              <a:t>Tip: </a:t>
            </a:r>
          </a:p>
          <a:p>
            <a:pPr lvl="1"/>
            <a:r>
              <a:rPr lang="en-US" altLang="zh-CN" dirty="0" smtClean="0"/>
              <a:t>Farthest-Point </a:t>
            </a:r>
            <a:r>
              <a:rPr lang="en-US" altLang="zh-CN" dirty="0" err="1" smtClean="0"/>
              <a:t>Voronoi</a:t>
            </a:r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凸包与点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4788024" y="2564904"/>
            <a:ext cx="3528392" cy="3456384"/>
            <a:chOff x="4572000" y="2564904"/>
            <a:chExt cx="3528392" cy="3456384"/>
          </a:xfrm>
        </p:grpSpPr>
        <p:cxnSp>
          <p:nvCxnSpPr>
            <p:cNvPr id="5" name="直接箭头连接符 4"/>
            <p:cNvCxnSpPr/>
            <p:nvPr/>
          </p:nvCxnSpPr>
          <p:spPr>
            <a:xfrm rot="5400000">
              <a:off x="4283968" y="2852936"/>
              <a:ext cx="1152128" cy="576064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 rot="16200000" flipH="1">
              <a:off x="3959932" y="4329100"/>
              <a:ext cx="1656184" cy="288032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4932040" y="5229200"/>
              <a:ext cx="1728192" cy="792088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/>
            <p:nvPr/>
          </p:nvCxnSpPr>
          <p:spPr>
            <a:xfrm flipV="1">
              <a:off x="6588224" y="4797152"/>
              <a:ext cx="1512168" cy="1224136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rot="16200000" flipV="1">
              <a:off x="6804248" y="3645024"/>
              <a:ext cx="1944216" cy="504056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/>
          </p:nvCxnSpPr>
          <p:spPr>
            <a:xfrm rot="10800000">
              <a:off x="5148064" y="2564904"/>
              <a:ext cx="2376264" cy="432048"/>
            </a:xfrm>
            <a:prstGeom prst="straightConnector1">
              <a:avLst/>
            </a:prstGeom>
            <a:ln w="44450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椭圆 10"/>
          <p:cNvSpPr/>
          <p:nvPr/>
        </p:nvSpPr>
        <p:spPr>
          <a:xfrm>
            <a:off x="7812360" y="148478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>
            <a:stCxn id="11" idx="2"/>
          </p:cNvCxnSpPr>
          <p:nvPr/>
        </p:nvCxnSpPr>
        <p:spPr>
          <a:xfrm rot="10800000" flipV="1">
            <a:off x="5364088" y="1556792"/>
            <a:ext cx="2448272" cy="1008112"/>
          </a:xfrm>
          <a:prstGeom prst="straightConnector1">
            <a:avLst/>
          </a:prstGeom>
          <a:ln w="4445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1" idx="5"/>
          </p:cNvCxnSpPr>
          <p:nvPr/>
        </p:nvCxnSpPr>
        <p:spPr>
          <a:xfrm rot="5400000">
            <a:off x="7179202" y="2240868"/>
            <a:ext cx="1389243" cy="122925"/>
          </a:xfrm>
          <a:prstGeom prst="straightConnector1">
            <a:avLst/>
          </a:prstGeom>
          <a:ln w="44450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11" idx="5"/>
          </p:cNvCxnSpPr>
          <p:nvPr/>
        </p:nvCxnSpPr>
        <p:spPr>
          <a:xfrm rot="16200000" flipH="1">
            <a:off x="6459121" y="3083872"/>
            <a:ext cx="3261451" cy="309123"/>
          </a:xfrm>
          <a:prstGeom prst="straightConnector1">
            <a:avLst/>
          </a:prstGeom>
          <a:ln w="4445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1" idx="4"/>
          </p:cNvCxnSpPr>
          <p:nvPr/>
        </p:nvCxnSpPr>
        <p:spPr>
          <a:xfrm rot="5400000">
            <a:off x="7092280" y="2204864"/>
            <a:ext cx="1368152" cy="216024"/>
          </a:xfrm>
          <a:prstGeom prst="straightConnector1">
            <a:avLst/>
          </a:prstGeom>
          <a:ln w="44450">
            <a:solidFill>
              <a:schemeClr val="accent3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4"/>
          <p:cNvCxnSpPr>
            <a:stCxn id="11" idx="3"/>
          </p:cNvCxnSpPr>
          <p:nvPr/>
        </p:nvCxnSpPr>
        <p:spPr>
          <a:xfrm flipH="1">
            <a:off x="5148064" y="1607709"/>
            <a:ext cx="2685387" cy="3621491"/>
          </a:xfrm>
          <a:prstGeom prst="straightConnector1">
            <a:avLst/>
          </a:prstGeom>
          <a:ln w="44450">
            <a:solidFill>
              <a:schemeClr val="accent4">
                <a:alpha val="72000"/>
              </a:schemeClr>
            </a:solidFill>
            <a:prstDash val="sys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椭圆 10"/>
          <p:cNvSpPr/>
          <p:nvPr/>
        </p:nvSpPr>
        <p:spPr>
          <a:xfrm>
            <a:off x="7390350" y="2636911"/>
            <a:ext cx="144016" cy="144016"/>
          </a:xfrm>
          <a:prstGeom prst="ellipse">
            <a:avLst/>
          </a:prstGeom>
          <a:solidFill>
            <a:schemeClr val="bg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" name="Group 34"/>
          <p:cNvGrpSpPr/>
          <p:nvPr/>
        </p:nvGrpSpPr>
        <p:grpSpPr>
          <a:xfrm>
            <a:off x="4860032" y="2708919"/>
            <a:ext cx="3384376" cy="3312369"/>
            <a:chOff x="4860032" y="2708919"/>
            <a:chExt cx="3384376" cy="3312369"/>
          </a:xfrm>
        </p:grpSpPr>
        <p:cxnSp>
          <p:nvCxnSpPr>
            <p:cNvPr id="21" name="直接箭头连接符 14"/>
            <p:cNvCxnSpPr>
              <a:stCxn id="20" idx="2"/>
            </p:cNvCxnSpPr>
            <p:nvPr/>
          </p:nvCxnSpPr>
          <p:spPr>
            <a:xfrm flipH="1">
              <a:off x="4860032" y="2708919"/>
              <a:ext cx="2530318" cy="936104"/>
            </a:xfrm>
            <a:prstGeom prst="straightConnector1">
              <a:avLst/>
            </a:prstGeom>
            <a:ln w="44450">
              <a:solidFill>
                <a:srgbClr val="00B050">
                  <a:alpha val="72000"/>
                </a:srgbClr>
              </a:solidFill>
              <a:prstDash val="sys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14"/>
            <p:cNvCxnSpPr>
              <a:stCxn id="20" idx="3"/>
            </p:cNvCxnSpPr>
            <p:nvPr/>
          </p:nvCxnSpPr>
          <p:spPr>
            <a:xfrm flipH="1">
              <a:off x="5148064" y="2759836"/>
              <a:ext cx="2263377" cy="2469364"/>
            </a:xfrm>
            <a:prstGeom prst="straightConnector1">
              <a:avLst/>
            </a:prstGeom>
            <a:ln w="44450">
              <a:solidFill>
                <a:srgbClr val="00B050">
                  <a:alpha val="72000"/>
                </a:srgbClr>
              </a:solidFill>
              <a:prstDash val="sys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14"/>
            <p:cNvCxnSpPr>
              <a:stCxn id="20" idx="4"/>
            </p:cNvCxnSpPr>
            <p:nvPr/>
          </p:nvCxnSpPr>
          <p:spPr>
            <a:xfrm flipH="1">
              <a:off x="6804249" y="2780927"/>
              <a:ext cx="658109" cy="3240361"/>
            </a:xfrm>
            <a:prstGeom prst="straightConnector1">
              <a:avLst/>
            </a:prstGeom>
            <a:ln w="44450">
              <a:solidFill>
                <a:srgbClr val="00B050">
                  <a:alpha val="72000"/>
                </a:srgbClr>
              </a:solidFill>
              <a:prstDash val="sys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14"/>
            <p:cNvCxnSpPr>
              <a:stCxn id="20" idx="5"/>
            </p:cNvCxnSpPr>
            <p:nvPr/>
          </p:nvCxnSpPr>
          <p:spPr>
            <a:xfrm>
              <a:off x="7513275" y="2759836"/>
              <a:ext cx="731133" cy="2109323"/>
            </a:xfrm>
            <a:prstGeom prst="straightConnector1">
              <a:avLst/>
            </a:prstGeom>
            <a:ln w="44450">
              <a:solidFill>
                <a:srgbClr val="00B050">
                  <a:alpha val="72000"/>
                </a:srgbClr>
              </a:solidFill>
              <a:prstDash val="sys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16CA2-1922-4AE5-B554-7DE5114675E7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703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1" grpId="0" uiExpand="1" animBg="1"/>
      <p:bldP spid="20" grpId="0" uiExpan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凸包的合并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Monotone Chain</a:t>
            </a:r>
          </a:p>
          <a:p>
            <a:r>
              <a:rPr lang="zh-CN" altLang="en-US" dirty="0" smtClean="0"/>
              <a:t>判断凸包是否相交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Separating Axis Theorem</a:t>
            </a:r>
          </a:p>
          <a:p>
            <a:pPr lvl="1"/>
            <a:r>
              <a:rPr lang="en-US" altLang="zh-CN" dirty="0" smtClean="0"/>
              <a:t>Separating </a:t>
            </a:r>
            <a:r>
              <a:rPr lang="en-US" altLang="zh-CN" dirty="0" smtClean="0"/>
              <a:t>Line</a:t>
            </a:r>
          </a:p>
          <a:p>
            <a:pPr lvl="1"/>
            <a:r>
              <a:rPr lang="en-US" altLang="zh-CN" dirty="0" smtClean="0"/>
              <a:t>Projection</a:t>
            </a:r>
            <a:r>
              <a:rPr lang="en-US" altLang="zh-CN" dirty="0" smtClean="0"/>
              <a:t> </a:t>
            </a:r>
            <a:endParaRPr lang="en-US" altLang="zh-CN" dirty="0" smtClean="0"/>
          </a:p>
          <a:p>
            <a:pPr lvl="1"/>
            <a:r>
              <a:rPr lang="zh-CN" altLang="en-US" dirty="0"/>
              <a:t>旋转卡壳的应</a:t>
            </a:r>
            <a:r>
              <a:rPr lang="zh-CN" altLang="en-US" dirty="0" smtClean="0"/>
              <a:t>用 </a:t>
            </a:r>
            <a:r>
              <a:rPr lang="en-US" altLang="zh-CN" dirty="0" smtClean="0"/>
              <a:t>O(N)</a:t>
            </a:r>
          </a:p>
          <a:p>
            <a:pPr lvl="1"/>
            <a:r>
              <a:rPr lang="zh-CN" altLang="en-US" dirty="0" smtClean="0"/>
              <a:t>最近点对问题！</a:t>
            </a:r>
            <a:endParaRPr lang="en-US" altLang="zh-CN" dirty="0" smtClean="0"/>
          </a:p>
          <a:p>
            <a:pPr lvl="1"/>
            <a:r>
              <a:rPr lang="zh-CN" altLang="en-US" dirty="0"/>
              <a:t>最远点</a:t>
            </a:r>
            <a:r>
              <a:rPr lang="zh-CN" altLang="en-US" dirty="0" smtClean="0"/>
              <a:t>对？</a:t>
            </a:r>
            <a:endParaRPr lang="en-US" altLang="zh-CN" dirty="0"/>
          </a:p>
          <a:p>
            <a:pPr lvl="1"/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凸包与凸包</a:t>
            </a:r>
            <a:endParaRPr lang="zh-CN" altLang="en-US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1124744"/>
            <a:ext cx="2597274" cy="260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53508" y="4365104"/>
            <a:ext cx="5320337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497DEA-CCED-4DEE-A4E7-93FADD943CE0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外公切线：</a:t>
            </a:r>
            <a:r>
              <a:rPr lang="en-US" altLang="zh-CN" dirty="0" smtClean="0"/>
              <a:t>Bridges</a:t>
            </a:r>
          </a:p>
          <a:p>
            <a:pPr lvl="1"/>
            <a:r>
              <a:rPr lang="zh-CN" altLang="en-US" dirty="0"/>
              <a:t>如</a:t>
            </a:r>
            <a:r>
              <a:rPr lang="zh-CN" altLang="en-US" dirty="0" smtClean="0"/>
              <a:t>何判断连线是否为</a:t>
            </a:r>
            <a:r>
              <a:rPr lang="en-US" altLang="zh-CN" dirty="0" smtClean="0"/>
              <a:t>Bridge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同时为</a:t>
            </a:r>
            <a:r>
              <a:rPr lang="en-US" altLang="zh-CN" dirty="0" smtClean="0"/>
              <a:t>Cutting Line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lvl="1"/>
            <a:r>
              <a:rPr lang="zh-CN" altLang="en-US" dirty="0"/>
              <a:t>最近点</a:t>
            </a:r>
            <a:r>
              <a:rPr lang="zh-CN" altLang="en-US" dirty="0" smtClean="0"/>
              <a:t>对的另一种看法</a:t>
            </a:r>
            <a:endParaRPr lang="en-US" altLang="zh-CN" dirty="0" smtClean="0"/>
          </a:p>
          <a:p>
            <a:r>
              <a:rPr lang="zh-CN" altLang="en-US" dirty="0" smtClean="0"/>
              <a:t>共极点 </a:t>
            </a:r>
            <a:r>
              <a:rPr lang="en-US" altLang="zh-CN" dirty="0" smtClean="0"/>
              <a:t>co-</a:t>
            </a:r>
            <a:r>
              <a:rPr lang="en-US" altLang="zh-CN" dirty="0" err="1" smtClean="0"/>
              <a:t>podal</a:t>
            </a:r>
            <a:r>
              <a:rPr lang="en-US" altLang="zh-CN" dirty="0" smtClean="0"/>
              <a:t> pair</a:t>
            </a:r>
          </a:p>
          <a:p>
            <a:pPr lvl="1"/>
            <a:r>
              <a:rPr lang="zh-CN" altLang="en-US" dirty="0" smtClean="0"/>
              <a:t>产生同样斜率的</a:t>
            </a:r>
            <a:r>
              <a:rPr lang="en-US" altLang="zh-CN" dirty="0" smtClean="0"/>
              <a:t>Cutting Line</a:t>
            </a:r>
          </a:p>
          <a:p>
            <a:pPr lvl="1"/>
            <a:r>
              <a:rPr lang="zh-CN" altLang="en-US" dirty="0" smtClean="0"/>
              <a:t>序的性质？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极角序！</a:t>
            </a:r>
            <a:endParaRPr lang="en-US" altLang="zh-CN" dirty="0" smtClean="0"/>
          </a:p>
          <a:p>
            <a:r>
              <a:rPr lang="zh-CN" altLang="en-US" dirty="0" smtClean="0"/>
              <a:t>内公切线：</a:t>
            </a:r>
            <a:r>
              <a:rPr lang="en-US" altLang="zh-CN" dirty="0" smtClean="0"/>
              <a:t>Tangent Lines</a:t>
            </a:r>
          </a:p>
          <a:p>
            <a:pPr lvl="1"/>
            <a:r>
              <a:rPr lang="zh-CN" altLang="en-US" dirty="0" smtClean="0"/>
              <a:t>反极点</a:t>
            </a:r>
            <a:r>
              <a:rPr lang="en-US" altLang="zh-CN" dirty="0" smtClean="0"/>
              <a:t>anti-</a:t>
            </a:r>
            <a:r>
              <a:rPr lang="en-US" altLang="zh-CN" dirty="0" err="1" smtClean="0"/>
              <a:t>podal</a:t>
            </a:r>
            <a:r>
              <a:rPr lang="en-US" altLang="zh-CN" dirty="0" smtClean="0"/>
              <a:t> pair</a:t>
            </a:r>
          </a:p>
          <a:p>
            <a:r>
              <a:rPr lang="zh-CN" altLang="en-US" dirty="0"/>
              <a:t>凸</a:t>
            </a:r>
            <a:r>
              <a:rPr lang="zh-CN" altLang="en-US" dirty="0" smtClean="0"/>
              <a:t>包的交与并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凸包与凸包</a:t>
            </a:r>
            <a:endParaRPr lang="zh-CN" altLang="en-US" dirty="0"/>
          </a:p>
        </p:txBody>
      </p:sp>
      <p:pic>
        <p:nvPicPr>
          <p:cNvPr id="34818" name="Picture 2" descr="Merging disjoint convex hull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1124744"/>
            <a:ext cx="3476625" cy="2447925"/>
          </a:xfrm>
          <a:prstGeom prst="rect">
            <a:avLst/>
          </a:prstGeom>
          <a:noFill/>
        </p:spPr>
      </p:pic>
      <p:pic>
        <p:nvPicPr>
          <p:cNvPr id="34820" name="Picture 4" descr="Merging intersecting convex hull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59499" y="4077072"/>
            <a:ext cx="2997770" cy="2304256"/>
          </a:xfrm>
          <a:prstGeom prst="rect">
            <a:avLst/>
          </a:prstGeom>
          <a:noFill/>
        </p:spPr>
      </p:pic>
      <p:cxnSp>
        <p:nvCxnSpPr>
          <p:cNvPr id="8" name="直接连接符 7"/>
          <p:cNvCxnSpPr/>
          <p:nvPr/>
        </p:nvCxnSpPr>
        <p:spPr>
          <a:xfrm rot="16200000" flipH="1">
            <a:off x="5760132" y="1448780"/>
            <a:ext cx="2736304" cy="2232248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14"/>
          <p:cNvCxnSpPr/>
          <p:nvPr/>
        </p:nvCxnSpPr>
        <p:spPr>
          <a:xfrm flipH="1">
            <a:off x="6804248" y="908720"/>
            <a:ext cx="1142008" cy="522058"/>
          </a:xfrm>
          <a:prstGeom prst="straightConnector1">
            <a:avLst/>
          </a:prstGeom>
          <a:ln w="44450">
            <a:solidFill>
              <a:schemeClr val="accent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4"/>
          <p:cNvCxnSpPr/>
          <p:nvPr/>
        </p:nvCxnSpPr>
        <p:spPr>
          <a:xfrm flipH="1">
            <a:off x="5076056" y="1449473"/>
            <a:ext cx="1142008" cy="522058"/>
          </a:xfrm>
          <a:prstGeom prst="straightConnector1">
            <a:avLst/>
          </a:prstGeom>
          <a:ln w="44450">
            <a:solidFill>
              <a:schemeClr val="accent3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4"/>
          <p:cNvCxnSpPr/>
          <p:nvPr/>
        </p:nvCxnSpPr>
        <p:spPr>
          <a:xfrm flipH="1">
            <a:off x="7524330" y="1268760"/>
            <a:ext cx="421926" cy="72008"/>
          </a:xfrm>
          <a:prstGeom prst="straightConnector1">
            <a:avLst/>
          </a:prstGeom>
          <a:ln w="44450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4"/>
          <p:cNvCxnSpPr/>
          <p:nvPr/>
        </p:nvCxnSpPr>
        <p:spPr>
          <a:xfrm flipH="1">
            <a:off x="7467557" y="1449473"/>
            <a:ext cx="56773" cy="522058"/>
          </a:xfrm>
          <a:prstGeom prst="straightConnector1">
            <a:avLst/>
          </a:prstGeom>
          <a:ln w="44450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4"/>
          <p:cNvCxnSpPr/>
          <p:nvPr/>
        </p:nvCxnSpPr>
        <p:spPr>
          <a:xfrm flipH="1" flipV="1">
            <a:off x="5813154" y="1844825"/>
            <a:ext cx="487038" cy="45350"/>
          </a:xfrm>
          <a:prstGeom prst="straightConnector1">
            <a:avLst/>
          </a:prstGeom>
          <a:ln w="44450">
            <a:solidFill>
              <a:srgbClr val="00B05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14"/>
          <p:cNvCxnSpPr/>
          <p:nvPr/>
        </p:nvCxnSpPr>
        <p:spPr>
          <a:xfrm flipH="1">
            <a:off x="5436096" y="1844825"/>
            <a:ext cx="377058" cy="576063"/>
          </a:xfrm>
          <a:prstGeom prst="straightConnector1">
            <a:avLst/>
          </a:prstGeom>
          <a:ln w="44450">
            <a:solidFill>
              <a:srgbClr val="00B05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14"/>
          <p:cNvCxnSpPr/>
          <p:nvPr/>
        </p:nvCxnSpPr>
        <p:spPr>
          <a:xfrm>
            <a:off x="5384064" y="2420888"/>
            <a:ext cx="59110" cy="432048"/>
          </a:xfrm>
          <a:prstGeom prst="straightConnector1">
            <a:avLst/>
          </a:prstGeom>
          <a:ln w="44450">
            <a:solidFill>
              <a:srgbClr val="00B05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2998912" y="4033765"/>
            <a:ext cx="589142" cy="666463"/>
            <a:chOff x="2998912" y="3626633"/>
            <a:chExt cx="589142" cy="666463"/>
          </a:xfrm>
        </p:grpSpPr>
        <p:grpSp>
          <p:nvGrpSpPr>
            <p:cNvPr id="24" name="Group 23"/>
            <p:cNvGrpSpPr/>
            <p:nvPr/>
          </p:nvGrpSpPr>
          <p:grpSpPr>
            <a:xfrm>
              <a:off x="2998912" y="3626633"/>
              <a:ext cx="517905" cy="621457"/>
              <a:chOff x="2755393" y="3626633"/>
              <a:chExt cx="517905" cy="621457"/>
            </a:xfrm>
          </p:grpSpPr>
          <p:cxnSp>
            <p:nvCxnSpPr>
              <p:cNvPr id="26" name="直接箭头连接符 14"/>
              <p:cNvCxnSpPr/>
              <p:nvPr/>
            </p:nvCxnSpPr>
            <p:spPr>
              <a:xfrm flipH="1" flipV="1">
                <a:off x="2755393" y="3626633"/>
                <a:ext cx="487038" cy="45350"/>
              </a:xfrm>
              <a:prstGeom prst="straightConnector1">
                <a:avLst/>
              </a:prstGeom>
              <a:ln w="44450">
                <a:solidFill>
                  <a:srgbClr val="00B05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14"/>
              <p:cNvCxnSpPr/>
              <p:nvPr/>
            </p:nvCxnSpPr>
            <p:spPr>
              <a:xfrm flipH="1">
                <a:off x="2865373" y="3672027"/>
                <a:ext cx="377058" cy="576063"/>
              </a:xfrm>
              <a:prstGeom prst="straightConnector1">
                <a:avLst/>
              </a:prstGeom>
              <a:ln w="44450">
                <a:solidFill>
                  <a:srgbClr val="00B05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14"/>
              <p:cNvCxnSpPr/>
              <p:nvPr/>
            </p:nvCxnSpPr>
            <p:spPr>
              <a:xfrm flipH="1">
                <a:off x="3203848" y="3672027"/>
                <a:ext cx="56773" cy="522058"/>
              </a:xfrm>
              <a:prstGeom prst="straightConnector1">
                <a:avLst/>
              </a:prstGeom>
              <a:ln w="44450">
                <a:solidFill>
                  <a:srgbClr val="7030A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14"/>
              <p:cNvCxnSpPr/>
              <p:nvPr/>
            </p:nvCxnSpPr>
            <p:spPr>
              <a:xfrm flipH="1">
                <a:off x="2851372" y="3672027"/>
                <a:ext cx="421926" cy="72008"/>
              </a:xfrm>
              <a:prstGeom prst="straightConnector1">
                <a:avLst/>
              </a:prstGeom>
              <a:ln w="44450">
                <a:solidFill>
                  <a:srgbClr val="7030A0"/>
                </a:solidFill>
                <a:tailEnd type="stealt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8" name="直接箭头连接符 14"/>
            <p:cNvCxnSpPr/>
            <p:nvPr/>
          </p:nvCxnSpPr>
          <p:spPr>
            <a:xfrm>
              <a:off x="3504140" y="3679753"/>
              <a:ext cx="83914" cy="613343"/>
            </a:xfrm>
            <a:prstGeom prst="straightConnector1">
              <a:avLst/>
            </a:prstGeom>
            <a:ln w="44450">
              <a:solidFill>
                <a:srgbClr val="00B050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AABA-255D-4415-AAD1-BFE783B67747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8397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动态加入一个点维护凸包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Online Increment Algorithm</a:t>
            </a:r>
          </a:p>
          <a:p>
            <a:pPr lvl="1"/>
            <a:r>
              <a:rPr lang="en-US" altLang="zh-CN" dirty="0" smtClean="0"/>
              <a:t>Data Structure</a:t>
            </a:r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额外的信息查询？</a:t>
            </a:r>
            <a:endParaRPr lang="en-US" altLang="zh-CN" dirty="0" smtClean="0"/>
          </a:p>
          <a:p>
            <a:pPr lvl="1"/>
            <a:r>
              <a:rPr lang="zh-CN" altLang="en-US" dirty="0"/>
              <a:t>最近</a:t>
            </a:r>
            <a:r>
              <a:rPr lang="zh-CN" altLang="en-US" dirty="0" smtClean="0"/>
              <a:t>点！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与直线的交点，距离！</a:t>
            </a:r>
            <a:endParaRPr lang="en-US" altLang="zh-CN" dirty="0" smtClean="0"/>
          </a:p>
          <a:p>
            <a:pPr lvl="1"/>
            <a:r>
              <a:rPr lang="en-US" altLang="zh-CN" dirty="0"/>
              <a:t>……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思考题：动态的插入和删除？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Tip: O(lg</a:t>
            </a:r>
            <a:r>
              <a:rPr lang="en-US" altLang="zh-CN" baseline="30000" dirty="0" smtClean="0"/>
              <a:t>2</a:t>
            </a:r>
            <a:r>
              <a:rPr lang="en-US" altLang="zh-CN" dirty="0" smtClean="0"/>
              <a:t>N) per operation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一些动态计算问题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125EA-1870-424A-B9D6-B32DB59AFB6C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5116024"/>
          </a:xfrm>
        </p:spPr>
        <p:txBody>
          <a:bodyPr/>
          <a:lstStyle/>
          <a:p>
            <a:r>
              <a:rPr lang="zh-CN" altLang="en-US" dirty="0" smtClean="0"/>
              <a:t>极角划分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Graham Scan</a:t>
            </a:r>
            <a:r>
              <a:rPr lang="zh-CN" altLang="en-US" dirty="0" smtClean="0"/>
              <a:t>的例子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一个可见性的划分</a:t>
            </a:r>
            <a:endParaRPr lang="en-US" altLang="zh-CN" dirty="0" smtClean="0"/>
          </a:p>
          <a:p>
            <a:r>
              <a:rPr lang="zh-CN" altLang="en-US" dirty="0" smtClean="0"/>
              <a:t>三角划分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QuickHull</a:t>
            </a:r>
            <a:r>
              <a:rPr lang="zh-CN" altLang="en-US" dirty="0" smtClean="0"/>
              <a:t>的例子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Catalan Number</a:t>
            </a:r>
          </a:p>
          <a:p>
            <a:pPr lvl="1"/>
            <a:r>
              <a:rPr lang="zh-CN" altLang="en-US" dirty="0" smtClean="0"/>
              <a:t>更广义的三角划分问题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摄像机问题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平面点集的三角剖分</a:t>
            </a:r>
            <a:endParaRPr lang="en-US" altLang="zh-CN" dirty="0" smtClean="0"/>
          </a:p>
          <a:p>
            <a:r>
              <a:rPr lang="zh-CN" altLang="en-US" dirty="0" smtClean="0"/>
              <a:t>梯形划分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位置确定，面积和格点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凸包的划分</a:t>
            </a:r>
            <a:endParaRPr lang="zh-CN" alt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980728"/>
            <a:ext cx="3757585" cy="3375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4293096"/>
            <a:ext cx="3456384" cy="2341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BC17C-B5E8-4EBA-90B2-6227AB5785BC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半平面交的引入</a:t>
            </a:r>
            <a:endParaRPr lang="en-US" altLang="zh-CN" dirty="0" smtClean="0"/>
          </a:p>
          <a:p>
            <a:r>
              <a:rPr lang="zh-CN" altLang="en-US" dirty="0" smtClean="0"/>
              <a:t>对偶的引入：半平面交和凸包的关系</a:t>
            </a:r>
            <a:endParaRPr lang="en-US" altLang="zh-CN" dirty="0" smtClean="0"/>
          </a:p>
          <a:p>
            <a:r>
              <a:rPr lang="zh-CN" altLang="en-US" dirty="0" smtClean="0"/>
              <a:t>半平面交的算法</a:t>
            </a:r>
            <a:endParaRPr lang="en-US" altLang="zh-CN" dirty="0" smtClean="0"/>
          </a:p>
          <a:p>
            <a:r>
              <a:rPr lang="zh-CN" altLang="en-US" dirty="0" smtClean="0"/>
              <a:t>随机算法的引入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随机增量算法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Section2. </a:t>
            </a:r>
            <a:r>
              <a:rPr lang="zh-CN" altLang="en-US" dirty="0" smtClean="0"/>
              <a:t>从凸包看线性规划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8965E-2EA7-4D5A-8F92-41B615745B2D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一个半平面：</a:t>
            </a:r>
            <a:r>
              <a:rPr lang="en-US" altLang="zh-CN" dirty="0" smtClean="0"/>
              <a:t>h: </a:t>
            </a:r>
            <a:r>
              <a:rPr lang="en-US" altLang="zh-CN" dirty="0" err="1" smtClean="0"/>
              <a:t>ax+by≤c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向量的角度：法向量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</a:t>
            </a:r>
          </a:p>
          <a:p>
            <a:endParaRPr lang="en-US" altLang="zh-CN" dirty="0"/>
          </a:p>
          <a:p>
            <a:r>
              <a:rPr lang="zh-CN" altLang="en-US" dirty="0" smtClean="0"/>
              <a:t>给定一个半平面的集合</a:t>
            </a:r>
            <a:r>
              <a:rPr lang="en-US" altLang="zh-CN" dirty="0" smtClean="0"/>
              <a:t>H={h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,h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,…,</a:t>
            </a:r>
            <a:r>
              <a:rPr lang="en-US" altLang="zh-CN" dirty="0" err="1" smtClean="0"/>
              <a:t>h</a:t>
            </a:r>
            <a:r>
              <a:rPr lang="en-US" altLang="zh-CN" baseline="-25000" dirty="0" err="1" smtClean="0"/>
              <a:t>N</a:t>
            </a:r>
            <a:r>
              <a:rPr lang="en-US" altLang="zh-CN" dirty="0" smtClean="0"/>
              <a:t>}</a:t>
            </a:r>
          </a:p>
          <a:p>
            <a:r>
              <a:rPr lang="zh-CN" altLang="en-US" dirty="0" smtClean="0"/>
              <a:t>求</a:t>
            </a:r>
            <a:r>
              <a:rPr lang="en-US" altLang="zh-CN" dirty="0" smtClean="0"/>
              <a:t>H</a:t>
            </a:r>
            <a:r>
              <a:rPr lang="zh-CN" altLang="en-US" dirty="0" smtClean="0"/>
              <a:t>的解的集合</a:t>
            </a:r>
            <a:r>
              <a:rPr lang="en-US" altLang="zh-CN" dirty="0" smtClean="0"/>
              <a:t>——2D</a:t>
            </a:r>
            <a:r>
              <a:rPr lang="zh-CN" altLang="en-US" dirty="0" smtClean="0"/>
              <a:t>线性规划</a:t>
            </a:r>
            <a:endParaRPr lang="en-US" altLang="zh-CN" dirty="0" smtClean="0"/>
          </a:p>
          <a:p>
            <a:pPr lvl="1"/>
            <a:r>
              <a:rPr lang="zh-CN" altLang="en-US" dirty="0"/>
              <a:t>无</a:t>
            </a:r>
            <a:r>
              <a:rPr lang="zh-CN" altLang="en-US" dirty="0" smtClean="0"/>
              <a:t>解，无界，点，线段，多边形</a:t>
            </a:r>
            <a:endParaRPr lang="en-US" altLang="zh-CN" dirty="0" smtClean="0"/>
          </a:p>
          <a:p>
            <a:pPr lvl="1"/>
            <a:r>
              <a:rPr lang="zh-CN" altLang="en-US" dirty="0"/>
              <a:t>凸</a:t>
            </a:r>
            <a:r>
              <a:rPr lang="zh-CN" altLang="en-US" dirty="0" smtClean="0"/>
              <a:t>性</a:t>
            </a:r>
            <a:endParaRPr lang="en-US" altLang="zh-CN" dirty="0" smtClean="0"/>
          </a:p>
          <a:p>
            <a:pPr lvl="1"/>
            <a:r>
              <a:rPr lang="zh-CN" altLang="en-US" dirty="0"/>
              <a:t>边</a:t>
            </a:r>
            <a:r>
              <a:rPr lang="zh-CN" altLang="en-US" dirty="0" smtClean="0"/>
              <a:t>界至多由</a:t>
            </a:r>
            <a:r>
              <a:rPr lang="en-US" altLang="zh-CN" dirty="0" smtClean="0"/>
              <a:t>N</a:t>
            </a:r>
            <a:r>
              <a:rPr lang="zh-CN" altLang="en-US" dirty="0" smtClean="0"/>
              <a:t>条线段围城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半平面交的引入</a:t>
            </a:r>
            <a:endParaRPr lang="zh-CN" alt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846EE-AED4-412C-8E15-EADEA72C50EA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朴素的</a:t>
            </a:r>
            <a:r>
              <a:rPr lang="zh-CN" altLang="en-US" dirty="0"/>
              <a:t>算</a:t>
            </a:r>
            <a:r>
              <a:rPr lang="zh-CN" altLang="en-US" dirty="0" smtClean="0"/>
              <a:t>法的增量算法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维护凸包</a:t>
            </a:r>
            <a:endParaRPr lang="en-US" altLang="zh-CN" dirty="0" smtClean="0"/>
          </a:p>
          <a:p>
            <a:pPr lvl="1"/>
            <a:r>
              <a:rPr lang="zh-CN" altLang="en-US" dirty="0"/>
              <a:t>插</a:t>
            </a:r>
            <a:r>
              <a:rPr lang="zh-CN" altLang="en-US" dirty="0" smtClean="0"/>
              <a:t>入半平面并计算新的凸包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O(N</a:t>
            </a:r>
            <a:r>
              <a:rPr lang="en-US" altLang="zh-CN" baseline="30000" dirty="0" smtClean="0"/>
              <a:t>2</a:t>
            </a:r>
            <a:r>
              <a:rPr lang="en-US" altLang="zh-CN" dirty="0"/>
              <a:t>)</a:t>
            </a:r>
            <a:endParaRPr lang="en-US" altLang="zh-CN" dirty="0" smtClean="0"/>
          </a:p>
          <a:p>
            <a:r>
              <a:rPr lang="zh-CN" altLang="en-US" dirty="0"/>
              <a:t>一</a:t>
            </a:r>
            <a:r>
              <a:rPr lang="zh-CN" altLang="en-US" dirty="0" smtClean="0"/>
              <a:t>个增量算法的优化</a:t>
            </a:r>
            <a:endParaRPr lang="en-US" altLang="zh-CN" dirty="0"/>
          </a:p>
          <a:p>
            <a:pPr lvl="1"/>
            <a:r>
              <a:rPr lang="zh-CN" altLang="en-US" dirty="0" smtClean="0"/>
              <a:t>利</a:t>
            </a:r>
            <a:r>
              <a:rPr lang="zh-CN" altLang="en-US" dirty="0"/>
              <a:t>用数据结构查找交点 </a:t>
            </a:r>
            <a:r>
              <a:rPr lang="en-US" altLang="zh-CN" dirty="0"/>
              <a:t>O(</a:t>
            </a:r>
            <a:r>
              <a:rPr lang="en-US" altLang="zh-CN" dirty="0" err="1"/>
              <a:t>NlogN</a:t>
            </a:r>
            <a:r>
              <a:rPr lang="en-US" altLang="zh-CN" dirty="0" smtClean="0"/>
              <a:t>)</a:t>
            </a:r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一个动态线性规划问题</a:t>
            </a:r>
            <a:endParaRPr lang="en-US" altLang="zh-CN" dirty="0" smtClean="0"/>
          </a:p>
          <a:p>
            <a:pPr lvl="1"/>
            <a:r>
              <a:rPr lang="zh-CN" altLang="en-US" dirty="0"/>
              <a:t>动</a:t>
            </a:r>
            <a:r>
              <a:rPr lang="zh-CN" altLang="en-US" dirty="0" smtClean="0"/>
              <a:t>态加入限制</a:t>
            </a:r>
            <a:endParaRPr lang="en-US" altLang="zh-CN" dirty="0" smtClean="0"/>
          </a:p>
          <a:p>
            <a:pPr lvl="1"/>
            <a:r>
              <a:rPr lang="zh-CN" altLang="en-US" dirty="0"/>
              <a:t>动</a:t>
            </a:r>
            <a:r>
              <a:rPr lang="zh-CN" altLang="en-US" dirty="0" smtClean="0"/>
              <a:t>态询问最优值</a:t>
            </a:r>
            <a:endParaRPr lang="en-US" altLang="zh-CN" dirty="0" smtClean="0"/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半平面交算法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90D7C-90FF-4A1E-BB78-D7A78EDE68F2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1777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一个基于</a:t>
            </a:r>
            <a:r>
              <a:rPr lang="en-US" altLang="zh-CN" dirty="0" smtClean="0"/>
              <a:t>Monotone Chain</a:t>
            </a:r>
            <a:r>
              <a:rPr lang="zh-CN" altLang="en-US" dirty="0" smtClean="0"/>
              <a:t>的想法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Upper Hull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Lower Hull</a:t>
            </a:r>
          </a:p>
          <a:p>
            <a:pPr lvl="1"/>
            <a:r>
              <a:rPr lang="en-US" altLang="zh-CN" dirty="0" smtClean="0"/>
              <a:t>Upper Hull </a:t>
            </a:r>
            <a:r>
              <a:rPr lang="zh-CN" altLang="en-US" dirty="0"/>
              <a:t>平</a:t>
            </a:r>
            <a:r>
              <a:rPr lang="zh-CN" altLang="en-US" dirty="0" smtClean="0"/>
              <a:t>面法向量的转角在</a:t>
            </a:r>
            <a:r>
              <a:rPr lang="en-US" altLang="zh-CN" dirty="0" smtClean="0"/>
              <a:t>π/2</a:t>
            </a:r>
            <a:r>
              <a:rPr lang="zh-CN" altLang="en-US" dirty="0" smtClean="0"/>
              <a:t>到</a:t>
            </a:r>
            <a:r>
              <a:rPr lang="en-US" altLang="zh-CN" dirty="0" smtClean="0"/>
              <a:t>3π/2</a:t>
            </a:r>
          </a:p>
          <a:p>
            <a:pPr lvl="1"/>
            <a:r>
              <a:rPr lang="zh-CN" altLang="en-US" dirty="0" smtClean="0"/>
              <a:t>用栈来维护顶点序列</a:t>
            </a:r>
            <a:endParaRPr lang="en-US" altLang="zh-CN" dirty="0" smtClean="0"/>
          </a:p>
          <a:p>
            <a:pPr lvl="1"/>
            <a:r>
              <a:rPr lang="zh-CN" altLang="en-US" dirty="0"/>
              <a:t>合</a:t>
            </a:r>
            <a:r>
              <a:rPr lang="zh-CN" altLang="en-US" dirty="0" smtClean="0"/>
              <a:t>并</a:t>
            </a:r>
            <a:r>
              <a:rPr lang="zh-CN" altLang="en-US" dirty="0"/>
              <a:t>两</a:t>
            </a:r>
            <a:r>
              <a:rPr lang="zh-CN" altLang="en-US" dirty="0" smtClean="0"/>
              <a:t>个</a:t>
            </a:r>
            <a:r>
              <a:rPr lang="en-US" altLang="zh-CN" dirty="0" smtClean="0"/>
              <a:t>Half Hull</a:t>
            </a:r>
          </a:p>
          <a:p>
            <a:pPr lvl="1"/>
            <a:r>
              <a:rPr lang="zh-CN" altLang="en-US" dirty="0"/>
              <a:t>排</a:t>
            </a:r>
            <a:r>
              <a:rPr lang="zh-CN" altLang="en-US" dirty="0" smtClean="0"/>
              <a:t>序</a:t>
            </a:r>
            <a:r>
              <a:rPr lang="en-US" altLang="zh-CN" dirty="0" smtClean="0"/>
              <a:t>+O(N)</a:t>
            </a:r>
            <a:r>
              <a:rPr lang="zh-CN" altLang="en-US" dirty="0" smtClean="0"/>
              <a:t>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与</a:t>
            </a:r>
            <a:r>
              <a:rPr lang="en-US" altLang="zh-CN" dirty="0" smtClean="0"/>
              <a:t>Graham Scan</a:t>
            </a:r>
            <a:r>
              <a:rPr lang="zh-CN" altLang="en-US" dirty="0" smtClean="0"/>
              <a:t>比较？</a:t>
            </a:r>
            <a:endParaRPr lang="en-US" altLang="zh-CN" dirty="0" smtClean="0"/>
          </a:p>
          <a:p>
            <a:r>
              <a:rPr lang="zh-CN" altLang="en-US" dirty="0" smtClean="0"/>
              <a:t>分治算法</a:t>
            </a:r>
            <a:endParaRPr lang="en-US" altLang="zh-CN" dirty="0" smtClean="0"/>
          </a:p>
          <a:p>
            <a:pPr lvl="1"/>
            <a:r>
              <a:rPr lang="zh-CN" altLang="en-US" dirty="0"/>
              <a:t>合</a:t>
            </a:r>
            <a:r>
              <a:rPr lang="zh-CN" altLang="en-US" dirty="0" smtClean="0"/>
              <a:t>并两个凸包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半平面交算法</a:t>
            </a:r>
            <a:endParaRPr lang="en-US" dirty="0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437112"/>
            <a:ext cx="2273460" cy="22734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3902" y="2721532"/>
            <a:ext cx="3926189" cy="16297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4D51D-E949-44E9-9561-9C3D57FC218C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3975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线性规划的目标函数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对应一个特定的斜率</a:t>
            </a:r>
            <a:endParaRPr lang="en-US" altLang="zh-CN" dirty="0" smtClean="0"/>
          </a:p>
          <a:p>
            <a:pPr lvl="1"/>
            <a:endParaRPr lang="en-US" dirty="0"/>
          </a:p>
          <a:p>
            <a:r>
              <a:rPr lang="zh-CN" altLang="en-US" dirty="0" smtClean="0"/>
              <a:t>特殊的极值问题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线性函数与垂直扫描线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最小值：</a:t>
            </a:r>
            <a:r>
              <a:rPr lang="zh-CN" altLang="en-US" dirty="0"/>
              <a:t>类</a:t>
            </a:r>
            <a:r>
              <a:rPr lang="zh-CN" altLang="en-US" dirty="0" smtClean="0"/>
              <a:t>似</a:t>
            </a:r>
            <a:r>
              <a:rPr lang="en-US" altLang="zh-CN" dirty="0" smtClean="0"/>
              <a:t>Upper Hull</a:t>
            </a:r>
          </a:p>
          <a:p>
            <a:pPr lvl="1"/>
            <a:r>
              <a:rPr lang="zh-CN" altLang="en-US" dirty="0"/>
              <a:t>最大</a:t>
            </a:r>
            <a:r>
              <a:rPr lang="zh-CN" altLang="en-US" dirty="0" smtClean="0"/>
              <a:t>值：类似</a:t>
            </a:r>
            <a:r>
              <a:rPr lang="en-US" altLang="zh-CN" dirty="0" smtClean="0"/>
              <a:t>Lower Hull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极值问题</a:t>
            </a:r>
            <a:endParaRPr lang="en-US" dirty="0"/>
          </a:p>
        </p:txBody>
      </p:sp>
      <p:pic>
        <p:nvPicPr>
          <p:cNvPr id="4" name="Picture 4" descr="Z:\6.838\245.bmp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567" t="18607" r="3297"/>
          <a:stretch/>
        </p:blipFill>
        <p:spPr bwMode="auto">
          <a:xfrm>
            <a:off x="4355976" y="4175556"/>
            <a:ext cx="3961910" cy="234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266FC-94DF-4871-A7F0-048B44690E81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808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点的对偶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p(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 </a:t>
            </a:r>
            <a:r>
              <a:rPr lang="en-US" altLang="zh-CN" dirty="0" smtClean="0">
                <a:sym typeface="Wingdings" pitchFamily="2" charset="2"/>
              </a:rPr>
              <a:t> p*</a:t>
            </a:r>
            <a:r>
              <a:rPr lang="zh-CN" altLang="en-US" dirty="0" smtClean="0">
                <a:sym typeface="Wingdings" pitchFamily="2" charset="2"/>
              </a:rPr>
              <a:t>：</a:t>
            </a:r>
            <a:r>
              <a:rPr lang="en-US" altLang="zh-CN" dirty="0" smtClean="0">
                <a:sym typeface="Wingdings" pitchFamily="2" charset="2"/>
              </a:rPr>
              <a:t>y = ax + b</a:t>
            </a:r>
            <a:endParaRPr lang="en-US" altLang="zh-CN" dirty="0" smtClean="0"/>
          </a:p>
          <a:p>
            <a:r>
              <a:rPr lang="zh-CN" altLang="en-US" dirty="0" smtClean="0"/>
              <a:t>保序性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若点</a:t>
            </a:r>
            <a:r>
              <a:rPr lang="en-US" altLang="zh-CN" dirty="0" smtClean="0"/>
              <a:t>p</a:t>
            </a:r>
            <a:r>
              <a:rPr lang="zh-CN" altLang="en-US" dirty="0" smtClean="0"/>
              <a:t>在点</a:t>
            </a:r>
            <a:r>
              <a:rPr lang="en-US" altLang="zh-CN" dirty="0" smtClean="0"/>
              <a:t>q</a:t>
            </a:r>
            <a:r>
              <a:rPr lang="zh-CN" altLang="en-US" dirty="0" smtClean="0"/>
              <a:t>上方，</a:t>
            </a:r>
            <a:r>
              <a:rPr lang="en-US" altLang="zh-CN" dirty="0" smtClean="0"/>
              <a:t>p*</a:t>
            </a:r>
            <a:r>
              <a:rPr lang="zh-CN" altLang="en-US" dirty="0" smtClean="0"/>
              <a:t>也在</a:t>
            </a:r>
            <a:r>
              <a:rPr lang="en-US" altLang="zh-CN" dirty="0" smtClean="0"/>
              <a:t>q*</a:t>
            </a:r>
            <a:r>
              <a:rPr lang="zh-CN" altLang="en-US" dirty="0" smtClean="0"/>
              <a:t>上方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Tip: </a:t>
            </a:r>
            <a:r>
              <a:rPr lang="zh-CN" altLang="en-US" dirty="0"/>
              <a:t>线</a:t>
            </a:r>
            <a:r>
              <a:rPr lang="zh-CN" altLang="en-US" dirty="0" smtClean="0"/>
              <a:t>段会对偶成什么呢？</a:t>
            </a:r>
            <a:endParaRPr lang="en-US" altLang="zh-CN" dirty="0" smtClean="0"/>
          </a:p>
          <a:p>
            <a:r>
              <a:rPr lang="zh-CN" altLang="en-US" dirty="0" smtClean="0"/>
              <a:t>凸包的深入的理解</a:t>
            </a:r>
            <a:endParaRPr lang="en-US" altLang="zh-CN" dirty="0" smtClean="0"/>
          </a:p>
          <a:p>
            <a:pPr lvl="1"/>
            <a:r>
              <a:rPr lang="en-US" dirty="0" smtClean="0"/>
              <a:t>Y</a:t>
            </a:r>
            <a:r>
              <a:rPr lang="zh-CN" altLang="en-US" dirty="0" smtClean="0"/>
              <a:t>坐标最</a:t>
            </a:r>
            <a:r>
              <a:rPr lang="zh-CN" altLang="en-US" dirty="0"/>
              <a:t>小</a:t>
            </a:r>
            <a:r>
              <a:rPr lang="zh-CN" altLang="en-US" dirty="0" smtClean="0"/>
              <a:t>的点一定在凸包上</a:t>
            </a:r>
            <a:endParaRPr lang="en-US" altLang="zh-CN" dirty="0" smtClean="0"/>
          </a:p>
          <a:p>
            <a:pPr lvl="1"/>
            <a:r>
              <a:rPr lang="zh-CN" altLang="en-US" dirty="0"/>
              <a:t>不</a:t>
            </a:r>
            <a:r>
              <a:rPr lang="zh-CN" altLang="en-US" dirty="0" smtClean="0"/>
              <a:t>论如何旋转凸包依旧不变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点出现在凸包上说明早某一个斜率下最近</a:t>
            </a:r>
            <a:endParaRPr lang="en-US" altLang="zh-CN" dirty="0" smtClean="0"/>
          </a:p>
          <a:p>
            <a:pPr lvl="1"/>
            <a:r>
              <a:rPr lang="zh-CN" altLang="en-US" dirty="0"/>
              <a:t>旋</a:t>
            </a:r>
            <a:r>
              <a:rPr lang="zh-CN" altLang="en-US" dirty="0" smtClean="0"/>
              <a:t>转</a:t>
            </a:r>
            <a:r>
              <a:rPr lang="en-US" altLang="zh-CN" dirty="0" smtClean="0"/>
              <a:t>2</a:t>
            </a:r>
            <a:r>
              <a:rPr lang="el-GR" altLang="zh-CN" dirty="0" smtClean="0"/>
              <a:t>π</a:t>
            </a:r>
            <a:r>
              <a:rPr lang="zh-CN" altLang="en-US" dirty="0" smtClean="0"/>
              <a:t>，</a:t>
            </a:r>
            <a:r>
              <a:rPr lang="en-US" altLang="zh-CN" dirty="0" smtClean="0"/>
              <a:t>y</a:t>
            </a:r>
            <a:r>
              <a:rPr lang="zh-CN" altLang="en-US" dirty="0" smtClean="0"/>
              <a:t>坐标最小点的集合就是凸包！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对</a:t>
            </a:r>
            <a:r>
              <a:rPr lang="zh-CN" altLang="en-US" dirty="0" smtClean="0"/>
              <a:t>偶的引入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1763E-5604-4292-B138-56ADD2BDAA05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2663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对于一个斜率</a:t>
            </a:r>
            <a:r>
              <a:rPr lang="en-US" altLang="zh-CN" dirty="0" smtClean="0"/>
              <a:t>k</a:t>
            </a:r>
            <a:r>
              <a:rPr lang="zh-CN" altLang="en-US" dirty="0" smtClean="0"/>
              <a:t>，点</a:t>
            </a:r>
            <a:r>
              <a:rPr lang="en-US" altLang="zh-CN" dirty="0" smtClean="0"/>
              <a:t>p(</a:t>
            </a:r>
            <a:r>
              <a:rPr lang="en-US" altLang="zh-CN" dirty="0" err="1" smtClean="0"/>
              <a:t>a,b</a:t>
            </a:r>
            <a:r>
              <a:rPr lang="en-US" altLang="zh-CN" dirty="0" smtClean="0"/>
              <a:t>)</a:t>
            </a:r>
            <a:r>
              <a:rPr lang="zh-CN" altLang="en-US" dirty="0" smtClean="0"/>
              <a:t>距离直线的距离可规范化为</a:t>
            </a:r>
            <a:r>
              <a:rPr lang="en-US" altLang="zh-CN" dirty="0" err="1"/>
              <a:t>a</a:t>
            </a:r>
            <a:r>
              <a:rPr lang="en-US" altLang="zh-CN" dirty="0" err="1" smtClean="0"/>
              <a:t>x+b</a:t>
            </a:r>
            <a:endParaRPr lang="en-US" altLang="zh-CN" dirty="0" smtClean="0"/>
          </a:p>
          <a:p>
            <a:r>
              <a:rPr lang="zh-CN" altLang="en-US" dirty="0" smtClean="0"/>
              <a:t>恰好是对偶平面内</a:t>
            </a:r>
            <a:r>
              <a:rPr lang="en-US" altLang="zh-CN" dirty="0" smtClean="0"/>
              <a:t>x=k</a:t>
            </a:r>
            <a:r>
              <a:rPr lang="zh-CN" altLang="en-US" dirty="0" smtClean="0"/>
              <a:t>直线与</a:t>
            </a:r>
            <a:r>
              <a:rPr lang="en-US" altLang="zh-CN" dirty="0" smtClean="0"/>
              <a:t>p*</a:t>
            </a:r>
            <a:r>
              <a:rPr lang="zh-CN" altLang="en-US" dirty="0" smtClean="0"/>
              <a:t>的交点！</a:t>
            </a:r>
            <a:endParaRPr lang="en-US" altLang="zh-CN" dirty="0" smtClean="0"/>
          </a:p>
          <a:p>
            <a:r>
              <a:rPr lang="en-US" altLang="zh-CN" dirty="0" smtClean="0"/>
              <a:t>Lower envelope of the lines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对偶的引入</a:t>
            </a:r>
            <a:endParaRPr lang="en-US" dirty="0"/>
          </a:p>
        </p:txBody>
      </p:sp>
      <p:pic>
        <p:nvPicPr>
          <p:cNvPr id="4" name="Picture 4" descr="Z:\6.838\245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7"/>
          <a:stretch>
            <a:fillRect/>
          </a:stretch>
        </p:blipFill>
        <p:spPr bwMode="auto">
          <a:xfrm>
            <a:off x="1115616" y="3645024"/>
            <a:ext cx="6705600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FFAD2-35C1-4695-9136-9BD8DEE8E8DC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8942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注意：斜率的旋转范围只有</a:t>
            </a:r>
            <a:r>
              <a:rPr lang="en-US" altLang="zh-CN" dirty="0" smtClean="0"/>
              <a:t>π!</a:t>
            </a:r>
          </a:p>
          <a:p>
            <a:r>
              <a:rPr lang="zh-CN" altLang="en-US" dirty="0" smtClean="0"/>
              <a:t>分上凸壳和下凸壳考虑</a:t>
            </a:r>
            <a:endParaRPr lang="en-US" altLang="zh-CN" dirty="0" smtClean="0"/>
          </a:p>
          <a:p>
            <a:r>
              <a:rPr lang="en-US" dirty="0" smtClean="0"/>
              <a:t>Upper envelope and Lower envelope</a:t>
            </a:r>
          </a:p>
          <a:p>
            <a:r>
              <a:rPr lang="zh-CN" altLang="en-US" dirty="0"/>
              <a:t>完</a:t>
            </a:r>
            <a:r>
              <a:rPr lang="zh-CN" altLang="en-US" dirty="0" smtClean="0"/>
              <a:t>全对偶？</a:t>
            </a:r>
            <a:r>
              <a:rPr lang="en-US" altLang="zh-CN" dirty="0" smtClean="0"/>
              <a:t>Yep! But non-trivial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对偶的引入</a:t>
            </a:r>
            <a:endParaRPr lang="en-US" dirty="0"/>
          </a:p>
        </p:txBody>
      </p:sp>
      <p:pic>
        <p:nvPicPr>
          <p:cNvPr id="5" name="Picture 4" descr="Z:\6.838\245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97"/>
          <a:stretch>
            <a:fillRect/>
          </a:stretch>
        </p:blipFill>
        <p:spPr bwMode="auto">
          <a:xfrm>
            <a:off x="1115616" y="3645024"/>
            <a:ext cx="6705600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C7035-064F-465F-983C-FFF88E70EE60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6924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最大或最小化目标函数的值</a:t>
                </a:r>
                <a:endParaRPr lang="en-US" altLang="zh-CN" dirty="0" smtClean="0"/>
              </a:p>
              <a:p>
                <a:pPr lvl="1"/>
                <a:r>
                  <a:rPr lang="en-US" dirty="0" smtClean="0"/>
                  <a:t>maximize </a:t>
                </a:r>
                <a:r>
                  <a:rPr lang="en-US" dirty="0" err="1" smtClean="0"/>
                  <a:t>ax+by</a:t>
                </a:r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</m:e>
                    </m:acc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𝑎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𝑏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zh-CN" altLang="en-US" dirty="0" smtClean="0"/>
                  <a:t>我们并不需要计算出整个解集</a:t>
                </a:r>
                <a:endParaRPr lang="en-US" dirty="0"/>
              </a:p>
              <a:p>
                <a:r>
                  <a:rPr lang="zh-CN" altLang="en-US" dirty="0" smtClean="0"/>
                  <a:t>只需要判断</a:t>
                </a:r>
                <a:endParaRPr lang="en-US" altLang="zh-CN" dirty="0"/>
              </a:p>
              <a:p>
                <a:pPr lvl="1"/>
                <a:r>
                  <a:rPr lang="zh-CN" altLang="en-US" dirty="0" smtClean="0"/>
                  <a:t>有解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无</a:t>
                </a:r>
                <a:r>
                  <a:rPr lang="zh-CN" altLang="en-US" dirty="0" smtClean="0"/>
                  <a:t>解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无</a:t>
                </a:r>
                <a:r>
                  <a:rPr lang="zh-CN" altLang="en-US" dirty="0" smtClean="0"/>
                  <a:t>界</a:t>
                </a:r>
                <a:endParaRPr lang="en-US" dirty="0"/>
              </a:p>
              <a:p>
                <a:r>
                  <a:rPr lang="zh-CN" altLang="en-US" dirty="0"/>
                  <a:t>无</a:t>
                </a:r>
                <a:r>
                  <a:rPr lang="zh-CN" altLang="en-US" dirty="0" smtClean="0"/>
                  <a:t>界的问题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简化：加一个极大的框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简化的版本：线性规划问题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E0F74-ADC9-46A7-A9A6-7EC055E43B5F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585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475598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线性规划的凸性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最优</a:t>
                </a:r>
                <a:r>
                  <a:rPr lang="zh-CN" altLang="en-US" dirty="0" smtClean="0"/>
                  <a:t>解一定在解集的顶点上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朴</a:t>
                </a:r>
                <a:r>
                  <a:rPr lang="zh-CN" altLang="en-US" dirty="0" smtClean="0"/>
                  <a:t>素的枚举</a:t>
                </a:r>
                <a:r>
                  <a:rPr lang="en-US" altLang="zh-CN" dirty="0" smtClean="0"/>
                  <a:t>O(N</a:t>
                </a:r>
                <a:r>
                  <a:rPr lang="en-US" altLang="zh-CN" baseline="30000" dirty="0" smtClean="0"/>
                  <a:t>3</a:t>
                </a:r>
                <a:r>
                  <a:rPr lang="zh-CN" altLang="en-US" dirty="0"/>
                  <a:t>）</a:t>
                </a:r>
                <a:endParaRPr lang="en-US" altLang="zh-CN" dirty="0" smtClean="0"/>
              </a:p>
              <a:p>
                <a:r>
                  <a:rPr lang="zh-CN" altLang="en-US" dirty="0"/>
                  <a:t>考</a:t>
                </a:r>
                <a:r>
                  <a:rPr lang="zh-CN" altLang="en-US" dirty="0" smtClean="0"/>
                  <a:t>虑一个增量算法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将</a:t>
                </a:r>
                <a:r>
                  <a:rPr lang="en-US" altLang="zh-CN" dirty="0"/>
                  <a:t>h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,h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,…</a:t>
                </a:r>
                <a:r>
                  <a:rPr lang="en-US" altLang="zh-CN" dirty="0" err="1"/>
                  <a:t>h</a:t>
                </a:r>
                <a:r>
                  <a:rPr lang="en-US" altLang="zh-CN" baseline="-25000" dirty="0" err="1"/>
                  <a:t>N</a:t>
                </a:r>
                <a:r>
                  <a:rPr lang="zh-CN" altLang="en-US" dirty="0"/>
                  <a:t>依次插入，维护</a:t>
                </a:r>
                <a:r>
                  <a:rPr lang="en-US" altLang="zh-CN" dirty="0"/>
                  <a:t>H</a:t>
                </a:r>
                <a:r>
                  <a:rPr lang="en-US" altLang="zh-CN" baseline="-25000" dirty="0"/>
                  <a:t>i</a:t>
                </a:r>
                <a:r>
                  <a:rPr lang="zh-CN" altLang="en-US" dirty="0"/>
                  <a:t>的最优解</a:t>
                </a:r>
                <a:r>
                  <a:rPr lang="en-US" altLang="zh-CN" dirty="0" err="1"/>
                  <a:t>C</a:t>
                </a:r>
                <a:r>
                  <a:rPr lang="en-US" altLang="zh-CN" baseline="-25000" dirty="0" err="1"/>
                  <a:t>i</a:t>
                </a:r>
                <a:endParaRPr lang="en-US" altLang="zh-CN" baseline="-25000" dirty="0"/>
              </a:p>
              <a:p>
                <a:pPr lvl="1"/>
                <a:r>
                  <a:rPr lang="en-US" altLang="zh-CN" dirty="0"/>
                  <a:t>C</a:t>
                </a:r>
                <a:r>
                  <a:rPr lang="en-US" altLang="zh-CN" baseline="-25000" dirty="0"/>
                  <a:t>i-1</a:t>
                </a:r>
                <a:r>
                  <a:rPr lang="zh-CN" altLang="en-US" dirty="0"/>
                  <a:t>满足</a:t>
                </a:r>
                <a:r>
                  <a:rPr lang="en-US" altLang="zh-CN" dirty="0"/>
                  <a:t>h</a:t>
                </a:r>
                <a:r>
                  <a:rPr lang="en-US" altLang="zh-CN" baseline="-25000" dirty="0"/>
                  <a:t>i</a:t>
                </a:r>
                <a:r>
                  <a:rPr lang="zh-CN" altLang="en-US" dirty="0" smtClean="0"/>
                  <a:t>则</a:t>
                </a:r>
                <a:r>
                  <a:rPr lang="en-US" altLang="zh-CN" dirty="0" err="1" smtClean="0"/>
                  <a:t>C</a:t>
                </a:r>
                <a:r>
                  <a:rPr lang="en-US" altLang="zh-CN" baseline="-25000" dirty="0" err="1" smtClean="0"/>
                  <a:t>i</a:t>
                </a:r>
                <a:r>
                  <a:rPr lang="en-US" altLang="zh-CN" dirty="0" smtClean="0"/>
                  <a:t>=C</a:t>
                </a:r>
                <a:r>
                  <a:rPr lang="en-US" altLang="zh-CN" baseline="-25000" dirty="0" smtClean="0"/>
                  <a:t>i-1</a:t>
                </a:r>
                <a:endParaRPr lang="en-US" altLang="zh-CN" baseline="-25000" dirty="0"/>
              </a:p>
              <a:p>
                <a:pPr lvl="1"/>
                <a:r>
                  <a:rPr lang="zh-CN" altLang="en-US" dirty="0"/>
                  <a:t>否则求出</a:t>
                </a:r>
                <a:r>
                  <a:rPr lang="en-US" altLang="zh-CN" dirty="0" smtClean="0"/>
                  <a:t>h</a:t>
                </a:r>
                <a:r>
                  <a:rPr lang="en-US" altLang="zh-CN" baseline="-25000" dirty="0" smtClean="0"/>
                  <a:t>1</a:t>
                </a:r>
                <a:r>
                  <a:rPr lang="en-US" altLang="zh-CN" dirty="0" smtClean="0"/>
                  <a:t>~h</a:t>
                </a:r>
                <a:r>
                  <a:rPr lang="en-US" altLang="zh-CN" baseline="-25000" dirty="0" smtClean="0"/>
                  <a:t>i</a:t>
                </a:r>
                <a:r>
                  <a:rPr lang="zh-CN" altLang="en-US" dirty="0"/>
                  <a:t>在</a:t>
                </a:r>
                <a:r>
                  <a:rPr lang="en-US" altLang="zh-CN" dirty="0" smtClean="0"/>
                  <a:t>h</a:t>
                </a:r>
                <a:r>
                  <a:rPr lang="en-US" altLang="zh-CN" baseline="-25000" dirty="0" smtClean="0"/>
                  <a:t>i+1</a:t>
                </a:r>
                <a:r>
                  <a:rPr lang="zh-CN" altLang="en-US" dirty="0"/>
                  <a:t>的交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找出两个端点中最优的作为</a:t>
                </a:r>
                <a:r>
                  <a:rPr lang="en-US" altLang="zh-CN" dirty="0" smtClean="0"/>
                  <a:t>C</a:t>
                </a:r>
                <a:r>
                  <a:rPr lang="en-US" altLang="zh-CN" baseline="-25000" dirty="0" smtClean="0"/>
                  <a:t>i+1</a:t>
                </a:r>
              </a:p>
              <a:p>
                <a:r>
                  <a:rPr lang="zh-CN" altLang="en-US" dirty="0"/>
                  <a:t>复杂</a:t>
                </a:r>
                <a:r>
                  <a:rPr lang="zh-CN" altLang="en-US" dirty="0" smtClean="0"/>
                  <a:t>度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  <m:r>
                          <a:rPr lang="en-US" altLang="zh-CN" b="0" i="1" baseline="30000" smtClean="0">
                            <a:latin typeface="Cambria Math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 smtClean="0"/>
              </a:p>
              <a:p>
                <a:r>
                  <a:rPr lang="zh-CN" altLang="en-US" dirty="0"/>
                  <a:t>改</a:t>
                </a:r>
                <a:r>
                  <a:rPr lang="zh-CN" altLang="en-US" dirty="0" smtClean="0"/>
                  <a:t>进</a:t>
                </a:r>
                <a:r>
                  <a:rPr lang="zh-CN" altLang="en-US" dirty="0" smtClean="0"/>
                  <a:t>？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将</a:t>
                </a:r>
                <a:r>
                  <a:rPr lang="en-US" altLang="zh-CN" dirty="0" smtClean="0"/>
                  <a:t>h</a:t>
                </a:r>
                <a:r>
                  <a:rPr lang="en-US" altLang="zh-CN" baseline="-25000" dirty="0" smtClean="0"/>
                  <a:t>1</a:t>
                </a:r>
                <a:r>
                  <a:rPr lang="en-US" altLang="zh-CN" dirty="0" smtClean="0"/>
                  <a:t>…</a:t>
                </a:r>
                <a:r>
                  <a:rPr lang="en-US" altLang="zh-CN" dirty="0" err="1" smtClean="0"/>
                  <a:t>h</a:t>
                </a:r>
                <a:r>
                  <a:rPr lang="en-US" altLang="zh-CN" baseline="-25000" dirty="0" err="1" smtClean="0"/>
                  <a:t>N</a:t>
                </a:r>
                <a:r>
                  <a:rPr lang="zh-CN" altLang="en-US" dirty="0" smtClean="0"/>
                  <a:t>随机打乱！</a:t>
                </a:r>
                <a:endParaRPr lang="en-US" altLang="zh-CN" dirty="0" smtClean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4755984"/>
              </a:xfrm>
              <a:blipFill rotWithShape="1">
                <a:blip r:embed="rId2"/>
                <a:stretch>
                  <a:fillRect t="-1923" b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简化的版本：线性规划问题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7ECC85-0D99-47F2-A3FA-3B401CFCDD03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09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随机变量，事件，概率空间，概率分布</a:t>
                </a:r>
                <a:endParaRPr lang="en-US" altLang="zh-CN" dirty="0" smtClean="0"/>
              </a:p>
              <a:p>
                <a:r>
                  <a:rPr lang="zh-CN" altLang="en-US" dirty="0"/>
                  <a:t>离</a:t>
                </a:r>
                <a:r>
                  <a:rPr lang="zh-CN" altLang="en-US" dirty="0" smtClean="0"/>
                  <a:t>散概率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altLang="zh-CN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Ω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[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𝜔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]=1</m:t>
                            </m:r>
                          </m:e>
                        </m:func>
                      </m:e>
                    </m:nary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独立变量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/>
                      </a:rPr>
                      <m:t>Pr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∩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func>
                          <m:func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[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]</m:t>
                            </m:r>
                          </m:e>
                        </m:func>
                      </m:e>
                    </m:func>
                  </m:oMath>
                </a14:m>
                <a:endParaRPr lang="en-US" altLang="zh-CN" dirty="0" smtClean="0"/>
              </a:p>
              <a:p>
                <a:r>
                  <a:rPr lang="zh-CN" altLang="en-US" dirty="0" smtClean="0"/>
                  <a:t>条件概率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𝑋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∩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𝑌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</m:e>
                    </m:func>
                    <m:func>
                      <m:funcPr>
                        <m:ctrlPr>
                          <a:rPr lang="en-US" altLang="zh-CN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𝑋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|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𝑦</m:t>
                            </m:r>
                          </m:e>
                        </m:d>
                        <m:func>
                          <m:funcPr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[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𝑌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/>
                              </a:rPr>
                              <m:t>]</m:t>
                            </m:r>
                          </m:e>
                        </m:func>
                      </m:e>
                    </m:func>
                  </m:oMath>
                </a14:m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en-US" altLang="zh-CN" dirty="0" smtClean="0"/>
                  <a:t>Tip. </a:t>
                </a:r>
                <a:r>
                  <a:rPr lang="zh-CN" altLang="en-US" dirty="0" smtClean="0"/>
                  <a:t>信息熵 </a:t>
                </a:r>
                <a:r>
                  <a:rPr lang="en-US" altLang="zh-CN" dirty="0" smtClean="0"/>
                  <a:t>Entropy</a:t>
                </a:r>
              </a:p>
              <a:p>
                <a:pPr lvl="1"/>
                <a:endParaRPr lang="en-US" altLang="zh-CN" dirty="0" smtClean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概率：基本知识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80F63-C712-420A-A39A-5B3414B0E455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916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随机变量的期望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/>
                          </a:rPr>
                          <m:t>𝜔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𝜔</m:t>
                        </m:r>
                        <m:func>
                          <m:funcPr>
                            <m:ctrlPr>
                              <a:rPr lang="en-US" altLang="zh-CN" b="0" i="1" dirty="0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dirty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[</m:t>
                            </m:r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en-US" altLang="zh-CN" b="0" i="1" dirty="0" smtClean="0">
                                <a:latin typeface="Cambria Math"/>
                              </a:rPr>
                              <m:t>=</m:t>
                            </m:r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𝜔</m:t>
                            </m:r>
                            <m:r>
                              <a:rPr lang="en-US" altLang="zh-CN" b="0" i="1" dirty="0" smtClean="0">
                                <a:latin typeface="Cambria Math"/>
                              </a:rPr>
                              <m:t>]</m:t>
                            </m:r>
                          </m:e>
                        </m:func>
                      </m:e>
                    </m:nary>
                  </m:oMath>
                </a14:m>
                <a:endParaRPr lang="en-US" altLang="zh-CN" b="0" dirty="0" smtClean="0"/>
              </a:p>
              <a:p>
                <a:pPr lvl="1"/>
                <a:r>
                  <a:rPr lang="zh-CN" altLang="en-US" dirty="0" smtClean="0"/>
                  <a:t>期望的线性性：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smtClean="0">
                        <a:latin typeface="Cambria Math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/>
                      </a:rPr>
                      <m:t>E</m:t>
                    </m:r>
                    <m:r>
                      <a:rPr lang="en-US" altLang="zh-CN" b="0" i="1" smtClean="0">
                        <a:latin typeface="Cambria Math"/>
                      </a:rPr>
                      <m:t>[</m:t>
                    </m:r>
                    <m:r>
                      <a:rPr lang="en-US" altLang="zh-CN" b="0" i="1" smtClean="0">
                        <a:latin typeface="Cambria Math"/>
                      </a:rPr>
                      <m:t>𝑌</m:t>
                    </m:r>
                    <m:r>
                      <a:rPr lang="en-US" altLang="zh-CN" b="0" i="1" smtClean="0">
                        <a:latin typeface="Cambria Math"/>
                      </a:rPr>
                      <m:t>]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/>
                  <a:t>运</a:t>
                </a:r>
                <a:r>
                  <a:rPr lang="zh-CN" altLang="en-US" dirty="0" smtClean="0"/>
                  <a:t>行时间的期望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随机变</a:t>
                </a:r>
                <a:r>
                  <a:rPr lang="zh-CN" altLang="en-US" dirty="0" smtClean="0"/>
                  <a:t>量是什么？概率空间和分布是什么？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随机算法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什</a:t>
                </a:r>
                <a:r>
                  <a:rPr lang="zh-CN" altLang="en-US" dirty="0" smtClean="0"/>
                  <a:t>么是算法？</a:t>
                </a:r>
                <a:r>
                  <a:rPr lang="en-US" altLang="zh-CN" dirty="0" smtClean="0"/>
                  <a:t>Turing Machine</a:t>
                </a:r>
              </a:p>
              <a:p>
                <a:pPr lvl="1"/>
                <a:r>
                  <a:rPr lang="zh-CN" altLang="en-US" dirty="0" smtClean="0"/>
                  <a:t>随机算法？</a:t>
                </a:r>
                <a:r>
                  <a:rPr lang="en-US" altLang="zh-CN" dirty="0" smtClean="0"/>
                  <a:t>Turing Machine with a random Tape</a:t>
                </a:r>
              </a:p>
              <a:p>
                <a:pPr lvl="1"/>
                <a:r>
                  <a:rPr lang="en-US" altLang="zh-CN" dirty="0" smtClean="0"/>
                  <a:t>Yao’s Theorem</a:t>
                </a:r>
              </a:p>
              <a:p>
                <a:endParaRPr lang="en-US" altLang="zh-CN" dirty="0" smtClean="0"/>
              </a:p>
              <a:p>
                <a:pPr lvl="1"/>
                <a:endParaRPr lang="en-US" altLang="zh-CN" dirty="0" smtClean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概率：基本知识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697F5-75F6-41E3-B27D-166FE9A62E5C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9296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算法的好坏？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稳</a:t>
                </a:r>
                <a:r>
                  <a:rPr lang="zh-CN" altLang="en-US" dirty="0" smtClean="0"/>
                  <a:t>定与不稳定？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最坏情</a:t>
                </a:r>
                <a:r>
                  <a:rPr lang="zh-CN" altLang="en-US" dirty="0" smtClean="0"/>
                  <a:t>况几乎不会出现的算法？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方差与概率分布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∈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Ω</m:t>
                        </m:r>
                      </m:sub>
                      <m:sup/>
                      <m:e>
                        <m:r>
                          <m:rPr>
                            <m:lit/>
                          </m:rP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𝜔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𝜇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m:rPr>
                                <m:lit/>
                              </m:rPr>
                              <a:rPr lang="en-US" altLang="zh-CN" b="0" i="1" smtClean="0">
                                <a:latin typeface="Cambria Math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𝜔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/>
                              </a:rPr>
                              <m:t>E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altLang="zh-CN" b="0" i="1" smtClean="0">
                                <a:latin typeface="Cambria Math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/>
                              </a:rPr>
                              <m:t>E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altLang="zh-CN" b="0" i="1" smtClean="0">
                                        <a:latin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b="0" i="1" smtClean="0">
                                        <a:latin typeface="Cambria Math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</m:e>
                    </m:nary>
                  </m:oMath>
                </a14:m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b="0" i="1" smtClean="0"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𝑋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/>
                                  </a:rPr>
                                  <m:t>𝜇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/>
                              </a:rPr>
                              <m:t>≤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𝑐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𝜇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(1)</m:t>
                        </m:r>
                      </m:e>
                    </m:func>
                  </m:oMath>
                </a14:m>
                <a:endParaRPr lang="en-US" altLang="zh-CN" b="0" dirty="0" smtClean="0"/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r>
                  <a:rPr lang="en-US" dirty="0" smtClean="0"/>
                  <a:t>Tip For Fun: Courtship Problem</a:t>
                </a:r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概率：基本知识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30C26-A87C-4B69-9FDC-9D9A4F93B08B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850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随机增量求解</a:t>
                </a:r>
                <a:r>
                  <a:rPr lang="en-US" altLang="zh-CN" dirty="0" smtClean="0"/>
                  <a:t>2D</a:t>
                </a:r>
                <a:r>
                  <a:rPr lang="zh-CN" altLang="en-US" dirty="0" smtClean="0"/>
                  <a:t>线性规划</a:t>
                </a:r>
                <a:endParaRPr lang="en-US" altLang="zh-CN" dirty="0" smtClean="0"/>
              </a:p>
              <a:p>
                <a:r>
                  <a:rPr lang="zh-CN" altLang="en-US" dirty="0"/>
                  <a:t>期望时间复杂</a:t>
                </a:r>
                <a:r>
                  <a:rPr lang="zh-CN" altLang="en-US" dirty="0" smtClean="0"/>
                  <a:t>度？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func>
                          <m:func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/>
                              </a:rPr>
                              <m:t>Pr</m:t>
                            </m:r>
                          </m:fName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[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/>
                              </a:rPr>
                              <m:t>=1]</m:t>
                            </m:r>
                          </m:e>
                        </m:func>
                      </m:e>
                    </m:nary>
                  </m:oMath>
                </a14:m>
                <a:endParaRPr lang="en-US" altLang="zh-CN" dirty="0" smtClean="0"/>
              </a:p>
              <a:p>
                <a:r>
                  <a:rPr lang="zh-CN" altLang="en-US" dirty="0"/>
                  <a:t>求</a:t>
                </a:r>
                <a:r>
                  <a:rPr lang="zh-CN" altLang="en-US" dirty="0" smtClean="0"/>
                  <a:t>解</a:t>
                </a:r>
                <a:r>
                  <a:rPr lang="en-US" altLang="zh-CN" dirty="0" err="1" smtClean="0"/>
                  <a:t>Pr</a:t>
                </a:r>
                <a:r>
                  <a:rPr lang="en-US" altLang="zh-CN" dirty="0" smtClean="0"/>
                  <a:t>[X</a:t>
                </a:r>
                <a:r>
                  <a:rPr lang="en-US" altLang="zh-CN" baseline="-25000" dirty="0" smtClean="0"/>
                  <a:t>i</a:t>
                </a:r>
                <a:r>
                  <a:rPr lang="en-US" altLang="zh-CN" dirty="0" smtClean="0"/>
                  <a:t>=1]</a:t>
                </a:r>
                <a:r>
                  <a:rPr lang="zh-CN" altLang="en-US" dirty="0" smtClean="0"/>
                  <a:t>？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逆向求解：</a:t>
                </a:r>
                <a:r>
                  <a:rPr lang="en-US" altLang="zh-CN" dirty="0" smtClean="0"/>
                  <a:t>H</a:t>
                </a:r>
                <a:r>
                  <a:rPr lang="en-US" altLang="zh-CN" baseline="-25000" dirty="0" smtClean="0"/>
                  <a:t>i</a:t>
                </a:r>
                <a:r>
                  <a:rPr lang="en-US" altLang="zh-CN" dirty="0" smtClean="0">
                    <a:sym typeface="Wingdings" pitchFamily="2" charset="2"/>
                  </a:rPr>
                  <a:t>H</a:t>
                </a:r>
                <a:r>
                  <a:rPr lang="en-US" altLang="zh-CN" baseline="-25000" dirty="0" smtClean="0">
                    <a:sym typeface="Wingdings" pitchFamily="2" charset="2"/>
                  </a:rPr>
                  <a:t>i+1 </a:t>
                </a:r>
              </a:p>
              <a:p>
                <a:pPr lvl="1"/>
                <a:r>
                  <a:rPr lang="zh-CN" altLang="en-US" dirty="0" smtClean="0">
                    <a:sym typeface="Wingdings" pitchFamily="2" charset="2"/>
                  </a:rPr>
                  <a:t>删去</a:t>
                </a:r>
                <a:r>
                  <a:rPr lang="en-US" altLang="zh-CN" dirty="0" err="1" smtClean="0">
                    <a:sym typeface="Wingdings" pitchFamily="2" charset="2"/>
                  </a:rPr>
                  <a:t>h</a:t>
                </a:r>
                <a:r>
                  <a:rPr lang="en-US" altLang="zh-CN" baseline="-25000" dirty="0" err="1" smtClean="0">
                    <a:sym typeface="Wingdings" pitchFamily="2" charset="2"/>
                  </a:rPr>
                  <a:t>k</a:t>
                </a:r>
                <a:r>
                  <a:rPr lang="zh-CN" altLang="en-US" dirty="0" smtClean="0">
                    <a:sym typeface="Wingdings" pitchFamily="2" charset="2"/>
                  </a:rPr>
                  <a:t>导致</a:t>
                </a:r>
                <a:r>
                  <a:rPr lang="en-US" altLang="zh-CN" dirty="0" smtClean="0">
                    <a:sym typeface="Wingdings" pitchFamily="2" charset="2"/>
                  </a:rPr>
                  <a:t>C</a:t>
                </a:r>
                <a:r>
                  <a:rPr lang="en-US" altLang="zh-CN" baseline="-25000" dirty="0" smtClean="0">
                    <a:sym typeface="Wingdings" pitchFamily="2" charset="2"/>
                  </a:rPr>
                  <a:t>i+1</a:t>
                </a:r>
                <a:r>
                  <a:rPr lang="zh-CN" altLang="en-US" dirty="0" smtClean="0">
                    <a:sym typeface="Wingdings" pitchFamily="2" charset="2"/>
                  </a:rPr>
                  <a:t>变化！</a:t>
                </a:r>
                <a:endParaRPr lang="en-US" altLang="zh-CN" dirty="0" smtClean="0">
                  <a:sym typeface="Wingdings" pitchFamily="2" charset="2"/>
                </a:endParaRPr>
              </a:p>
              <a:p>
                <a:pPr lvl="1"/>
                <a:r>
                  <a:rPr lang="en-US" altLang="zh-CN" dirty="0" smtClean="0">
                    <a:sym typeface="Wingdings" pitchFamily="2" charset="2"/>
                  </a:rPr>
                  <a:t>C</a:t>
                </a:r>
                <a:r>
                  <a:rPr lang="en-US" altLang="zh-CN" baseline="-25000" dirty="0" smtClean="0">
                    <a:sym typeface="Wingdings" pitchFamily="2" charset="2"/>
                  </a:rPr>
                  <a:t>i+1</a:t>
                </a:r>
                <a:r>
                  <a:rPr lang="zh-CN" altLang="en-US" dirty="0" smtClean="0">
                    <a:sym typeface="Wingdings" pitchFamily="2" charset="2"/>
                  </a:rPr>
                  <a:t>一定在</a:t>
                </a:r>
                <a:r>
                  <a:rPr lang="en-US" altLang="zh-CN" dirty="0" err="1" smtClean="0">
                    <a:sym typeface="Wingdings" pitchFamily="2" charset="2"/>
                  </a:rPr>
                  <a:t>h</a:t>
                </a:r>
                <a:r>
                  <a:rPr lang="en-US" altLang="zh-CN" baseline="-25000" dirty="0" err="1" smtClean="0">
                    <a:sym typeface="Wingdings" pitchFamily="2" charset="2"/>
                  </a:rPr>
                  <a:t>k</a:t>
                </a:r>
                <a:r>
                  <a:rPr lang="zh-CN" altLang="en-US" dirty="0" smtClean="0">
                    <a:sym typeface="Wingdings" pitchFamily="2" charset="2"/>
                  </a:rPr>
                  <a:t>上！</a:t>
                </a:r>
                <a:endParaRPr lang="en-US" altLang="zh-CN" dirty="0" smtClean="0">
                  <a:sym typeface="Wingdings" pitchFamily="2" charset="2"/>
                </a:endParaRPr>
              </a:p>
              <a:p>
                <a:pPr lvl="1"/>
                <a:r>
                  <a:rPr lang="zh-CN" altLang="en-US" dirty="0" smtClean="0"/>
                  <a:t>至多两个可能导致变化的</a:t>
                </a:r>
                <a:r>
                  <a:rPr lang="en-US" altLang="zh-CN" dirty="0" err="1" smtClean="0"/>
                  <a:t>h</a:t>
                </a:r>
                <a:r>
                  <a:rPr lang="en-US" altLang="zh-CN" baseline="-25000" dirty="0" err="1" smtClean="0"/>
                  <a:t>k</a:t>
                </a:r>
                <a:endParaRPr lang="en-US" altLang="zh-CN" baseline="-25000" dirty="0" smtClean="0"/>
              </a:p>
              <a:p>
                <a:r>
                  <a:rPr lang="en-US" dirty="0" err="1" smtClean="0"/>
                  <a:t>Pr</a:t>
                </a:r>
                <a:r>
                  <a:rPr lang="en-US" dirty="0" smtClean="0"/>
                  <a:t>[X</a:t>
                </a:r>
                <a:r>
                  <a:rPr lang="en-US" baseline="-25000" dirty="0" smtClean="0"/>
                  <a:t>i</a:t>
                </a:r>
                <a:r>
                  <a:rPr lang="en-US" altLang="zh-CN" dirty="0" smtClean="0"/>
                  <a:t>=1</a:t>
                </a:r>
                <a:r>
                  <a:rPr lang="en-US" dirty="0" smtClean="0"/>
                  <a:t>]=</a:t>
                </a:r>
                <a:r>
                  <a:rPr lang="en-US" dirty="0" smtClean="0"/>
                  <a:t>2/</a:t>
                </a:r>
                <a:r>
                  <a:rPr lang="en-US" dirty="0" err="1" smtClean="0"/>
                  <a:t>i</a:t>
                </a:r>
                <a:endParaRPr lang="en-US" dirty="0" smtClean="0"/>
              </a:p>
              <a:p>
                <a:r>
                  <a:rPr lang="en-US" dirty="0" smtClean="0"/>
                  <a:t>T(N)=O(N)</a:t>
                </a:r>
                <a:endParaRPr lang="en-US" dirty="0"/>
              </a:p>
            </p:txBody>
          </p:sp>
        </mc:Choice>
        <mc:Fallback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随机增量算法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4932040" y="3068960"/>
            <a:ext cx="3888432" cy="1728192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5084894" y="3335496"/>
            <a:ext cx="3736032" cy="1302695"/>
          </a:xfrm>
          <a:prstGeom prst="line">
            <a:avLst/>
          </a:prstGeom>
          <a:ln w="38100">
            <a:solidFill>
              <a:schemeClr val="accent4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/>
          <p:cNvGrpSpPr/>
          <p:nvPr/>
        </p:nvGrpSpPr>
        <p:grpSpPr>
          <a:xfrm>
            <a:off x="6012160" y="1452282"/>
            <a:ext cx="1872208" cy="3783469"/>
            <a:chOff x="6012160" y="1452282"/>
            <a:chExt cx="1872208" cy="378346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6012160" y="1700808"/>
              <a:ext cx="1440160" cy="3384376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V="1">
              <a:off x="6516216" y="1495654"/>
              <a:ext cx="1368152" cy="3740097"/>
            </a:xfrm>
            <a:prstGeom prst="line">
              <a:avLst/>
            </a:prstGeom>
            <a:ln w="381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reeform 19"/>
            <p:cNvSpPr/>
            <p:nvPr/>
          </p:nvSpPr>
          <p:spPr>
            <a:xfrm>
              <a:off x="6051176" y="1452282"/>
              <a:ext cx="1828800" cy="2474259"/>
            </a:xfrm>
            <a:custGeom>
              <a:avLst/>
              <a:gdLst>
                <a:gd name="connsiteX0" fmla="*/ 0 w 1828800"/>
                <a:gd name="connsiteY0" fmla="*/ 268942 h 2474259"/>
                <a:gd name="connsiteX1" fmla="*/ 941294 w 1828800"/>
                <a:gd name="connsiteY1" fmla="*/ 2474259 h 2474259"/>
                <a:gd name="connsiteX2" fmla="*/ 1801906 w 1828800"/>
                <a:gd name="connsiteY2" fmla="*/ 121024 h 2474259"/>
                <a:gd name="connsiteX3" fmla="*/ 1828800 w 1828800"/>
                <a:gd name="connsiteY3" fmla="*/ 0 h 2474259"/>
                <a:gd name="connsiteX4" fmla="*/ 40342 w 1828800"/>
                <a:gd name="connsiteY4" fmla="*/ 161365 h 2474259"/>
                <a:gd name="connsiteX5" fmla="*/ 0 w 1828800"/>
                <a:gd name="connsiteY5" fmla="*/ 268942 h 2474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28800" h="2474259">
                  <a:moveTo>
                    <a:pt x="0" y="268942"/>
                  </a:moveTo>
                  <a:lnTo>
                    <a:pt x="941294" y="2474259"/>
                  </a:lnTo>
                  <a:lnTo>
                    <a:pt x="1801906" y="121024"/>
                  </a:lnTo>
                  <a:lnTo>
                    <a:pt x="1828800" y="0"/>
                  </a:lnTo>
                  <a:lnTo>
                    <a:pt x="40342" y="161365"/>
                  </a:lnTo>
                  <a:lnTo>
                    <a:pt x="0" y="268942"/>
                  </a:lnTo>
                  <a:close/>
                </a:path>
              </a:pathLst>
            </a:custGeom>
            <a:solidFill>
              <a:schemeClr val="accent1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22" name="Straight Connector 21"/>
          <p:cNvCxnSpPr/>
          <p:nvPr/>
        </p:nvCxnSpPr>
        <p:spPr>
          <a:xfrm flipV="1">
            <a:off x="5508104" y="5235751"/>
            <a:ext cx="3312368" cy="497505"/>
          </a:xfrm>
          <a:prstGeom prst="line">
            <a:avLst/>
          </a:prstGeom>
          <a:ln w="381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own Arrow 23"/>
          <p:cNvSpPr/>
          <p:nvPr/>
        </p:nvSpPr>
        <p:spPr>
          <a:xfrm rot="20967200">
            <a:off x="6839259" y="5694282"/>
            <a:ext cx="227302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920502" y="5859493"/>
                <a:ext cx="4332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0502" y="5859493"/>
                <a:ext cx="433260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23684" r="-366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62565-E2C7-4A12-8BD9-0B76A75625D0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6585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24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4900000"/>
              </a:xfrm>
            </p:spPr>
            <p:txBody>
              <a:bodyPr/>
              <a:lstStyle/>
              <a:p>
                <a:r>
                  <a:rPr lang="zh-CN" altLang="en-US" dirty="0" smtClean="0"/>
                  <a:t>寻找一个向量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</m:e>
                    </m:acc>
                  </m:oMath>
                </a14:m>
                <a:r>
                  <a:rPr lang="zh-CN" altLang="en-US" dirty="0" smtClean="0"/>
                  <a:t>满足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𝑐</m:t>
                        </m:r>
                      </m:e>
                    </m:acc>
                    <m:r>
                      <a:rPr lang="en-US" altLang="zh-CN" b="0" i="0" smtClean="0">
                        <a:latin typeface="Cambria Math"/>
                      </a:rPr>
                      <m:t>&gt;0</m:t>
                    </m:r>
                  </m:oMath>
                </a14:m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≥0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dirty="0"/>
                  <a:t>旋</a:t>
                </a:r>
                <a:r>
                  <a:rPr lang="zh-CN" altLang="en-US" dirty="0" smtClean="0"/>
                  <a:t>转坐标系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规</a:t>
                </a:r>
                <a:r>
                  <a:rPr lang="zh-CN" altLang="en-US" dirty="0" smtClean="0"/>
                  <a:t>范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规</a:t>
                </a:r>
                <a:r>
                  <a:rPr lang="zh-CN" altLang="en-US" dirty="0" smtClean="0"/>
                  <a:t>范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d</a:t>
                </a:r>
                <a:r>
                  <a:rPr lang="en-US" altLang="zh-CN" baseline="-25000" dirty="0" smtClean="0"/>
                  <a:t>x</a:t>
                </a:r>
                <a:r>
                  <a:rPr lang="zh-CN" altLang="en-US" dirty="0"/>
                  <a:t>的</a:t>
                </a:r>
                <a:r>
                  <a:rPr lang="zh-CN" altLang="en-US" dirty="0" smtClean="0"/>
                  <a:t>存在性？</a:t>
                </a:r>
                <a:endParaRPr lang="en-US" altLang="zh-CN" dirty="0" smtClean="0"/>
              </a:p>
              <a:p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维线性规划问题！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d</a:t>
                </a:r>
                <a:r>
                  <a:rPr lang="en-US" altLang="zh-CN" baseline="-25000" dirty="0" smtClean="0"/>
                  <a:t>x</a:t>
                </a:r>
                <a:r>
                  <a:rPr lang="zh-CN" altLang="en-US" dirty="0" smtClean="0"/>
                  <a:t>为可行的斜率！</a:t>
                </a:r>
                <a:endParaRPr lang="en-US" altLang="zh-CN" dirty="0" smtClean="0"/>
              </a:p>
              <a:p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维问题有解，则原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维问题无界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合</a:t>
                </a:r>
                <a:r>
                  <a:rPr lang="zh-CN" altLang="en-US" dirty="0" smtClean="0"/>
                  <a:t>理的“框”的大小</a:t>
                </a:r>
                <a:endParaRPr lang="en-US" altLang="zh-CN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4900000"/>
              </a:xfrm>
              <a:blipFill rotWithShape="1">
                <a:blip r:embed="rId2"/>
                <a:stretch>
                  <a:fillRect t="-7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无界的线性规划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6037729" y="5235752"/>
            <a:ext cx="2782743" cy="0"/>
          </a:xfrm>
          <a:prstGeom prst="line">
            <a:avLst/>
          </a:prstGeom>
          <a:ln w="38100">
            <a:solidFill>
              <a:schemeClr val="accent3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own Arrow 6"/>
          <p:cNvSpPr/>
          <p:nvPr/>
        </p:nvSpPr>
        <p:spPr>
          <a:xfrm>
            <a:off x="6510705" y="5362398"/>
            <a:ext cx="365551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729029" y="5363267"/>
                <a:ext cx="17727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/>
                        </a:rPr>
                        <m:t>=(0,−1)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029" y="5363267"/>
                <a:ext cx="1772793" cy="461665"/>
              </a:xfrm>
              <a:prstGeom prst="rect">
                <a:avLst/>
              </a:prstGeom>
              <a:blipFill rotWithShape="1">
                <a:blip r:embed="rId3"/>
                <a:stretch>
                  <a:fillRect t="-23684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/>
          <p:cNvGrpSpPr/>
          <p:nvPr/>
        </p:nvGrpSpPr>
        <p:grpSpPr>
          <a:xfrm>
            <a:off x="4932040" y="1143000"/>
            <a:ext cx="3996807" cy="3942184"/>
            <a:chOff x="4932040" y="1143000"/>
            <a:chExt cx="3996807" cy="3942184"/>
          </a:xfrm>
        </p:grpSpPr>
        <p:cxnSp>
          <p:nvCxnSpPr>
            <p:cNvPr id="4" name="Straight Connector 3"/>
            <p:cNvCxnSpPr/>
            <p:nvPr/>
          </p:nvCxnSpPr>
          <p:spPr>
            <a:xfrm>
              <a:off x="6012160" y="1700808"/>
              <a:ext cx="1440160" cy="3384376"/>
            </a:xfrm>
            <a:prstGeom prst="line">
              <a:avLst/>
            </a:prstGeom>
            <a:ln w="3810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>
              <a:off x="4932040" y="3068960"/>
              <a:ext cx="3888432" cy="1728192"/>
            </a:xfrm>
            <a:prstGeom prst="line">
              <a:avLst/>
            </a:prstGeom>
            <a:ln w="38100">
              <a:solidFill>
                <a:schemeClr val="accent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037729" y="1143000"/>
              <a:ext cx="2891118" cy="3617259"/>
            </a:xfrm>
            <a:custGeom>
              <a:avLst/>
              <a:gdLst>
                <a:gd name="connsiteX0" fmla="*/ 0 w 2891118"/>
                <a:gd name="connsiteY0" fmla="*/ 564776 h 3617259"/>
                <a:gd name="connsiteX1" fmla="*/ 954742 w 2891118"/>
                <a:gd name="connsiteY1" fmla="*/ 2810435 h 3617259"/>
                <a:gd name="connsiteX2" fmla="*/ 2796989 w 2891118"/>
                <a:gd name="connsiteY2" fmla="*/ 3617259 h 3617259"/>
                <a:gd name="connsiteX3" fmla="*/ 2891118 w 2891118"/>
                <a:gd name="connsiteY3" fmla="*/ 1264024 h 3617259"/>
                <a:gd name="connsiteX4" fmla="*/ 2178424 w 2891118"/>
                <a:gd name="connsiteY4" fmla="*/ 0 h 3617259"/>
                <a:gd name="connsiteX5" fmla="*/ 0 w 2891118"/>
                <a:gd name="connsiteY5" fmla="*/ 564776 h 3617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91118" h="3617259">
                  <a:moveTo>
                    <a:pt x="0" y="564776"/>
                  </a:moveTo>
                  <a:lnTo>
                    <a:pt x="954742" y="2810435"/>
                  </a:lnTo>
                  <a:lnTo>
                    <a:pt x="2796989" y="3617259"/>
                  </a:lnTo>
                  <a:lnTo>
                    <a:pt x="2891118" y="1264024"/>
                  </a:lnTo>
                  <a:lnTo>
                    <a:pt x="2178424" y="0"/>
                  </a:lnTo>
                  <a:lnTo>
                    <a:pt x="0" y="564776"/>
                  </a:lnTo>
                  <a:close/>
                </a:path>
              </a:pathLst>
            </a:custGeom>
            <a:solidFill>
              <a:schemeClr val="accent1">
                <a:alpha val="1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Arrow Connector 10"/>
          <p:cNvCxnSpPr/>
          <p:nvPr/>
        </p:nvCxnSpPr>
        <p:spPr>
          <a:xfrm flipV="1">
            <a:off x="7644433" y="3538625"/>
            <a:ext cx="297041" cy="625263"/>
          </a:xfrm>
          <a:prstGeom prst="straightConnector1">
            <a:avLst/>
          </a:prstGeom>
          <a:ln w="63500">
            <a:solidFill>
              <a:srgbClr val="7030A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749361" y="3702223"/>
                <a:ext cx="552972" cy="5162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9361" y="3702223"/>
                <a:ext cx="552972" cy="51623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696453" y="3307793"/>
                <a:ext cx="177279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/>
                        </a:rPr>
                        <m:t>=(0,−1)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453" y="3307793"/>
                <a:ext cx="1772793" cy="461665"/>
              </a:xfrm>
              <a:prstGeom prst="rect">
                <a:avLst/>
              </a:prstGeom>
              <a:blipFill rotWithShape="1">
                <a:blip r:embed="rId5"/>
                <a:stretch>
                  <a:fillRect t="-24000" b="-14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696453" y="3702040"/>
                <a:ext cx="1969514" cy="5162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𝑑</m:t>
                          </m:r>
                        </m:e>
                      </m:acc>
                      <m:r>
                        <a:rPr lang="en-US" altLang="zh-CN" sz="2400" b="0" i="1" smtClean="0">
                          <a:latin typeface="Cambria Math"/>
                        </a:rPr>
                        <m:t>=(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/>
                            </a:rPr>
                            <m:t>𝑑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/>
                        </a:rPr>
                        <m:t>,−1)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6453" y="3702040"/>
                <a:ext cx="1969514" cy="5162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8363506" y="1700808"/>
            <a:ext cx="565341" cy="3384376"/>
            <a:chOff x="8363506" y="1700808"/>
            <a:chExt cx="565341" cy="3384376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8820472" y="1700808"/>
              <a:ext cx="108375" cy="3384376"/>
            </a:xfrm>
            <a:prstGeom prst="line">
              <a:avLst/>
            </a:prstGeom>
            <a:ln w="38100">
              <a:solidFill>
                <a:srgbClr val="00B05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 flipH="1">
              <a:off x="8363506" y="3307793"/>
              <a:ext cx="456966" cy="0"/>
            </a:xfrm>
            <a:prstGeom prst="straightConnector1">
              <a:avLst/>
            </a:prstGeom>
            <a:ln w="63500">
              <a:solidFill>
                <a:srgbClr val="7030A0"/>
              </a:solidFill>
              <a:prstDash val="sys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Straight Arrow Connector 17"/>
          <p:cNvCxnSpPr/>
          <p:nvPr/>
        </p:nvCxnSpPr>
        <p:spPr>
          <a:xfrm>
            <a:off x="7092280" y="2951629"/>
            <a:ext cx="1080120" cy="441367"/>
          </a:xfrm>
          <a:prstGeom prst="straightConnector1">
            <a:avLst/>
          </a:prstGeom>
          <a:ln w="63500">
            <a:solidFill>
              <a:srgbClr val="FFC000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7546126" y="2694208"/>
                <a:ext cx="470129" cy="5162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400" b="0" i="1" smtClean="0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𝑑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126" y="2694208"/>
                <a:ext cx="470129" cy="5162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9276E3-FA57-498F-A400-08BC4CC66F6F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822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7" grpId="0" animBg="1"/>
      <p:bldP spid="8" grpId="0"/>
      <p:bldP spid="12" grpId="0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475598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随机增量算法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一个极值点会被至多</a:t>
                </a:r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个面确定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每</a:t>
                </a:r>
                <a:r>
                  <a:rPr lang="zh-CN" altLang="en-US" dirty="0" smtClean="0"/>
                  <a:t>次需要更新的概率是</a:t>
                </a:r>
                <a:r>
                  <a:rPr lang="en-US" altLang="zh-CN" dirty="0" smtClean="0"/>
                  <a:t>3/</a:t>
                </a:r>
                <a:r>
                  <a:rPr lang="en-US" altLang="zh-CN" dirty="0" err="1" smtClean="0"/>
                  <a:t>i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如何更新？？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投影！一个新的</a:t>
                </a:r>
                <a:r>
                  <a:rPr lang="en-US" altLang="zh-CN" dirty="0" smtClean="0"/>
                  <a:t>2D</a:t>
                </a:r>
                <a:r>
                  <a:rPr lang="zh-CN" altLang="en-US" dirty="0" smtClean="0"/>
                  <a:t>线性规划问题</a:t>
                </a:r>
                <a:r>
                  <a:rPr lang="en-US" altLang="zh-CN" dirty="0" smtClean="0"/>
                  <a:t>O(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)</a:t>
                </a:r>
              </a:p>
              <a:p>
                <a:r>
                  <a:rPr lang="zh-CN" altLang="en-US" dirty="0" smtClean="0"/>
                  <a:t>如何判断无界？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判</a:t>
                </a:r>
                <a:r>
                  <a:rPr lang="zh-CN" altLang="en-US" dirty="0" smtClean="0"/>
                  <a:t>断目标向量的存在性！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三维空</a:t>
                </a:r>
                <a:r>
                  <a:rPr lang="zh-CN" altLang="en-US" dirty="0" smtClean="0"/>
                  <a:t>间的旋转？？？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投影！</a:t>
                </a:r>
                <a:r>
                  <a:rPr lang="en-US" altLang="zh-CN" dirty="0" smtClean="0"/>
                  <a:t>2D</a:t>
                </a:r>
                <a:r>
                  <a:rPr lang="zh-CN" altLang="en-US" dirty="0" smtClean="0"/>
                  <a:t>的线性规划问题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时间复杂度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=3</m:t>
                        </m:r>
                      </m:sub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4755984"/>
              </a:xfrm>
              <a:blipFill rotWithShape="1">
                <a:blip r:embed="rId2"/>
                <a:stretch>
                  <a:fillRect t="-1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</a:t>
            </a:r>
            <a:r>
              <a:rPr lang="zh-CN" altLang="en-US" dirty="0" smtClean="0"/>
              <a:t>维空间的线性规划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58BE6-CD47-47BC-ACD2-7E66B77356C2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163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随机增量算法</a:t>
            </a:r>
            <a:endParaRPr lang="en-US" altLang="zh-CN" dirty="0" smtClean="0"/>
          </a:p>
          <a:p>
            <a:pPr lvl="1"/>
            <a:r>
              <a:rPr lang="zh-CN" altLang="en-US" dirty="0"/>
              <a:t>冲突概</a:t>
            </a:r>
            <a:r>
              <a:rPr lang="zh-CN" altLang="en-US" dirty="0" smtClean="0"/>
              <a:t>率：</a:t>
            </a:r>
            <a:r>
              <a:rPr lang="en-US" altLang="zh-CN" dirty="0" smtClean="0"/>
              <a:t>d/</a:t>
            </a:r>
            <a:r>
              <a:rPr lang="en-US" altLang="zh-CN" dirty="0" err="1" smtClean="0"/>
              <a:t>i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更新方式：投影</a:t>
            </a:r>
            <a:r>
              <a:rPr lang="en-US" altLang="zh-CN" dirty="0" smtClean="0"/>
              <a:t>+d-1</a:t>
            </a:r>
            <a:r>
              <a:rPr lang="zh-CN" altLang="en-US" dirty="0" smtClean="0"/>
              <a:t>维线性规划，</a:t>
            </a:r>
            <a:r>
              <a:rPr lang="en-US" altLang="zh-CN" dirty="0" smtClean="0"/>
              <a:t>O(N)</a:t>
            </a:r>
          </a:p>
          <a:p>
            <a:pPr lvl="1"/>
            <a:r>
              <a:rPr lang="zh-CN" altLang="en-US" dirty="0"/>
              <a:t>无</a:t>
            </a:r>
            <a:r>
              <a:rPr lang="zh-CN" altLang="en-US" dirty="0" smtClean="0"/>
              <a:t>界判断：投影</a:t>
            </a:r>
            <a:r>
              <a:rPr lang="en-US" altLang="zh-CN" dirty="0" smtClean="0"/>
              <a:t>+d-1</a:t>
            </a:r>
            <a:r>
              <a:rPr lang="zh-CN" altLang="en-US" dirty="0" smtClean="0"/>
              <a:t>维线性规划，</a:t>
            </a:r>
            <a:r>
              <a:rPr lang="en-US" altLang="zh-CN" dirty="0" smtClean="0"/>
              <a:t>O(N)</a:t>
            </a:r>
          </a:p>
          <a:p>
            <a:r>
              <a:rPr lang="zh-CN" altLang="en-US" dirty="0"/>
              <a:t>内</a:t>
            </a:r>
            <a:r>
              <a:rPr lang="zh-CN" altLang="en-US" dirty="0" smtClean="0"/>
              <a:t>在的常数因子？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T(</a:t>
            </a:r>
            <a:r>
              <a:rPr lang="en-US" altLang="zh-CN" dirty="0" err="1" smtClean="0"/>
              <a:t>d,N</a:t>
            </a:r>
            <a:r>
              <a:rPr lang="en-US" altLang="zh-CN" dirty="0" smtClean="0"/>
              <a:t>)=O(</a:t>
            </a:r>
            <a:r>
              <a:rPr lang="en-US" altLang="zh-CN" dirty="0" err="1" smtClean="0"/>
              <a:t>d!N</a:t>
            </a:r>
            <a:r>
              <a:rPr lang="en-US" altLang="zh-CN" dirty="0" smtClean="0"/>
              <a:t>)</a:t>
            </a:r>
          </a:p>
          <a:p>
            <a:r>
              <a:rPr lang="en-US" dirty="0" smtClean="0"/>
              <a:t>Simplex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1"/>
            <a:r>
              <a:rPr lang="zh-CN" altLang="en-US" dirty="0"/>
              <a:t>单纯</a:t>
            </a:r>
            <a:r>
              <a:rPr lang="zh-CN" altLang="en-US" dirty="0" smtClean="0"/>
              <a:t>形法处理高维度的线性规划问题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当维度可以认为是常数时，采用计算几何的方法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 smtClean="0"/>
              <a:t>维空间的线性规划问题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FCBEB-942A-4ADA-B962-9426BA06D9A7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5139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</a:t>
            </a:r>
            <a:r>
              <a:rPr lang="zh-CN" altLang="en-US" dirty="0" smtClean="0"/>
              <a:t>个经典的随机增量算法的应用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 smtClean="0"/>
              <a:t>给定一个平面点集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，求一个圆</a:t>
            </a:r>
            <a:r>
              <a:rPr lang="en-US" altLang="zh-CN" dirty="0" smtClean="0"/>
              <a:t>C(</a:t>
            </a:r>
            <a:r>
              <a:rPr lang="en-US" altLang="zh-CN" dirty="0" err="1" smtClean="0"/>
              <a:t>x,y,r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，包含</a:t>
            </a:r>
            <a:r>
              <a:rPr lang="en-US" altLang="zh-CN" dirty="0" smtClean="0"/>
              <a:t>P</a:t>
            </a:r>
            <a:r>
              <a:rPr lang="zh-CN" altLang="en-US" dirty="0" smtClean="0"/>
              <a:t>中所有的点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/>
              <a:t>简</a:t>
            </a:r>
            <a:r>
              <a:rPr lang="zh-CN" altLang="en-US" dirty="0" smtClean="0"/>
              <a:t>单的结论：最佳答案至少被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个点确定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 smtClean="0"/>
              <a:t>朴素的枚举：</a:t>
            </a:r>
            <a:r>
              <a:rPr lang="en-US" altLang="zh-CN" dirty="0" smtClean="0"/>
              <a:t>O(N</a:t>
            </a:r>
            <a:r>
              <a:rPr lang="en-US" altLang="zh-CN" baseline="30000" dirty="0" smtClean="0"/>
              <a:t>4</a:t>
            </a:r>
            <a:r>
              <a:rPr lang="en-US" altLang="zh-CN" dirty="0" smtClean="0"/>
              <a:t>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最小外接圆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89AB9-9F4A-4E83-8673-D62768C1362A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936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利用几何性质的优化</a:t>
            </a:r>
            <a:endParaRPr lang="en-US" altLang="zh-CN" dirty="0" smtClean="0"/>
          </a:p>
          <a:p>
            <a:pPr lvl="1"/>
            <a:r>
              <a:rPr lang="zh-CN" altLang="en-US" dirty="0"/>
              <a:t>四</a:t>
            </a:r>
            <a:r>
              <a:rPr lang="zh-CN" altLang="en-US" dirty="0" smtClean="0"/>
              <a:t>点共圆的性质</a:t>
            </a:r>
            <a:endParaRPr lang="en-US" altLang="zh-CN" dirty="0" smtClean="0"/>
          </a:p>
          <a:p>
            <a:r>
              <a:rPr lang="zh-CN" altLang="en-US" dirty="0" smtClean="0"/>
              <a:t>枚举底边判断其余点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若两侧最小角度和达到</a:t>
            </a:r>
            <a:r>
              <a:rPr lang="en-US" altLang="zh-CN" dirty="0" smtClean="0"/>
              <a:t>π</a:t>
            </a:r>
            <a:r>
              <a:rPr lang="zh-CN" altLang="en-US" dirty="0" smtClean="0"/>
              <a:t>则可覆盖</a:t>
            </a:r>
            <a:endParaRPr lang="en-US" dirty="0"/>
          </a:p>
          <a:p>
            <a:r>
              <a:rPr lang="zh-CN" altLang="en-US" dirty="0"/>
              <a:t>时</a:t>
            </a:r>
            <a:r>
              <a:rPr lang="zh-CN" altLang="en-US" dirty="0" smtClean="0"/>
              <a:t>间复杂度</a:t>
            </a:r>
            <a:r>
              <a:rPr lang="en-US" altLang="zh-CN" dirty="0" smtClean="0"/>
              <a:t>O(N</a:t>
            </a:r>
            <a:r>
              <a:rPr lang="en-US" altLang="zh-CN" baseline="30000" dirty="0" smtClean="0"/>
              <a:t>3</a:t>
            </a:r>
            <a:r>
              <a:rPr lang="en-US" altLang="zh-CN" dirty="0" smtClean="0"/>
              <a:t>)</a:t>
            </a:r>
          </a:p>
          <a:p>
            <a:endParaRPr lang="en-US" dirty="0" smtClean="0"/>
          </a:p>
          <a:p>
            <a:r>
              <a:rPr lang="zh-CN" altLang="en-US" dirty="0"/>
              <a:t>另一</a:t>
            </a:r>
            <a:r>
              <a:rPr lang="zh-CN" altLang="en-US" dirty="0" smtClean="0"/>
              <a:t>个特殊的问题：</a:t>
            </a:r>
            <a:r>
              <a:rPr lang="en-US" altLang="zh-CN" dirty="0" smtClean="0"/>
              <a:t>T(P,p</a:t>
            </a:r>
            <a:r>
              <a:rPr lang="en-US" altLang="zh-CN" baseline="-25000" dirty="0" smtClean="0"/>
              <a:t>1</a:t>
            </a:r>
            <a:r>
              <a:rPr lang="en-US" altLang="zh-CN" dirty="0" smtClean="0"/>
              <a:t>,p</a:t>
            </a:r>
            <a:r>
              <a:rPr lang="en-US" altLang="zh-CN" baseline="-25000" dirty="0" smtClean="0"/>
              <a:t>2</a:t>
            </a:r>
            <a:r>
              <a:rPr lang="en-US" altLang="zh-CN" dirty="0" smtClean="0"/>
              <a:t>)</a:t>
            </a:r>
          </a:p>
          <a:p>
            <a:pPr lvl="1"/>
            <a:r>
              <a:rPr lang="zh-CN" altLang="en-US" dirty="0"/>
              <a:t>假</a:t>
            </a:r>
            <a:r>
              <a:rPr lang="zh-CN" altLang="en-US" dirty="0" smtClean="0"/>
              <a:t>设给定</a:t>
            </a:r>
            <a:r>
              <a:rPr lang="en-US" altLang="zh-CN" dirty="0" smtClean="0"/>
              <a:t>P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</a:t>
            </a:r>
            <a:r>
              <a:rPr lang="en-US" altLang="zh-CN" baseline="-25000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求最小外接圆</a:t>
            </a:r>
            <a:endParaRPr lang="en-US" altLang="zh-CN" dirty="0"/>
          </a:p>
          <a:p>
            <a:pPr lvl="1"/>
            <a:r>
              <a:rPr lang="zh-CN" altLang="en-US" dirty="0"/>
              <a:t>保</a:t>
            </a:r>
            <a:r>
              <a:rPr lang="zh-CN" altLang="en-US" dirty="0" smtClean="0"/>
              <a:t>证</a:t>
            </a:r>
            <a:r>
              <a:rPr lang="en-US" altLang="zh-CN" dirty="0" smtClean="0"/>
              <a:t>p</a:t>
            </a:r>
            <a:r>
              <a:rPr lang="en-US" altLang="zh-CN" baseline="-25000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一定在圆上</a:t>
            </a:r>
            <a:endParaRPr lang="en-US" altLang="zh-CN" dirty="0" smtClean="0"/>
          </a:p>
          <a:p>
            <a:pPr lvl="1"/>
            <a:r>
              <a:rPr lang="zh-CN" altLang="en-US" dirty="0"/>
              <a:t>复杂</a:t>
            </a:r>
            <a:r>
              <a:rPr lang="zh-CN" altLang="en-US" dirty="0" smtClean="0"/>
              <a:t>度</a:t>
            </a:r>
            <a:r>
              <a:rPr lang="en-US" altLang="zh-CN" dirty="0" smtClean="0"/>
              <a:t>O(N)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最小外接圆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8028384" y="2420888"/>
            <a:ext cx="72008" cy="720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740352" y="4653136"/>
            <a:ext cx="72008" cy="7200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>
            <a:stCxn id="5" idx="5"/>
            <a:endCxn id="6" idx="1"/>
          </p:cNvCxnSpPr>
          <p:nvPr/>
        </p:nvCxnSpPr>
        <p:spPr>
          <a:xfrm>
            <a:off x="6001615" y="3958515"/>
            <a:ext cx="2354472" cy="345126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5940152" y="2636912"/>
            <a:ext cx="2520280" cy="2520280"/>
            <a:chOff x="5940152" y="2636912"/>
            <a:chExt cx="2520280" cy="2520280"/>
          </a:xfrm>
        </p:grpSpPr>
        <p:sp>
          <p:nvSpPr>
            <p:cNvPr id="4" name="Oval 3"/>
            <p:cNvSpPr/>
            <p:nvPr/>
          </p:nvSpPr>
          <p:spPr>
            <a:xfrm>
              <a:off x="5940152" y="2636912"/>
              <a:ext cx="2520280" cy="252028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5940152" y="3897052"/>
              <a:ext cx="72008" cy="7200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8345542" y="4293096"/>
              <a:ext cx="72008" cy="7200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7121406" y="2639961"/>
              <a:ext cx="72008" cy="7200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6025226" y="4365104"/>
              <a:ext cx="72008" cy="72008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Connector 17"/>
            <p:cNvCxnSpPr>
              <a:stCxn id="5" idx="1"/>
              <a:endCxn id="7" idx="2"/>
            </p:cNvCxnSpPr>
            <p:nvPr/>
          </p:nvCxnSpPr>
          <p:spPr>
            <a:xfrm flipV="1">
              <a:off x="5950697" y="2675965"/>
              <a:ext cx="1170709" cy="1231632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7" idx="6"/>
              <a:endCxn id="6" idx="0"/>
            </p:cNvCxnSpPr>
            <p:nvPr/>
          </p:nvCxnSpPr>
          <p:spPr>
            <a:xfrm>
              <a:off x="7193414" y="2675965"/>
              <a:ext cx="1188132" cy="1617131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3" idx="7"/>
              <a:endCxn id="5" idx="4"/>
            </p:cNvCxnSpPr>
            <p:nvPr/>
          </p:nvCxnSpPr>
          <p:spPr>
            <a:xfrm flipH="1" flipV="1">
              <a:off x="5976156" y="3969060"/>
              <a:ext cx="110533" cy="406589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3" idx="6"/>
              <a:endCxn id="6" idx="2"/>
            </p:cNvCxnSpPr>
            <p:nvPr/>
          </p:nvCxnSpPr>
          <p:spPr>
            <a:xfrm flipV="1">
              <a:off x="6097234" y="4329100"/>
              <a:ext cx="2248308" cy="72008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" name="Straight Connector 35"/>
          <p:cNvCxnSpPr>
            <a:stCxn id="11" idx="1"/>
          </p:cNvCxnSpPr>
          <p:nvPr/>
        </p:nvCxnSpPr>
        <p:spPr>
          <a:xfrm flipH="1" flipV="1">
            <a:off x="6001615" y="3969060"/>
            <a:ext cx="1749282" cy="694621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>
            <a:off x="7812360" y="4401109"/>
            <a:ext cx="533182" cy="252027"/>
          </a:xfrm>
          <a:prstGeom prst="line">
            <a:avLst/>
          </a:prstGeom>
          <a:ln w="3810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>
            <a:off x="6025226" y="2456893"/>
            <a:ext cx="2003158" cy="1440159"/>
          </a:xfrm>
          <a:prstGeom prst="line">
            <a:avLst/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8" idx="5"/>
          </p:cNvCxnSpPr>
          <p:nvPr/>
        </p:nvCxnSpPr>
        <p:spPr>
          <a:xfrm>
            <a:off x="8089847" y="2482351"/>
            <a:ext cx="291699" cy="1810745"/>
          </a:xfrm>
          <a:prstGeom prst="line">
            <a:avLst/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8A297-FBD5-4DFA-8CFA-E5EE957B544F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191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8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随机增量算法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将点集内的点随机打乱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设</a:t>
                </a:r>
                <a:r>
                  <a:rPr lang="en-US" altLang="zh-CN" dirty="0" smtClean="0"/>
                  <a:t>p</a:t>
                </a:r>
                <a:r>
                  <a:rPr lang="en-US" altLang="zh-CN" baseline="-25000" dirty="0" smtClean="0"/>
                  <a:t>1</a:t>
                </a:r>
                <a:r>
                  <a:rPr lang="en-US" altLang="zh-CN" dirty="0" smtClean="0"/>
                  <a:t>…p</a:t>
                </a:r>
                <a:r>
                  <a:rPr lang="en-US" altLang="zh-CN" baseline="-25000" dirty="0" smtClean="0"/>
                  <a:t>i</a:t>
                </a:r>
                <a:r>
                  <a:rPr lang="zh-CN" altLang="en-US" dirty="0" smtClean="0"/>
                  <a:t>的最小外接圆为</a:t>
                </a:r>
                <a:r>
                  <a:rPr lang="en-US" altLang="zh-CN" dirty="0" err="1" smtClean="0"/>
                  <a:t>C</a:t>
                </a:r>
                <a:r>
                  <a:rPr lang="en-US" altLang="zh-CN" baseline="-25000" dirty="0" err="1" smtClean="0"/>
                  <a:t>i</a:t>
                </a:r>
                <a:endParaRPr lang="en-US" altLang="zh-CN" baseline="-25000" dirty="0" smtClean="0"/>
              </a:p>
              <a:p>
                <a:pPr lvl="1"/>
                <a:r>
                  <a:rPr lang="zh-CN" altLang="en-US" dirty="0"/>
                  <a:t>如</a:t>
                </a:r>
                <a:r>
                  <a:rPr lang="zh-CN" altLang="en-US" dirty="0" smtClean="0"/>
                  <a:t>果</a:t>
                </a:r>
                <a:r>
                  <a:rPr lang="en-US" altLang="zh-CN" dirty="0" smtClean="0"/>
                  <a:t>p</a:t>
                </a:r>
                <a:r>
                  <a:rPr lang="en-US" altLang="zh-CN" baseline="-25000" dirty="0" smtClean="0"/>
                  <a:t>i+1</a:t>
                </a:r>
                <a:r>
                  <a:rPr lang="zh-CN" altLang="en-US" dirty="0" smtClean="0"/>
                  <a:t>在</a:t>
                </a:r>
                <a:r>
                  <a:rPr lang="en-US" altLang="zh-CN" dirty="0" err="1" smtClean="0"/>
                  <a:t>C</a:t>
                </a:r>
                <a:r>
                  <a:rPr lang="en-US" altLang="zh-CN" baseline="-25000" dirty="0" err="1" smtClean="0"/>
                  <a:t>i</a:t>
                </a:r>
                <a:r>
                  <a:rPr lang="zh-CN" altLang="en-US" dirty="0" smtClean="0"/>
                  <a:t>外部，则进行更新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更新的概率？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Backward analysis: C</a:t>
                </a:r>
                <a:r>
                  <a:rPr lang="en-US" altLang="zh-CN" baseline="-25000" dirty="0" smtClean="0"/>
                  <a:t>i+1</a:t>
                </a:r>
                <a:r>
                  <a:rPr lang="en-US" altLang="zh-CN" dirty="0" smtClean="0">
                    <a:sym typeface="Wingdings" pitchFamily="2" charset="2"/>
                  </a:rPr>
                  <a:t>C</a:t>
                </a:r>
                <a:r>
                  <a:rPr lang="en-US" altLang="zh-CN" baseline="-25000" dirty="0" smtClean="0">
                    <a:sym typeface="Wingdings" pitchFamily="2" charset="2"/>
                  </a:rPr>
                  <a:t>i</a:t>
                </a:r>
                <a:r>
                  <a:rPr lang="en-US" altLang="zh-CN" dirty="0" smtClean="0">
                    <a:sym typeface="Wingdings" pitchFamily="2" charset="2"/>
                  </a:rPr>
                  <a:t> </a:t>
                </a:r>
                <a:r>
                  <a:rPr lang="zh-CN" altLang="en-US" dirty="0" smtClean="0">
                    <a:sym typeface="Wingdings" pitchFamily="2" charset="2"/>
                  </a:rPr>
                  <a:t>删去一个点发生改变</a:t>
                </a:r>
                <a:endParaRPr lang="en-US" altLang="zh-CN" dirty="0" smtClean="0">
                  <a:sym typeface="Wingdings" pitchFamily="2" charset="2"/>
                </a:endParaRPr>
              </a:p>
              <a:p>
                <a:pPr lvl="1"/>
                <a:r>
                  <a:rPr lang="en-US" altLang="zh-CN" dirty="0" err="1" smtClean="0">
                    <a:sym typeface="Wingdings" pitchFamily="2" charset="2"/>
                  </a:rPr>
                  <a:t>Pr</a:t>
                </a:r>
                <a:r>
                  <a:rPr lang="en-US" altLang="zh-CN" dirty="0" smtClean="0">
                    <a:sym typeface="Wingdings" pitchFamily="2" charset="2"/>
                  </a:rPr>
                  <a:t>[C</a:t>
                </a:r>
                <a:r>
                  <a:rPr lang="en-US" altLang="zh-CN" baseline="-25000" dirty="0" smtClean="0">
                    <a:sym typeface="Wingdings" pitchFamily="2" charset="2"/>
                  </a:rPr>
                  <a:t>i</a:t>
                </a:r>
                <a:r>
                  <a:rPr lang="en-US" altLang="zh-CN" dirty="0" smtClean="0">
                    <a:sym typeface="Wingdings" pitchFamily="2" charset="2"/>
                  </a:rPr>
                  <a:t>≠C</a:t>
                </a:r>
                <a:r>
                  <a:rPr lang="en-US" altLang="zh-CN" baseline="-25000" dirty="0" smtClean="0">
                    <a:sym typeface="Wingdings" pitchFamily="2" charset="2"/>
                  </a:rPr>
                  <a:t>i+1</a:t>
                </a:r>
                <a:r>
                  <a:rPr lang="en-US" altLang="zh-CN" dirty="0" smtClean="0">
                    <a:sym typeface="Wingdings" pitchFamily="2" charset="2"/>
                  </a:rPr>
                  <a:t>]=3/</a:t>
                </a:r>
                <a:r>
                  <a:rPr lang="en-US" altLang="zh-CN" dirty="0" err="1" smtClean="0">
                    <a:sym typeface="Wingdings" pitchFamily="2" charset="2"/>
                  </a:rPr>
                  <a:t>i</a:t>
                </a:r>
                <a:endParaRPr lang="en-US" altLang="zh-CN" dirty="0" smtClean="0"/>
              </a:p>
              <a:p>
                <a:r>
                  <a:rPr lang="zh-CN" altLang="en-US" dirty="0"/>
                  <a:t>更</a:t>
                </a:r>
                <a:r>
                  <a:rPr lang="zh-CN" altLang="en-US" dirty="0" smtClean="0"/>
                  <a:t>新的复杂度？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p</a:t>
                </a:r>
                <a:r>
                  <a:rPr lang="en-US" baseline="-25000" dirty="0" smtClean="0"/>
                  <a:t>i+1</a:t>
                </a:r>
                <a:r>
                  <a:rPr lang="zh-CN" altLang="en-US" dirty="0" smtClean="0"/>
                  <a:t>一定在外接圆上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复杂度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/>
                      </a:rPr>
                      <m:t>𝑇</m:t>
                    </m:r>
                    <m:r>
                      <a:rPr lang="en-US" altLang="zh-CN" i="1" dirty="0" smtClean="0">
                        <a:latin typeface="Cambria Math"/>
                      </a:rPr>
                      <m:t>(</m:t>
                    </m:r>
                    <m:r>
                      <a:rPr lang="en-US" altLang="zh-CN" i="1" dirty="0" smtClean="0">
                        <a:latin typeface="Cambria Math"/>
                      </a:rPr>
                      <m:t>𝑃</m:t>
                    </m:r>
                    <m:r>
                      <a:rPr lang="en-US" altLang="zh-CN" i="1" dirty="0" smtClean="0">
                        <a:latin typeface="Cambria Math"/>
                      </a:rPr>
                      <m:t>)=</m:t>
                    </m:r>
                    <m:nary>
                      <m:naryPr>
                        <m:chr m:val="∑"/>
                        <m:ctrlPr>
                          <a:rPr lang="en-US" altLang="zh-CN" i="1" dirty="0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=3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/>
                          </a:rPr>
                          <m:t>𝑁</m:t>
                        </m:r>
                        <m:r>
                          <a:rPr lang="en-US" altLang="zh-CN" b="0" i="1" dirty="0" smtClean="0">
                            <a:latin typeface="Cambria Math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zh-CN" i="1" dirty="0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𝑖</m:t>
                            </m:r>
                          </m:den>
                        </m:f>
                      </m:e>
                    </m:nary>
                    <m:r>
                      <a:rPr lang="en-US" i="1" dirty="0" smtClean="0">
                        <a:latin typeface="Cambria Math"/>
                      </a:rPr>
                      <m:t>𝑇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𝑃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/>
                          </a:rPr>
                          <m:t>+1</m:t>
                        </m:r>
                      </m:sub>
                    </m:sSub>
                    <m:r>
                      <a:rPr lang="en-US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最小外接圆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3CC19-FD7D-4A23-B350-6A51C7A06400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972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T(</a:t>
                </a:r>
                <a:r>
                  <a:rPr lang="en-US" dirty="0" err="1" smtClean="0"/>
                  <a:t>P,p</a:t>
                </a:r>
                <a:r>
                  <a:rPr lang="en-US" baseline="-25000" dirty="0" err="1" smtClean="0"/>
                  <a:t>k</a:t>
                </a:r>
                <a:r>
                  <a:rPr lang="en-US" dirty="0" smtClean="0"/>
                  <a:t>)</a:t>
                </a:r>
                <a:r>
                  <a:rPr lang="zh-CN" altLang="en-US" dirty="0" smtClean="0"/>
                  <a:t>朴素的解决方案 </a:t>
                </a:r>
                <a:r>
                  <a:rPr lang="en-US" altLang="zh-CN" dirty="0" smtClean="0"/>
                  <a:t>O(N</a:t>
                </a:r>
                <a:r>
                  <a:rPr lang="en-US" altLang="zh-CN" baseline="30000" dirty="0" smtClean="0"/>
                  <a:t>2</a:t>
                </a:r>
                <a:r>
                  <a:rPr lang="en-US" altLang="zh-CN" dirty="0" smtClean="0"/>
                  <a:t>)</a:t>
                </a:r>
              </a:p>
              <a:p>
                <a:r>
                  <a:rPr lang="zh-CN" altLang="en-US" dirty="0"/>
                  <a:t>随</a:t>
                </a:r>
                <a:r>
                  <a:rPr lang="zh-CN" altLang="en-US" dirty="0" smtClean="0"/>
                  <a:t>机增量！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将</a:t>
                </a:r>
                <a:r>
                  <a:rPr lang="en-US" altLang="zh-CN" dirty="0" smtClean="0"/>
                  <a:t>P</a:t>
                </a:r>
                <a:r>
                  <a:rPr lang="zh-CN" altLang="en-US" dirty="0" smtClean="0"/>
                  <a:t>中的点随机打乱成</a:t>
                </a:r>
                <a:r>
                  <a:rPr lang="en-US" altLang="zh-CN" dirty="0" smtClean="0"/>
                  <a:t>P’</a:t>
                </a:r>
                <a:r>
                  <a:rPr lang="zh-CN" altLang="en-US" dirty="0" smtClean="0"/>
                  <a:t>，依次加入每个点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如果</a:t>
                </a:r>
                <a:r>
                  <a:rPr lang="en-US" altLang="zh-CN" dirty="0" smtClean="0"/>
                  <a:t>p’</a:t>
                </a:r>
                <a:r>
                  <a:rPr lang="en-US" altLang="zh-CN" baseline="-25000" dirty="0" smtClean="0"/>
                  <a:t>i+1</a:t>
                </a:r>
                <a:r>
                  <a:rPr lang="zh-CN" altLang="en-US" dirty="0" smtClean="0"/>
                  <a:t>在</a:t>
                </a:r>
                <a:r>
                  <a:rPr lang="en-US" altLang="zh-CN" dirty="0" err="1" smtClean="0"/>
                  <a:t>C’</a:t>
                </a:r>
                <a:r>
                  <a:rPr lang="en-US" altLang="zh-CN" baseline="-25000" dirty="0" err="1" smtClean="0"/>
                  <a:t>i</a:t>
                </a:r>
                <a:r>
                  <a:rPr lang="zh-CN" altLang="en-US" dirty="0" smtClean="0"/>
                  <a:t>外侧则更新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更新概率</a:t>
                </a:r>
                <a:r>
                  <a:rPr lang="en-US" altLang="zh-CN" dirty="0" smtClean="0"/>
                  <a:t>: 2/</a:t>
                </a:r>
                <a:r>
                  <a:rPr lang="en-US" altLang="zh-CN" dirty="0" err="1" smtClean="0"/>
                  <a:t>i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更新复杂度</a:t>
                </a:r>
                <a:r>
                  <a:rPr lang="en-US" altLang="zh-CN" dirty="0" smtClean="0"/>
                  <a:t>: T(P’</a:t>
                </a:r>
                <a:r>
                  <a:rPr lang="en-US" altLang="zh-CN" baseline="-25000" dirty="0" smtClean="0"/>
                  <a:t>i</a:t>
                </a:r>
                <a:r>
                  <a:rPr lang="en-US" altLang="zh-CN" dirty="0" smtClean="0"/>
                  <a:t>,p’</a:t>
                </a:r>
                <a:r>
                  <a:rPr lang="en-US" altLang="zh-CN" baseline="-25000" dirty="0" smtClean="0"/>
                  <a:t>i+1</a:t>
                </a:r>
                <a:r>
                  <a:rPr lang="en-US" altLang="zh-CN" dirty="0" smtClean="0"/>
                  <a:t>,p</a:t>
                </a:r>
                <a:r>
                  <a:rPr lang="en-US" altLang="zh-CN" baseline="-25000" dirty="0" smtClean="0"/>
                  <a:t>k</a:t>
                </a:r>
                <a:r>
                  <a:rPr lang="en-US" altLang="zh-CN" dirty="0" smtClean="0"/>
                  <a:t>)=O(</a:t>
                </a:r>
                <a:r>
                  <a:rPr lang="en-US" altLang="zh-CN" dirty="0" err="1" smtClean="0"/>
                  <a:t>i</a:t>
                </a:r>
                <a:r>
                  <a:rPr lang="en-US" altLang="zh-CN" dirty="0" smtClean="0"/>
                  <a:t>)</a:t>
                </a:r>
              </a:p>
              <a:p>
                <a:r>
                  <a:rPr lang="zh-CN" altLang="en-US" dirty="0"/>
                  <a:t>时间复</a:t>
                </a:r>
                <a:r>
                  <a:rPr lang="zh-CN" altLang="en-US" dirty="0" smtClean="0"/>
                  <a:t>杂度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  <m:r>
                          <a:rPr lang="en-US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/>
                          </a:rPr>
                          <m:t>=2</m:t>
                        </m:r>
                      </m:sub>
                      <m:sup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  <m:r>
                          <a:rPr lang="en-US" b="0" i="1" smtClean="0">
                            <a:latin typeface="Cambria Math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/>
                              </a:rPr>
                              <m:t>𝑖</m:t>
                            </m:r>
                          </m:den>
                        </m:f>
                        <m:r>
                          <a:rPr lang="en-US" b="0" i="1" smtClean="0">
                            <a:latin typeface="Cambria Math"/>
                          </a:rPr>
                          <m:t>𝑇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+1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/>
                                  </a:rPr>
                                  <m:t>′</m:t>
                                </m:r>
                              </m:sup>
                            </m:sSubSup>
                            <m:r>
                              <a:rPr lang="en-US" b="0" i="1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/>
                          </a:rPr>
                          <m:t>=</m:t>
                        </m:r>
                        <m:r>
                          <a:rPr lang="en-US" b="0" i="1" smtClean="0">
                            <a:latin typeface="Cambria Math"/>
                          </a:rPr>
                          <m:t>𝑂</m:t>
                        </m:r>
                        <m:r>
                          <a:rPr lang="en-US" b="0" i="1" smtClean="0">
                            <a:latin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/>
                          </a:rPr>
                          <m:t>𝑁</m:t>
                        </m:r>
                        <m:r>
                          <a:rPr lang="en-US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最小外接圆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D0C76A-AA54-4178-982C-ADEC4F4FB3E3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3774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回到一开始的问题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𝑃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=3</m:t>
                        </m:r>
                      </m:sub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/>
                          </a:rPr>
                          <m:t>𝑇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/>
                              </a:rPr>
                              <m:t>+1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</m:e>
                    </m:nary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CN" b="0" i="1" smtClean="0">
                            <a:latin typeface="Cambria Math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=3</m:t>
                        </m:r>
                      </m:sub>
                      <m:sup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𝑂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)</m:t>
                        </m:r>
                      </m:e>
                    </m:nary>
                  </m:oMath>
                </a14:m>
                <a:endParaRPr lang="en-US" altLang="zh-CN" dirty="0" smtClean="0"/>
              </a:p>
              <a:p>
                <a:endParaRPr lang="en-US" dirty="0" smtClean="0"/>
              </a:p>
              <a:p>
                <a:r>
                  <a:rPr lang="zh-CN" altLang="en-US" dirty="0"/>
                  <a:t>最</a:t>
                </a:r>
                <a:r>
                  <a:rPr lang="zh-CN" altLang="en-US" dirty="0" smtClean="0"/>
                  <a:t>小外接球？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O(N)</a:t>
                </a:r>
              </a:p>
              <a:p>
                <a:endParaRPr lang="en-US" dirty="0"/>
              </a:p>
              <a:p>
                <a:r>
                  <a:rPr lang="en-US" altLang="zh-CN" dirty="0" smtClean="0"/>
                  <a:t>d</a:t>
                </a:r>
                <a:r>
                  <a:rPr lang="zh-CN" altLang="en-US" dirty="0" smtClean="0"/>
                  <a:t>维空间最小外接球？</a:t>
                </a:r>
                <a:endParaRPr lang="en-US" altLang="zh-CN" dirty="0" smtClean="0"/>
              </a:p>
              <a:p>
                <a:pPr lvl="1"/>
                <a:r>
                  <a:rPr lang="en-US" dirty="0" smtClean="0"/>
                  <a:t>O(N) when d=O(1)</a:t>
                </a:r>
              </a:p>
              <a:p>
                <a:pPr lvl="1"/>
                <a:r>
                  <a:rPr lang="en-US" dirty="0" smtClean="0"/>
                  <a:t>O(</a:t>
                </a:r>
                <a:r>
                  <a:rPr lang="en-US" dirty="0" err="1" smtClean="0"/>
                  <a:t>d!N</a:t>
                </a:r>
                <a:r>
                  <a:rPr lang="en-US" dirty="0" smtClean="0"/>
                  <a:t>) when d = </a:t>
                </a:r>
                <a:r>
                  <a:rPr lang="el-GR" dirty="0" smtClean="0"/>
                  <a:t>ω</a:t>
                </a:r>
                <a:r>
                  <a:rPr lang="en-US" dirty="0" smtClean="0"/>
                  <a:t>(1)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最小外接圆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8B6E-D54F-43F8-B0BF-9FF3EACF0589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052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点，直线与向量的运算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 smtClean="0"/>
              <a:t>面与投影变换</a:t>
            </a:r>
            <a:endParaRPr lang="en-US" altLang="zh-CN" dirty="0" smtClean="0"/>
          </a:p>
          <a:p>
            <a:endParaRPr lang="en-US" dirty="0"/>
          </a:p>
          <a:p>
            <a:r>
              <a:rPr lang="zh-CN" altLang="en-US" dirty="0" smtClean="0"/>
              <a:t>三维凸包问题简介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Section3. </a:t>
            </a:r>
            <a:r>
              <a:rPr lang="zh-CN" altLang="en-US" dirty="0" smtClean="0"/>
              <a:t>三</a:t>
            </a:r>
            <a:r>
              <a:rPr lang="zh-CN" altLang="en-US" dirty="0" smtClean="0"/>
              <a:t>维空间的简单拓展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83188-D444-4033-A437-B635AC622EF3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2323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4539960"/>
              </a:xfrm>
            </p:spPr>
            <p:txBody>
              <a:bodyPr/>
              <a:lstStyle/>
              <a:p>
                <a:r>
                  <a:rPr lang="zh-CN" altLang="en-US" dirty="0" smtClean="0"/>
                  <a:t>点与向量：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=(</m:t>
                    </m:r>
                    <m:r>
                      <a:rPr lang="en-US" altLang="zh-CN" b="0" i="1" smtClean="0">
                        <a:latin typeface="Cambria Math"/>
                      </a:rPr>
                      <m:t>𝑥</m:t>
                    </m:r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</a:rPr>
                      <m:t>𝑦</m:t>
                    </m:r>
                    <m:r>
                      <a:rPr lang="en-US" altLang="zh-CN" b="0" i="1" smtClean="0">
                        <a:latin typeface="Cambria Math"/>
                      </a:rPr>
                      <m:t>,</m:t>
                    </m:r>
                    <m:r>
                      <a:rPr lang="en-US" altLang="zh-CN" b="0" i="1" smtClean="0">
                        <a:latin typeface="Cambria Math"/>
                      </a:rPr>
                      <m:t>𝑧</m:t>
                    </m:r>
                    <m:r>
                      <a:rPr lang="en-US" altLang="zh-CN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zh-CN" altLang="en-US" dirty="0"/>
                  <a:t>线</a:t>
                </a:r>
                <a:r>
                  <a:rPr lang="zh-CN" altLang="en-US" dirty="0" smtClean="0"/>
                  <a:t>段与直线：点</a:t>
                </a:r>
                <a:r>
                  <a:rPr lang="en-US" altLang="zh-CN" dirty="0" smtClean="0"/>
                  <a:t>-</a:t>
                </a:r>
                <a:r>
                  <a:rPr lang="zh-CN" altLang="en-US" dirty="0" smtClean="0"/>
                  <a:t>法式表达</a:t>
                </a:r>
                <a:endParaRPr lang="en-US" altLang="zh-CN" dirty="0" smtClean="0"/>
              </a:p>
              <a:p>
                <a:r>
                  <a:rPr lang="zh-CN" altLang="en-US" dirty="0"/>
                  <a:t>向</a:t>
                </a:r>
                <a:r>
                  <a:rPr lang="zh-CN" altLang="en-US" dirty="0" smtClean="0"/>
                  <a:t>量的点积</a:t>
                </a:r>
                <a:r>
                  <a:rPr lang="en-US" altLang="zh-CN" dirty="0"/>
                  <a:t>	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zh-CN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𝑞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𝑞</m:t>
                        </m:r>
                      </m:sub>
                    </m:sSub>
                    <m:r>
                      <a:rPr lang="en-US" altLang="zh-CN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/>
                          </a:rPr>
                          <m:t>𝜌</m:t>
                        </m:r>
                      </m:e>
                      <m:sub>
                        <m:r>
                          <a:rPr lang="en-US" altLang="zh-CN" i="1">
                            <a:latin typeface="Cambria Math"/>
                          </a:rPr>
                          <m:t>𝑞</m:t>
                        </m:r>
                      </m:sub>
                    </m:sSub>
                    <m:func>
                      <m:funcPr>
                        <m:ctrlPr>
                          <a:rPr lang="en-US" altLang="zh-CN" i="1">
                            <a:latin typeface="Cambria Math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>
                            <a:latin typeface="Cambria Math"/>
                          </a:rPr>
                          <m:t>cos</m:t>
                        </m:r>
                      </m:fName>
                      <m:e>
                        <m:r>
                          <a:rPr lang="en-US" altLang="zh-CN" i="1">
                            <a:latin typeface="Cambria Math"/>
                          </a:rPr>
                          <m:t>〈</m:t>
                        </m:r>
                        <m:acc>
                          <m:accPr>
                            <m:chr m:val="⃗"/>
                            <m:ctrlPr>
                              <a:rPr lang="zh-CN" alt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𝑝</m:t>
                            </m:r>
                          </m:e>
                        </m:acc>
                        <m:r>
                          <a:rPr lang="en-US" altLang="zh-CN" i="1">
                            <a:latin typeface="Cambria Math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zh-CN" altLang="en-US" i="1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/>
                              </a:rPr>
                              <m:t>𝑞</m:t>
                            </m:r>
                          </m:e>
                        </m:acc>
                        <m:r>
                          <a:rPr lang="en-US" altLang="zh-CN" i="1">
                            <a:latin typeface="Cambria Math"/>
                          </a:rPr>
                          <m:t>〉</m:t>
                        </m:r>
                      </m:e>
                    </m:func>
                  </m:oMath>
                </a14:m>
                <a:endParaRPr lang="en-US" altLang="zh-CN" dirty="0" smtClean="0"/>
              </a:p>
              <a:p>
                <a:r>
                  <a:rPr lang="en-US" altLang="zh-CN" dirty="0" smtClean="0"/>
                  <a:t>Tip</a:t>
                </a:r>
                <a:r>
                  <a:rPr lang="zh-CN" altLang="en-US" dirty="0" smtClean="0"/>
                  <a:t>：行列式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𝑐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𝑎𝑑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r>
                      <a:rPr lang="en-US" altLang="zh-CN" b="0" i="1" smtClean="0">
                        <a:latin typeface="Cambria Math"/>
                      </a:rPr>
                      <m:t>𝑏𝑐</m:t>
                    </m:r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×</m:t>
                    </m:r>
                    <m:d>
                      <m:dPr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𝑐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/>
                          </a:rPr>
                          <m:t>𝑑</m:t>
                        </m:r>
                      </m:e>
                    </m:d>
                  </m:oMath>
                </a14:m>
                <a:endParaRPr lang="en-US" altLang="zh-CN" b="0" dirty="0" smtClean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/>
                                </a:rPr>
                                <m:t>𝑧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b="0" i="1" smtClean="0">
                        <a:latin typeface="Cambria Math"/>
                      </a:rPr>
                      <m:t>=</m:t>
                    </m:r>
                    <m:r>
                      <a:rPr lang="en-US" altLang="zh-CN" b="0" i="1" smtClean="0">
                        <a:latin typeface="Cambria Math"/>
                      </a:rPr>
                      <m:t>𝑎𝑞𝑧</m:t>
                    </m:r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r>
                      <a:rPr lang="en-US" altLang="zh-CN" b="0" i="1" smtClean="0">
                        <a:latin typeface="Cambria Math"/>
                      </a:rPr>
                      <m:t>𝑏𝑟𝑥</m:t>
                    </m:r>
                    <m:r>
                      <a:rPr lang="en-US" altLang="zh-CN" b="0" i="1" smtClean="0">
                        <a:latin typeface="Cambria Math"/>
                      </a:rPr>
                      <m:t>+</m:t>
                    </m:r>
                    <m:r>
                      <a:rPr lang="en-US" altLang="zh-CN" b="0" i="1" smtClean="0">
                        <a:latin typeface="Cambria Math"/>
                      </a:rPr>
                      <m:t>𝑐𝑝𝑦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r>
                      <a:rPr lang="en-US" altLang="zh-CN" b="0" i="1" smtClean="0">
                        <a:latin typeface="Cambria Math"/>
                      </a:rPr>
                      <m:t>𝑐𝑞𝑥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r>
                      <a:rPr lang="en-US" altLang="zh-CN" b="0" i="1" smtClean="0">
                        <a:latin typeface="Cambria Math"/>
                      </a:rPr>
                      <m:t>𝑏𝑝𝑧</m:t>
                    </m:r>
                    <m:r>
                      <a:rPr lang="en-US" altLang="zh-CN" b="0" i="1" smtClean="0">
                        <a:latin typeface="Cambria Math"/>
                      </a:rPr>
                      <m:t>−</m:t>
                    </m:r>
                    <m:r>
                      <a:rPr lang="en-US" altLang="zh-CN" b="0" i="1" smtClean="0">
                        <a:latin typeface="Cambria Math"/>
                      </a:rPr>
                      <m:t>𝑎𝑟𝑦</m:t>
                    </m:r>
                  </m:oMath>
                </a14:m>
                <a:endParaRPr lang="en-US" altLang="zh-CN" b="0" dirty="0" smtClean="0"/>
              </a:p>
              <a:p>
                <a:pPr lvl="1"/>
                <a:endParaRPr lang="en-US" altLang="zh-CN" dirty="0" smtClean="0"/>
              </a:p>
              <a:p>
                <a:pPr lvl="1"/>
                <a:endParaRPr lang="en-US" dirty="0" smtClean="0"/>
              </a:p>
              <a:p>
                <a:pPr lvl="1"/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4539960"/>
              </a:xfrm>
              <a:blipFill rotWithShape="1">
                <a:blip r:embed="rId2"/>
                <a:stretch>
                  <a:fillRect t="-2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向量运算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8B06B-E6DA-4B07-87F6-A8760B7B7BB3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168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1328"/>
                <a:ext cx="8229600" cy="5044926"/>
              </a:xfrm>
            </p:spPr>
            <p:txBody>
              <a:bodyPr/>
              <a:lstStyle/>
              <a:p>
                <a:r>
                  <a:rPr lang="zh-CN" altLang="en-US" dirty="0" smtClean="0"/>
                  <a:t>空间里的叉积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𝑝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×</m:t>
                    </m:r>
                    <m:acc>
                      <m:accPr>
                        <m:chr m:val="⃗"/>
                        <m:ctrlPr>
                          <a:rPr lang="zh-CN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𝑞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i="1" dirty="0">
                  <a:latin typeface="Cambria Math"/>
                </a:endParaRPr>
              </a:p>
              <a:p>
                <a:pPr lvl="1"/>
                <a:r>
                  <a:rPr lang="en-US" altLang="zh-CN" dirty="0"/>
                  <a:t>       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−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𝑗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i="1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𝑘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zh-CN" altLang="en-US" dirty="0" smtClean="0"/>
                  <a:t>右手法则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平面法向量：</a:t>
                </a:r>
                <a:r>
                  <a:rPr lang="en-US" altLang="zh-CN" dirty="0" err="1" smtClean="0"/>
                  <a:t>ax+by+cz</a:t>
                </a:r>
                <a:r>
                  <a:rPr lang="en-US" altLang="zh-CN" dirty="0" smtClean="0"/>
                  <a:t>=d</a:t>
                </a:r>
                <a:endParaRPr lang="en-US" dirty="0"/>
              </a:p>
              <a:p>
                <a:r>
                  <a:rPr lang="en-US" dirty="0" smtClean="0"/>
                  <a:t>Tip: </a:t>
                </a:r>
                <a:r>
                  <a:rPr lang="zh-CN" altLang="en-US" dirty="0" smtClean="0"/>
                  <a:t>若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𝑎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/>
                          </a:rPr>
                          <m:t>𝑏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=0</m:t>
                    </m:r>
                  </m:oMath>
                </a14:m>
                <a:r>
                  <a:rPr lang="zh-CN" altLang="en-US" dirty="0" smtClean="0"/>
                  <a:t>，则可以</a:t>
                </a:r>
                <a:endParaRPr lang="en-US" altLang="zh-CN" dirty="0"/>
              </a:p>
              <a:p>
                <a:r>
                  <a:rPr lang="zh-CN" altLang="en-US" dirty="0" smtClean="0"/>
                  <a:t>确定一个右手系的坐标系</a:t>
                </a:r>
                <a:endParaRPr lang="en-US" altLang="zh-CN" dirty="0" smtClean="0"/>
              </a:p>
              <a:p>
                <a:pPr lvl="2"/>
                <a:r>
                  <a:rPr lang="en-US" altLang="zh-CN" dirty="0" smtClean="0"/>
                  <a:t>EX1</a:t>
                </a:r>
                <a:r>
                  <a:rPr lang="zh-CN" altLang="en-US" dirty="0" smtClean="0"/>
                  <a:t>：如果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en-US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𝑎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𝑏</m:t>
                        </m:r>
                      </m:e>
                    </m:acc>
                    <m:r>
                      <a:rPr lang="en-US" altLang="zh-CN" b="0" i="1" smtClean="0">
                        <a:latin typeface="Cambria Math"/>
                      </a:rPr>
                      <m:t>≠</m:t>
                    </m:r>
                    <m:r>
                      <a:rPr lang="en-US" altLang="zh-CN" i="1">
                        <a:latin typeface="Cambria Math"/>
                      </a:rPr>
                      <m:t>0</m:t>
                    </m:r>
                  </m:oMath>
                </a14:m>
                <a:r>
                  <a:rPr lang="en-US" dirty="0" smtClean="0"/>
                  <a:t>?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1328"/>
                <a:ext cx="8229600" cy="5044926"/>
              </a:xfrm>
              <a:blipFill rotWithShape="1">
                <a:blip r:embed="rId2"/>
                <a:stretch>
                  <a:fillRect t="-18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向量运算</a:t>
            </a:r>
            <a:endParaRPr lang="en-US" dirty="0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4077072"/>
            <a:ext cx="2807469" cy="2449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8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692696"/>
            <a:ext cx="2918415" cy="2492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CC802-12E0-4A0E-8581-93B48279F4B8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218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Tip</a:t>
                </a:r>
                <a:r>
                  <a:rPr lang="zh-CN" altLang="en-US" dirty="0" smtClean="0"/>
                  <a:t>：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维平面内面积对应了</a:t>
                </a:r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维行列式的值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向量的混合积</a:t>
                </a:r>
                <a:r>
                  <a:rPr lang="en-US" altLang="zh-CN" dirty="0" smtClean="0"/>
                  <a:t>——</a:t>
                </a:r>
                <a:r>
                  <a:rPr lang="zh-CN" altLang="en-US" dirty="0"/>
                  <a:t>体</a:t>
                </a:r>
                <a:r>
                  <a:rPr lang="zh-CN" altLang="en-US" dirty="0" smtClean="0"/>
                  <a:t>积的定义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b="0" i="1" dirty="0" smtClean="0">
                            <a:latin typeface="Cambria Math"/>
                          </a:rPr>
                          <m:t>𝑎</m:t>
                        </m:r>
                      </m:e>
                    </m:acc>
                    <m:r>
                      <a:rPr lang="en-US" altLang="zh-CN" b="0" i="1" dirty="0" smtClean="0">
                        <a:latin typeface="Cambria Math"/>
                      </a:rPr>
                      <m:t>⋅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b="0" i="1" dirty="0" smtClean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𝑏</m:t>
                            </m:r>
                          </m:e>
                        </m:acc>
                        <m:r>
                          <a:rPr lang="en-US" altLang="zh-CN" b="0" i="1" dirty="0" smtClean="0">
                            <a:latin typeface="Cambria Math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US" altLang="zh-CN" i="1" dirty="0">
                                <a:latin typeface="Cambria Math"/>
                              </a:rPr>
                            </m:ctrlPr>
                          </m:accPr>
                          <m:e>
                            <m:r>
                              <a:rPr lang="en-US" altLang="zh-CN" b="0" i="1" dirty="0" smtClean="0">
                                <a:latin typeface="Cambria Math"/>
                              </a:rPr>
                              <m:t>𝑐</m:t>
                            </m:r>
                          </m:e>
                        </m:acc>
                      </m:e>
                    </m:d>
                    <m:r>
                      <a:rPr lang="en-US" altLang="zh-CN" b="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altLang="zh-CN" b="0" i="1" dirty="0" smtClean="0">
                            <a:latin typeface="Cambria Math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dirty="0" smtClean="0">
                                <a:latin typeface="Cambria Math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dirty="0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dirty="0" smtClean="0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b="0" i="1" dirty="0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altLang="zh-CN" b="0" i="1" dirty="0" smtClean="0">
                                      <a:latin typeface="Cambria Math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zh-CN" altLang="en-US" dirty="0" smtClean="0"/>
                  <a:t>行列式定义高维体积</a:t>
                </a:r>
                <a:endParaRPr lang="en-US" altLang="zh-CN" dirty="0" smtClean="0"/>
              </a:p>
              <a:p>
                <a:r>
                  <a:rPr lang="en-US" altLang="zh-CN" dirty="0" smtClean="0"/>
                  <a:t>Tip</a:t>
                </a:r>
                <a:r>
                  <a:rPr lang="zh-CN" altLang="en-US" dirty="0" smtClean="0"/>
                  <a:t>：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如何判断三点共线？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如何判断四点共面？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20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向量运算</a:t>
            </a:r>
            <a:endParaRPr lang="en-US" dirty="0"/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3438" y="3068960"/>
            <a:ext cx="4423388" cy="3350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E4282-AAE9-4707-85F5-9D231660EA31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856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空间的一组基：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𝑖</m:t>
                        </m:r>
                      </m:e>
                    </m:acc>
                    <m:r>
                      <a:rPr lang="en-US" altLang="zh-CN" i="1">
                        <a:latin typeface="Cambria Math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𝑗</m:t>
                        </m:r>
                      </m:e>
                    </m:acc>
                    <m:r>
                      <a:rPr lang="en-US" altLang="zh-CN">
                        <a:latin typeface="Cambria Math"/>
                      </a:rPr>
                      <m:t>,</m:t>
                    </m:r>
                    <m:acc>
                      <m:accPr>
                        <m:chr m:val="⃗"/>
                        <m:ctrlPr>
                          <a:rPr lang="en-US" altLang="zh-CN" i="1">
                            <a:latin typeface="Cambria Math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/>
                          </a:rPr>
                          <m:t>𝑘</m:t>
                        </m:r>
                      </m:e>
                    </m:acc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向量空间的正交基</a:t>
                </a:r>
                <a:endParaRPr lang="en-US" altLang="zh-CN" dirty="0" smtClean="0"/>
              </a:p>
              <a:p>
                <a:r>
                  <a:rPr lang="zh-CN" altLang="en-US" dirty="0" smtClean="0"/>
                  <a:t>投影变换</a:t>
                </a:r>
                <a:r>
                  <a:rPr lang="en-US" altLang="zh-CN" dirty="0" smtClean="0"/>
                  <a:t>——</a:t>
                </a:r>
                <a:r>
                  <a:rPr lang="zh-CN" altLang="en-US" dirty="0"/>
                  <a:t>维</a:t>
                </a:r>
                <a:r>
                  <a:rPr lang="zh-CN" altLang="en-US" dirty="0" smtClean="0"/>
                  <a:t>度的降低</a:t>
                </a:r>
                <a:endParaRPr lang="en-US" altLang="zh-CN" dirty="0" smtClean="0"/>
              </a:p>
              <a:p>
                <a:r>
                  <a:rPr lang="zh-CN" altLang="en-US" dirty="0" smtClean="0"/>
                  <a:t>点到面的投影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找</a:t>
                </a:r>
                <a:r>
                  <a:rPr lang="zh-CN" altLang="en-US" dirty="0" smtClean="0"/>
                  <a:t>出平面的正交基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作点积</a:t>
                </a:r>
                <a:r>
                  <a:rPr lang="en-US" altLang="zh-CN" dirty="0" smtClean="0"/>
                  <a:t>——</a:t>
                </a:r>
                <a:r>
                  <a:rPr lang="zh-CN" altLang="en-US" dirty="0" smtClean="0"/>
                  <a:t>得到平面坐标</a:t>
                </a:r>
                <a:endParaRPr lang="en-US" altLang="zh-CN" dirty="0" smtClean="0"/>
              </a:p>
              <a:p>
                <a:pPr lvl="1"/>
                <a:r>
                  <a:rPr lang="en-US" altLang="zh-CN" dirty="0" smtClean="0"/>
                  <a:t>3D</a:t>
                </a:r>
                <a:r>
                  <a:rPr lang="zh-CN" altLang="en-US" dirty="0" smtClean="0"/>
                  <a:t>空间</a:t>
                </a:r>
                <a:r>
                  <a:rPr lang="en-US" altLang="zh-CN" dirty="0" smtClean="0">
                    <a:sym typeface="Wingdings" pitchFamily="2" charset="2"/>
                  </a:rPr>
                  <a:t>2D</a:t>
                </a:r>
                <a:r>
                  <a:rPr lang="zh-CN" altLang="en-US" dirty="0" smtClean="0">
                    <a:sym typeface="Wingdings" pitchFamily="2" charset="2"/>
                  </a:rPr>
                  <a:t>空间</a:t>
                </a:r>
                <a:endParaRPr lang="en-US" altLang="zh-CN" dirty="0" smtClean="0"/>
              </a:p>
              <a:p>
                <a:r>
                  <a:rPr lang="zh-CN" altLang="en-US" dirty="0" smtClean="0"/>
                  <a:t>坐标变换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坐标</a:t>
                </a:r>
                <a:r>
                  <a:rPr lang="zh-CN" altLang="en-US" dirty="0" smtClean="0"/>
                  <a:t>系的旋转</a:t>
                </a:r>
                <a:endParaRPr lang="en-US" altLang="zh-CN" dirty="0" smtClean="0"/>
              </a:p>
              <a:p>
                <a:pPr lvl="1"/>
                <a:r>
                  <a:rPr lang="zh-CN" altLang="en-US" dirty="0"/>
                  <a:t>找</a:t>
                </a:r>
                <a:r>
                  <a:rPr lang="zh-CN" altLang="en-US" dirty="0" smtClean="0"/>
                  <a:t>出一组空间正交基，点积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坐标变换与投影变换</a:t>
            </a:r>
            <a:endParaRPr lang="en-US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3" y="2852936"/>
            <a:ext cx="3802599" cy="3456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0673A-06D9-4EDB-AEF1-626D22755578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010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</a:t>
            </a:r>
            <a:r>
              <a:rPr lang="en-US" altLang="zh-CN" dirty="0" smtClean="0"/>
              <a:t>2</a:t>
            </a:r>
            <a:r>
              <a:rPr lang="en-US" dirty="0" smtClean="0"/>
              <a:t>: </a:t>
            </a:r>
            <a:r>
              <a:rPr lang="zh-CN" altLang="en-US" dirty="0" smtClean="0"/>
              <a:t>空间直线相交？平行？异面？</a:t>
            </a:r>
            <a:endParaRPr lang="en-US" altLang="zh-CN" dirty="0" smtClean="0"/>
          </a:p>
          <a:p>
            <a:r>
              <a:rPr lang="en-US" altLang="zh-CN" dirty="0" smtClean="0"/>
              <a:t>Ex3</a:t>
            </a:r>
            <a:r>
              <a:rPr lang="zh-CN" altLang="en-US" dirty="0" smtClean="0"/>
              <a:t>：异面直线距离？</a:t>
            </a:r>
            <a:endParaRPr lang="en-US" altLang="zh-CN" dirty="0" smtClean="0"/>
          </a:p>
          <a:p>
            <a:r>
              <a:rPr lang="en-US" dirty="0" smtClean="0"/>
              <a:t>Ex4</a:t>
            </a:r>
            <a:r>
              <a:rPr lang="zh-CN" altLang="en-US" dirty="0" smtClean="0"/>
              <a:t>：点是否在空间多边形内？不作投影？</a:t>
            </a:r>
            <a:endParaRPr lang="en-US" altLang="zh-CN" dirty="0" smtClean="0"/>
          </a:p>
          <a:p>
            <a:r>
              <a:rPr lang="en-US" altLang="zh-CN" dirty="0" smtClean="0"/>
              <a:t>Ex5</a:t>
            </a:r>
            <a:r>
              <a:rPr lang="zh-CN" altLang="en-US" dirty="0" smtClean="0"/>
              <a:t>：镜面对称？点到面的距离？</a:t>
            </a:r>
            <a:endParaRPr lang="en-US" altLang="zh-CN" dirty="0" smtClean="0"/>
          </a:p>
          <a:p>
            <a:r>
              <a:rPr lang="en-US" dirty="0" smtClean="0"/>
              <a:t>Ex</a:t>
            </a:r>
            <a:r>
              <a:rPr lang="en-US" altLang="zh-CN" dirty="0" smtClean="0"/>
              <a:t>6</a:t>
            </a:r>
            <a:r>
              <a:rPr lang="zh-CN" altLang="en-US" dirty="0" smtClean="0"/>
              <a:t>：面与面的交线？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相关问题的简单拓展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E3C1-ECCC-4DBE-AE7E-ECEB3A464075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711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755984"/>
          </a:xfrm>
        </p:spPr>
        <p:txBody>
          <a:bodyPr/>
          <a:lstStyle/>
          <a:p>
            <a:r>
              <a:rPr lang="zh-CN" altLang="en-US" dirty="0"/>
              <a:t>困</a:t>
            </a:r>
            <a:r>
              <a:rPr lang="zh-CN" altLang="en-US" dirty="0" smtClean="0"/>
              <a:t>难：序的问题！</a:t>
            </a:r>
            <a:endParaRPr lang="en-US" altLang="zh-CN" dirty="0" smtClean="0"/>
          </a:p>
          <a:p>
            <a:r>
              <a:rPr lang="zh-CN" altLang="en-US" dirty="0" smtClean="0"/>
              <a:t>最直接的扩展方法：</a:t>
            </a:r>
            <a:r>
              <a:rPr lang="en-US" altLang="zh-CN" dirty="0" err="1" smtClean="0"/>
              <a:t>QuickHull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O(NH)</a:t>
            </a:r>
          </a:p>
          <a:p>
            <a:r>
              <a:rPr lang="zh-CN" altLang="en-US" dirty="0" smtClean="0"/>
              <a:t>另一种拓展：</a:t>
            </a:r>
            <a:r>
              <a:rPr lang="en-US" altLang="zh-CN" dirty="0" smtClean="0"/>
              <a:t>3D Jarvis March</a:t>
            </a:r>
          </a:p>
          <a:p>
            <a:pPr lvl="1"/>
            <a:r>
              <a:rPr lang="en-US" altLang="zh-CN" dirty="0" smtClean="0"/>
              <a:t>Chan’s Algorithm</a:t>
            </a:r>
          </a:p>
          <a:p>
            <a:r>
              <a:rPr lang="zh-CN" altLang="en-US" dirty="0" smtClean="0"/>
              <a:t>随机增量法：</a:t>
            </a:r>
            <a:endParaRPr lang="en-US" altLang="zh-CN" dirty="0" smtClean="0"/>
          </a:p>
          <a:p>
            <a:pPr lvl="1"/>
            <a:r>
              <a:rPr lang="zh-CN" altLang="en-US" dirty="0"/>
              <a:t>寻</a:t>
            </a:r>
            <a:r>
              <a:rPr lang="zh-CN" altLang="en-US" dirty="0" smtClean="0"/>
              <a:t>找可见面！</a:t>
            </a:r>
            <a:endParaRPr lang="en-US" altLang="zh-CN" dirty="0" smtClean="0"/>
          </a:p>
          <a:p>
            <a:pPr lvl="1"/>
            <a:r>
              <a:rPr lang="zh-CN" altLang="en-US" dirty="0"/>
              <a:t>维</a:t>
            </a:r>
            <a:r>
              <a:rPr lang="zh-CN" altLang="en-US" dirty="0" smtClean="0"/>
              <a:t>护一个二分图：</a:t>
            </a:r>
            <a:endParaRPr lang="en-US" altLang="zh-CN" dirty="0" smtClean="0"/>
          </a:p>
          <a:p>
            <a:pPr lvl="2"/>
            <a:r>
              <a:rPr lang="zh-CN" altLang="en-US" dirty="0"/>
              <a:t>一</a:t>
            </a:r>
            <a:r>
              <a:rPr lang="zh-CN" altLang="en-US" dirty="0" smtClean="0"/>
              <a:t>侧为所有凸包上的面</a:t>
            </a:r>
            <a:endParaRPr lang="en-US" altLang="zh-CN" dirty="0"/>
          </a:p>
          <a:p>
            <a:pPr lvl="2"/>
            <a:r>
              <a:rPr lang="zh-CN" altLang="en-US" dirty="0" smtClean="0"/>
              <a:t>一侧为所有还没有加入凸包的点</a:t>
            </a:r>
            <a:endParaRPr lang="en-US" altLang="zh-CN" dirty="0" smtClean="0"/>
          </a:p>
          <a:p>
            <a:pPr lvl="1"/>
            <a:r>
              <a:rPr lang="zh-CN" altLang="en-US" dirty="0"/>
              <a:t>期</a:t>
            </a:r>
            <a:r>
              <a:rPr lang="zh-CN" altLang="en-US" dirty="0" smtClean="0"/>
              <a:t>望时间</a:t>
            </a:r>
            <a:r>
              <a:rPr lang="en-US" altLang="zh-CN" dirty="0" smtClean="0"/>
              <a:t>O(</a:t>
            </a:r>
            <a:r>
              <a:rPr lang="en-US" altLang="zh-CN" dirty="0" err="1" smtClean="0"/>
              <a:t>NlogN</a:t>
            </a:r>
            <a:r>
              <a:rPr lang="en-US" altLang="zh-CN" dirty="0" smtClean="0"/>
              <a:t>)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三维凸包简介</a:t>
            </a:r>
            <a:endParaRPr lang="en-US" dirty="0"/>
          </a:p>
        </p:txBody>
      </p:sp>
      <p:pic>
        <p:nvPicPr>
          <p:cNvPr id="27650" name="Picture 2" descr="http://www.eecs.tufts.edu/~mhorn01/comp163/images/fig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362" y="1268760"/>
            <a:ext cx="2619375" cy="2324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 descr="http://www.eecs.tufts.edu/~mhorn01/comp163/images/fig4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3789039"/>
            <a:ext cx="1944216" cy="2923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DAB38-6EEF-46C1-A922-FFDE3EE74889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1298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72008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给一个欧洲地图信息，如何找出每一个国家？</a:t>
            </a:r>
            <a:endParaRPr lang="en-US" altLang="zh-CN" dirty="0" smtClean="0"/>
          </a:p>
          <a:p>
            <a:pPr lvl="1"/>
            <a:r>
              <a:rPr lang="zh-CN" altLang="en-US" dirty="0"/>
              <a:t>右</a:t>
            </a:r>
            <a:r>
              <a:rPr lang="zh-CN" altLang="en-US" dirty="0" smtClean="0"/>
              <a:t>手法则</a:t>
            </a:r>
            <a:endParaRPr lang="en-US" altLang="zh-CN" dirty="0" smtClean="0"/>
          </a:p>
          <a:p>
            <a:r>
              <a:rPr lang="zh-CN" altLang="en-US" dirty="0" smtClean="0"/>
              <a:t>给每一个国家染色，相邻国家不同色要多少种颜色？</a:t>
            </a:r>
            <a:endParaRPr lang="en-US" altLang="zh-CN" dirty="0" smtClean="0"/>
          </a:p>
          <a:p>
            <a:pPr lvl="1"/>
            <a:r>
              <a:rPr lang="zh-CN" altLang="en-US" dirty="0"/>
              <a:t>平面</a:t>
            </a:r>
            <a:r>
              <a:rPr lang="zh-CN" altLang="en-US" dirty="0" smtClean="0"/>
              <a:t>图的对偶图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</a:t>
            </a:r>
            <a:r>
              <a:rPr lang="zh-CN" altLang="en-US" dirty="0" smtClean="0"/>
              <a:t>色定理</a:t>
            </a:r>
            <a:endParaRPr lang="en-US" altLang="zh-CN" dirty="0" smtClean="0"/>
          </a:p>
          <a:p>
            <a:r>
              <a:rPr lang="en-US" altLang="zh-CN" dirty="0" smtClean="0"/>
              <a:t>GPS</a:t>
            </a:r>
            <a:r>
              <a:rPr lang="zh-CN" altLang="en-US" dirty="0" smtClean="0"/>
              <a:t>系统：告知坐标，</a:t>
            </a:r>
            <a:endParaRPr lang="en-US" altLang="zh-CN" dirty="0" smtClean="0"/>
          </a:p>
          <a:p>
            <a:r>
              <a:rPr lang="zh-CN" altLang="en-US" dirty="0" smtClean="0"/>
              <a:t>在哪一个国家？</a:t>
            </a:r>
            <a:endParaRPr lang="en-US" altLang="zh-CN" dirty="0" smtClean="0"/>
          </a:p>
          <a:p>
            <a:pPr lvl="1"/>
            <a:r>
              <a:rPr lang="zh-CN" altLang="en-US" dirty="0"/>
              <a:t>梯</a:t>
            </a:r>
            <a:r>
              <a:rPr lang="zh-CN" altLang="en-US" dirty="0" smtClean="0"/>
              <a:t>形剖分</a:t>
            </a:r>
            <a:r>
              <a:rPr lang="en-US" altLang="zh-CN" dirty="0"/>
              <a:t>+</a:t>
            </a:r>
            <a:r>
              <a:rPr lang="zh-CN" altLang="en-US" dirty="0" smtClean="0"/>
              <a:t>随机增量算法</a:t>
            </a:r>
            <a:endParaRPr lang="en-US" altLang="zh-CN" dirty="0" smtClean="0"/>
          </a:p>
          <a:p>
            <a:r>
              <a:rPr lang="zh-CN" altLang="en-US" dirty="0"/>
              <a:t>寻</a:t>
            </a:r>
            <a:r>
              <a:rPr lang="zh-CN" altLang="en-US" dirty="0" smtClean="0"/>
              <a:t>找最近的加油站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Voronoi</a:t>
            </a:r>
            <a:r>
              <a:rPr lang="en-US" altLang="zh-CN" dirty="0" smtClean="0"/>
              <a:t> </a:t>
            </a:r>
            <a:r>
              <a:rPr lang="zh-CN" altLang="en-US" dirty="0" smtClean="0"/>
              <a:t>图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Fortune </a:t>
            </a:r>
            <a:r>
              <a:rPr lang="zh-CN" altLang="en-US" dirty="0" smtClean="0"/>
              <a:t>算法</a:t>
            </a:r>
            <a:endParaRPr lang="en-US" altLang="zh-CN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Section4.</a:t>
            </a:r>
            <a:r>
              <a:rPr lang="zh-CN" altLang="en-US" dirty="0" smtClean="0"/>
              <a:t>一</a:t>
            </a:r>
            <a:r>
              <a:rPr lang="zh-CN" altLang="en-US" dirty="0" smtClean="0"/>
              <a:t>些关于多边形的话题</a:t>
            </a:r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996952"/>
            <a:ext cx="3312368" cy="3560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5DEA-617B-42A4-AFF0-71BC21EFAB79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217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900000"/>
          </a:xfrm>
        </p:spPr>
        <p:txBody>
          <a:bodyPr/>
          <a:lstStyle/>
          <a:p>
            <a:r>
              <a:rPr lang="zh-CN" altLang="en-US" dirty="0" smtClean="0"/>
              <a:t>画廊的看守问题：简单多边形内要放多少个监视器？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一个监视器能看到的面积？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NP-Hard</a:t>
            </a:r>
          </a:p>
          <a:p>
            <a:pPr lvl="1"/>
            <a:r>
              <a:rPr lang="zh-CN" altLang="en-US" dirty="0"/>
              <a:t>多边</a:t>
            </a:r>
            <a:r>
              <a:rPr lang="zh-CN" altLang="en-US" dirty="0" smtClean="0"/>
              <a:t>形的三角剖分：至多</a:t>
            </a:r>
            <a:r>
              <a:rPr lang="en-US" altLang="zh-CN" dirty="0" smtClean="0"/>
              <a:t>N/3</a:t>
            </a:r>
            <a:r>
              <a:rPr lang="zh-CN" altLang="en-US" dirty="0" smtClean="0"/>
              <a:t>的构造方案</a:t>
            </a:r>
            <a:endParaRPr lang="en-US" altLang="zh-CN" dirty="0" smtClean="0"/>
          </a:p>
          <a:p>
            <a:r>
              <a:rPr lang="zh-CN" altLang="en-US" dirty="0"/>
              <a:t>一</a:t>
            </a:r>
            <a:r>
              <a:rPr lang="zh-CN" altLang="en-US" dirty="0" smtClean="0"/>
              <a:t>种三维模型的建立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平面极大区域划分：三角剖分</a:t>
            </a:r>
            <a:endParaRPr lang="en-US" altLang="zh-CN" dirty="0" smtClean="0"/>
          </a:p>
          <a:p>
            <a:pPr lvl="1"/>
            <a:r>
              <a:rPr lang="zh-CN" altLang="en-US" dirty="0"/>
              <a:t>平面点</a:t>
            </a:r>
            <a:r>
              <a:rPr lang="zh-CN" altLang="en-US" dirty="0" smtClean="0"/>
              <a:t>集的三角剖分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Voronoi</a:t>
            </a:r>
            <a:r>
              <a:rPr lang="zh-CN" altLang="en-US" dirty="0" smtClean="0"/>
              <a:t>图的对偶</a:t>
            </a:r>
            <a:endParaRPr lang="en-US" altLang="zh-CN" dirty="0" smtClean="0"/>
          </a:p>
          <a:p>
            <a:r>
              <a:rPr lang="zh-CN" altLang="en-US" dirty="0" smtClean="0"/>
              <a:t>机器人的移动？</a:t>
            </a:r>
            <a:endParaRPr lang="en-US" altLang="zh-CN" dirty="0" smtClean="0"/>
          </a:p>
          <a:p>
            <a:pPr lvl="1"/>
            <a:r>
              <a:rPr lang="zh-CN" altLang="en-US" dirty="0"/>
              <a:t>可</a:t>
            </a:r>
            <a:r>
              <a:rPr lang="zh-CN" altLang="en-US" dirty="0" smtClean="0"/>
              <a:t>见区域</a:t>
            </a:r>
            <a:endParaRPr lang="en-US" altLang="zh-CN" dirty="0" smtClean="0"/>
          </a:p>
          <a:p>
            <a:pPr lvl="1"/>
            <a:r>
              <a:rPr lang="zh-CN" altLang="en-US" dirty="0"/>
              <a:t>离</a:t>
            </a:r>
            <a:r>
              <a:rPr lang="zh-CN" altLang="en-US" dirty="0" smtClean="0"/>
              <a:t>散点与最短路径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一些关于多边形的话题</a:t>
            </a:r>
            <a:endParaRPr 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5636" y="3212975"/>
            <a:ext cx="3488812" cy="326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578" name="Picture 2" descr="http://fmn.rrimg.com/fmn065/20111031/2145/p_large_Yt0Q_11040000ec43126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82" t="14715" r="24741" b="30506"/>
          <a:stretch/>
        </p:blipFill>
        <p:spPr bwMode="auto">
          <a:xfrm>
            <a:off x="2078914" y="1591036"/>
            <a:ext cx="4781128" cy="4190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E6879-0A96-4656-BFF3-5585916F1CAA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950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USACO2009: Shipping Around an Island</a:t>
            </a:r>
          </a:p>
          <a:p>
            <a:r>
              <a:rPr lang="en-US" dirty="0" smtClean="0"/>
              <a:t>BalkanOI2011: Time is money</a:t>
            </a:r>
          </a:p>
          <a:p>
            <a:r>
              <a:rPr lang="en-US" dirty="0" smtClean="0"/>
              <a:t>IOITrain2011: Area</a:t>
            </a:r>
          </a:p>
          <a:p>
            <a:r>
              <a:rPr lang="en-US" dirty="0" smtClean="0"/>
              <a:t>CEOI2009: Triangle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Section5. </a:t>
            </a:r>
            <a:r>
              <a:rPr lang="zh-CN" altLang="en-US" dirty="0" smtClean="0"/>
              <a:t>一</a:t>
            </a:r>
            <a:r>
              <a:rPr lang="zh-CN" altLang="en-US" dirty="0" smtClean="0"/>
              <a:t>些经典例题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09AAD-7BB4-49C0-8FBF-B2A6A79B145B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297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给一个</a:t>
            </a:r>
            <a:r>
              <a:rPr lang="en-US" altLang="zh-CN" dirty="0" smtClean="0"/>
              <a:t>N*M</a:t>
            </a:r>
            <a:r>
              <a:rPr lang="zh-CN" altLang="en-US" dirty="0" smtClean="0"/>
              <a:t>的地图</a:t>
            </a:r>
            <a:endParaRPr lang="en-US" altLang="zh-CN" dirty="0" smtClean="0"/>
          </a:p>
          <a:p>
            <a:r>
              <a:rPr lang="en-US" altLang="zh-CN" dirty="0" smtClean="0"/>
              <a:t>A</a:t>
            </a:r>
            <a:r>
              <a:rPr lang="zh-CN" altLang="en-US" dirty="0" smtClean="0"/>
              <a:t>是岛屿，连通，</a:t>
            </a:r>
            <a:r>
              <a:rPr lang="en-US" altLang="zh-CN" dirty="0" smtClean="0"/>
              <a:t>x</a:t>
            </a:r>
            <a:r>
              <a:rPr lang="zh-CN" altLang="en-US" dirty="0" smtClean="0"/>
              <a:t>是荒岛，</a:t>
            </a:r>
            <a:r>
              <a:rPr lang="en-US" altLang="zh-CN" dirty="0" smtClean="0"/>
              <a:t>.</a:t>
            </a:r>
            <a:r>
              <a:rPr lang="zh-CN" altLang="en-US" dirty="0" smtClean="0"/>
              <a:t>是海洋</a:t>
            </a:r>
            <a:endParaRPr lang="en-US" altLang="zh-CN" dirty="0" smtClean="0"/>
          </a:p>
          <a:p>
            <a:r>
              <a:rPr lang="zh-CN" altLang="en-US" dirty="0" smtClean="0"/>
              <a:t>求一个海上的最短的环路，包含整个岛屿，但不包含任何荒岛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Tip:</a:t>
            </a:r>
          </a:p>
          <a:p>
            <a:pPr lvl="1"/>
            <a:r>
              <a:rPr lang="zh-CN" altLang="en-US" dirty="0" smtClean="0"/>
              <a:t>栈维护</a:t>
            </a:r>
            <a:r>
              <a:rPr lang="zh-CN" altLang="en-US" dirty="0" smtClean="0">
                <a:sym typeface="Wingdings" pitchFamily="2" charset="2"/>
              </a:rPr>
              <a:t>：</a:t>
            </a:r>
            <a:r>
              <a:rPr lang="zh-CN" altLang="en-US" dirty="0">
                <a:sym typeface="Wingdings" pitchFamily="2" charset="2"/>
              </a:rPr>
              <a:t>不</a:t>
            </a:r>
            <a:r>
              <a:rPr lang="zh-CN" altLang="en-US" dirty="0" smtClean="0">
                <a:sym typeface="Wingdings" pitchFamily="2" charset="2"/>
              </a:rPr>
              <a:t>断的消去可以消去的口袋</a:t>
            </a:r>
            <a:endParaRPr lang="en-US" altLang="zh-CN" dirty="0" smtClean="0">
              <a:sym typeface="Wingdings" pitchFamily="2" charset="2"/>
            </a:endParaRPr>
          </a:p>
          <a:p>
            <a:pPr lvl="1"/>
            <a:r>
              <a:rPr lang="en-US" altLang="zh-CN" dirty="0" err="1" smtClean="0">
                <a:sym typeface="Wingdings" pitchFamily="2" charset="2"/>
              </a:rPr>
              <a:t>FloodFill</a:t>
            </a:r>
            <a:r>
              <a:rPr lang="zh-CN" altLang="en-US" dirty="0" smtClean="0">
                <a:sym typeface="Wingdings" pitchFamily="2" charset="2"/>
              </a:rPr>
              <a:t>：在不增加答案也不影响合</a:t>
            </a:r>
            <a:endParaRPr lang="en-US" altLang="zh-CN" dirty="0" smtClean="0">
              <a:sym typeface="Wingdings" pitchFamily="2" charset="2"/>
            </a:endParaRPr>
          </a:p>
          <a:p>
            <a:pPr lvl="1"/>
            <a:r>
              <a:rPr lang="zh-CN" altLang="en-US" dirty="0" smtClean="0">
                <a:sym typeface="Wingdings" pitchFamily="2" charset="2"/>
              </a:rPr>
              <a:t>法性的前提下，不断扩大岛屿</a:t>
            </a:r>
            <a:endParaRPr lang="en-US" altLang="zh-CN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Shipping Around an Island</a:t>
            </a: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6176" y="3421650"/>
            <a:ext cx="1951038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C5A6-7AB2-421F-B2F3-AE68F4704D41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3684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给点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个点，</a:t>
            </a:r>
            <a:r>
              <a:rPr lang="en-US" altLang="zh-CN" dirty="0" smtClean="0"/>
              <a:t>M</a:t>
            </a:r>
            <a:r>
              <a:rPr lang="zh-CN" altLang="en-US" dirty="0" smtClean="0"/>
              <a:t>条边，每条边有两个正权值</a:t>
            </a:r>
            <a:r>
              <a:rPr lang="en-US" altLang="zh-CN" dirty="0" smtClean="0"/>
              <a:t>A</a:t>
            </a:r>
            <a:r>
              <a:rPr lang="en-US" altLang="zh-CN" baseline="-25000" dirty="0" smtClean="0"/>
              <a:t>i</a:t>
            </a:r>
            <a:r>
              <a:rPr lang="zh-CN" altLang="en-US" dirty="0" smtClean="0"/>
              <a:t>和</a:t>
            </a:r>
            <a:r>
              <a:rPr lang="en-US" altLang="zh-CN" dirty="0" smtClean="0"/>
              <a:t>B</a:t>
            </a:r>
            <a:r>
              <a:rPr lang="en-US" altLang="zh-CN" baseline="-25000" dirty="0" smtClean="0"/>
              <a:t>i</a:t>
            </a:r>
          </a:p>
          <a:p>
            <a:r>
              <a:rPr lang="zh-CN" altLang="en-US" dirty="0" smtClean="0"/>
              <a:t>求一棵生成树</a:t>
            </a:r>
            <a:endParaRPr lang="en-US" altLang="zh-CN" dirty="0" smtClean="0"/>
          </a:p>
          <a:p>
            <a:r>
              <a:rPr lang="zh-CN" altLang="en-US" dirty="0"/>
              <a:t>使</a:t>
            </a:r>
            <a:r>
              <a:rPr lang="zh-CN" altLang="en-US" dirty="0" smtClean="0"/>
              <a:t>得</a:t>
            </a:r>
            <a:r>
              <a:rPr lang="en-US" altLang="zh-CN" dirty="0" smtClean="0"/>
              <a:t>(</a:t>
            </a:r>
            <a:r>
              <a:rPr lang="el-GR" altLang="zh-CN" dirty="0" smtClean="0"/>
              <a:t>Σ</a:t>
            </a:r>
            <a:r>
              <a:rPr lang="en-US" altLang="zh-CN" dirty="0" smtClean="0"/>
              <a:t>A)×(</a:t>
            </a:r>
            <a:r>
              <a:rPr lang="el-GR" altLang="zh-CN" dirty="0" smtClean="0"/>
              <a:t>Σ</a:t>
            </a:r>
            <a:r>
              <a:rPr lang="en-US" altLang="zh-CN" dirty="0" smtClean="0"/>
              <a:t>B)</a:t>
            </a:r>
            <a:r>
              <a:rPr lang="zh-CN" altLang="en-US" dirty="0" smtClean="0"/>
              <a:t>最小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Time is money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A832D-F8F6-443D-8821-FA9918F719B1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185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给定两个点集</a:t>
            </a:r>
            <a:r>
              <a:rPr lang="en-US" altLang="zh-CN" dirty="0" smtClean="0"/>
              <a:t>P={p</a:t>
            </a:r>
            <a:r>
              <a:rPr lang="en-US" altLang="zh-CN" baseline="-25000" dirty="0" smtClean="0"/>
              <a:t>i</a:t>
            </a:r>
            <a:r>
              <a:rPr lang="en-US" altLang="zh-CN" dirty="0" smtClean="0"/>
              <a:t>}</a:t>
            </a:r>
            <a:r>
              <a:rPr lang="zh-CN" altLang="en-US" dirty="0" smtClean="0"/>
              <a:t>和</a:t>
            </a:r>
            <a:r>
              <a:rPr lang="en-US" altLang="zh-CN" dirty="0" smtClean="0"/>
              <a:t>Q={</a:t>
            </a:r>
            <a:r>
              <a:rPr lang="en-US" altLang="zh-CN" dirty="0" err="1" smtClean="0"/>
              <a:t>q</a:t>
            </a:r>
            <a:r>
              <a:rPr lang="en-US" altLang="zh-CN" baseline="-25000" dirty="0" err="1"/>
              <a:t>k</a:t>
            </a:r>
            <a:r>
              <a:rPr lang="en-US" altLang="zh-CN" dirty="0" smtClean="0"/>
              <a:t>}</a:t>
            </a:r>
          </a:p>
          <a:p>
            <a:r>
              <a:rPr lang="zh-CN" altLang="en-US" dirty="0"/>
              <a:t>定</a:t>
            </a:r>
            <a:r>
              <a:rPr lang="zh-CN" altLang="en-US" dirty="0" smtClean="0"/>
              <a:t>义</a:t>
            </a:r>
            <a:r>
              <a:rPr lang="en-US" altLang="zh-CN" dirty="0" smtClean="0"/>
              <a:t>P</a:t>
            </a:r>
            <a:r>
              <a:rPr lang="zh-CN" altLang="en-US" dirty="0" smtClean="0"/>
              <a:t>和</a:t>
            </a:r>
            <a:r>
              <a:rPr lang="en-US" altLang="zh-CN" dirty="0" smtClean="0"/>
              <a:t>Q</a:t>
            </a:r>
            <a:r>
              <a:rPr lang="zh-CN" altLang="en-US" dirty="0" smtClean="0"/>
              <a:t>的向量和</a:t>
            </a:r>
            <a:r>
              <a:rPr lang="en-US" altLang="zh-CN" dirty="0" smtClean="0"/>
              <a:t>P+Q={</a:t>
            </a:r>
            <a:r>
              <a:rPr lang="en-US" altLang="zh-CN" dirty="0" err="1" smtClean="0"/>
              <a:t>p</a:t>
            </a:r>
            <a:r>
              <a:rPr lang="en-US" altLang="zh-CN" baseline="-25000" dirty="0" err="1" smtClean="0"/>
              <a:t>i</a:t>
            </a:r>
            <a:r>
              <a:rPr lang="en-US" altLang="zh-CN" dirty="0" err="1" smtClean="0"/>
              <a:t>+q</a:t>
            </a:r>
            <a:r>
              <a:rPr lang="en-US" altLang="zh-CN" baseline="-25000" dirty="0" err="1" smtClean="0"/>
              <a:t>k</a:t>
            </a:r>
            <a:r>
              <a:rPr lang="en-US" altLang="zh-CN" dirty="0" smtClean="0"/>
              <a:t>}</a:t>
            </a:r>
          </a:p>
          <a:p>
            <a:r>
              <a:rPr lang="zh-CN" altLang="en-US" dirty="0" smtClean="0"/>
              <a:t>求</a:t>
            </a:r>
            <a:r>
              <a:rPr lang="en-US" altLang="zh-CN" dirty="0" smtClean="0"/>
              <a:t>P+Q</a:t>
            </a:r>
            <a:r>
              <a:rPr lang="zh-CN" altLang="en-US" dirty="0" smtClean="0"/>
              <a:t>的凸包面积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Area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9A3F1-6FB1-461A-B11A-59B5D876F050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1175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给定</a:t>
            </a:r>
            <a:r>
              <a:rPr lang="en-US" altLang="zh-CN" dirty="0" smtClean="0"/>
              <a:t>K</a:t>
            </a:r>
            <a:r>
              <a:rPr lang="zh-CN" altLang="en-US" dirty="0" smtClean="0"/>
              <a:t>个第一象限内的点</a:t>
            </a:r>
            <a:endParaRPr lang="en-US" altLang="zh-CN" dirty="0" smtClean="0"/>
          </a:p>
          <a:p>
            <a:r>
              <a:rPr lang="zh-CN" altLang="en-US" dirty="0"/>
              <a:t>给</a:t>
            </a:r>
            <a:r>
              <a:rPr lang="zh-CN" altLang="en-US" dirty="0" smtClean="0"/>
              <a:t>定</a:t>
            </a:r>
            <a:r>
              <a:rPr lang="en-US" altLang="zh-CN" dirty="0" smtClean="0"/>
              <a:t>M</a:t>
            </a:r>
            <a:r>
              <a:rPr lang="zh-CN" altLang="en-US" dirty="0" smtClean="0"/>
              <a:t>个三角形，满足三角形一个顶点为原点，另外两个顶点均在第一象限内</a:t>
            </a:r>
            <a:endParaRPr lang="en-US" altLang="zh-CN" dirty="0" smtClean="0"/>
          </a:p>
          <a:p>
            <a:r>
              <a:rPr lang="zh-CN" altLang="en-US" dirty="0"/>
              <a:t>回</a:t>
            </a:r>
            <a:r>
              <a:rPr lang="zh-CN" altLang="en-US" dirty="0" smtClean="0"/>
              <a:t>答每一个三角形内部是否有点存在</a:t>
            </a:r>
            <a:endParaRPr lang="en-US" altLang="zh-CN" dirty="0" smtClean="0"/>
          </a:p>
          <a:p>
            <a:endParaRPr lang="en-US" dirty="0"/>
          </a:p>
          <a:p>
            <a:r>
              <a:rPr lang="en-US" dirty="0" smtClean="0"/>
              <a:t>Tip:</a:t>
            </a:r>
          </a:p>
          <a:p>
            <a:pPr lvl="1"/>
            <a:r>
              <a:rPr lang="zh-CN" altLang="en-US" dirty="0"/>
              <a:t>极</a:t>
            </a:r>
            <a:r>
              <a:rPr lang="zh-CN" altLang="en-US" dirty="0" smtClean="0"/>
              <a:t>角划分</a:t>
            </a:r>
            <a:endParaRPr lang="en-US" altLang="zh-CN" dirty="0" smtClean="0"/>
          </a:p>
          <a:p>
            <a:pPr lvl="1"/>
            <a:r>
              <a:rPr lang="zh-CN" altLang="en-US" dirty="0"/>
              <a:t>线段</a:t>
            </a:r>
            <a:r>
              <a:rPr lang="zh-CN" altLang="en-US" dirty="0" smtClean="0"/>
              <a:t>树</a:t>
            </a:r>
            <a:endParaRPr lang="en-US" altLang="zh-CN" dirty="0" smtClean="0"/>
          </a:p>
          <a:p>
            <a:pPr lvl="1"/>
            <a:r>
              <a:rPr lang="zh-CN" altLang="en-US" dirty="0"/>
              <a:t>凸</a:t>
            </a:r>
            <a:r>
              <a:rPr lang="zh-CN" altLang="en-US" dirty="0" smtClean="0"/>
              <a:t>包合并</a:t>
            </a:r>
            <a:endParaRPr lang="en-US" altLang="zh-CN" dirty="0" smtClean="0"/>
          </a:p>
          <a:p>
            <a:pPr lvl="1"/>
            <a:r>
              <a:rPr lang="zh-CN" altLang="en-US" dirty="0"/>
              <a:t>直</a:t>
            </a:r>
            <a:r>
              <a:rPr lang="zh-CN" altLang="en-US" dirty="0" smtClean="0"/>
              <a:t>线与凸包的交点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Triangle</a:t>
            </a:r>
            <a:endParaRPr lang="en-US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3415553"/>
            <a:ext cx="3686175" cy="318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AE80F-65FF-425F-960E-B048956E5AD0}" type="datetime1">
              <a:rPr lang="zh-CN" altLang="en-US" smtClean="0"/>
              <a:t>2012/2/8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Authored by Will, IIIS, THU</a:t>
            </a: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87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027603" y="2044005"/>
            <a:ext cx="70888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Thanks for Listening</a:t>
            </a:r>
            <a:endParaRPr lang="en-U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932498" y="3645024"/>
            <a:ext cx="527900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</a:rPr>
              <a:t>Welcome to IIIS</a:t>
            </a:r>
            <a:endParaRPr lang="en-U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34172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1291</TotalTime>
  <Words>5610</Words>
  <Application>Microsoft Office PowerPoint</Application>
  <PresentationFormat>On-screen Show (4:3)</PresentationFormat>
  <Paragraphs>780</Paragraphs>
  <Slides>63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聚合</vt:lpstr>
      <vt:lpstr>Equation</vt:lpstr>
      <vt:lpstr>从凸包开始 浅谈一些几何问题</vt:lpstr>
      <vt:lpstr>一些题外话</vt:lpstr>
      <vt:lpstr>引用说明</vt:lpstr>
      <vt:lpstr>前言：计算几何与计算机科学</vt:lpstr>
      <vt:lpstr>一些约定和说明</vt:lpstr>
      <vt:lpstr>预备知识：向量与向量运算</vt:lpstr>
      <vt:lpstr>预备知识：复数与平面向量</vt:lpstr>
      <vt:lpstr>预备知识：坐标变换与简化约定</vt:lpstr>
      <vt:lpstr>预备知识：数值计算</vt:lpstr>
      <vt:lpstr>Section1. 一个凸包的例子</vt:lpstr>
      <vt:lpstr>直观的理解</vt:lpstr>
      <vt:lpstr>常用算法</vt:lpstr>
      <vt:lpstr>常用算法：QuickHull</vt:lpstr>
      <vt:lpstr>Chan’s Algorithm</vt:lpstr>
      <vt:lpstr>计算复杂性：Ω(NlogH)</vt:lpstr>
      <vt:lpstr>特殊的凸包：正交凸包</vt:lpstr>
      <vt:lpstr>凸包上的序——凸性</vt:lpstr>
      <vt:lpstr>凸包上的序的确定</vt:lpstr>
      <vt:lpstr>凸包与直线</vt:lpstr>
      <vt:lpstr>凸包的矩形覆盖：旋转卡壳</vt:lpstr>
      <vt:lpstr>凸包与点</vt:lpstr>
      <vt:lpstr>凸包与点</vt:lpstr>
      <vt:lpstr>凸包与凸包</vt:lpstr>
      <vt:lpstr>凸包与凸包</vt:lpstr>
      <vt:lpstr>一些动态计算问题</vt:lpstr>
      <vt:lpstr>凸包的划分</vt:lpstr>
      <vt:lpstr>Section2. 从凸包看线性规划</vt:lpstr>
      <vt:lpstr>半平面交的引入</vt:lpstr>
      <vt:lpstr>半平面交算法</vt:lpstr>
      <vt:lpstr>半平面交算法</vt:lpstr>
      <vt:lpstr>极值问题</vt:lpstr>
      <vt:lpstr>对偶的引入</vt:lpstr>
      <vt:lpstr>对偶的引入</vt:lpstr>
      <vt:lpstr>对偶的引入</vt:lpstr>
      <vt:lpstr>简化的版本：线性规划问题</vt:lpstr>
      <vt:lpstr>简化的版本：线性规划问题</vt:lpstr>
      <vt:lpstr>概率：基本知识</vt:lpstr>
      <vt:lpstr>概率：基本知识</vt:lpstr>
      <vt:lpstr>概率：基本知识</vt:lpstr>
      <vt:lpstr>随机增量算法</vt:lpstr>
      <vt:lpstr>无界的线性规划</vt:lpstr>
      <vt:lpstr>3维空间的线性规划</vt:lpstr>
      <vt:lpstr>d维空间的线性规划问题</vt:lpstr>
      <vt:lpstr>最小外接圆</vt:lpstr>
      <vt:lpstr>最小外接圆</vt:lpstr>
      <vt:lpstr>最小外接圆</vt:lpstr>
      <vt:lpstr>最小外接圆</vt:lpstr>
      <vt:lpstr>最小外接圆</vt:lpstr>
      <vt:lpstr>Section3. 三维空间的简单拓展</vt:lpstr>
      <vt:lpstr>向量运算</vt:lpstr>
      <vt:lpstr>向量运算</vt:lpstr>
      <vt:lpstr>向量运算</vt:lpstr>
      <vt:lpstr>坐标变换与投影变换</vt:lpstr>
      <vt:lpstr>相关问题的简单拓展</vt:lpstr>
      <vt:lpstr>三维凸包简介</vt:lpstr>
      <vt:lpstr>Section4.一些关于多边形的话题</vt:lpstr>
      <vt:lpstr>一些关于多边形的话题</vt:lpstr>
      <vt:lpstr>Section5. 一些经典例题</vt:lpstr>
      <vt:lpstr>Shipping Around an Island</vt:lpstr>
      <vt:lpstr>Time is money</vt:lpstr>
      <vt:lpstr>Area</vt:lpstr>
      <vt:lpstr>Triangle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从凸包开始</dc:title>
  <dc:creator>wuyi</dc:creator>
  <cp:lastModifiedBy>Yi Wu </cp:lastModifiedBy>
  <cp:revision>522</cp:revision>
  <dcterms:created xsi:type="dcterms:W3CDTF">2012-02-05T16:26:07Z</dcterms:created>
  <dcterms:modified xsi:type="dcterms:W3CDTF">2012-02-07T16:19:34Z</dcterms:modified>
</cp:coreProperties>
</file>