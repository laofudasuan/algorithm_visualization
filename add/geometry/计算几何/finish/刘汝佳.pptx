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7"/>
  </p:notesMasterIdLst>
  <p:sldIdLst>
    <p:sldId id="256" r:id="rId2"/>
    <p:sldId id="283" r:id="rId3"/>
    <p:sldId id="257" r:id="rId4"/>
    <p:sldId id="258" r:id="rId5"/>
    <p:sldId id="259" r:id="rId6"/>
    <p:sldId id="260" r:id="rId7"/>
    <p:sldId id="261" r:id="rId8"/>
    <p:sldId id="262" r:id="rId9"/>
    <p:sldId id="430"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 id="276" r:id="rId23"/>
    <p:sldId id="277" r:id="rId24"/>
    <p:sldId id="278" r:id="rId25"/>
    <p:sldId id="355" r:id="rId26"/>
    <p:sldId id="279" r:id="rId27"/>
    <p:sldId id="280" r:id="rId28"/>
    <p:sldId id="281" r:id="rId29"/>
    <p:sldId id="282" r:id="rId30"/>
    <p:sldId id="285" r:id="rId31"/>
    <p:sldId id="356" r:id="rId32"/>
    <p:sldId id="357" r:id="rId33"/>
    <p:sldId id="360" r:id="rId34"/>
    <p:sldId id="358" r:id="rId35"/>
    <p:sldId id="359" r:id="rId36"/>
    <p:sldId id="361" r:id="rId37"/>
    <p:sldId id="284" r:id="rId38"/>
    <p:sldId id="288" r:id="rId39"/>
    <p:sldId id="286" r:id="rId40"/>
    <p:sldId id="363" r:id="rId41"/>
    <p:sldId id="364" r:id="rId42"/>
    <p:sldId id="365" r:id="rId43"/>
    <p:sldId id="431" r:id="rId44"/>
    <p:sldId id="432" r:id="rId45"/>
    <p:sldId id="433" r:id="rId46"/>
    <p:sldId id="366" r:id="rId47"/>
    <p:sldId id="388" r:id="rId48"/>
    <p:sldId id="367" r:id="rId49"/>
    <p:sldId id="371" r:id="rId50"/>
    <p:sldId id="372" r:id="rId51"/>
    <p:sldId id="418" r:id="rId52"/>
    <p:sldId id="414" r:id="rId53"/>
    <p:sldId id="415" r:id="rId54"/>
    <p:sldId id="441" r:id="rId55"/>
    <p:sldId id="442" r:id="rId56"/>
    <p:sldId id="443" r:id="rId57"/>
    <p:sldId id="435" r:id="rId58"/>
    <p:sldId id="439" r:id="rId59"/>
    <p:sldId id="438" r:id="rId60"/>
    <p:sldId id="440" r:id="rId61"/>
    <p:sldId id="444" r:id="rId62"/>
    <p:sldId id="362" r:id="rId63"/>
    <p:sldId id="289" r:id="rId64"/>
    <p:sldId id="290" r:id="rId65"/>
    <p:sldId id="417" r:id="rId66"/>
    <p:sldId id="421" r:id="rId67"/>
    <p:sldId id="386" r:id="rId68"/>
    <p:sldId id="320" r:id="rId69"/>
    <p:sldId id="324" r:id="rId70"/>
    <p:sldId id="321" r:id="rId71"/>
    <p:sldId id="389" r:id="rId72"/>
    <p:sldId id="322" r:id="rId73"/>
    <p:sldId id="323" r:id="rId74"/>
    <p:sldId id="297" r:id="rId75"/>
    <p:sldId id="420" r:id="rId76"/>
    <p:sldId id="419" r:id="rId77"/>
    <p:sldId id="299" r:id="rId78"/>
    <p:sldId id="390" r:id="rId79"/>
    <p:sldId id="391" r:id="rId80"/>
    <p:sldId id="392" r:id="rId81"/>
    <p:sldId id="393" r:id="rId82"/>
    <p:sldId id="394" r:id="rId83"/>
    <p:sldId id="395" r:id="rId84"/>
    <p:sldId id="396" r:id="rId85"/>
    <p:sldId id="416" r:id="rId86"/>
    <p:sldId id="422" r:id="rId87"/>
    <p:sldId id="374" r:id="rId88"/>
    <p:sldId id="379" r:id="rId89"/>
    <p:sldId id="380" r:id="rId90"/>
    <p:sldId id="383" r:id="rId91"/>
    <p:sldId id="384" r:id="rId92"/>
    <p:sldId id="375" r:id="rId93"/>
    <p:sldId id="385" r:id="rId94"/>
    <p:sldId id="376" r:id="rId95"/>
    <p:sldId id="377" r:id="rId96"/>
    <p:sldId id="378" r:id="rId97"/>
    <p:sldId id="397" r:id="rId98"/>
    <p:sldId id="399" r:id="rId99"/>
    <p:sldId id="398" r:id="rId100"/>
    <p:sldId id="407" r:id="rId101"/>
    <p:sldId id="408" r:id="rId102"/>
    <p:sldId id="409" r:id="rId103"/>
    <p:sldId id="411" r:id="rId104"/>
    <p:sldId id="412" r:id="rId105"/>
    <p:sldId id="413" r:id="rId106"/>
    <p:sldId id="424" r:id="rId107"/>
    <p:sldId id="425" r:id="rId108"/>
    <p:sldId id="426" r:id="rId109"/>
    <p:sldId id="427" r:id="rId110"/>
    <p:sldId id="428" r:id="rId111"/>
    <p:sldId id="429" r:id="rId112"/>
    <p:sldId id="445" r:id="rId113"/>
    <p:sldId id="446" r:id="rId114"/>
    <p:sldId id="447" r:id="rId115"/>
    <p:sldId id="449" r:id="rId116"/>
    <p:sldId id="448" r:id="rId117"/>
    <p:sldId id="326" r:id="rId118"/>
    <p:sldId id="350" r:id="rId119"/>
    <p:sldId id="339" r:id="rId120"/>
    <p:sldId id="334" r:id="rId121"/>
    <p:sldId id="335" r:id="rId122"/>
    <p:sldId id="336" r:id="rId123"/>
    <p:sldId id="351" r:id="rId124"/>
    <p:sldId id="352" r:id="rId125"/>
    <p:sldId id="450" r:id="rId126"/>
    <p:sldId id="451" r:id="rId127"/>
    <p:sldId id="452" r:id="rId128"/>
    <p:sldId id="400" r:id="rId129"/>
    <p:sldId id="402" r:id="rId130"/>
    <p:sldId id="401" r:id="rId131"/>
    <p:sldId id="403" r:id="rId132"/>
    <p:sldId id="404" r:id="rId133"/>
    <p:sldId id="405" r:id="rId134"/>
    <p:sldId id="406" r:id="rId135"/>
    <p:sldId id="437" r:id="rId1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55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20.wmf"/><Relationship Id="rId1" Type="http://schemas.openxmlformats.org/officeDocument/2006/relationships/image" Target="../media/image1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21.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2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1.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CE50EC-BB69-43FB-BF49-AFD012E63938}" type="datetimeFigureOut">
              <a:rPr lang="zh-CN" altLang="en-US" smtClean="0"/>
              <a:pPr/>
              <a:t>2017/9/4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FBE701-370C-4172-AFBE-65F249E874D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E3FBE701-370C-4172-AFBE-65F249E874D7}" type="slidenum">
              <a:rPr lang="zh-CN" altLang="en-US" smtClean="0"/>
              <a:pPr/>
              <a:t>50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2017/9/4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47675" y="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562100"/>
            <a:ext cx="4038600" cy="43053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62100"/>
            <a:ext cx="4038600" cy="43053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1"/>
          </p:nvPr>
        </p:nvSpPr>
        <p:spPr>
          <a:xfrm>
            <a:off x="6553200" y="6248400"/>
            <a:ext cx="2133600" cy="457200"/>
          </a:xfrm>
        </p:spPr>
        <p:txBody>
          <a:bodyPr/>
          <a:lstStyle>
            <a:lvl1pPr>
              <a:defRPr/>
            </a:lvl1pPr>
          </a:lstStyle>
          <a:p>
            <a:fld id="{9EF03540-2595-40DD-A13C-A2990D59597A}" type="slidenum">
              <a:rPr lang="he-IL" altLang="en-US"/>
              <a:pPr/>
              <a:t>‹#›</a:t>
            </a:fld>
            <a:endParaRPr lang="en-US" altLang="zh-CN"/>
          </a:p>
        </p:txBody>
      </p:sp>
      <p:sp>
        <p:nvSpPr>
          <p:cNvPr id="7" name="日期占位符 6"/>
          <p:cNvSpPr>
            <a:spLocks noGrp="1"/>
          </p:cNvSpPr>
          <p:nvPr>
            <p:ph type="dt" sz="half" idx="12"/>
          </p:nvPr>
        </p:nvSpPr>
        <p:spPr>
          <a:xfrm>
            <a:off x="457200" y="6245225"/>
            <a:ext cx="2133600" cy="476250"/>
          </a:xfrm>
        </p:spPr>
        <p:txBody>
          <a:bodyPr/>
          <a:lstStyle>
            <a:lvl1pPr>
              <a:defRPr/>
            </a:lvl1pPr>
          </a:lstStyle>
          <a:p>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47675" y="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562100"/>
            <a:ext cx="8229600" cy="2076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7200" y="3790950"/>
            <a:ext cx="8229600" cy="2076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6" name="灯片编号占位符 5"/>
          <p:cNvSpPr>
            <a:spLocks noGrp="1"/>
          </p:cNvSpPr>
          <p:nvPr>
            <p:ph type="sldNum" sz="quarter" idx="11"/>
          </p:nvPr>
        </p:nvSpPr>
        <p:spPr>
          <a:xfrm>
            <a:off x="6553200" y="6248400"/>
            <a:ext cx="2133600" cy="457200"/>
          </a:xfrm>
        </p:spPr>
        <p:txBody>
          <a:bodyPr/>
          <a:lstStyle>
            <a:lvl1pPr>
              <a:defRPr/>
            </a:lvl1pPr>
          </a:lstStyle>
          <a:p>
            <a:fld id="{6C350A57-A4B2-4E12-A36D-94C272EE2608}" type="slidenum">
              <a:rPr lang="he-IL" altLang="en-US"/>
              <a:pPr/>
              <a:t>‹#›</a:t>
            </a:fld>
            <a:endParaRPr lang="en-US" altLang="zh-CN"/>
          </a:p>
        </p:txBody>
      </p:sp>
      <p:sp>
        <p:nvSpPr>
          <p:cNvPr id="7" name="日期占位符 6"/>
          <p:cNvSpPr>
            <a:spLocks noGrp="1"/>
          </p:cNvSpPr>
          <p:nvPr>
            <p:ph type="dt" sz="half" idx="12"/>
          </p:nvPr>
        </p:nvSpPr>
        <p:spPr>
          <a:xfrm>
            <a:off x="457200" y="6245225"/>
            <a:ext cx="2133600" cy="476250"/>
          </a:xfrm>
        </p:spPr>
        <p:txBody>
          <a:bodyPr/>
          <a:lstStyle>
            <a:lvl1pPr>
              <a:defRPr/>
            </a:lvl1pPr>
          </a:lstStyle>
          <a:p>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OverTx">
  <p:cSld name="标题和两项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447675" y="0"/>
            <a:ext cx="8229600" cy="1371600"/>
          </a:xfrm>
        </p:spPr>
        <p:txBody>
          <a:bodyPr/>
          <a:lstStyle/>
          <a:p>
            <a:r>
              <a:rPr lang="zh-CN" altLang="en-US"/>
              <a:t>单击此处编辑母版标题样式</a:t>
            </a:r>
          </a:p>
        </p:txBody>
      </p:sp>
      <p:sp>
        <p:nvSpPr>
          <p:cNvPr id="3" name="内容占位符 2"/>
          <p:cNvSpPr>
            <a:spLocks noGrp="1"/>
          </p:cNvSpPr>
          <p:nvPr>
            <p:ph sz="quarter" idx="1"/>
          </p:nvPr>
        </p:nvSpPr>
        <p:spPr>
          <a:xfrm>
            <a:off x="457200" y="1562100"/>
            <a:ext cx="4038600" cy="2076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562100"/>
            <a:ext cx="4038600" cy="2076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half" idx="3"/>
          </p:nvPr>
        </p:nvSpPr>
        <p:spPr>
          <a:xfrm>
            <a:off x="457200" y="3790950"/>
            <a:ext cx="8229600" cy="20764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0"/>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1"/>
          </p:nvPr>
        </p:nvSpPr>
        <p:spPr>
          <a:xfrm>
            <a:off x="6553200" y="6248400"/>
            <a:ext cx="2133600" cy="457200"/>
          </a:xfrm>
        </p:spPr>
        <p:txBody>
          <a:bodyPr/>
          <a:lstStyle>
            <a:lvl1pPr>
              <a:defRPr/>
            </a:lvl1pPr>
          </a:lstStyle>
          <a:p>
            <a:fld id="{8AFA2D89-69BB-4625-BF2D-289496576C5E}" type="slidenum">
              <a:rPr lang="he-IL" altLang="en-US"/>
              <a:pPr/>
              <a:t>‹#›</a:t>
            </a:fld>
            <a:endParaRPr lang="en-US" altLang="zh-CN"/>
          </a:p>
        </p:txBody>
      </p:sp>
      <p:sp>
        <p:nvSpPr>
          <p:cNvPr id="8" name="日期占位符 7"/>
          <p:cNvSpPr>
            <a:spLocks noGrp="1"/>
          </p:cNvSpPr>
          <p:nvPr>
            <p:ph type="dt" sz="half" idx="12"/>
          </p:nvPr>
        </p:nvSpPr>
        <p:spPr>
          <a:xfrm>
            <a:off x="457200" y="6245225"/>
            <a:ext cx="2133600" cy="476250"/>
          </a:xfrm>
        </p:spPr>
        <p:txBody>
          <a:bodyPr/>
          <a:lstStyle>
            <a:lvl1pPr>
              <a:defRPr/>
            </a:lvl1pPr>
          </a:lstStyle>
          <a:p>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1406525" y="228600"/>
            <a:ext cx="7104063" cy="1143000"/>
          </a:xfrm>
        </p:spPr>
        <p:txBody>
          <a:bodyPr/>
          <a:lstStyle/>
          <a:p>
            <a:r>
              <a:rPr lang="zh-CN" altLang="en-US"/>
              <a:t>单击此处编辑母版标题样式</a:t>
            </a:r>
          </a:p>
        </p:txBody>
      </p:sp>
      <p:sp>
        <p:nvSpPr>
          <p:cNvPr id="3" name="内容占位符 2"/>
          <p:cNvSpPr>
            <a:spLocks noGrp="1"/>
          </p:cNvSpPr>
          <p:nvPr>
            <p:ph sz="half" idx="1"/>
          </p:nvPr>
        </p:nvSpPr>
        <p:spPr>
          <a:xfrm>
            <a:off x="1284288" y="1905000"/>
            <a:ext cx="7156450" cy="20193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1284288" y="4076700"/>
            <a:ext cx="7156450" cy="20193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页脚占位符 6"/>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133600" cy="476250"/>
          </a:xfrm>
        </p:spPr>
        <p:txBody>
          <a:bodyPr/>
          <a:lstStyle>
            <a:lvl1pPr>
              <a:defRPr/>
            </a:lvl1pPr>
          </a:lstStyle>
          <a:p>
            <a:fld id="{C2FFCE66-58BB-4D7F-8406-95D50923148E}" type="slidenum">
              <a:rPr lang="en-US" altLang="zh-CN"/>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2017/9/4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rujia.liu@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6.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7.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10.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2.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3.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4.xml"/><Relationship Id="rId1" Type="http://schemas.openxmlformats.org/officeDocument/2006/relationships/vmlDrawing" Target="../drawings/vmlDrawing14.vml"/><Relationship Id="rId4" Type="http://schemas.openxmlformats.org/officeDocument/2006/relationships/image" Target="../media/image15.wmf"/></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20.wmf"/><Relationship Id="rId5" Type="http://schemas.openxmlformats.org/officeDocument/2006/relationships/oleObject" Target="../embeddings/oleObject18.bin"/><Relationship Id="rId4" Type="http://schemas.openxmlformats.org/officeDocument/2006/relationships/image" Target="../media/image19.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18.wmf"/><Relationship Id="rId5" Type="http://schemas.openxmlformats.org/officeDocument/2006/relationships/oleObject" Target="../embeddings/oleObject21.bin"/><Relationship Id="rId4" Type="http://schemas.openxmlformats.org/officeDocument/2006/relationships/image" Target="../media/image21.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18.wmf"/><Relationship Id="rId5" Type="http://schemas.openxmlformats.org/officeDocument/2006/relationships/oleObject" Target="../embeddings/oleObject23.bin"/><Relationship Id="rId4" Type="http://schemas.openxmlformats.org/officeDocument/2006/relationships/image" Target="../media/image22.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0.wmf"/></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1.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25.bin"/><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slideLayout" Target="../slideLayouts/slideLayout16.xml"/><Relationship Id="rId1" Type="http://schemas.openxmlformats.org/officeDocument/2006/relationships/vmlDrawing" Target="../drawings/vmlDrawing21.vml"/><Relationship Id="rId5" Type="http://schemas.openxmlformats.org/officeDocument/2006/relationships/image" Target="../media/image40.wmf"/><Relationship Id="rId4" Type="http://schemas.openxmlformats.org/officeDocument/2006/relationships/oleObject" Target="../embeddings/oleObject26.bin"/></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51.png"/></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71.w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72.wmf"/></Relationships>
</file>

<file path=ppt/slides/_rels/slide10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75.w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6.xml"/><Relationship Id="rId4" Type="http://schemas.openxmlformats.org/officeDocument/2006/relationships/image" Target="../media/image88.png"/></Relationships>
</file>

<file path=ppt/slides/_rels/slide12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12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latin typeface="楷体_GB2312" pitchFamily="49" charset="-122"/>
                <a:ea typeface="楷体_GB2312" pitchFamily="49" charset="-122"/>
              </a:rPr>
              <a:t>空间几何：概念、算法与应用</a:t>
            </a:r>
            <a:br>
              <a:rPr lang="en-US" altLang="zh-CN" dirty="0">
                <a:latin typeface="楷体_GB2312" pitchFamily="49" charset="-122"/>
                <a:ea typeface="楷体_GB2312" pitchFamily="49" charset="-122"/>
              </a:rPr>
            </a:br>
            <a:endParaRPr lang="zh-CN" altLang="en-US" sz="2400" dirty="0">
              <a:latin typeface="楷体_GB2312" pitchFamily="49" charset="-122"/>
              <a:ea typeface="楷体_GB2312" pitchFamily="49" charset="-122"/>
            </a:endParaRPr>
          </a:p>
        </p:txBody>
      </p:sp>
      <p:sp>
        <p:nvSpPr>
          <p:cNvPr id="3" name="副标题 2"/>
          <p:cNvSpPr>
            <a:spLocks noGrp="1"/>
          </p:cNvSpPr>
          <p:nvPr>
            <p:ph type="subTitle" idx="1"/>
          </p:nvPr>
        </p:nvSpPr>
        <p:spPr/>
        <p:txBody>
          <a:bodyPr/>
          <a:lstStyle/>
          <a:p>
            <a:r>
              <a:rPr lang="zh-CN" altLang="en-US" dirty="0"/>
              <a:t>刘汝佳</a:t>
            </a:r>
            <a:endParaRPr lang="en-US" altLang="zh-CN" dirty="0"/>
          </a:p>
          <a:p>
            <a:r>
              <a:rPr lang="en-US" altLang="zh-CN" dirty="0">
                <a:hlinkClick r:id="rId2"/>
              </a:rPr>
              <a:t>rujia.liu@gmail.com</a:t>
            </a:r>
            <a:endParaRPr lang="en-US" altLang="zh-CN" dirty="0"/>
          </a:p>
          <a:p>
            <a:r>
              <a:rPr lang="zh-CN" altLang="en-US" sz="2400" dirty="0"/>
              <a:t>新浪</a:t>
            </a:r>
            <a:r>
              <a:rPr lang="en-US" altLang="zh-CN" sz="2400" dirty="0"/>
              <a:t>/</a:t>
            </a:r>
            <a:r>
              <a:rPr lang="zh-CN" altLang="en-US" sz="2400" dirty="0"/>
              <a:t>腾讯</a:t>
            </a:r>
            <a:r>
              <a:rPr lang="en-US" altLang="zh-CN" sz="2400" dirty="0"/>
              <a:t>/</a:t>
            </a:r>
            <a:r>
              <a:rPr lang="zh-CN" altLang="en-US" sz="2400" dirty="0"/>
              <a:t>网易</a:t>
            </a:r>
            <a:r>
              <a:rPr lang="en-US" altLang="zh-CN" sz="2400" dirty="0"/>
              <a:t>/</a:t>
            </a:r>
            <a:r>
              <a:rPr lang="zh-CN" altLang="en-US" sz="2400" dirty="0"/>
              <a:t>搜狐微博：</a:t>
            </a:r>
            <a:r>
              <a:rPr lang="en-US" altLang="zh-CN" sz="2400" dirty="0" err="1"/>
              <a:t>rujialiu</a:t>
            </a:r>
            <a:endParaRPr lang="zh-CN" altLang="en-US" sz="2400" dirty="0"/>
          </a:p>
        </p:txBody>
      </p:sp>
      <p:sp>
        <p:nvSpPr>
          <p:cNvPr id="4" name="TextBox 3"/>
          <p:cNvSpPr txBox="1"/>
          <p:nvPr/>
        </p:nvSpPr>
        <p:spPr>
          <a:xfrm>
            <a:off x="714348" y="1571612"/>
            <a:ext cx="7768473" cy="523220"/>
          </a:xfrm>
          <a:prstGeom prst="rect">
            <a:avLst/>
          </a:prstGeom>
          <a:noFill/>
        </p:spPr>
        <p:txBody>
          <a:bodyPr wrap="none" rtlCol="0">
            <a:spAutoFit/>
          </a:bodyPr>
          <a:lstStyle/>
          <a:p>
            <a:r>
              <a:rPr lang="en-US" altLang="zh-CN" sz="2800" b="1" dirty="0">
                <a:latin typeface="黑体" pitchFamily="2" charset="-122"/>
                <a:ea typeface="黑体" pitchFamily="2" charset="-122"/>
              </a:rPr>
              <a:t>2011</a:t>
            </a:r>
            <a:r>
              <a:rPr lang="zh-CN" altLang="en-US" sz="2800" b="1" dirty="0">
                <a:latin typeface="黑体" pitchFamily="2" charset="-122"/>
                <a:ea typeface="黑体" pitchFamily="2" charset="-122"/>
              </a:rPr>
              <a:t>全国青少年信息学奥林匹克竞赛冬令营讲课</a:t>
            </a:r>
            <a:endParaRPr lang="zh-CN" altLang="en-US" sz="2800" dirty="0">
              <a:latin typeface="黑体" pitchFamily="2" charset="-122"/>
              <a:ea typeface="黑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一、基本概念</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en-US" dirty="0">
                <a:ea typeface="宋体" charset="-122"/>
              </a:rPr>
              <a:t>点和向量</a:t>
            </a:r>
            <a:r>
              <a:rPr lang="en-US" altLang="zh-CN" dirty="0">
                <a:ea typeface="宋体" charset="-122"/>
              </a:rPr>
              <a:t>(2D/3D)</a:t>
            </a:r>
          </a:p>
        </p:txBody>
      </p:sp>
      <p:sp>
        <p:nvSpPr>
          <p:cNvPr id="7171" name="Rectangle 3"/>
          <p:cNvSpPr>
            <a:spLocks noGrp="1" noChangeArrowheads="1"/>
          </p:cNvSpPr>
          <p:nvPr>
            <p:ph type="body" idx="1"/>
          </p:nvPr>
        </p:nvSpPr>
        <p:spPr>
          <a:xfrm>
            <a:off x="457200" y="1562100"/>
            <a:ext cx="8229600" cy="2271713"/>
          </a:xfrm>
        </p:spPr>
        <p:txBody>
          <a:bodyPr/>
          <a:lstStyle/>
          <a:p>
            <a:r>
              <a:rPr lang="zh-CN" altLang="en-US" dirty="0">
                <a:solidFill>
                  <a:schemeClr val="tx2"/>
                </a:solidFill>
                <a:ea typeface="宋体" charset="-122"/>
              </a:rPr>
              <a:t>点</a:t>
            </a:r>
            <a:r>
              <a:rPr lang="en-US" altLang="zh-CN" dirty="0">
                <a:solidFill>
                  <a:schemeClr val="tx2"/>
                </a:solidFill>
                <a:ea typeface="宋体" charset="-122"/>
              </a:rPr>
              <a:t>(points)</a:t>
            </a:r>
            <a:r>
              <a:rPr lang="en-US" altLang="zh-CN" dirty="0">
                <a:ea typeface="宋体" charset="-122"/>
              </a:rPr>
              <a:t> </a:t>
            </a:r>
            <a:r>
              <a:rPr lang="zh-CN" altLang="en-US" dirty="0">
                <a:ea typeface="宋体" charset="-122"/>
              </a:rPr>
              <a:t>是空间中的位置</a:t>
            </a:r>
            <a:endParaRPr lang="en-US" altLang="zh-CN" dirty="0">
              <a:ea typeface="宋体" charset="-122"/>
            </a:endParaRPr>
          </a:p>
          <a:p>
            <a:r>
              <a:rPr lang="zh-CN" altLang="en-US" dirty="0">
                <a:solidFill>
                  <a:schemeClr val="tx2"/>
                </a:solidFill>
                <a:ea typeface="宋体" charset="-122"/>
              </a:rPr>
              <a:t>向量</a:t>
            </a:r>
            <a:r>
              <a:rPr lang="en-US" altLang="zh-CN" dirty="0">
                <a:solidFill>
                  <a:schemeClr val="tx2"/>
                </a:solidFill>
                <a:ea typeface="宋体" charset="-122"/>
              </a:rPr>
              <a:t>(vectors)</a:t>
            </a:r>
            <a:r>
              <a:rPr lang="en-US" altLang="zh-CN" dirty="0">
                <a:ea typeface="宋体" charset="-122"/>
              </a:rPr>
              <a:t> </a:t>
            </a:r>
            <a:r>
              <a:rPr lang="zh-CN" altLang="en-US" dirty="0">
                <a:ea typeface="宋体" charset="-122"/>
              </a:rPr>
              <a:t>有长度和方向（比如速度）</a:t>
            </a:r>
            <a:endParaRPr lang="en-US" altLang="zh-CN" dirty="0">
              <a:ea typeface="宋体" charset="-122"/>
            </a:endParaRPr>
          </a:p>
          <a:p>
            <a:r>
              <a:rPr lang="zh-CN" altLang="en-US" dirty="0">
                <a:ea typeface="宋体" charset="-122"/>
              </a:rPr>
              <a:t>不要把点和向量弄混了！</a:t>
            </a:r>
            <a:endParaRPr lang="en-US" altLang="zh-CN" dirty="0">
              <a:ea typeface="宋体"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dirty="0">
                <a:ea typeface="宋体" charset="-122"/>
              </a:rPr>
              <a:t>point + vector = point (2D/3D)</a:t>
            </a:r>
          </a:p>
        </p:txBody>
      </p:sp>
      <p:sp>
        <p:nvSpPr>
          <p:cNvPr id="8195" name="Oval 3"/>
          <p:cNvSpPr>
            <a:spLocks noChangeArrowheads="1"/>
          </p:cNvSpPr>
          <p:nvPr/>
        </p:nvSpPr>
        <p:spPr bwMode="auto">
          <a:xfrm>
            <a:off x="3505200" y="3962400"/>
            <a:ext cx="228600" cy="2286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8196" name="Line 4"/>
          <p:cNvSpPr>
            <a:spLocks noChangeShapeType="1"/>
          </p:cNvSpPr>
          <p:nvPr/>
        </p:nvSpPr>
        <p:spPr bwMode="auto">
          <a:xfrm flipV="1">
            <a:off x="3721100" y="3389313"/>
            <a:ext cx="1447800" cy="649287"/>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8197" name="Oval 5"/>
          <p:cNvSpPr>
            <a:spLocks noChangeArrowheads="1"/>
          </p:cNvSpPr>
          <p:nvPr/>
        </p:nvSpPr>
        <p:spPr bwMode="auto">
          <a:xfrm>
            <a:off x="5168900" y="3238500"/>
            <a:ext cx="228600" cy="228600"/>
          </a:xfrm>
          <a:prstGeom prst="ellipse">
            <a:avLst/>
          </a:prstGeom>
          <a:solidFill>
            <a:schemeClr val="accent2"/>
          </a:solidFill>
          <a:ln w="9525">
            <a:solidFill>
              <a:schemeClr val="tx1"/>
            </a:solid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wipe(down)">
                                      <p:cBhvr>
                                        <p:cTn id="7" dur="500"/>
                                        <p:tgtEl>
                                          <p:spTgt spid="8196"/>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8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19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dirty="0">
                <a:ea typeface="宋体" charset="-122"/>
              </a:rPr>
              <a:t>vector + vector = vector (2D/3D)</a:t>
            </a:r>
          </a:p>
        </p:txBody>
      </p:sp>
      <p:sp>
        <p:nvSpPr>
          <p:cNvPr id="9219" name="Line 3"/>
          <p:cNvSpPr>
            <a:spLocks noChangeShapeType="1"/>
          </p:cNvSpPr>
          <p:nvPr/>
        </p:nvSpPr>
        <p:spPr bwMode="auto">
          <a:xfrm flipV="1">
            <a:off x="2805113" y="3105150"/>
            <a:ext cx="1076325" cy="1265238"/>
          </a:xfrm>
          <a:prstGeom prst="line">
            <a:avLst/>
          </a:prstGeom>
          <a:noFill/>
          <a:ln w="57150">
            <a:solidFill>
              <a:schemeClr val="accent2"/>
            </a:solidFill>
            <a:miter lim="800000"/>
            <a:headEnd/>
            <a:tailEnd type="triangle" w="med" len="med"/>
          </a:ln>
          <a:effectLst/>
        </p:spPr>
        <p:txBody>
          <a:bodyPr wrap="none"/>
          <a:lstStyle/>
          <a:p>
            <a:endParaRPr lang="zh-CN" altLang="en-US"/>
          </a:p>
        </p:txBody>
      </p:sp>
      <p:sp>
        <p:nvSpPr>
          <p:cNvPr id="9220" name="Line 4"/>
          <p:cNvSpPr>
            <a:spLocks noChangeShapeType="1"/>
          </p:cNvSpPr>
          <p:nvPr/>
        </p:nvSpPr>
        <p:spPr bwMode="auto">
          <a:xfrm>
            <a:off x="2805113" y="4359275"/>
            <a:ext cx="2405062" cy="0"/>
          </a:xfrm>
          <a:prstGeom prst="line">
            <a:avLst/>
          </a:prstGeom>
          <a:noFill/>
          <a:ln w="57150">
            <a:solidFill>
              <a:schemeClr val="hlink"/>
            </a:solidFill>
            <a:miter lim="800000"/>
            <a:headEnd/>
            <a:tailEnd type="triangle" w="med" len="med"/>
          </a:ln>
          <a:effectLst/>
        </p:spPr>
        <p:txBody>
          <a:bodyPr wrap="none"/>
          <a:lstStyle/>
          <a:p>
            <a:endParaRPr lang="zh-CN" altLang="en-US"/>
          </a:p>
        </p:txBody>
      </p:sp>
      <p:grpSp>
        <p:nvGrpSpPr>
          <p:cNvPr id="2" name="Group 5"/>
          <p:cNvGrpSpPr>
            <a:grpSpLocks/>
          </p:cNvGrpSpPr>
          <p:nvPr/>
        </p:nvGrpSpPr>
        <p:grpSpPr bwMode="auto">
          <a:xfrm>
            <a:off x="3884613" y="3068638"/>
            <a:ext cx="2405062" cy="1265237"/>
            <a:chOff x="2447" y="1933"/>
            <a:chExt cx="1515" cy="797"/>
          </a:xfrm>
        </p:grpSpPr>
        <p:sp>
          <p:nvSpPr>
            <p:cNvPr id="9222" name="Line 6"/>
            <p:cNvSpPr>
              <a:spLocks noChangeShapeType="1"/>
            </p:cNvSpPr>
            <p:nvPr/>
          </p:nvSpPr>
          <p:spPr bwMode="auto">
            <a:xfrm>
              <a:off x="2447" y="1958"/>
              <a:ext cx="1515" cy="0"/>
            </a:xfrm>
            <a:prstGeom prst="line">
              <a:avLst/>
            </a:prstGeom>
            <a:noFill/>
            <a:ln w="9525">
              <a:solidFill>
                <a:schemeClr val="tx1"/>
              </a:solidFill>
              <a:prstDash val="sysDot"/>
              <a:miter lim="800000"/>
              <a:headEnd/>
              <a:tailEnd/>
            </a:ln>
            <a:effectLst/>
          </p:spPr>
          <p:txBody>
            <a:bodyPr wrap="none"/>
            <a:lstStyle/>
            <a:p>
              <a:endParaRPr lang="zh-CN" altLang="en-US"/>
            </a:p>
          </p:txBody>
        </p:sp>
        <p:sp>
          <p:nvSpPr>
            <p:cNvPr id="9223" name="Line 7"/>
            <p:cNvSpPr>
              <a:spLocks noChangeShapeType="1"/>
            </p:cNvSpPr>
            <p:nvPr/>
          </p:nvSpPr>
          <p:spPr bwMode="auto">
            <a:xfrm flipV="1">
              <a:off x="3284" y="1933"/>
              <a:ext cx="678" cy="797"/>
            </a:xfrm>
            <a:prstGeom prst="line">
              <a:avLst/>
            </a:prstGeom>
            <a:noFill/>
            <a:ln w="9525">
              <a:solidFill>
                <a:schemeClr val="tx1"/>
              </a:solidFill>
              <a:prstDash val="sysDot"/>
              <a:miter lim="800000"/>
              <a:headEnd/>
              <a:tailEnd/>
            </a:ln>
            <a:effectLst/>
          </p:spPr>
          <p:txBody>
            <a:bodyPr wrap="none"/>
            <a:lstStyle/>
            <a:p>
              <a:endParaRPr lang="zh-CN" altLang="en-US"/>
            </a:p>
          </p:txBody>
        </p:sp>
      </p:grpSp>
      <p:sp>
        <p:nvSpPr>
          <p:cNvPr id="9224" name="Line 8"/>
          <p:cNvSpPr>
            <a:spLocks noChangeShapeType="1"/>
          </p:cNvSpPr>
          <p:nvPr/>
        </p:nvSpPr>
        <p:spPr bwMode="auto">
          <a:xfrm flipV="1">
            <a:off x="2805113" y="3106738"/>
            <a:ext cx="3494087" cy="1252537"/>
          </a:xfrm>
          <a:prstGeom prst="line">
            <a:avLst/>
          </a:prstGeom>
          <a:noFill/>
          <a:ln w="57150">
            <a:solidFill>
              <a:schemeClr val="accent1"/>
            </a:solidFill>
            <a:miter lim="800000"/>
            <a:headEnd/>
            <a:tailEnd type="triangle" w="med" len="med"/>
          </a:ln>
          <a:effectLst/>
        </p:spPr>
        <p:txBody>
          <a:bodyPr wrap="none"/>
          <a:lstStyle/>
          <a:p>
            <a:endParaRPr lang="zh-CN" altLang="en-US"/>
          </a:p>
        </p:txBody>
      </p:sp>
      <p:sp>
        <p:nvSpPr>
          <p:cNvPr id="9225" name="Text Box 9"/>
          <p:cNvSpPr txBox="1">
            <a:spLocks noChangeArrowheads="1"/>
          </p:cNvSpPr>
          <p:nvPr/>
        </p:nvSpPr>
        <p:spPr bwMode="auto">
          <a:xfrm>
            <a:off x="1361833" y="1941513"/>
            <a:ext cx="6067687" cy="523220"/>
          </a:xfrm>
          <a:prstGeom prst="rect">
            <a:avLst/>
          </a:prstGeom>
          <a:noFill/>
          <a:ln w="9525">
            <a:noFill/>
            <a:miter lim="800000"/>
            <a:headEnd/>
            <a:tailEnd/>
          </a:ln>
          <a:effectLst/>
        </p:spPr>
        <p:txBody>
          <a:bodyPr wrap="none">
            <a:spAutoFit/>
          </a:bodyPr>
          <a:lstStyle/>
          <a:p>
            <a:r>
              <a:rPr lang="zh-CN" altLang="en-US" sz="2800" dirty="0">
                <a:ea typeface="宋体" charset="-122"/>
              </a:rPr>
              <a:t>平行四边形法则（</a:t>
            </a:r>
            <a:r>
              <a:rPr lang="en-US" altLang="zh-CN" sz="2800" dirty="0">
                <a:ea typeface="宋体" charset="-122"/>
              </a:rPr>
              <a:t>Parallelogram rule</a:t>
            </a:r>
            <a:r>
              <a:rPr lang="zh-CN" altLang="en-US" sz="2800" dirty="0">
                <a:ea typeface="宋体" charset="-122"/>
              </a:rPr>
              <a:t>）</a:t>
            </a:r>
            <a:endParaRPr lang="en-US" altLang="zh-CN" sz="2800" dirty="0">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9224"/>
                                        </p:tgtEl>
                                        <p:attrNameLst>
                                          <p:attrName>style.visibility</p:attrName>
                                        </p:attrNameLst>
                                      </p:cBhvr>
                                      <p:to>
                                        <p:strVal val="visible"/>
                                      </p:to>
                                    </p:set>
                                    <p:animEffect transition="in" filter="wipe(down)">
                                      <p:cBhvr>
                                        <p:cTn id="11" dur="500"/>
                                        <p:tgtEl>
                                          <p:spTgt spid="9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dirty="0">
                <a:ea typeface="宋体" charset="-122"/>
              </a:rPr>
              <a:t>point - point = vector (2D/3D)</a:t>
            </a:r>
          </a:p>
        </p:txBody>
      </p:sp>
      <p:sp>
        <p:nvSpPr>
          <p:cNvPr id="10243" name="Oval 3"/>
          <p:cNvSpPr>
            <a:spLocks noChangeArrowheads="1"/>
          </p:cNvSpPr>
          <p:nvPr/>
        </p:nvSpPr>
        <p:spPr bwMode="auto">
          <a:xfrm>
            <a:off x="2868613" y="3257550"/>
            <a:ext cx="200025" cy="20002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0244" name="Oval 4"/>
          <p:cNvSpPr>
            <a:spLocks noChangeArrowheads="1"/>
          </p:cNvSpPr>
          <p:nvPr/>
        </p:nvSpPr>
        <p:spPr bwMode="auto">
          <a:xfrm>
            <a:off x="5602288" y="2508250"/>
            <a:ext cx="200025" cy="200025"/>
          </a:xfrm>
          <a:prstGeom prst="ellipse">
            <a:avLst/>
          </a:prstGeom>
          <a:solidFill>
            <a:schemeClr val="accent2"/>
          </a:solidFill>
          <a:ln w="9525">
            <a:solidFill>
              <a:schemeClr val="tx1"/>
            </a:solidFill>
            <a:miter lim="800000"/>
            <a:headEnd/>
            <a:tailEnd/>
          </a:ln>
          <a:effectLst/>
        </p:spPr>
        <p:txBody>
          <a:bodyPr wrap="none" anchor="ctr"/>
          <a:lstStyle/>
          <a:p>
            <a:endParaRPr lang="zh-CN" altLang="en-US"/>
          </a:p>
        </p:txBody>
      </p:sp>
      <p:sp>
        <p:nvSpPr>
          <p:cNvPr id="10245" name="Text Box 5"/>
          <p:cNvSpPr txBox="1">
            <a:spLocks noChangeArrowheads="1"/>
          </p:cNvSpPr>
          <p:nvPr/>
        </p:nvSpPr>
        <p:spPr bwMode="auto">
          <a:xfrm>
            <a:off x="2789238" y="3497263"/>
            <a:ext cx="366712" cy="457200"/>
          </a:xfrm>
          <a:prstGeom prst="rect">
            <a:avLst/>
          </a:prstGeom>
          <a:noFill/>
          <a:ln w="9525">
            <a:noFill/>
            <a:miter lim="800000"/>
            <a:headEnd/>
            <a:tailEnd/>
          </a:ln>
          <a:effectLst/>
        </p:spPr>
        <p:txBody>
          <a:bodyPr wrap="none">
            <a:spAutoFit/>
          </a:bodyPr>
          <a:lstStyle/>
          <a:p>
            <a:r>
              <a:rPr lang="en-US" altLang="zh-CN" sz="2400" dirty="0">
                <a:latin typeface="Tahoma" pitchFamily="34" charset="0"/>
                <a:ea typeface="宋体" charset="-122"/>
                <a:cs typeface="Times New Roman (Hebrew)" pitchFamily="18" charset="-79"/>
              </a:rPr>
              <a:t>A</a:t>
            </a:r>
          </a:p>
        </p:txBody>
      </p:sp>
      <p:sp>
        <p:nvSpPr>
          <p:cNvPr id="10246" name="Text Box 6"/>
          <p:cNvSpPr txBox="1">
            <a:spLocks noChangeArrowheads="1"/>
          </p:cNvSpPr>
          <p:nvPr/>
        </p:nvSpPr>
        <p:spPr bwMode="auto">
          <a:xfrm>
            <a:off x="5521325" y="2773363"/>
            <a:ext cx="363538" cy="457200"/>
          </a:xfrm>
          <a:prstGeom prst="rect">
            <a:avLst/>
          </a:prstGeom>
          <a:noFill/>
          <a:ln w="9525">
            <a:noFill/>
            <a:miter lim="800000"/>
            <a:headEnd/>
            <a:tailEnd/>
          </a:ln>
          <a:effectLst/>
        </p:spPr>
        <p:txBody>
          <a:bodyPr wrap="none">
            <a:spAutoFit/>
          </a:bodyPr>
          <a:lstStyle/>
          <a:p>
            <a:r>
              <a:rPr lang="en-US" altLang="zh-CN" sz="2400" dirty="0">
                <a:latin typeface="Tahoma" pitchFamily="34" charset="0"/>
                <a:ea typeface="宋体" charset="-122"/>
                <a:cs typeface="Times New Roman (Hebrew)" pitchFamily="18" charset="-79"/>
              </a:rPr>
              <a:t>B</a:t>
            </a:r>
          </a:p>
        </p:txBody>
      </p:sp>
      <p:sp>
        <p:nvSpPr>
          <p:cNvPr id="10247" name="Line 7"/>
          <p:cNvSpPr>
            <a:spLocks noChangeShapeType="1"/>
          </p:cNvSpPr>
          <p:nvPr/>
        </p:nvSpPr>
        <p:spPr bwMode="auto">
          <a:xfrm flipV="1">
            <a:off x="3068638" y="2643188"/>
            <a:ext cx="2543175" cy="687387"/>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10248" name="Text Box 8"/>
          <p:cNvSpPr txBox="1">
            <a:spLocks noChangeArrowheads="1"/>
          </p:cNvSpPr>
          <p:nvPr/>
        </p:nvSpPr>
        <p:spPr bwMode="auto">
          <a:xfrm rot="-974466">
            <a:off x="3716338" y="2571750"/>
            <a:ext cx="889000" cy="457200"/>
          </a:xfrm>
          <a:prstGeom prst="rect">
            <a:avLst/>
          </a:prstGeom>
          <a:noFill/>
          <a:ln w="9525">
            <a:noFill/>
            <a:miter lim="800000"/>
            <a:headEnd/>
            <a:tailEnd/>
          </a:ln>
          <a:effectLst/>
        </p:spPr>
        <p:txBody>
          <a:bodyPr wrap="none">
            <a:spAutoFit/>
          </a:bodyPr>
          <a:lstStyle/>
          <a:p>
            <a:r>
              <a:rPr lang="en-US" altLang="zh-CN" sz="2400" dirty="0">
                <a:latin typeface="Tahoma" pitchFamily="34" charset="0"/>
                <a:ea typeface="宋体" charset="-122"/>
                <a:cs typeface="Times New Roman (Hebrew)" pitchFamily="18" charset="-79"/>
              </a:rPr>
              <a:t>B </a:t>
            </a:r>
            <a:r>
              <a:rPr lang="en-US" altLang="zh-CN" sz="2400" dirty="0">
                <a:latin typeface="Times New Roman"/>
                <a:ea typeface="宋体" charset="-122"/>
                <a:cs typeface="Times New Roman (Hebrew)" pitchFamily="18" charset="-79"/>
              </a:rPr>
              <a:t>–</a:t>
            </a:r>
            <a:r>
              <a:rPr lang="en-US" altLang="zh-CN" sz="2400" dirty="0">
                <a:latin typeface="Tahoma" pitchFamily="34" charset="0"/>
                <a:ea typeface="宋体" charset="-122"/>
                <a:cs typeface="Times New Roman (Hebrew)" pitchFamily="18" charset="-79"/>
              </a:rPr>
              <a:t> A</a:t>
            </a:r>
          </a:p>
        </p:txBody>
      </p:sp>
      <p:sp>
        <p:nvSpPr>
          <p:cNvPr id="10249" name="Oval 9"/>
          <p:cNvSpPr>
            <a:spLocks noChangeArrowheads="1"/>
          </p:cNvSpPr>
          <p:nvPr/>
        </p:nvSpPr>
        <p:spPr bwMode="auto">
          <a:xfrm>
            <a:off x="2946400" y="4749800"/>
            <a:ext cx="200025" cy="20002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0250" name="Oval 10"/>
          <p:cNvSpPr>
            <a:spLocks noChangeArrowheads="1"/>
          </p:cNvSpPr>
          <p:nvPr/>
        </p:nvSpPr>
        <p:spPr bwMode="auto">
          <a:xfrm>
            <a:off x="5680075" y="4000500"/>
            <a:ext cx="200025" cy="200025"/>
          </a:xfrm>
          <a:prstGeom prst="ellipse">
            <a:avLst/>
          </a:prstGeom>
          <a:solidFill>
            <a:schemeClr val="accent2"/>
          </a:solidFill>
          <a:ln w="9525">
            <a:solidFill>
              <a:schemeClr val="tx1"/>
            </a:solidFill>
            <a:miter lim="800000"/>
            <a:headEnd/>
            <a:tailEnd/>
          </a:ln>
          <a:effectLst/>
        </p:spPr>
        <p:txBody>
          <a:bodyPr wrap="none" anchor="ctr"/>
          <a:lstStyle/>
          <a:p>
            <a:endParaRPr lang="zh-CN" altLang="en-US"/>
          </a:p>
        </p:txBody>
      </p:sp>
      <p:sp>
        <p:nvSpPr>
          <p:cNvPr id="10251" name="Text Box 11"/>
          <p:cNvSpPr txBox="1">
            <a:spLocks noChangeArrowheads="1"/>
          </p:cNvSpPr>
          <p:nvPr/>
        </p:nvSpPr>
        <p:spPr bwMode="auto">
          <a:xfrm>
            <a:off x="2867025" y="4989513"/>
            <a:ext cx="366713" cy="457200"/>
          </a:xfrm>
          <a:prstGeom prst="rect">
            <a:avLst/>
          </a:prstGeom>
          <a:noFill/>
          <a:ln w="9525">
            <a:noFill/>
            <a:miter lim="800000"/>
            <a:headEnd/>
            <a:tailEnd/>
          </a:ln>
          <a:effectLst/>
        </p:spPr>
        <p:txBody>
          <a:bodyPr wrap="none">
            <a:spAutoFit/>
          </a:bodyPr>
          <a:lstStyle/>
          <a:p>
            <a:r>
              <a:rPr lang="en-US" altLang="zh-CN" sz="2400" dirty="0">
                <a:latin typeface="Tahoma" pitchFamily="34" charset="0"/>
                <a:ea typeface="宋体" charset="-122"/>
                <a:cs typeface="Times New Roman (Hebrew)" pitchFamily="18" charset="-79"/>
              </a:rPr>
              <a:t>A</a:t>
            </a:r>
          </a:p>
        </p:txBody>
      </p:sp>
      <p:sp>
        <p:nvSpPr>
          <p:cNvPr id="10252" name="Text Box 12"/>
          <p:cNvSpPr txBox="1">
            <a:spLocks noChangeArrowheads="1"/>
          </p:cNvSpPr>
          <p:nvPr/>
        </p:nvSpPr>
        <p:spPr bwMode="auto">
          <a:xfrm>
            <a:off x="5599113" y="4265613"/>
            <a:ext cx="363537" cy="457200"/>
          </a:xfrm>
          <a:prstGeom prst="rect">
            <a:avLst/>
          </a:prstGeom>
          <a:noFill/>
          <a:ln w="9525">
            <a:noFill/>
            <a:miter lim="800000"/>
            <a:headEnd/>
            <a:tailEnd/>
          </a:ln>
          <a:effectLst/>
        </p:spPr>
        <p:txBody>
          <a:bodyPr wrap="none">
            <a:spAutoFit/>
          </a:bodyPr>
          <a:lstStyle/>
          <a:p>
            <a:r>
              <a:rPr lang="en-US" altLang="zh-CN" sz="2400" dirty="0">
                <a:latin typeface="Tahoma" pitchFamily="34" charset="0"/>
                <a:ea typeface="宋体" charset="-122"/>
                <a:cs typeface="Times New Roman (Hebrew)" pitchFamily="18" charset="-79"/>
              </a:rPr>
              <a:t>B</a:t>
            </a:r>
          </a:p>
        </p:txBody>
      </p:sp>
      <p:sp>
        <p:nvSpPr>
          <p:cNvPr id="10253" name="Line 13"/>
          <p:cNvSpPr>
            <a:spLocks noChangeShapeType="1"/>
          </p:cNvSpPr>
          <p:nvPr/>
        </p:nvSpPr>
        <p:spPr bwMode="auto">
          <a:xfrm flipV="1">
            <a:off x="3146425" y="4135438"/>
            <a:ext cx="2543175" cy="687387"/>
          </a:xfrm>
          <a:prstGeom prst="line">
            <a:avLst/>
          </a:prstGeom>
          <a:noFill/>
          <a:ln w="57150">
            <a:solidFill>
              <a:schemeClr val="hlink"/>
            </a:solidFill>
            <a:miter lim="800000"/>
            <a:headEnd type="triangle" w="med" len="med"/>
            <a:tailEnd/>
          </a:ln>
          <a:effectLst/>
        </p:spPr>
        <p:txBody>
          <a:bodyPr wrap="none"/>
          <a:lstStyle/>
          <a:p>
            <a:endParaRPr lang="zh-CN" altLang="en-US"/>
          </a:p>
        </p:txBody>
      </p:sp>
      <p:sp>
        <p:nvSpPr>
          <p:cNvPr id="10254" name="Text Box 14"/>
          <p:cNvSpPr txBox="1">
            <a:spLocks noChangeArrowheads="1"/>
          </p:cNvSpPr>
          <p:nvPr/>
        </p:nvSpPr>
        <p:spPr bwMode="auto">
          <a:xfrm rot="-974466">
            <a:off x="3995738" y="4002088"/>
            <a:ext cx="889000" cy="457200"/>
          </a:xfrm>
          <a:prstGeom prst="rect">
            <a:avLst/>
          </a:prstGeom>
          <a:noFill/>
          <a:ln w="9525">
            <a:noFill/>
            <a:miter lim="800000"/>
            <a:headEnd/>
            <a:tailEnd/>
          </a:ln>
          <a:effectLst/>
        </p:spPr>
        <p:txBody>
          <a:bodyPr wrap="none">
            <a:spAutoFit/>
          </a:bodyPr>
          <a:lstStyle/>
          <a:p>
            <a:r>
              <a:rPr lang="en-US" altLang="zh-CN" sz="2400" dirty="0">
                <a:latin typeface="Tahoma" pitchFamily="34" charset="0"/>
                <a:ea typeface="宋体" charset="-122"/>
                <a:cs typeface="Times New Roman (Hebrew)" pitchFamily="18" charset="-79"/>
              </a:rPr>
              <a:t>A </a:t>
            </a:r>
            <a:r>
              <a:rPr lang="en-US" altLang="zh-CN" sz="2400" dirty="0">
                <a:latin typeface="Times New Roman"/>
                <a:ea typeface="宋体" charset="-122"/>
                <a:cs typeface="Times New Roman (Hebrew)" pitchFamily="18" charset="-79"/>
              </a:rPr>
              <a:t>–</a:t>
            </a:r>
            <a:r>
              <a:rPr lang="en-US" altLang="zh-CN" sz="2400" dirty="0">
                <a:latin typeface="Tahoma" pitchFamily="34" charset="0"/>
                <a:ea typeface="宋体" charset="-122"/>
                <a:cs typeface="Times New Roman (Hebrew)" pitchFamily="18" charset="-79"/>
              </a:rPr>
              <a:t>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7"/>
                                        </p:tgtEl>
                                        <p:attrNameLst>
                                          <p:attrName>style.visibility</p:attrName>
                                        </p:attrNameLst>
                                      </p:cBhvr>
                                      <p:to>
                                        <p:strVal val="visible"/>
                                      </p:to>
                                    </p:set>
                                    <p:animEffect transition="in" filter="wipe(down)">
                                      <p:cBhvr>
                                        <p:cTn id="7" dur="500"/>
                                        <p:tgtEl>
                                          <p:spTgt spid="1024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0248"/>
                                        </p:tgtEl>
                                        <p:attrNameLst>
                                          <p:attrName>style.visibility</p:attrName>
                                        </p:attrNameLst>
                                      </p:cBhvr>
                                      <p:to>
                                        <p:strVal val="visible"/>
                                      </p:to>
                                    </p:set>
                                  </p:childTnLst>
                                </p:cTn>
                              </p:par>
                            </p:childTnLst>
                          </p:cTn>
                        </p:par>
                        <p:par>
                          <p:cTn id="11" fill="hold">
                            <p:stCondLst>
                              <p:cond delay="1000"/>
                            </p:stCondLst>
                            <p:childTnLst>
                              <p:par>
                                <p:cTn id="12" presetID="22" presetClass="entr" presetSubtype="1" fill="hold" grpId="0" nodeType="afterEffect">
                                  <p:stCondLst>
                                    <p:cond delay="0"/>
                                  </p:stCondLst>
                                  <p:childTnLst>
                                    <p:set>
                                      <p:cBhvr>
                                        <p:cTn id="13" dur="1" fill="hold">
                                          <p:stCondLst>
                                            <p:cond delay="0"/>
                                          </p:stCondLst>
                                        </p:cTn>
                                        <p:tgtEl>
                                          <p:spTgt spid="10253"/>
                                        </p:tgtEl>
                                        <p:attrNameLst>
                                          <p:attrName>style.visibility</p:attrName>
                                        </p:attrNameLst>
                                      </p:cBhvr>
                                      <p:to>
                                        <p:strVal val="visible"/>
                                      </p:to>
                                    </p:set>
                                    <p:animEffect transition="in" filter="wipe(up)">
                                      <p:cBhvr>
                                        <p:cTn id="14" dur="500"/>
                                        <p:tgtEl>
                                          <p:spTgt spid="10253"/>
                                        </p:tgtEl>
                                      </p:cBhvr>
                                    </p:animEffect>
                                  </p:childTnLst>
                                </p:cTn>
                              </p:par>
                            </p:childTnLst>
                          </p:cTn>
                        </p:par>
                        <p:par>
                          <p:cTn id="15" fill="hold">
                            <p:stCondLst>
                              <p:cond delay="1500"/>
                            </p:stCondLst>
                            <p:childTnLst>
                              <p:par>
                                <p:cTn id="16" presetID="1" presetClass="entr" presetSubtype="0" fill="hold" grpId="0" nodeType="afterEffect">
                                  <p:stCondLst>
                                    <p:cond delay="0"/>
                                  </p:stCondLst>
                                  <p:childTnLst>
                                    <p:set>
                                      <p:cBhvr>
                                        <p:cTn id="17" dur="1" fill="hold">
                                          <p:stCondLst>
                                            <p:cond delay="499"/>
                                          </p:stCondLst>
                                        </p:cTn>
                                        <p:tgtEl>
                                          <p:spTgt spid="10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7" grpId="0" animBg="1"/>
      <p:bldP spid="10248" grpId="0" autoUpdateAnimBg="0"/>
      <p:bldP spid="10253" grpId="0" animBg="1"/>
      <p:bldP spid="1025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altLang="zh-CN" dirty="0">
                <a:ea typeface="宋体" charset="-122"/>
              </a:rPr>
              <a:t>point + point: </a:t>
            </a:r>
            <a:r>
              <a:rPr lang="zh-CN" altLang="en-US" dirty="0">
                <a:ea typeface="宋体" charset="-122"/>
              </a:rPr>
              <a:t>没有定义</a:t>
            </a:r>
            <a:r>
              <a:rPr lang="en-US" altLang="zh-CN" dirty="0">
                <a:ea typeface="宋体" charset="-122"/>
              </a:rPr>
              <a:t>!!!</a:t>
            </a:r>
          </a:p>
        </p:txBody>
      </p:sp>
      <p:sp>
        <p:nvSpPr>
          <p:cNvPr id="11267" name="Oval 3"/>
          <p:cNvSpPr>
            <a:spLocks noChangeArrowheads="1"/>
          </p:cNvSpPr>
          <p:nvPr/>
        </p:nvSpPr>
        <p:spPr bwMode="auto">
          <a:xfrm>
            <a:off x="2981325" y="2443163"/>
            <a:ext cx="2930525" cy="2930525"/>
          </a:xfrm>
          <a:prstGeom prst="ellipse">
            <a:avLst/>
          </a:prstGeom>
          <a:solidFill>
            <a:srgbClr val="FF0000"/>
          </a:solidFill>
          <a:ln w="9525">
            <a:solidFill>
              <a:schemeClr val="hlink"/>
            </a:solidFill>
            <a:miter lim="800000"/>
            <a:headEnd/>
            <a:tailEnd/>
          </a:ln>
          <a:effectLst/>
        </p:spPr>
        <p:txBody>
          <a:bodyPr wrap="none" anchor="ctr"/>
          <a:lstStyle/>
          <a:p>
            <a:endParaRPr lang="zh-CN" altLang="en-US"/>
          </a:p>
        </p:txBody>
      </p:sp>
      <p:sp>
        <p:nvSpPr>
          <p:cNvPr id="11268" name="Rectangle 4"/>
          <p:cNvSpPr>
            <a:spLocks noChangeArrowheads="1"/>
          </p:cNvSpPr>
          <p:nvPr/>
        </p:nvSpPr>
        <p:spPr bwMode="auto">
          <a:xfrm>
            <a:off x="3284538" y="3675063"/>
            <a:ext cx="2324100" cy="430212"/>
          </a:xfrm>
          <a:prstGeom prst="rect">
            <a:avLst/>
          </a:prstGeom>
          <a:solidFill>
            <a:schemeClr val="bg1"/>
          </a:solidFill>
          <a:ln w="9525">
            <a:solidFill>
              <a:schemeClr val="bg1"/>
            </a:solidFill>
            <a:miter lim="800000"/>
            <a:headEnd/>
            <a:tailEnd/>
          </a:ln>
          <a:effectLst/>
        </p:spPr>
        <p:txBody>
          <a:bodyPr wrap="none" anchor="ct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a:ea typeface="宋体" charset="-122"/>
              </a:rPr>
              <a:t>坐标系</a:t>
            </a:r>
            <a:r>
              <a:rPr lang="en-US" altLang="zh-CN" dirty="0">
                <a:ea typeface="宋体" charset="-122"/>
              </a:rPr>
              <a:t>(2D/3D)</a:t>
            </a:r>
          </a:p>
        </p:txBody>
      </p:sp>
      <p:sp>
        <p:nvSpPr>
          <p:cNvPr id="12291" name="Rectangle 3"/>
          <p:cNvSpPr>
            <a:spLocks noGrp="1" noChangeArrowheads="1"/>
          </p:cNvSpPr>
          <p:nvPr>
            <p:ph type="body" idx="1"/>
          </p:nvPr>
        </p:nvSpPr>
        <p:spPr/>
        <p:txBody>
          <a:bodyPr/>
          <a:lstStyle/>
          <a:p>
            <a:r>
              <a:rPr lang="zh-CN" altLang="en-US" dirty="0">
                <a:ea typeface="宋体" charset="-122"/>
              </a:rPr>
              <a:t>考虑一个原点</a:t>
            </a:r>
            <a:r>
              <a:rPr lang="en-US" altLang="zh-CN" dirty="0">
                <a:ea typeface="宋体" charset="-122"/>
              </a:rPr>
              <a:t>(origin)</a:t>
            </a:r>
            <a:r>
              <a:rPr lang="zh-CN" altLang="en-US" dirty="0">
                <a:ea typeface="宋体" charset="-122"/>
              </a:rPr>
              <a:t>在</a:t>
            </a:r>
            <a:r>
              <a:rPr lang="en-US" altLang="zh-CN" dirty="0">
                <a:ea typeface="宋体" charset="-122"/>
              </a:rPr>
              <a:t>O</a:t>
            </a:r>
            <a:r>
              <a:rPr lang="zh-CN" altLang="en-US" dirty="0">
                <a:ea typeface="宋体" charset="-122"/>
              </a:rPr>
              <a:t>的坐标系</a:t>
            </a:r>
            <a:r>
              <a:rPr lang="en-US" altLang="zh-CN" dirty="0">
                <a:ea typeface="宋体" charset="-122"/>
              </a:rPr>
              <a:t>(coordinate system) </a:t>
            </a:r>
            <a:r>
              <a:rPr lang="zh-CN" altLang="en-US" dirty="0">
                <a:ea typeface="宋体" charset="-122"/>
              </a:rPr>
              <a:t>，可以定义点和向量之间的对应关系为：</a:t>
            </a:r>
            <a:endParaRPr lang="en-US" altLang="zh-CN" dirty="0">
              <a:ea typeface="宋体" charset="-122"/>
            </a:endParaRPr>
          </a:p>
          <a:p>
            <a:endParaRPr lang="zh-CN" altLang="en-US" dirty="0">
              <a:ea typeface="宋体" charset="-122"/>
            </a:endParaRPr>
          </a:p>
        </p:txBody>
      </p:sp>
      <p:graphicFrame>
        <p:nvGraphicFramePr>
          <p:cNvPr id="12292" name="Object 4"/>
          <p:cNvGraphicFramePr>
            <a:graphicFrameLocks noChangeAspect="1"/>
          </p:cNvGraphicFramePr>
          <p:nvPr/>
        </p:nvGraphicFramePr>
        <p:xfrm>
          <a:off x="4329113" y="4325938"/>
          <a:ext cx="2805112" cy="1271587"/>
        </p:xfrm>
        <a:graphic>
          <a:graphicData uri="http://schemas.openxmlformats.org/presentationml/2006/ole">
            <mc:AlternateContent xmlns:mc="http://schemas.openxmlformats.org/markup-compatibility/2006">
              <mc:Choice xmlns:v="urn:schemas-microsoft-com:vml" Requires="v">
                <p:oleObj spid="_x0000_s1027" name="Equation" r:id="rId3" imgW="952200" imgH="431640" progId="">
                  <p:embed/>
                </p:oleObj>
              </mc:Choice>
              <mc:Fallback>
                <p:oleObj name="Equation" r:id="rId3" imgW="952200" imgH="4316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9113" y="4325938"/>
                        <a:ext cx="2805112" cy="127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3" name="Line 5"/>
          <p:cNvSpPr>
            <a:spLocks noChangeShapeType="1"/>
          </p:cNvSpPr>
          <p:nvPr/>
        </p:nvSpPr>
        <p:spPr bwMode="auto">
          <a:xfrm flipV="1">
            <a:off x="1465263" y="3948113"/>
            <a:ext cx="0" cy="2249487"/>
          </a:xfrm>
          <a:prstGeom prst="line">
            <a:avLst/>
          </a:prstGeom>
          <a:noFill/>
          <a:ln w="28575">
            <a:solidFill>
              <a:schemeClr val="tx1"/>
            </a:solidFill>
            <a:miter lim="800000"/>
            <a:headEnd/>
            <a:tailEnd type="triangle" w="med" len="med"/>
          </a:ln>
          <a:effectLst/>
        </p:spPr>
        <p:txBody>
          <a:bodyPr wrap="none"/>
          <a:lstStyle/>
          <a:p>
            <a:endParaRPr lang="zh-CN" altLang="en-US"/>
          </a:p>
        </p:txBody>
      </p:sp>
      <p:sp>
        <p:nvSpPr>
          <p:cNvPr id="12294" name="Line 6"/>
          <p:cNvSpPr>
            <a:spLocks noChangeShapeType="1"/>
          </p:cNvSpPr>
          <p:nvPr/>
        </p:nvSpPr>
        <p:spPr bwMode="auto">
          <a:xfrm>
            <a:off x="1131888" y="5413375"/>
            <a:ext cx="2003425" cy="623888"/>
          </a:xfrm>
          <a:prstGeom prst="line">
            <a:avLst/>
          </a:prstGeom>
          <a:noFill/>
          <a:ln w="28575">
            <a:solidFill>
              <a:schemeClr val="tx1"/>
            </a:solidFill>
            <a:miter lim="800000"/>
            <a:headEnd/>
            <a:tailEnd type="triangle" w="med" len="med"/>
          </a:ln>
          <a:effectLst/>
        </p:spPr>
        <p:txBody>
          <a:bodyPr wrap="none"/>
          <a:lstStyle/>
          <a:p>
            <a:endParaRPr lang="zh-CN" altLang="en-US"/>
          </a:p>
        </p:txBody>
      </p:sp>
      <p:sp>
        <p:nvSpPr>
          <p:cNvPr id="12295" name="Line 7"/>
          <p:cNvSpPr>
            <a:spLocks noChangeShapeType="1"/>
          </p:cNvSpPr>
          <p:nvPr/>
        </p:nvSpPr>
        <p:spPr bwMode="auto">
          <a:xfrm flipV="1">
            <a:off x="1131888" y="4746625"/>
            <a:ext cx="1582737" cy="971550"/>
          </a:xfrm>
          <a:prstGeom prst="line">
            <a:avLst/>
          </a:prstGeom>
          <a:noFill/>
          <a:ln w="28575">
            <a:solidFill>
              <a:schemeClr val="tx1"/>
            </a:solidFill>
            <a:miter lim="800000"/>
            <a:headEnd/>
            <a:tailEnd type="triangle" w="med" len="med"/>
          </a:ln>
          <a:effectLst/>
        </p:spPr>
        <p:txBody>
          <a:bodyPr wrap="none"/>
          <a:lstStyle/>
          <a:p>
            <a:endParaRPr lang="zh-CN" altLang="en-US"/>
          </a:p>
        </p:txBody>
      </p:sp>
      <p:sp>
        <p:nvSpPr>
          <p:cNvPr id="12296" name="Oval 8"/>
          <p:cNvSpPr>
            <a:spLocks noChangeArrowheads="1"/>
          </p:cNvSpPr>
          <p:nvPr/>
        </p:nvSpPr>
        <p:spPr bwMode="auto">
          <a:xfrm>
            <a:off x="1393825" y="5443538"/>
            <a:ext cx="115888" cy="115887"/>
          </a:xfrm>
          <a:prstGeom prst="ellipse">
            <a:avLst/>
          </a:prstGeom>
          <a:solidFill>
            <a:schemeClr val="tx2"/>
          </a:solidFill>
          <a:ln w="9525">
            <a:solidFill>
              <a:schemeClr val="tx1"/>
            </a:solidFill>
            <a:miter lim="800000"/>
            <a:headEnd/>
            <a:tailEnd/>
          </a:ln>
          <a:effectLst/>
        </p:spPr>
        <p:txBody>
          <a:bodyPr wrap="none" anchor="ctr"/>
          <a:lstStyle/>
          <a:p>
            <a:endParaRPr lang="zh-CN" altLang="en-US"/>
          </a:p>
        </p:txBody>
      </p:sp>
      <p:sp>
        <p:nvSpPr>
          <p:cNvPr id="12297" name="Text Box 9"/>
          <p:cNvSpPr txBox="1">
            <a:spLocks noChangeArrowheads="1"/>
          </p:cNvSpPr>
          <p:nvPr/>
        </p:nvSpPr>
        <p:spPr bwMode="auto">
          <a:xfrm>
            <a:off x="1157288" y="5565775"/>
            <a:ext cx="361950" cy="366713"/>
          </a:xfrm>
          <a:prstGeom prst="rect">
            <a:avLst/>
          </a:prstGeom>
          <a:noFill/>
          <a:ln w="9525">
            <a:noFill/>
            <a:miter lim="800000"/>
            <a:headEnd/>
            <a:tailEnd/>
          </a:ln>
          <a:effectLst/>
        </p:spPr>
        <p:txBody>
          <a:bodyPr wrap="none">
            <a:spAutoFit/>
          </a:bodyPr>
          <a:lstStyle/>
          <a:p>
            <a:r>
              <a:rPr lang="en-US" altLang="zh-CN" b="1" dirty="0">
                <a:ea typeface="宋体" charset="-122"/>
              </a:rPr>
              <a:t>O</a:t>
            </a:r>
            <a:endParaRPr lang="en-US" b="1" dirty="0"/>
          </a:p>
        </p:txBody>
      </p:sp>
      <p:sp>
        <p:nvSpPr>
          <p:cNvPr id="12300" name="Oval 12"/>
          <p:cNvSpPr>
            <a:spLocks noChangeArrowheads="1"/>
          </p:cNvSpPr>
          <p:nvPr/>
        </p:nvSpPr>
        <p:spPr bwMode="auto">
          <a:xfrm>
            <a:off x="2017713" y="4368800"/>
            <a:ext cx="115887" cy="115888"/>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2301" name="Text Box 13"/>
          <p:cNvSpPr txBox="1">
            <a:spLocks noChangeArrowheads="1"/>
          </p:cNvSpPr>
          <p:nvPr/>
        </p:nvSpPr>
        <p:spPr bwMode="auto">
          <a:xfrm>
            <a:off x="2114550" y="4244975"/>
            <a:ext cx="323850" cy="366713"/>
          </a:xfrm>
          <a:prstGeom prst="rect">
            <a:avLst/>
          </a:prstGeom>
          <a:noFill/>
          <a:ln w="9525">
            <a:noFill/>
            <a:miter lim="800000"/>
            <a:headEnd/>
            <a:tailEnd/>
          </a:ln>
          <a:effectLst/>
        </p:spPr>
        <p:txBody>
          <a:bodyPr wrap="none">
            <a:spAutoFit/>
          </a:bodyPr>
          <a:lstStyle/>
          <a:p>
            <a:r>
              <a:rPr lang="en-US" altLang="zh-CN" b="1" dirty="0">
                <a:ea typeface="宋体" charset="-122"/>
              </a:rPr>
              <a:t>p</a:t>
            </a:r>
            <a:endParaRPr lang="en-US" b="1" dirty="0"/>
          </a:p>
        </p:txBody>
      </p:sp>
      <p:sp>
        <p:nvSpPr>
          <p:cNvPr id="12302" name="Line 14"/>
          <p:cNvSpPr>
            <a:spLocks noChangeShapeType="1"/>
          </p:cNvSpPr>
          <p:nvPr/>
        </p:nvSpPr>
        <p:spPr bwMode="auto">
          <a:xfrm flipV="1">
            <a:off x="1446213" y="4465638"/>
            <a:ext cx="581025" cy="1030287"/>
          </a:xfrm>
          <a:prstGeom prst="line">
            <a:avLst/>
          </a:prstGeom>
          <a:noFill/>
          <a:ln w="9525">
            <a:solidFill>
              <a:schemeClr val="hlink"/>
            </a:solidFill>
            <a:miter lim="800000"/>
            <a:headEnd/>
            <a:tailEnd type="triangle" w="med" len="med"/>
          </a:ln>
          <a:effectLst/>
        </p:spPr>
        <p:txBody>
          <a:bodyPr wrap="none"/>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二、点积</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ea typeface="宋体" charset="-122"/>
              </a:rPr>
              <a:t>点积</a:t>
            </a:r>
            <a:r>
              <a:rPr lang="en-US" altLang="zh-CN" dirty="0">
                <a:ea typeface="宋体" charset="-122"/>
              </a:rPr>
              <a:t>(dot product, 2D/3D)</a:t>
            </a:r>
          </a:p>
        </p:txBody>
      </p:sp>
      <p:sp>
        <p:nvSpPr>
          <p:cNvPr id="13315" name="Rectangle 3"/>
          <p:cNvSpPr>
            <a:spLocks noGrp="1" noChangeArrowheads="1"/>
          </p:cNvSpPr>
          <p:nvPr>
            <p:ph type="body" idx="1"/>
          </p:nvPr>
        </p:nvSpPr>
        <p:spPr/>
        <p:txBody>
          <a:bodyPr/>
          <a:lstStyle/>
          <a:p>
            <a:r>
              <a:rPr lang="zh-CN" altLang="en-US" dirty="0">
                <a:ea typeface="宋体" charset="-122"/>
              </a:rPr>
              <a:t>向量之间的运算</a:t>
            </a:r>
            <a:r>
              <a:rPr lang="en-US" altLang="zh-CN" dirty="0">
                <a:ea typeface="宋体" charset="-122"/>
              </a:rPr>
              <a:t>:</a:t>
            </a:r>
          </a:p>
          <a:p>
            <a:endParaRPr lang="zh-CN" altLang="en-US" dirty="0">
              <a:ea typeface="宋体" charset="-122"/>
            </a:endParaRPr>
          </a:p>
        </p:txBody>
      </p:sp>
      <p:graphicFrame>
        <p:nvGraphicFramePr>
          <p:cNvPr id="13316" name="Object 4"/>
          <p:cNvGraphicFramePr>
            <a:graphicFrameLocks noChangeAspect="1"/>
          </p:cNvGraphicFramePr>
          <p:nvPr/>
        </p:nvGraphicFramePr>
        <p:xfrm>
          <a:off x="2428875" y="2525713"/>
          <a:ext cx="4135438" cy="493712"/>
        </p:xfrm>
        <a:graphic>
          <a:graphicData uri="http://schemas.openxmlformats.org/presentationml/2006/ole">
            <mc:AlternateContent xmlns:mc="http://schemas.openxmlformats.org/markup-compatibility/2006">
              <mc:Choice xmlns:v="urn:schemas-microsoft-com:vml" Requires="v">
                <p:oleObj spid="_x0000_s2052" name="Equation" r:id="rId3" imgW="1701720" imgH="203040" progId="">
                  <p:embed/>
                </p:oleObj>
              </mc:Choice>
              <mc:Fallback>
                <p:oleObj name="Equation" r:id="rId3" imgW="1701720" imgH="2030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8875" y="2525713"/>
                        <a:ext cx="4135438" cy="493712"/>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7" name="Line 5"/>
          <p:cNvSpPr>
            <a:spLocks noChangeShapeType="1"/>
          </p:cNvSpPr>
          <p:nvPr/>
        </p:nvSpPr>
        <p:spPr bwMode="auto">
          <a:xfrm flipV="1">
            <a:off x="1439863" y="3656013"/>
            <a:ext cx="1501775" cy="1339850"/>
          </a:xfrm>
          <a:prstGeom prst="line">
            <a:avLst/>
          </a:prstGeom>
          <a:noFill/>
          <a:ln w="57150">
            <a:solidFill>
              <a:schemeClr val="accent2"/>
            </a:solidFill>
            <a:miter lim="800000"/>
            <a:headEnd/>
            <a:tailEnd type="triangle" w="med" len="med"/>
          </a:ln>
          <a:effectLst/>
        </p:spPr>
        <p:txBody>
          <a:bodyPr wrap="none"/>
          <a:lstStyle/>
          <a:p>
            <a:endParaRPr lang="zh-CN" altLang="en-US"/>
          </a:p>
        </p:txBody>
      </p:sp>
      <p:sp>
        <p:nvSpPr>
          <p:cNvPr id="13318" name="Line 6"/>
          <p:cNvSpPr>
            <a:spLocks noChangeShapeType="1"/>
          </p:cNvSpPr>
          <p:nvPr/>
        </p:nvSpPr>
        <p:spPr bwMode="auto">
          <a:xfrm>
            <a:off x="1439863" y="4984750"/>
            <a:ext cx="2405062" cy="0"/>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13319" name="Text Box 7"/>
          <p:cNvSpPr txBox="1">
            <a:spLocks noChangeArrowheads="1"/>
          </p:cNvSpPr>
          <p:nvPr/>
        </p:nvSpPr>
        <p:spPr bwMode="auto">
          <a:xfrm>
            <a:off x="2024063" y="4413250"/>
            <a:ext cx="369887" cy="519113"/>
          </a:xfrm>
          <a:prstGeom prst="rect">
            <a:avLst/>
          </a:prstGeom>
          <a:noFill/>
          <a:ln w="9525">
            <a:noFill/>
            <a:miter lim="800000"/>
            <a:headEnd/>
            <a:tailEnd/>
          </a:ln>
          <a:effectLst/>
        </p:spPr>
        <p:txBody>
          <a:bodyPr wrap="none">
            <a:spAutoFit/>
          </a:bodyPr>
          <a:lstStyle/>
          <a:p>
            <a:r>
              <a:rPr lang="zh-CN" altLang="en-US" sz="2800">
                <a:latin typeface="Tahoma" pitchFamily="34" charset="0"/>
                <a:ea typeface="宋体" charset="-122"/>
                <a:cs typeface="Times New Roman (Hebrew)" pitchFamily="18" charset="-79"/>
                <a:sym typeface="Symbol" pitchFamily="18" charset="2"/>
              </a:rPr>
              <a:t></a:t>
            </a:r>
            <a:endParaRPr lang="zh-CN" altLang="en-US" sz="2800">
              <a:latin typeface="Tahoma" pitchFamily="34" charset="0"/>
              <a:ea typeface="宋体" charset="-122"/>
              <a:cs typeface="Times New Roman (Hebrew)" pitchFamily="18" charset="-79"/>
            </a:endParaRPr>
          </a:p>
        </p:txBody>
      </p:sp>
      <p:sp>
        <p:nvSpPr>
          <p:cNvPr id="13320" name="Freeform 8"/>
          <p:cNvSpPr>
            <a:spLocks/>
          </p:cNvSpPr>
          <p:nvPr/>
        </p:nvSpPr>
        <p:spPr bwMode="auto">
          <a:xfrm>
            <a:off x="1841500" y="4633913"/>
            <a:ext cx="219075" cy="338137"/>
          </a:xfrm>
          <a:custGeom>
            <a:avLst/>
            <a:gdLst/>
            <a:ahLst/>
            <a:cxnLst>
              <a:cxn ang="0">
                <a:pos x="0" y="0"/>
              </a:cxn>
              <a:cxn ang="0">
                <a:pos x="111" y="31"/>
              </a:cxn>
              <a:cxn ang="0">
                <a:pos x="174" y="142"/>
              </a:cxn>
              <a:cxn ang="0">
                <a:pos x="182" y="228"/>
              </a:cxn>
            </a:cxnLst>
            <a:rect l="0" t="0" r="r" b="b"/>
            <a:pathLst>
              <a:path w="186" h="228">
                <a:moveTo>
                  <a:pt x="0" y="0"/>
                </a:moveTo>
                <a:cubicBezTo>
                  <a:pt x="41" y="3"/>
                  <a:pt x="82" y="7"/>
                  <a:pt x="111" y="31"/>
                </a:cubicBezTo>
                <a:cubicBezTo>
                  <a:pt x="140" y="55"/>
                  <a:pt x="162" y="109"/>
                  <a:pt x="174" y="142"/>
                </a:cubicBezTo>
                <a:cubicBezTo>
                  <a:pt x="186" y="175"/>
                  <a:pt x="184" y="201"/>
                  <a:pt x="182" y="228"/>
                </a:cubicBez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13321" name="Line 9"/>
          <p:cNvSpPr>
            <a:spLocks noChangeShapeType="1"/>
          </p:cNvSpPr>
          <p:nvPr/>
        </p:nvSpPr>
        <p:spPr bwMode="auto">
          <a:xfrm>
            <a:off x="2930525" y="3683000"/>
            <a:ext cx="0" cy="127635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3322" name="Freeform 10"/>
          <p:cNvSpPr>
            <a:spLocks/>
          </p:cNvSpPr>
          <p:nvPr/>
        </p:nvSpPr>
        <p:spPr bwMode="auto">
          <a:xfrm>
            <a:off x="2930525" y="4784725"/>
            <a:ext cx="163513" cy="174625"/>
          </a:xfrm>
          <a:custGeom>
            <a:avLst/>
            <a:gdLst/>
            <a:ahLst/>
            <a:cxnLst>
              <a:cxn ang="0">
                <a:pos x="0" y="0"/>
              </a:cxn>
              <a:cxn ang="0">
                <a:pos x="103" y="0"/>
              </a:cxn>
              <a:cxn ang="0">
                <a:pos x="103" y="110"/>
              </a:cxn>
            </a:cxnLst>
            <a:rect l="0" t="0" r="r" b="b"/>
            <a:pathLst>
              <a:path w="103" h="110">
                <a:moveTo>
                  <a:pt x="0" y="0"/>
                </a:moveTo>
                <a:lnTo>
                  <a:pt x="103" y="0"/>
                </a:lnTo>
                <a:lnTo>
                  <a:pt x="103" y="110"/>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13323" name="Line 11"/>
          <p:cNvSpPr>
            <a:spLocks noChangeShapeType="1"/>
          </p:cNvSpPr>
          <p:nvPr/>
        </p:nvSpPr>
        <p:spPr bwMode="auto">
          <a:xfrm>
            <a:off x="1427163" y="5110163"/>
            <a:ext cx="1503362" cy="0"/>
          </a:xfrm>
          <a:prstGeom prst="line">
            <a:avLst/>
          </a:prstGeom>
          <a:noFill/>
          <a:ln w="9525">
            <a:solidFill>
              <a:schemeClr val="tx1"/>
            </a:solidFill>
            <a:miter lim="800000"/>
            <a:headEnd type="triangle" w="med" len="med"/>
            <a:tailEnd type="triangle" w="med" len="med"/>
          </a:ln>
          <a:effectLst/>
        </p:spPr>
        <p:txBody>
          <a:bodyPr wrap="none"/>
          <a:lstStyle/>
          <a:p>
            <a:endParaRPr lang="zh-CN" altLang="en-US"/>
          </a:p>
        </p:txBody>
      </p:sp>
      <p:sp>
        <p:nvSpPr>
          <p:cNvPr id="13324" name="Text Box 12"/>
          <p:cNvSpPr txBox="1">
            <a:spLocks noChangeArrowheads="1"/>
          </p:cNvSpPr>
          <p:nvPr/>
        </p:nvSpPr>
        <p:spPr bwMode="auto">
          <a:xfrm>
            <a:off x="1930400" y="5108575"/>
            <a:ext cx="354013" cy="457200"/>
          </a:xfrm>
          <a:prstGeom prst="rect">
            <a:avLst/>
          </a:prstGeom>
          <a:noFill/>
          <a:ln w="9525">
            <a:noFill/>
            <a:miter lim="800000"/>
            <a:headEnd/>
            <a:tailEnd/>
          </a:ln>
          <a:effectLst/>
        </p:spPr>
        <p:txBody>
          <a:bodyPr wrap="none">
            <a:spAutoFit/>
          </a:bodyPr>
          <a:lstStyle/>
          <a:p>
            <a:pPr algn="r" rtl="1"/>
            <a:r>
              <a:rPr lang="en-US" altLang="zh-CN" sz="2400" i="1" dirty="0">
                <a:latin typeface="Times New Roman" pitchFamily="18" charset="0"/>
                <a:ea typeface="宋体" charset="-122"/>
                <a:cs typeface="Times New Roman" pitchFamily="18" charset="0"/>
              </a:rPr>
              <a:t>L</a:t>
            </a:r>
          </a:p>
        </p:txBody>
      </p:sp>
      <p:sp>
        <p:nvSpPr>
          <p:cNvPr id="13325" name="Text Box 13"/>
          <p:cNvSpPr txBox="1">
            <a:spLocks noChangeArrowheads="1"/>
          </p:cNvSpPr>
          <p:nvPr/>
        </p:nvSpPr>
        <p:spPr bwMode="auto">
          <a:xfrm>
            <a:off x="3497263" y="4933950"/>
            <a:ext cx="406400" cy="519113"/>
          </a:xfrm>
          <a:prstGeom prst="rect">
            <a:avLst/>
          </a:prstGeom>
          <a:noFill/>
          <a:ln w="9525">
            <a:noFill/>
            <a:miter lim="800000"/>
            <a:headEnd/>
            <a:tailEnd/>
          </a:ln>
          <a:effectLst/>
        </p:spPr>
        <p:txBody>
          <a:bodyPr>
            <a:spAutoFit/>
          </a:bodyPr>
          <a:lstStyle/>
          <a:p>
            <a:r>
              <a:rPr lang="en-US" altLang="zh-CN" sz="2800" b="1" dirty="0">
                <a:solidFill>
                  <a:schemeClr val="hlink"/>
                </a:solidFill>
                <a:latin typeface="Times New Roman" pitchFamily="18" charset="0"/>
                <a:ea typeface="宋体" charset="-122"/>
                <a:cs typeface="Times New Roman" pitchFamily="18" charset="0"/>
              </a:rPr>
              <a:t>v</a:t>
            </a:r>
          </a:p>
        </p:txBody>
      </p:sp>
      <p:sp>
        <p:nvSpPr>
          <p:cNvPr id="13326" name="Text Box 14"/>
          <p:cNvSpPr txBox="1">
            <a:spLocks noChangeArrowheads="1"/>
          </p:cNvSpPr>
          <p:nvPr/>
        </p:nvSpPr>
        <p:spPr bwMode="auto">
          <a:xfrm>
            <a:off x="2133600" y="3582988"/>
            <a:ext cx="519113" cy="519112"/>
          </a:xfrm>
          <a:prstGeom prst="rect">
            <a:avLst/>
          </a:prstGeom>
          <a:noFill/>
          <a:ln w="9525">
            <a:noFill/>
            <a:miter lim="800000"/>
            <a:headEnd/>
            <a:tailEnd/>
          </a:ln>
          <a:effectLst/>
        </p:spPr>
        <p:txBody>
          <a:bodyPr>
            <a:spAutoFit/>
          </a:bodyPr>
          <a:lstStyle/>
          <a:p>
            <a:r>
              <a:rPr lang="en-US" altLang="zh-CN" sz="2800" b="1" dirty="0">
                <a:solidFill>
                  <a:schemeClr val="accent2"/>
                </a:solidFill>
                <a:latin typeface="Times New Roman" pitchFamily="18" charset="0"/>
                <a:ea typeface="宋体" charset="-122"/>
                <a:cs typeface="Times New Roman" pitchFamily="18" charset="0"/>
              </a:rPr>
              <a:t>w</a:t>
            </a:r>
          </a:p>
        </p:txBody>
      </p:sp>
      <p:graphicFrame>
        <p:nvGraphicFramePr>
          <p:cNvPr id="13327" name="Object 15"/>
          <p:cNvGraphicFramePr>
            <a:graphicFrameLocks noChangeAspect="1"/>
          </p:cNvGraphicFramePr>
          <p:nvPr/>
        </p:nvGraphicFramePr>
        <p:xfrm>
          <a:off x="5294313" y="3294063"/>
          <a:ext cx="2066925" cy="2098675"/>
        </p:xfrm>
        <a:graphic>
          <a:graphicData uri="http://schemas.openxmlformats.org/presentationml/2006/ole">
            <mc:AlternateContent xmlns:mc="http://schemas.openxmlformats.org/markup-compatibility/2006">
              <mc:Choice xmlns:v="urn:schemas-microsoft-com:vml" Requires="v">
                <p:oleObj spid="_x0000_s2053" name="Equation" r:id="rId5" imgW="850680" imgH="863280" progId="">
                  <p:embed/>
                </p:oleObj>
              </mc:Choice>
              <mc:Fallback>
                <p:oleObj name="Equation" r:id="rId5" imgW="850680" imgH="86328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4313" y="3294063"/>
                        <a:ext cx="2066925" cy="209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8" name="Rectangle 16"/>
          <p:cNvSpPr>
            <a:spLocks noChangeArrowheads="1"/>
          </p:cNvSpPr>
          <p:nvPr/>
        </p:nvSpPr>
        <p:spPr bwMode="auto">
          <a:xfrm>
            <a:off x="5143500" y="4400550"/>
            <a:ext cx="2352675" cy="1028700"/>
          </a:xfrm>
          <a:prstGeom prst="rect">
            <a:avLst/>
          </a:prstGeom>
          <a:noFill/>
          <a:ln w="9525">
            <a:solidFill>
              <a:schemeClr val="tx1"/>
            </a:solidFill>
            <a:miter lim="800000"/>
            <a:headEnd/>
            <a:tailEnd/>
          </a:ln>
          <a:effectLst/>
        </p:spPr>
        <p:txBody>
          <a:bodyPr wrap="none" anchor="ctr"/>
          <a:lstStyle/>
          <a:p>
            <a:endParaRPr lang="zh-CN" altLang="en-US"/>
          </a:p>
        </p:txBody>
      </p:sp>
      <p:sp>
        <p:nvSpPr>
          <p:cNvPr id="13329" name="Line 17"/>
          <p:cNvSpPr>
            <a:spLocks noChangeShapeType="1"/>
          </p:cNvSpPr>
          <p:nvPr/>
        </p:nvSpPr>
        <p:spPr bwMode="auto">
          <a:xfrm flipV="1">
            <a:off x="4991100" y="5457825"/>
            <a:ext cx="666750" cy="504825"/>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3330" name="Text Box 18"/>
          <p:cNvSpPr txBox="1">
            <a:spLocks noChangeArrowheads="1"/>
          </p:cNvSpPr>
          <p:nvPr/>
        </p:nvSpPr>
        <p:spPr bwMode="auto">
          <a:xfrm>
            <a:off x="3241675" y="5970588"/>
            <a:ext cx="2791790" cy="369332"/>
          </a:xfrm>
          <a:prstGeom prst="rect">
            <a:avLst/>
          </a:prstGeom>
          <a:noFill/>
          <a:ln w="9525">
            <a:noFill/>
            <a:miter lim="800000"/>
            <a:headEnd/>
            <a:tailEnd/>
          </a:ln>
          <a:effectLst/>
        </p:spPr>
        <p:txBody>
          <a:bodyPr wrap="none">
            <a:spAutoFit/>
          </a:bodyPr>
          <a:lstStyle/>
          <a:p>
            <a:r>
              <a:rPr lang="en-US" altLang="zh-CN" b="1" dirty="0">
                <a:latin typeface="Times New Roman" pitchFamily="18" charset="0"/>
                <a:ea typeface="宋体" charset="-122"/>
                <a:cs typeface="Times New Roman" pitchFamily="18" charset="0"/>
              </a:rPr>
              <a:t>w</a:t>
            </a:r>
            <a:r>
              <a:rPr lang="zh-CN" altLang="en-US" b="1" dirty="0">
                <a:latin typeface="Times New Roman" pitchFamily="18" charset="0"/>
                <a:ea typeface="宋体" charset="-122"/>
                <a:cs typeface="Times New Roman" pitchFamily="18" charset="0"/>
              </a:rPr>
              <a:t>在</a:t>
            </a:r>
            <a:r>
              <a:rPr lang="en-US" altLang="zh-CN" b="1" dirty="0">
                <a:latin typeface="Times New Roman" pitchFamily="18" charset="0"/>
                <a:ea typeface="宋体" charset="-122"/>
              </a:rPr>
              <a:t>v</a:t>
            </a:r>
            <a:r>
              <a:rPr lang="zh-CN" altLang="en-US" b="1" dirty="0">
                <a:latin typeface="Times New Roman" pitchFamily="18" charset="0"/>
                <a:ea typeface="宋体" charset="-122"/>
              </a:rPr>
              <a:t>上的投影</a:t>
            </a:r>
            <a:r>
              <a:rPr lang="en-US" altLang="zh-CN" b="1" dirty="0">
                <a:latin typeface="Times New Roman" pitchFamily="18" charset="0"/>
                <a:ea typeface="宋体" charset="-122"/>
              </a:rPr>
              <a:t>(projection)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r>
              <a:rPr lang="zh-CN" altLang="en-US" dirty="0">
                <a:ea typeface="宋体" charset="-122"/>
              </a:rPr>
              <a:t>用坐标运算实现点积</a:t>
            </a:r>
            <a:r>
              <a:rPr lang="en-US" altLang="zh-CN" dirty="0">
                <a:ea typeface="宋体" charset="-122"/>
              </a:rPr>
              <a:t>(2D)</a:t>
            </a:r>
          </a:p>
        </p:txBody>
      </p:sp>
      <p:sp>
        <p:nvSpPr>
          <p:cNvPr id="14339" name="Line 3"/>
          <p:cNvSpPr>
            <a:spLocks noChangeShapeType="1"/>
          </p:cNvSpPr>
          <p:nvPr/>
        </p:nvSpPr>
        <p:spPr bwMode="auto">
          <a:xfrm>
            <a:off x="742950" y="5019675"/>
            <a:ext cx="384810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4340" name="Line 4"/>
          <p:cNvSpPr>
            <a:spLocks noChangeShapeType="1"/>
          </p:cNvSpPr>
          <p:nvPr/>
        </p:nvSpPr>
        <p:spPr bwMode="auto">
          <a:xfrm flipV="1">
            <a:off x="1333500" y="2419350"/>
            <a:ext cx="0" cy="360045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4341" name="Line 5"/>
          <p:cNvSpPr>
            <a:spLocks noChangeShapeType="1"/>
          </p:cNvSpPr>
          <p:nvPr/>
        </p:nvSpPr>
        <p:spPr bwMode="auto">
          <a:xfrm>
            <a:off x="3448050" y="4124325"/>
            <a:ext cx="0" cy="885825"/>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4342" name="Line 6"/>
          <p:cNvSpPr>
            <a:spLocks noChangeShapeType="1"/>
          </p:cNvSpPr>
          <p:nvPr/>
        </p:nvSpPr>
        <p:spPr bwMode="auto">
          <a:xfrm flipH="1">
            <a:off x="2320925" y="3340100"/>
            <a:ext cx="9525" cy="168275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4343" name="Line 7"/>
          <p:cNvSpPr>
            <a:spLocks noChangeShapeType="1"/>
          </p:cNvSpPr>
          <p:nvPr/>
        </p:nvSpPr>
        <p:spPr bwMode="auto">
          <a:xfrm flipH="1">
            <a:off x="1323975" y="4108450"/>
            <a:ext cx="2136775"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4344" name="Line 8"/>
          <p:cNvSpPr>
            <a:spLocks noChangeShapeType="1"/>
          </p:cNvSpPr>
          <p:nvPr/>
        </p:nvSpPr>
        <p:spPr bwMode="auto">
          <a:xfrm flipH="1">
            <a:off x="1349375" y="3308350"/>
            <a:ext cx="955675"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4345" name="Line 9"/>
          <p:cNvSpPr>
            <a:spLocks noChangeShapeType="1"/>
          </p:cNvSpPr>
          <p:nvPr/>
        </p:nvSpPr>
        <p:spPr bwMode="auto">
          <a:xfrm flipV="1">
            <a:off x="1335088" y="3303588"/>
            <a:ext cx="1006475" cy="1730375"/>
          </a:xfrm>
          <a:prstGeom prst="line">
            <a:avLst/>
          </a:prstGeom>
          <a:noFill/>
          <a:ln w="57150">
            <a:solidFill>
              <a:schemeClr val="accent2"/>
            </a:solidFill>
            <a:miter lim="800000"/>
            <a:headEnd/>
            <a:tailEnd type="triangle" w="med" len="med"/>
          </a:ln>
          <a:effectLst/>
        </p:spPr>
        <p:txBody>
          <a:bodyPr wrap="none"/>
          <a:lstStyle/>
          <a:p>
            <a:endParaRPr lang="zh-CN" altLang="en-US"/>
          </a:p>
        </p:txBody>
      </p:sp>
      <p:sp>
        <p:nvSpPr>
          <p:cNvPr id="14346" name="Line 10"/>
          <p:cNvSpPr>
            <a:spLocks noChangeShapeType="1"/>
          </p:cNvSpPr>
          <p:nvPr/>
        </p:nvSpPr>
        <p:spPr bwMode="auto">
          <a:xfrm flipV="1">
            <a:off x="1335088" y="4117975"/>
            <a:ext cx="2119312" cy="904875"/>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14347" name="Text Box 11"/>
          <p:cNvSpPr txBox="1">
            <a:spLocks noChangeArrowheads="1"/>
          </p:cNvSpPr>
          <p:nvPr/>
        </p:nvSpPr>
        <p:spPr bwMode="auto">
          <a:xfrm>
            <a:off x="2973388" y="4143375"/>
            <a:ext cx="406400" cy="519113"/>
          </a:xfrm>
          <a:prstGeom prst="rect">
            <a:avLst/>
          </a:prstGeom>
          <a:noFill/>
          <a:ln w="9525">
            <a:noFill/>
            <a:miter lim="800000"/>
            <a:headEnd/>
            <a:tailEnd/>
          </a:ln>
          <a:effectLst/>
        </p:spPr>
        <p:txBody>
          <a:bodyPr>
            <a:spAutoFit/>
          </a:bodyPr>
          <a:lstStyle/>
          <a:p>
            <a:r>
              <a:rPr lang="en-US" altLang="zh-CN" sz="2800" b="1" dirty="0">
                <a:solidFill>
                  <a:schemeClr val="hlink"/>
                </a:solidFill>
                <a:latin typeface="Times New Roman" pitchFamily="18" charset="0"/>
                <a:ea typeface="宋体" charset="-122"/>
                <a:cs typeface="Times New Roman" pitchFamily="18" charset="0"/>
              </a:rPr>
              <a:t>v</a:t>
            </a:r>
          </a:p>
        </p:txBody>
      </p:sp>
      <p:sp>
        <p:nvSpPr>
          <p:cNvPr id="14348" name="Text Box 12"/>
          <p:cNvSpPr txBox="1">
            <a:spLocks noChangeArrowheads="1"/>
          </p:cNvSpPr>
          <p:nvPr/>
        </p:nvSpPr>
        <p:spPr bwMode="auto">
          <a:xfrm>
            <a:off x="1638300" y="3497263"/>
            <a:ext cx="519113" cy="519112"/>
          </a:xfrm>
          <a:prstGeom prst="rect">
            <a:avLst/>
          </a:prstGeom>
          <a:noFill/>
          <a:ln w="9525">
            <a:noFill/>
            <a:miter lim="800000"/>
            <a:headEnd/>
            <a:tailEnd/>
          </a:ln>
          <a:effectLst/>
        </p:spPr>
        <p:txBody>
          <a:bodyPr>
            <a:spAutoFit/>
          </a:bodyPr>
          <a:lstStyle/>
          <a:p>
            <a:r>
              <a:rPr lang="en-US" altLang="zh-CN" sz="2800" b="1" dirty="0">
                <a:solidFill>
                  <a:schemeClr val="accent2"/>
                </a:solidFill>
                <a:latin typeface="Times New Roman" pitchFamily="18" charset="0"/>
                <a:ea typeface="宋体" charset="-122"/>
                <a:cs typeface="Times New Roman" pitchFamily="18" charset="0"/>
              </a:rPr>
              <a:t>w</a:t>
            </a:r>
          </a:p>
        </p:txBody>
      </p:sp>
      <p:sp>
        <p:nvSpPr>
          <p:cNvPr id="14349" name="Text Box 13"/>
          <p:cNvSpPr txBox="1">
            <a:spLocks noChangeArrowheads="1"/>
          </p:cNvSpPr>
          <p:nvPr/>
        </p:nvSpPr>
        <p:spPr bwMode="auto">
          <a:xfrm>
            <a:off x="3246438" y="4870450"/>
            <a:ext cx="654050" cy="519113"/>
          </a:xfrm>
          <a:prstGeom prst="rect">
            <a:avLst/>
          </a:prstGeom>
          <a:noFill/>
          <a:ln w="9525">
            <a:noFill/>
            <a:miter lim="800000"/>
            <a:headEnd/>
            <a:tailEnd/>
          </a:ln>
          <a:effectLst/>
        </p:spPr>
        <p:txBody>
          <a:bodyPr>
            <a:spAutoFit/>
          </a:bodyPr>
          <a:lstStyle/>
          <a:p>
            <a:r>
              <a:rPr lang="en-US" altLang="zh-CN" sz="2800" i="1" dirty="0">
                <a:solidFill>
                  <a:schemeClr val="hlink"/>
                </a:solidFill>
                <a:latin typeface="Times New Roman" pitchFamily="18" charset="0"/>
                <a:ea typeface="宋体" charset="-122"/>
                <a:cs typeface="Times New Roman" pitchFamily="18" charset="0"/>
              </a:rPr>
              <a:t>x</a:t>
            </a:r>
            <a:r>
              <a:rPr lang="en-US" altLang="zh-CN" sz="2800" i="1" baseline="-25000" dirty="0">
                <a:solidFill>
                  <a:schemeClr val="hlink"/>
                </a:solidFill>
                <a:latin typeface="Times New Roman" pitchFamily="18" charset="0"/>
                <a:ea typeface="宋体" charset="-122"/>
                <a:cs typeface="Times New Roman" pitchFamily="18" charset="0"/>
              </a:rPr>
              <a:t>v</a:t>
            </a:r>
          </a:p>
        </p:txBody>
      </p:sp>
      <p:sp>
        <p:nvSpPr>
          <p:cNvPr id="14350" name="Text Box 14"/>
          <p:cNvSpPr txBox="1">
            <a:spLocks noChangeArrowheads="1"/>
          </p:cNvSpPr>
          <p:nvPr/>
        </p:nvSpPr>
        <p:spPr bwMode="auto">
          <a:xfrm>
            <a:off x="938213" y="3813175"/>
            <a:ext cx="654050" cy="519113"/>
          </a:xfrm>
          <a:prstGeom prst="rect">
            <a:avLst/>
          </a:prstGeom>
          <a:noFill/>
          <a:ln w="9525">
            <a:noFill/>
            <a:miter lim="800000"/>
            <a:headEnd/>
            <a:tailEnd/>
          </a:ln>
          <a:effectLst/>
        </p:spPr>
        <p:txBody>
          <a:bodyPr>
            <a:spAutoFit/>
          </a:bodyPr>
          <a:lstStyle/>
          <a:p>
            <a:r>
              <a:rPr lang="en-US" altLang="zh-CN" sz="2800" i="1" dirty="0" err="1">
                <a:solidFill>
                  <a:schemeClr val="hlink"/>
                </a:solidFill>
                <a:latin typeface="Times New Roman" pitchFamily="18" charset="0"/>
                <a:ea typeface="宋体" charset="-122"/>
                <a:cs typeface="Times New Roman" pitchFamily="18" charset="0"/>
              </a:rPr>
              <a:t>y</a:t>
            </a:r>
            <a:r>
              <a:rPr lang="en-US" altLang="zh-CN" sz="2800" i="1" baseline="-25000" dirty="0" err="1">
                <a:solidFill>
                  <a:schemeClr val="hlink"/>
                </a:solidFill>
                <a:latin typeface="Times New Roman" pitchFamily="18" charset="0"/>
                <a:ea typeface="宋体" charset="-122"/>
                <a:cs typeface="Times New Roman" pitchFamily="18" charset="0"/>
              </a:rPr>
              <a:t>v</a:t>
            </a:r>
            <a:endParaRPr lang="en-US" altLang="zh-CN" sz="2800" i="1" baseline="-25000">
              <a:solidFill>
                <a:schemeClr val="hlink"/>
              </a:solidFill>
              <a:latin typeface="Times New Roman" pitchFamily="18" charset="0"/>
              <a:ea typeface="宋体" charset="-122"/>
              <a:cs typeface="Times New Roman" pitchFamily="18" charset="0"/>
            </a:endParaRPr>
          </a:p>
        </p:txBody>
      </p:sp>
      <p:sp>
        <p:nvSpPr>
          <p:cNvPr id="14351" name="Text Box 15"/>
          <p:cNvSpPr txBox="1">
            <a:spLocks noChangeArrowheads="1"/>
          </p:cNvSpPr>
          <p:nvPr/>
        </p:nvSpPr>
        <p:spPr bwMode="auto">
          <a:xfrm>
            <a:off x="2081213" y="4870450"/>
            <a:ext cx="654050" cy="519113"/>
          </a:xfrm>
          <a:prstGeom prst="rect">
            <a:avLst/>
          </a:prstGeom>
          <a:noFill/>
          <a:ln w="9525">
            <a:noFill/>
            <a:miter lim="800000"/>
            <a:headEnd/>
            <a:tailEnd/>
          </a:ln>
          <a:effectLst/>
        </p:spPr>
        <p:txBody>
          <a:bodyPr>
            <a:spAutoFit/>
          </a:bodyPr>
          <a:lstStyle/>
          <a:p>
            <a:r>
              <a:rPr lang="en-US" altLang="zh-CN" sz="2800" i="1">
                <a:solidFill>
                  <a:schemeClr val="accent2"/>
                </a:solidFill>
                <a:latin typeface="Times New Roman" pitchFamily="18" charset="0"/>
                <a:ea typeface="宋体" charset="-122"/>
                <a:cs typeface="Times New Roman" pitchFamily="18" charset="0"/>
              </a:rPr>
              <a:t>x</a:t>
            </a:r>
            <a:r>
              <a:rPr lang="en-US" altLang="zh-CN" sz="2800" i="1" baseline="-25000">
                <a:solidFill>
                  <a:schemeClr val="accent2"/>
                </a:solidFill>
                <a:latin typeface="Times New Roman" pitchFamily="18" charset="0"/>
                <a:ea typeface="宋体" charset="-122"/>
                <a:cs typeface="Times New Roman" pitchFamily="18" charset="0"/>
              </a:rPr>
              <a:t>w</a:t>
            </a:r>
          </a:p>
        </p:txBody>
      </p:sp>
      <p:sp>
        <p:nvSpPr>
          <p:cNvPr id="14352" name="Text Box 16"/>
          <p:cNvSpPr txBox="1">
            <a:spLocks noChangeArrowheads="1"/>
          </p:cNvSpPr>
          <p:nvPr/>
        </p:nvSpPr>
        <p:spPr bwMode="auto">
          <a:xfrm>
            <a:off x="938213" y="3067050"/>
            <a:ext cx="654050" cy="519113"/>
          </a:xfrm>
          <a:prstGeom prst="rect">
            <a:avLst/>
          </a:prstGeom>
          <a:noFill/>
          <a:ln w="9525">
            <a:noFill/>
            <a:miter lim="800000"/>
            <a:headEnd/>
            <a:tailEnd/>
          </a:ln>
          <a:effectLst/>
        </p:spPr>
        <p:txBody>
          <a:bodyPr>
            <a:spAutoFit/>
          </a:bodyPr>
          <a:lstStyle/>
          <a:p>
            <a:r>
              <a:rPr lang="en-US" altLang="zh-CN" sz="2800" i="1">
                <a:solidFill>
                  <a:schemeClr val="accent2"/>
                </a:solidFill>
                <a:latin typeface="Times New Roman" pitchFamily="18" charset="0"/>
                <a:ea typeface="宋体" charset="-122"/>
                <a:cs typeface="Times New Roman" pitchFamily="18" charset="0"/>
              </a:rPr>
              <a:t>y</a:t>
            </a:r>
            <a:r>
              <a:rPr lang="en-US" altLang="zh-CN" sz="2800" i="1" baseline="-25000">
                <a:solidFill>
                  <a:schemeClr val="accent2"/>
                </a:solidFill>
                <a:latin typeface="Times New Roman" pitchFamily="18" charset="0"/>
                <a:ea typeface="宋体" charset="-122"/>
                <a:cs typeface="Times New Roman" pitchFamily="18" charset="0"/>
              </a:rPr>
              <a:t>w</a:t>
            </a:r>
          </a:p>
        </p:txBody>
      </p:sp>
      <p:sp>
        <p:nvSpPr>
          <p:cNvPr id="14353" name="Text Box 17"/>
          <p:cNvSpPr txBox="1">
            <a:spLocks noChangeArrowheads="1"/>
          </p:cNvSpPr>
          <p:nvPr/>
        </p:nvSpPr>
        <p:spPr bwMode="auto">
          <a:xfrm>
            <a:off x="4537075" y="4981575"/>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x</a:t>
            </a:r>
          </a:p>
        </p:txBody>
      </p:sp>
      <p:sp>
        <p:nvSpPr>
          <p:cNvPr id="14354" name="Text Box 18"/>
          <p:cNvSpPr txBox="1">
            <a:spLocks noChangeArrowheads="1"/>
          </p:cNvSpPr>
          <p:nvPr/>
        </p:nvSpPr>
        <p:spPr bwMode="auto">
          <a:xfrm>
            <a:off x="1047750" y="2359025"/>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y</a:t>
            </a:r>
          </a:p>
        </p:txBody>
      </p:sp>
      <p:sp>
        <p:nvSpPr>
          <p:cNvPr id="14355" name="Text Box 19"/>
          <p:cNvSpPr txBox="1">
            <a:spLocks noChangeArrowheads="1"/>
          </p:cNvSpPr>
          <p:nvPr/>
        </p:nvSpPr>
        <p:spPr bwMode="auto">
          <a:xfrm>
            <a:off x="1009650" y="5016500"/>
            <a:ext cx="3492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O</a:t>
            </a:r>
          </a:p>
        </p:txBody>
      </p:sp>
      <p:graphicFrame>
        <p:nvGraphicFramePr>
          <p:cNvPr id="14356" name="Object 20"/>
          <p:cNvGraphicFramePr>
            <a:graphicFrameLocks noGrp="1" noChangeAspect="1"/>
          </p:cNvGraphicFramePr>
          <p:nvPr>
            <p:ph idx="1"/>
          </p:nvPr>
        </p:nvGraphicFramePr>
        <p:xfrm>
          <a:off x="4124325" y="1757363"/>
          <a:ext cx="3800475" cy="1901825"/>
        </p:xfrm>
        <a:graphic>
          <a:graphicData uri="http://schemas.openxmlformats.org/presentationml/2006/ole">
            <mc:AlternateContent xmlns:mc="http://schemas.openxmlformats.org/markup-compatibility/2006">
              <mc:Choice xmlns:v="urn:schemas-microsoft-com:vml" Requires="v">
                <p:oleObj spid="_x0000_s3075" name="Equation" r:id="rId3" imgW="1371600" imgH="685800" progId="">
                  <p:embed/>
                </p:oleObj>
              </mc:Choice>
              <mc:Fallback>
                <p:oleObj name="Equation" r:id="rId3" imgW="1371600" imgH="685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4325" y="1757363"/>
                        <a:ext cx="3800475" cy="190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Box 20"/>
          <p:cNvSpPr txBox="1"/>
          <p:nvPr/>
        </p:nvSpPr>
        <p:spPr>
          <a:xfrm>
            <a:off x="2071670" y="5786454"/>
            <a:ext cx="6340197" cy="58477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3200" dirty="0"/>
              <a:t>猜一猜，三维情形的公式是怎样的</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a:ea typeface="宋体" charset="-122"/>
              </a:rPr>
              <a:t>垂直向量</a:t>
            </a:r>
            <a:r>
              <a:rPr lang="en-US" altLang="zh-CN" dirty="0">
                <a:ea typeface="宋体" charset="-122"/>
              </a:rPr>
              <a:t>(2D/3D)</a:t>
            </a:r>
          </a:p>
        </p:txBody>
      </p:sp>
      <p:sp>
        <p:nvSpPr>
          <p:cNvPr id="15363" name="Line 3"/>
          <p:cNvSpPr>
            <a:spLocks noChangeShapeType="1"/>
          </p:cNvSpPr>
          <p:nvPr/>
        </p:nvSpPr>
        <p:spPr bwMode="auto">
          <a:xfrm flipV="1">
            <a:off x="3802063" y="4008438"/>
            <a:ext cx="6350" cy="1549400"/>
          </a:xfrm>
          <a:prstGeom prst="line">
            <a:avLst/>
          </a:prstGeom>
          <a:noFill/>
          <a:ln w="57150">
            <a:solidFill>
              <a:schemeClr val="accent2"/>
            </a:solidFill>
            <a:miter lim="800000"/>
            <a:headEnd/>
            <a:tailEnd type="triangle" w="med" len="med"/>
          </a:ln>
          <a:effectLst/>
        </p:spPr>
        <p:txBody>
          <a:bodyPr wrap="none"/>
          <a:lstStyle/>
          <a:p>
            <a:endParaRPr lang="zh-CN" altLang="en-US"/>
          </a:p>
        </p:txBody>
      </p:sp>
      <p:sp>
        <p:nvSpPr>
          <p:cNvPr id="15364" name="Line 4"/>
          <p:cNvSpPr>
            <a:spLocks noChangeShapeType="1"/>
          </p:cNvSpPr>
          <p:nvPr/>
        </p:nvSpPr>
        <p:spPr bwMode="auto">
          <a:xfrm>
            <a:off x="3802063" y="5546725"/>
            <a:ext cx="1671637" cy="0"/>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15365" name="Freeform 5"/>
          <p:cNvSpPr>
            <a:spLocks/>
          </p:cNvSpPr>
          <p:nvPr/>
        </p:nvSpPr>
        <p:spPr bwMode="auto">
          <a:xfrm>
            <a:off x="3835400" y="5356225"/>
            <a:ext cx="163513" cy="174625"/>
          </a:xfrm>
          <a:custGeom>
            <a:avLst/>
            <a:gdLst/>
            <a:ahLst/>
            <a:cxnLst>
              <a:cxn ang="0">
                <a:pos x="0" y="0"/>
              </a:cxn>
              <a:cxn ang="0">
                <a:pos x="103" y="0"/>
              </a:cxn>
              <a:cxn ang="0">
                <a:pos x="103" y="110"/>
              </a:cxn>
            </a:cxnLst>
            <a:rect l="0" t="0" r="r" b="b"/>
            <a:pathLst>
              <a:path w="103" h="110">
                <a:moveTo>
                  <a:pt x="0" y="0"/>
                </a:moveTo>
                <a:lnTo>
                  <a:pt x="103" y="0"/>
                </a:lnTo>
                <a:lnTo>
                  <a:pt x="103" y="110"/>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15366" name="Text Box 6"/>
          <p:cNvSpPr txBox="1">
            <a:spLocks noChangeArrowheads="1"/>
          </p:cNvSpPr>
          <p:nvPr/>
        </p:nvSpPr>
        <p:spPr bwMode="auto">
          <a:xfrm>
            <a:off x="5135563" y="5467350"/>
            <a:ext cx="406400" cy="519113"/>
          </a:xfrm>
          <a:prstGeom prst="rect">
            <a:avLst/>
          </a:prstGeom>
          <a:noFill/>
          <a:ln w="9525">
            <a:noFill/>
            <a:miter lim="800000"/>
            <a:headEnd/>
            <a:tailEnd/>
          </a:ln>
          <a:effectLst/>
        </p:spPr>
        <p:txBody>
          <a:bodyPr>
            <a:spAutoFit/>
          </a:bodyPr>
          <a:lstStyle/>
          <a:p>
            <a:r>
              <a:rPr lang="en-US" altLang="zh-CN" sz="2800" b="1">
                <a:solidFill>
                  <a:schemeClr val="hlink"/>
                </a:solidFill>
                <a:latin typeface="Times New Roman" pitchFamily="18" charset="0"/>
                <a:ea typeface="宋体" charset="-122"/>
                <a:cs typeface="Times New Roman" pitchFamily="18" charset="0"/>
              </a:rPr>
              <a:t>v</a:t>
            </a:r>
          </a:p>
        </p:txBody>
      </p:sp>
      <p:sp>
        <p:nvSpPr>
          <p:cNvPr id="15367" name="Text Box 7"/>
          <p:cNvSpPr txBox="1">
            <a:spLocks noChangeArrowheads="1"/>
          </p:cNvSpPr>
          <p:nvPr/>
        </p:nvSpPr>
        <p:spPr bwMode="auto">
          <a:xfrm>
            <a:off x="3228975" y="3925888"/>
            <a:ext cx="757238" cy="519112"/>
          </a:xfrm>
          <a:prstGeom prst="rect">
            <a:avLst/>
          </a:prstGeom>
          <a:noFill/>
          <a:ln w="9525">
            <a:noFill/>
            <a:miter lim="800000"/>
            <a:headEnd/>
            <a:tailEnd/>
          </a:ln>
          <a:effectLst/>
        </p:spPr>
        <p:txBody>
          <a:bodyPr>
            <a:spAutoFit/>
          </a:bodyPr>
          <a:lstStyle/>
          <a:p>
            <a:r>
              <a:rPr lang="en-US" altLang="zh-CN" sz="2800" b="1">
                <a:solidFill>
                  <a:schemeClr val="accent2"/>
                </a:solidFill>
                <a:latin typeface="Times New Roman" pitchFamily="18" charset="0"/>
                <a:ea typeface="宋体" charset="-122"/>
                <a:cs typeface="Times New Roman" pitchFamily="18" charset="0"/>
              </a:rPr>
              <a:t>v</a:t>
            </a:r>
            <a:r>
              <a:rPr lang="en-US" altLang="zh-CN" sz="2800" baseline="30000">
                <a:solidFill>
                  <a:schemeClr val="accent2"/>
                </a:solidFill>
                <a:latin typeface="Times New Roman" pitchFamily="18" charset="0"/>
                <a:ea typeface="宋体" charset="-122"/>
                <a:cs typeface="Times New Roman" pitchFamily="18" charset="0"/>
                <a:sym typeface="Symbol" pitchFamily="18" charset="2"/>
              </a:rPr>
              <a:t></a:t>
            </a:r>
          </a:p>
        </p:txBody>
      </p:sp>
      <p:graphicFrame>
        <p:nvGraphicFramePr>
          <p:cNvPr id="15368" name="Object 8"/>
          <p:cNvGraphicFramePr>
            <a:graphicFrameLocks noGrp="1" noChangeAspect="1"/>
          </p:cNvGraphicFramePr>
          <p:nvPr>
            <p:ph idx="1"/>
          </p:nvPr>
        </p:nvGraphicFramePr>
        <p:xfrm>
          <a:off x="1878013" y="1995488"/>
          <a:ext cx="5046662" cy="1211262"/>
        </p:xfrm>
        <a:graphic>
          <a:graphicData uri="http://schemas.openxmlformats.org/presentationml/2006/ole">
            <mc:AlternateContent xmlns:mc="http://schemas.openxmlformats.org/markup-compatibility/2006">
              <mc:Choice xmlns:v="urn:schemas-microsoft-com:vml" Requires="v">
                <p:oleObj spid="_x0000_s4099" name="Equation" r:id="rId3" imgW="1904760" imgH="457200" progId="">
                  <p:embed/>
                </p:oleObj>
              </mc:Choice>
              <mc:Fallback>
                <p:oleObj name="Equation" r:id="rId3" imgW="190476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8013" y="1995488"/>
                        <a:ext cx="5046662" cy="1211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Text Box 9"/>
          <p:cNvSpPr txBox="1">
            <a:spLocks noChangeArrowheads="1"/>
          </p:cNvSpPr>
          <p:nvPr/>
        </p:nvSpPr>
        <p:spPr bwMode="auto">
          <a:xfrm>
            <a:off x="4932040" y="3924345"/>
            <a:ext cx="2398413" cy="584775"/>
          </a:xfrm>
          <a:prstGeom prst="rect">
            <a:avLst/>
          </a:prstGeom>
          <a:noFill/>
          <a:ln w="9525">
            <a:noFill/>
            <a:miter lim="800000"/>
            <a:headEnd/>
            <a:tailEnd/>
          </a:ln>
          <a:effectLst/>
        </p:spPr>
        <p:txBody>
          <a:bodyPr wrap="none">
            <a:spAutoFit/>
          </a:bodyPr>
          <a:lstStyle/>
          <a:p>
            <a:r>
              <a:rPr lang="zh-CN" altLang="en-US" sz="3200" dirty="0">
                <a:ea typeface="宋体" charset="-122"/>
              </a:rPr>
              <a:t>仅适用于</a:t>
            </a:r>
            <a:r>
              <a:rPr lang="en-US" altLang="zh-CN" sz="3200" dirty="0">
                <a:ea typeface="宋体" charset="-122"/>
              </a:rPr>
              <a:t>2D:</a:t>
            </a:r>
            <a:endParaRPr lang="en-US" sz="3200" dirty="0"/>
          </a:p>
        </p:txBody>
      </p:sp>
      <p:sp>
        <p:nvSpPr>
          <p:cNvPr id="10" name="矩形 9"/>
          <p:cNvSpPr/>
          <p:nvPr/>
        </p:nvSpPr>
        <p:spPr>
          <a:xfrm>
            <a:off x="1835696" y="2564904"/>
            <a:ext cx="5184576" cy="72008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a:xfrm rot="5400000" flipH="1" flipV="1">
            <a:off x="5292874" y="3573016"/>
            <a:ext cx="719286" cy="794"/>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ea typeface="宋体" charset="-122"/>
              </a:rPr>
              <a:t>两点之间的距离</a:t>
            </a:r>
            <a:endParaRPr lang="en-US" altLang="zh-CN" dirty="0">
              <a:ea typeface="宋体" charset="-122"/>
            </a:endParaRPr>
          </a:p>
        </p:txBody>
      </p:sp>
      <p:sp>
        <p:nvSpPr>
          <p:cNvPr id="18435" name="Line 3"/>
          <p:cNvSpPr>
            <a:spLocks noChangeShapeType="1"/>
          </p:cNvSpPr>
          <p:nvPr/>
        </p:nvSpPr>
        <p:spPr bwMode="auto">
          <a:xfrm>
            <a:off x="742950" y="5019675"/>
            <a:ext cx="384810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8436" name="Line 4"/>
          <p:cNvSpPr>
            <a:spLocks noChangeShapeType="1"/>
          </p:cNvSpPr>
          <p:nvPr/>
        </p:nvSpPr>
        <p:spPr bwMode="auto">
          <a:xfrm flipV="1">
            <a:off x="1333500" y="2419350"/>
            <a:ext cx="0" cy="360045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18437" name="Line 5"/>
          <p:cNvSpPr>
            <a:spLocks noChangeShapeType="1"/>
          </p:cNvSpPr>
          <p:nvPr/>
        </p:nvSpPr>
        <p:spPr bwMode="auto">
          <a:xfrm>
            <a:off x="3448050" y="4124325"/>
            <a:ext cx="0" cy="885825"/>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8438" name="Line 6"/>
          <p:cNvSpPr>
            <a:spLocks noChangeShapeType="1"/>
          </p:cNvSpPr>
          <p:nvPr/>
        </p:nvSpPr>
        <p:spPr bwMode="auto">
          <a:xfrm flipH="1">
            <a:off x="2320925" y="3340100"/>
            <a:ext cx="9525" cy="168275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8439" name="Line 7"/>
          <p:cNvSpPr>
            <a:spLocks noChangeShapeType="1"/>
          </p:cNvSpPr>
          <p:nvPr/>
        </p:nvSpPr>
        <p:spPr bwMode="auto">
          <a:xfrm flipH="1">
            <a:off x="1323975" y="4108450"/>
            <a:ext cx="2136775"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8440" name="Line 8"/>
          <p:cNvSpPr>
            <a:spLocks noChangeShapeType="1"/>
          </p:cNvSpPr>
          <p:nvPr/>
        </p:nvSpPr>
        <p:spPr bwMode="auto">
          <a:xfrm flipH="1">
            <a:off x="1349375" y="3308350"/>
            <a:ext cx="955675" cy="0"/>
          </a:xfrm>
          <a:prstGeom prst="line">
            <a:avLst/>
          </a:prstGeom>
          <a:noFill/>
          <a:ln w="9525">
            <a:solidFill>
              <a:schemeClr val="tx1"/>
            </a:solidFill>
            <a:prstDash val="dash"/>
            <a:miter lim="800000"/>
            <a:headEnd/>
            <a:tailEnd/>
          </a:ln>
          <a:effectLst/>
        </p:spPr>
        <p:txBody>
          <a:bodyPr wrap="none"/>
          <a:lstStyle/>
          <a:p>
            <a:endParaRPr lang="zh-CN" altLang="en-US"/>
          </a:p>
        </p:txBody>
      </p:sp>
      <p:sp>
        <p:nvSpPr>
          <p:cNvPr id="18441" name="Line 9"/>
          <p:cNvSpPr>
            <a:spLocks noChangeShapeType="1"/>
          </p:cNvSpPr>
          <p:nvPr/>
        </p:nvSpPr>
        <p:spPr bwMode="auto">
          <a:xfrm>
            <a:off x="2449513" y="3270250"/>
            <a:ext cx="976312" cy="752475"/>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18442" name="Text Box 10"/>
          <p:cNvSpPr txBox="1">
            <a:spLocks noChangeArrowheads="1"/>
          </p:cNvSpPr>
          <p:nvPr/>
        </p:nvSpPr>
        <p:spPr bwMode="auto">
          <a:xfrm>
            <a:off x="3573463" y="3724275"/>
            <a:ext cx="406400" cy="519113"/>
          </a:xfrm>
          <a:prstGeom prst="rect">
            <a:avLst/>
          </a:prstGeom>
          <a:noFill/>
          <a:ln w="9525">
            <a:noFill/>
            <a:miter lim="800000"/>
            <a:headEnd/>
            <a:tailEnd/>
          </a:ln>
          <a:effectLst/>
        </p:spPr>
        <p:txBody>
          <a:bodyPr>
            <a:spAutoFit/>
          </a:bodyPr>
          <a:lstStyle/>
          <a:p>
            <a:r>
              <a:rPr lang="en-US" altLang="zh-CN" sz="2800" i="1">
                <a:solidFill>
                  <a:schemeClr val="hlink"/>
                </a:solidFill>
                <a:latin typeface="Times New Roman" pitchFamily="18" charset="0"/>
                <a:ea typeface="宋体" charset="-122"/>
                <a:cs typeface="Times New Roman" pitchFamily="18" charset="0"/>
              </a:rPr>
              <a:t>B</a:t>
            </a:r>
          </a:p>
        </p:txBody>
      </p:sp>
      <p:sp>
        <p:nvSpPr>
          <p:cNvPr id="18443" name="Text Box 11"/>
          <p:cNvSpPr txBox="1">
            <a:spLocks noChangeArrowheads="1"/>
          </p:cNvSpPr>
          <p:nvPr/>
        </p:nvSpPr>
        <p:spPr bwMode="auto">
          <a:xfrm>
            <a:off x="2381250" y="2735263"/>
            <a:ext cx="519113" cy="519112"/>
          </a:xfrm>
          <a:prstGeom prst="rect">
            <a:avLst/>
          </a:prstGeom>
          <a:noFill/>
          <a:ln w="9525">
            <a:noFill/>
            <a:miter lim="800000"/>
            <a:headEnd/>
            <a:tailEnd/>
          </a:ln>
          <a:effectLst/>
        </p:spPr>
        <p:txBody>
          <a:bodyPr>
            <a:spAutoFit/>
          </a:bodyPr>
          <a:lstStyle/>
          <a:p>
            <a:r>
              <a:rPr lang="en-US" altLang="zh-CN" sz="2800" i="1">
                <a:solidFill>
                  <a:schemeClr val="accent2"/>
                </a:solidFill>
                <a:latin typeface="Times New Roman" pitchFamily="18" charset="0"/>
                <a:ea typeface="宋体" charset="-122"/>
                <a:cs typeface="Times New Roman" pitchFamily="18" charset="0"/>
              </a:rPr>
              <a:t>A</a:t>
            </a:r>
          </a:p>
        </p:txBody>
      </p:sp>
      <p:sp>
        <p:nvSpPr>
          <p:cNvPr id="18444" name="Text Box 12"/>
          <p:cNvSpPr txBox="1">
            <a:spLocks noChangeArrowheads="1"/>
          </p:cNvSpPr>
          <p:nvPr/>
        </p:nvSpPr>
        <p:spPr bwMode="auto">
          <a:xfrm>
            <a:off x="3246438" y="4870450"/>
            <a:ext cx="654050" cy="519113"/>
          </a:xfrm>
          <a:prstGeom prst="rect">
            <a:avLst/>
          </a:prstGeom>
          <a:noFill/>
          <a:ln w="9525">
            <a:noFill/>
            <a:miter lim="800000"/>
            <a:headEnd/>
            <a:tailEnd/>
          </a:ln>
          <a:effectLst/>
        </p:spPr>
        <p:txBody>
          <a:bodyPr>
            <a:spAutoFit/>
          </a:bodyPr>
          <a:lstStyle/>
          <a:p>
            <a:r>
              <a:rPr lang="en-US" altLang="zh-CN" sz="2800" i="1">
                <a:solidFill>
                  <a:schemeClr val="hlink"/>
                </a:solidFill>
                <a:latin typeface="Times New Roman" pitchFamily="18" charset="0"/>
                <a:ea typeface="宋体" charset="-122"/>
                <a:cs typeface="Times New Roman" pitchFamily="18" charset="0"/>
              </a:rPr>
              <a:t>x</a:t>
            </a:r>
            <a:r>
              <a:rPr lang="en-US" altLang="zh-CN" sz="2800" i="1" baseline="-25000">
                <a:solidFill>
                  <a:schemeClr val="hlink"/>
                </a:solidFill>
                <a:latin typeface="Times New Roman" pitchFamily="18" charset="0"/>
                <a:ea typeface="宋体" charset="-122"/>
                <a:cs typeface="Times New Roman" pitchFamily="18" charset="0"/>
              </a:rPr>
              <a:t>B</a:t>
            </a:r>
          </a:p>
        </p:txBody>
      </p:sp>
      <p:sp>
        <p:nvSpPr>
          <p:cNvPr id="18445" name="Text Box 13"/>
          <p:cNvSpPr txBox="1">
            <a:spLocks noChangeArrowheads="1"/>
          </p:cNvSpPr>
          <p:nvPr/>
        </p:nvSpPr>
        <p:spPr bwMode="auto">
          <a:xfrm>
            <a:off x="938213" y="3813175"/>
            <a:ext cx="654050" cy="519113"/>
          </a:xfrm>
          <a:prstGeom prst="rect">
            <a:avLst/>
          </a:prstGeom>
          <a:noFill/>
          <a:ln w="9525">
            <a:noFill/>
            <a:miter lim="800000"/>
            <a:headEnd/>
            <a:tailEnd/>
          </a:ln>
          <a:effectLst/>
        </p:spPr>
        <p:txBody>
          <a:bodyPr>
            <a:spAutoFit/>
          </a:bodyPr>
          <a:lstStyle/>
          <a:p>
            <a:r>
              <a:rPr lang="en-US" altLang="zh-CN" sz="2800" i="1">
                <a:solidFill>
                  <a:schemeClr val="hlink"/>
                </a:solidFill>
                <a:latin typeface="Times New Roman" pitchFamily="18" charset="0"/>
                <a:ea typeface="宋体" charset="-122"/>
                <a:cs typeface="Times New Roman" pitchFamily="18" charset="0"/>
              </a:rPr>
              <a:t>y</a:t>
            </a:r>
            <a:r>
              <a:rPr lang="en-US" altLang="zh-CN" sz="2800" i="1" baseline="-25000">
                <a:solidFill>
                  <a:schemeClr val="hlink"/>
                </a:solidFill>
                <a:latin typeface="Times New Roman" pitchFamily="18" charset="0"/>
                <a:ea typeface="宋体" charset="-122"/>
                <a:cs typeface="Times New Roman" pitchFamily="18" charset="0"/>
              </a:rPr>
              <a:t>B</a:t>
            </a:r>
          </a:p>
        </p:txBody>
      </p:sp>
      <p:sp>
        <p:nvSpPr>
          <p:cNvPr id="18446" name="Text Box 14"/>
          <p:cNvSpPr txBox="1">
            <a:spLocks noChangeArrowheads="1"/>
          </p:cNvSpPr>
          <p:nvPr/>
        </p:nvSpPr>
        <p:spPr bwMode="auto">
          <a:xfrm>
            <a:off x="2081213" y="4870450"/>
            <a:ext cx="654050" cy="519113"/>
          </a:xfrm>
          <a:prstGeom prst="rect">
            <a:avLst/>
          </a:prstGeom>
          <a:noFill/>
          <a:ln w="9525">
            <a:noFill/>
            <a:miter lim="800000"/>
            <a:headEnd/>
            <a:tailEnd/>
          </a:ln>
          <a:effectLst/>
        </p:spPr>
        <p:txBody>
          <a:bodyPr>
            <a:spAutoFit/>
          </a:bodyPr>
          <a:lstStyle/>
          <a:p>
            <a:r>
              <a:rPr lang="en-US" altLang="zh-CN" sz="2800" i="1">
                <a:solidFill>
                  <a:schemeClr val="accent2"/>
                </a:solidFill>
                <a:latin typeface="Times New Roman" pitchFamily="18" charset="0"/>
                <a:ea typeface="宋体" charset="-122"/>
                <a:cs typeface="Times New Roman" pitchFamily="18" charset="0"/>
              </a:rPr>
              <a:t>x</a:t>
            </a:r>
            <a:r>
              <a:rPr lang="en-US" altLang="zh-CN" sz="2800" i="1" baseline="-25000">
                <a:solidFill>
                  <a:schemeClr val="accent2"/>
                </a:solidFill>
                <a:latin typeface="Times New Roman" pitchFamily="18" charset="0"/>
                <a:ea typeface="宋体" charset="-122"/>
                <a:cs typeface="Times New Roman" pitchFamily="18" charset="0"/>
              </a:rPr>
              <a:t>A</a:t>
            </a:r>
          </a:p>
        </p:txBody>
      </p:sp>
      <p:sp>
        <p:nvSpPr>
          <p:cNvPr id="18447" name="Text Box 15"/>
          <p:cNvSpPr txBox="1">
            <a:spLocks noChangeArrowheads="1"/>
          </p:cNvSpPr>
          <p:nvPr/>
        </p:nvSpPr>
        <p:spPr bwMode="auto">
          <a:xfrm>
            <a:off x="938213" y="3067050"/>
            <a:ext cx="654050" cy="519113"/>
          </a:xfrm>
          <a:prstGeom prst="rect">
            <a:avLst/>
          </a:prstGeom>
          <a:noFill/>
          <a:ln w="9525">
            <a:noFill/>
            <a:miter lim="800000"/>
            <a:headEnd/>
            <a:tailEnd/>
          </a:ln>
          <a:effectLst/>
        </p:spPr>
        <p:txBody>
          <a:bodyPr>
            <a:spAutoFit/>
          </a:bodyPr>
          <a:lstStyle/>
          <a:p>
            <a:r>
              <a:rPr lang="en-US" altLang="zh-CN" sz="2800" i="1">
                <a:solidFill>
                  <a:schemeClr val="accent2"/>
                </a:solidFill>
                <a:latin typeface="Times New Roman" pitchFamily="18" charset="0"/>
                <a:ea typeface="宋体" charset="-122"/>
                <a:cs typeface="Times New Roman" pitchFamily="18" charset="0"/>
              </a:rPr>
              <a:t>y</a:t>
            </a:r>
            <a:r>
              <a:rPr lang="en-US" altLang="zh-CN" sz="2800" i="1" baseline="-25000">
                <a:solidFill>
                  <a:schemeClr val="accent2"/>
                </a:solidFill>
                <a:latin typeface="Times New Roman" pitchFamily="18" charset="0"/>
                <a:ea typeface="宋体" charset="-122"/>
                <a:cs typeface="Times New Roman" pitchFamily="18" charset="0"/>
              </a:rPr>
              <a:t>A</a:t>
            </a:r>
          </a:p>
        </p:txBody>
      </p:sp>
      <p:sp>
        <p:nvSpPr>
          <p:cNvPr id="18448" name="Text Box 16"/>
          <p:cNvSpPr txBox="1">
            <a:spLocks noChangeArrowheads="1"/>
          </p:cNvSpPr>
          <p:nvPr/>
        </p:nvSpPr>
        <p:spPr bwMode="auto">
          <a:xfrm>
            <a:off x="4537075" y="4981575"/>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x</a:t>
            </a:r>
          </a:p>
        </p:txBody>
      </p:sp>
      <p:sp>
        <p:nvSpPr>
          <p:cNvPr id="18449" name="Text Box 17"/>
          <p:cNvSpPr txBox="1">
            <a:spLocks noChangeArrowheads="1"/>
          </p:cNvSpPr>
          <p:nvPr/>
        </p:nvSpPr>
        <p:spPr bwMode="auto">
          <a:xfrm>
            <a:off x="1047750" y="2359025"/>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y</a:t>
            </a:r>
          </a:p>
        </p:txBody>
      </p:sp>
      <p:sp>
        <p:nvSpPr>
          <p:cNvPr id="18450" name="Text Box 18"/>
          <p:cNvSpPr txBox="1">
            <a:spLocks noChangeArrowheads="1"/>
          </p:cNvSpPr>
          <p:nvPr/>
        </p:nvSpPr>
        <p:spPr bwMode="auto">
          <a:xfrm>
            <a:off x="1009650" y="5016500"/>
            <a:ext cx="3492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O</a:t>
            </a:r>
          </a:p>
        </p:txBody>
      </p:sp>
      <p:sp>
        <p:nvSpPr>
          <p:cNvPr id="18451" name="Oval 19"/>
          <p:cNvSpPr>
            <a:spLocks noChangeArrowheads="1"/>
          </p:cNvSpPr>
          <p:nvPr/>
        </p:nvSpPr>
        <p:spPr bwMode="auto">
          <a:xfrm>
            <a:off x="2286000" y="3124200"/>
            <a:ext cx="180975" cy="18097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8452" name="Oval 20"/>
          <p:cNvSpPr>
            <a:spLocks noChangeArrowheads="1"/>
          </p:cNvSpPr>
          <p:nvPr/>
        </p:nvSpPr>
        <p:spPr bwMode="auto">
          <a:xfrm>
            <a:off x="3425825" y="3978275"/>
            <a:ext cx="180975" cy="18097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graphicFrame>
        <p:nvGraphicFramePr>
          <p:cNvPr id="18453" name="Object 21"/>
          <p:cNvGraphicFramePr>
            <a:graphicFrameLocks noGrp="1" noChangeAspect="1"/>
          </p:cNvGraphicFramePr>
          <p:nvPr>
            <p:ph idx="1"/>
          </p:nvPr>
        </p:nvGraphicFramePr>
        <p:xfrm>
          <a:off x="4960938" y="2338388"/>
          <a:ext cx="3683000" cy="1714500"/>
        </p:xfrm>
        <a:graphic>
          <a:graphicData uri="http://schemas.openxmlformats.org/presentationml/2006/ole">
            <mc:AlternateContent xmlns:mc="http://schemas.openxmlformats.org/markup-compatibility/2006">
              <mc:Choice xmlns:v="urn:schemas-microsoft-com:vml" Requires="v">
                <p:oleObj spid="_x0000_s5123" name="משוואה" r:id="rId3" imgW="1663560" imgH="774360" progId="Equation.3">
                  <p:embed/>
                </p:oleObj>
              </mc:Choice>
              <mc:Fallback>
                <p:oleObj name="משוואה" r:id="rId3" imgW="1663560" imgH="7743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0938" y="2338388"/>
                        <a:ext cx="3683000" cy="171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矩形 21"/>
          <p:cNvSpPr/>
          <p:nvPr/>
        </p:nvSpPr>
        <p:spPr>
          <a:xfrm>
            <a:off x="4860032" y="2276872"/>
            <a:ext cx="3456384" cy="115212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 Box 9"/>
          <p:cNvSpPr txBox="1">
            <a:spLocks noChangeArrowheads="1"/>
          </p:cNvSpPr>
          <p:nvPr/>
        </p:nvSpPr>
        <p:spPr bwMode="auto">
          <a:xfrm>
            <a:off x="2627784" y="1916832"/>
            <a:ext cx="1266693" cy="584775"/>
          </a:xfrm>
          <a:prstGeom prst="rect">
            <a:avLst/>
          </a:prstGeom>
          <a:noFill/>
          <a:ln w="9525">
            <a:noFill/>
            <a:miter lim="800000"/>
            <a:headEnd/>
            <a:tailEnd/>
          </a:ln>
          <a:effectLst/>
        </p:spPr>
        <p:txBody>
          <a:bodyPr wrap="none">
            <a:spAutoFit/>
          </a:bodyPr>
          <a:lstStyle/>
          <a:p>
            <a:r>
              <a:rPr lang="en-US" altLang="zh-CN" sz="3200" dirty="0">
                <a:ea typeface="宋体" charset="-122"/>
              </a:rPr>
              <a:t>2D/3D</a:t>
            </a:r>
            <a:endParaRPr lang="en-US" sz="3200" dirty="0"/>
          </a:p>
        </p:txBody>
      </p:sp>
      <p:cxnSp>
        <p:nvCxnSpPr>
          <p:cNvPr id="25" name="直接箭头连接符 24"/>
          <p:cNvCxnSpPr/>
          <p:nvPr/>
        </p:nvCxnSpPr>
        <p:spPr>
          <a:xfrm>
            <a:off x="3851920" y="2420888"/>
            <a:ext cx="1224136" cy="360040"/>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dirty="0">
                <a:ea typeface="宋体" charset="-122"/>
              </a:rPr>
              <a:t>直线的参数方程</a:t>
            </a:r>
            <a:r>
              <a:rPr lang="en-US" altLang="zh-CN" dirty="0">
                <a:ea typeface="宋体" charset="-122"/>
              </a:rPr>
              <a:t>(2D/3D)</a:t>
            </a:r>
          </a:p>
        </p:txBody>
      </p:sp>
      <p:sp>
        <p:nvSpPr>
          <p:cNvPr id="16387" name="Line 3"/>
          <p:cNvSpPr>
            <a:spLocks noChangeShapeType="1"/>
          </p:cNvSpPr>
          <p:nvPr/>
        </p:nvSpPr>
        <p:spPr bwMode="auto">
          <a:xfrm flipV="1">
            <a:off x="1601788" y="3432175"/>
            <a:ext cx="5286375" cy="1452563"/>
          </a:xfrm>
          <a:prstGeom prst="line">
            <a:avLst/>
          </a:prstGeom>
          <a:noFill/>
          <a:ln w="28575">
            <a:solidFill>
              <a:schemeClr val="tx1"/>
            </a:solidFill>
            <a:miter lim="800000"/>
            <a:headEnd/>
            <a:tailEnd/>
          </a:ln>
          <a:effectLst/>
        </p:spPr>
        <p:txBody>
          <a:bodyPr wrap="none"/>
          <a:lstStyle/>
          <a:p>
            <a:endParaRPr lang="zh-CN" altLang="en-US"/>
          </a:p>
        </p:txBody>
      </p:sp>
      <p:sp>
        <p:nvSpPr>
          <p:cNvPr id="16388" name="Oval 4"/>
          <p:cNvSpPr>
            <a:spLocks noChangeArrowheads="1"/>
          </p:cNvSpPr>
          <p:nvPr/>
        </p:nvSpPr>
        <p:spPr bwMode="auto">
          <a:xfrm>
            <a:off x="3506788" y="4246563"/>
            <a:ext cx="174625" cy="17462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6389" name="Line 5"/>
          <p:cNvSpPr>
            <a:spLocks noChangeShapeType="1"/>
          </p:cNvSpPr>
          <p:nvPr/>
        </p:nvSpPr>
        <p:spPr bwMode="auto">
          <a:xfrm flipV="1">
            <a:off x="3695700" y="4008438"/>
            <a:ext cx="1114425" cy="300037"/>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wrap="none"/>
          <a:lstStyle/>
          <a:p>
            <a:endParaRPr lang="zh-CN" altLang="en-US">
              <a:solidFill>
                <a:schemeClr val="tx2">
                  <a:lumMod val="60000"/>
                  <a:lumOff val="40000"/>
                </a:schemeClr>
              </a:solidFill>
            </a:endParaRPr>
          </a:p>
        </p:txBody>
      </p:sp>
      <p:sp>
        <p:nvSpPr>
          <p:cNvPr id="16390" name="Text Box 6"/>
          <p:cNvSpPr txBox="1">
            <a:spLocks noChangeArrowheads="1"/>
          </p:cNvSpPr>
          <p:nvPr/>
        </p:nvSpPr>
        <p:spPr bwMode="auto">
          <a:xfrm>
            <a:off x="3403600" y="4284663"/>
            <a:ext cx="503238" cy="519112"/>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p</a:t>
            </a:r>
            <a:r>
              <a:rPr lang="en-US" altLang="zh-CN" sz="2800" b="1" baseline="-25000">
                <a:latin typeface="Times New Roman" pitchFamily="18" charset="0"/>
                <a:ea typeface="宋体" charset="-122"/>
                <a:cs typeface="Times New Roman" pitchFamily="18" charset="0"/>
              </a:rPr>
              <a:t>0</a:t>
            </a:r>
          </a:p>
        </p:txBody>
      </p:sp>
      <p:sp>
        <p:nvSpPr>
          <p:cNvPr id="16391" name="Text Box 7"/>
          <p:cNvSpPr txBox="1">
            <a:spLocks noChangeArrowheads="1"/>
          </p:cNvSpPr>
          <p:nvPr/>
        </p:nvSpPr>
        <p:spPr bwMode="auto">
          <a:xfrm>
            <a:off x="3967163" y="3684588"/>
            <a:ext cx="341312" cy="519112"/>
          </a:xfrm>
          <a:prstGeom prst="rect">
            <a:avLst/>
          </a:prstGeom>
          <a:noFill/>
          <a:ln w="9525">
            <a:noFill/>
            <a:miter lim="800000"/>
            <a:headEnd/>
            <a:tailEnd/>
          </a:ln>
          <a:effectLst/>
        </p:spPr>
        <p:txBody>
          <a:bodyPr wrap="none">
            <a:spAutoFit/>
          </a:bodyPr>
          <a:lstStyle/>
          <a:p>
            <a:r>
              <a:rPr lang="en-US" altLang="zh-CN" sz="2800" i="1">
                <a:solidFill>
                  <a:schemeClr val="tx2">
                    <a:lumMod val="60000"/>
                    <a:lumOff val="40000"/>
                  </a:schemeClr>
                </a:solidFill>
                <a:latin typeface="Times New Roman" pitchFamily="18" charset="0"/>
                <a:ea typeface="宋体" charset="-122"/>
                <a:cs typeface="Times New Roman" pitchFamily="18" charset="0"/>
              </a:rPr>
              <a:t>v</a:t>
            </a:r>
            <a:endParaRPr lang="en-US" altLang="zh-CN" sz="2800" i="1" baseline="-25000">
              <a:solidFill>
                <a:schemeClr val="tx2">
                  <a:lumMod val="60000"/>
                  <a:lumOff val="40000"/>
                </a:schemeClr>
              </a:solidFill>
              <a:latin typeface="Times New Roman" pitchFamily="18" charset="0"/>
              <a:ea typeface="宋体" charset="-122"/>
              <a:cs typeface="Times New Roman" pitchFamily="18" charset="0"/>
            </a:endParaRPr>
          </a:p>
        </p:txBody>
      </p:sp>
      <p:sp>
        <p:nvSpPr>
          <p:cNvPr id="16392" name="Text Box 8"/>
          <p:cNvSpPr txBox="1">
            <a:spLocks noChangeArrowheads="1"/>
          </p:cNvSpPr>
          <p:nvPr/>
        </p:nvSpPr>
        <p:spPr bwMode="auto">
          <a:xfrm rot="-855678">
            <a:off x="5403850" y="3827463"/>
            <a:ext cx="877888" cy="519112"/>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t &gt; 0</a:t>
            </a:r>
            <a:endParaRPr lang="en-US" altLang="zh-CN" sz="2800" i="1" baseline="-25000">
              <a:latin typeface="Times New Roman" pitchFamily="18" charset="0"/>
              <a:ea typeface="宋体" charset="-122"/>
              <a:cs typeface="Times New Roman" pitchFamily="18" charset="0"/>
            </a:endParaRPr>
          </a:p>
        </p:txBody>
      </p:sp>
      <p:sp>
        <p:nvSpPr>
          <p:cNvPr id="16393" name="Text Box 9"/>
          <p:cNvSpPr txBox="1">
            <a:spLocks noChangeArrowheads="1"/>
          </p:cNvSpPr>
          <p:nvPr/>
        </p:nvSpPr>
        <p:spPr bwMode="auto">
          <a:xfrm rot="-759881">
            <a:off x="1801813" y="4808538"/>
            <a:ext cx="877887" cy="519112"/>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t &lt; 0</a:t>
            </a:r>
            <a:endParaRPr lang="en-US" altLang="zh-CN" sz="2800" i="1" baseline="-25000">
              <a:latin typeface="Times New Roman" pitchFamily="18" charset="0"/>
              <a:ea typeface="宋体" charset="-122"/>
              <a:cs typeface="Times New Roman" pitchFamily="18" charset="0"/>
            </a:endParaRPr>
          </a:p>
        </p:txBody>
      </p:sp>
      <p:sp>
        <p:nvSpPr>
          <p:cNvPr id="16394" name="Text Box 10"/>
          <p:cNvSpPr txBox="1">
            <a:spLocks noChangeArrowheads="1"/>
          </p:cNvSpPr>
          <p:nvPr/>
        </p:nvSpPr>
        <p:spPr bwMode="auto">
          <a:xfrm rot="-855678">
            <a:off x="3382963" y="4740275"/>
            <a:ext cx="877887" cy="519113"/>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t = 0</a:t>
            </a:r>
            <a:endParaRPr lang="en-US" altLang="zh-CN" sz="2800" i="1" baseline="-25000">
              <a:latin typeface="Times New Roman" pitchFamily="18" charset="0"/>
              <a:ea typeface="宋体" charset="-122"/>
              <a:cs typeface="Times New Roman" pitchFamily="18" charset="0"/>
            </a:endParaRPr>
          </a:p>
        </p:txBody>
      </p:sp>
      <p:graphicFrame>
        <p:nvGraphicFramePr>
          <p:cNvPr id="16395" name="Object 11"/>
          <p:cNvGraphicFramePr>
            <a:graphicFrameLocks noChangeAspect="1"/>
          </p:cNvGraphicFramePr>
          <p:nvPr/>
        </p:nvGraphicFramePr>
        <p:xfrm>
          <a:off x="2270125" y="2047875"/>
          <a:ext cx="4664075" cy="635000"/>
        </p:xfrm>
        <a:graphic>
          <a:graphicData uri="http://schemas.openxmlformats.org/presentationml/2006/ole">
            <mc:AlternateContent xmlns:mc="http://schemas.openxmlformats.org/markup-compatibility/2006">
              <mc:Choice xmlns:v="urn:schemas-microsoft-com:vml" Requires="v">
                <p:oleObj spid="_x0000_s6147" name="Equation" r:id="rId3" imgW="1676160" imgH="228600" progId="">
                  <p:embed/>
                </p:oleObj>
              </mc:Choice>
              <mc:Fallback>
                <p:oleObj name="Equation" r:id="rId3" imgW="1676160" imgH="228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125" y="2047875"/>
                        <a:ext cx="4664075"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dirty="0">
                <a:ea typeface="宋体" charset="-122"/>
              </a:rPr>
              <a:t>射线的参数方程</a:t>
            </a:r>
            <a:r>
              <a:rPr lang="en-US" altLang="zh-CN" dirty="0">
                <a:ea typeface="宋体" charset="-122"/>
              </a:rPr>
              <a:t>(2D/3D)</a:t>
            </a:r>
          </a:p>
        </p:txBody>
      </p:sp>
      <p:sp>
        <p:nvSpPr>
          <p:cNvPr id="17411" name="Line 3"/>
          <p:cNvSpPr>
            <a:spLocks noChangeShapeType="1"/>
          </p:cNvSpPr>
          <p:nvPr/>
        </p:nvSpPr>
        <p:spPr bwMode="auto">
          <a:xfrm flipV="1">
            <a:off x="3554413" y="3432175"/>
            <a:ext cx="3333750" cy="909638"/>
          </a:xfrm>
          <a:prstGeom prst="line">
            <a:avLst/>
          </a:prstGeom>
          <a:noFill/>
          <a:ln w="28575">
            <a:solidFill>
              <a:schemeClr val="tx1"/>
            </a:solidFill>
            <a:miter lim="800000"/>
            <a:headEnd/>
            <a:tailEnd type="triangle" w="med" len="med"/>
          </a:ln>
          <a:effectLst/>
        </p:spPr>
        <p:txBody>
          <a:bodyPr wrap="none"/>
          <a:lstStyle/>
          <a:p>
            <a:endParaRPr lang="zh-CN" altLang="en-US"/>
          </a:p>
        </p:txBody>
      </p:sp>
      <p:sp>
        <p:nvSpPr>
          <p:cNvPr id="17412" name="Oval 4"/>
          <p:cNvSpPr>
            <a:spLocks noChangeArrowheads="1"/>
          </p:cNvSpPr>
          <p:nvPr/>
        </p:nvSpPr>
        <p:spPr bwMode="auto">
          <a:xfrm>
            <a:off x="3506788" y="4246563"/>
            <a:ext cx="174625" cy="17462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7413" name="Line 5"/>
          <p:cNvSpPr>
            <a:spLocks noChangeShapeType="1"/>
          </p:cNvSpPr>
          <p:nvPr/>
        </p:nvSpPr>
        <p:spPr bwMode="auto">
          <a:xfrm flipV="1">
            <a:off x="3695700" y="4008438"/>
            <a:ext cx="1114425" cy="300037"/>
          </a:xfrm>
          <a:prstGeom prst="line">
            <a:avLst/>
          </a:prstGeom>
          <a:ln>
            <a:headEnd/>
            <a:tailEnd type="triangle" w="med" len="med"/>
          </a:ln>
        </p:spPr>
        <p:style>
          <a:lnRef idx="3">
            <a:schemeClr val="accent1"/>
          </a:lnRef>
          <a:fillRef idx="0">
            <a:schemeClr val="accent1"/>
          </a:fillRef>
          <a:effectRef idx="2">
            <a:schemeClr val="accent1"/>
          </a:effectRef>
          <a:fontRef idx="minor">
            <a:schemeClr val="tx1"/>
          </a:fontRef>
        </p:style>
        <p:txBody>
          <a:bodyPr wrap="none"/>
          <a:lstStyle/>
          <a:p>
            <a:endParaRPr lang="zh-CN" altLang="en-US"/>
          </a:p>
        </p:txBody>
      </p:sp>
      <p:sp>
        <p:nvSpPr>
          <p:cNvPr id="17414" name="Text Box 6"/>
          <p:cNvSpPr txBox="1">
            <a:spLocks noChangeArrowheads="1"/>
          </p:cNvSpPr>
          <p:nvPr/>
        </p:nvSpPr>
        <p:spPr bwMode="auto">
          <a:xfrm>
            <a:off x="3394075" y="4284663"/>
            <a:ext cx="503238" cy="519112"/>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p</a:t>
            </a:r>
            <a:r>
              <a:rPr lang="en-US" altLang="zh-CN" sz="2800" b="1" baseline="-25000">
                <a:latin typeface="Times New Roman" pitchFamily="18" charset="0"/>
                <a:ea typeface="宋体" charset="-122"/>
                <a:cs typeface="Times New Roman" pitchFamily="18" charset="0"/>
              </a:rPr>
              <a:t>0</a:t>
            </a:r>
          </a:p>
        </p:txBody>
      </p:sp>
      <p:sp>
        <p:nvSpPr>
          <p:cNvPr id="17416" name="Text Box 8"/>
          <p:cNvSpPr txBox="1">
            <a:spLocks noChangeArrowheads="1"/>
          </p:cNvSpPr>
          <p:nvPr/>
        </p:nvSpPr>
        <p:spPr bwMode="auto">
          <a:xfrm rot="-855678">
            <a:off x="4908550" y="3998913"/>
            <a:ext cx="877888" cy="519112"/>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t &gt; 0</a:t>
            </a:r>
            <a:endParaRPr lang="en-US" altLang="zh-CN" sz="2800" i="1" baseline="-25000">
              <a:latin typeface="Times New Roman" pitchFamily="18" charset="0"/>
              <a:ea typeface="宋体" charset="-122"/>
              <a:cs typeface="Times New Roman" pitchFamily="18" charset="0"/>
            </a:endParaRPr>
          </a:p>
        </p:txBody>
      </p:sp>
      <p:sp>
        <p:nvSpPr>
          <p:cNvPr id="17417" name="Text Box 9"/>
          <p:cNvSpPr txBox="1">
            <a:spLocks noChangeArrowheads="1"/>
          </p:cNvSpPr>
          <p:nvPr/>
        </p:nvSpPr>
        <p:spPr bwMode="auto">
          <a:xfrm rot="-855678">
            <a:off x="3382963" y="4740275"/>
            <a:ext cx="877887" cy="519113"/>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t = 0</a:t>
            </a:r>
            <a:endParaRPr lang="en-US" altLang="zh-CN" sz="2800" i="1" baseline="-25000">
              <a:latin typeface="Times New Roman" pitchFamily="18" charset="0"/>
              <a:ea typeface="宋体" charset="-122"/>
              <a:cs typeface="Times New Roman" pitchFamily="18" charset="0"/>
            </a:endParaRPr>
          </a:p>
        </p:txBody>
      </p:sp>
      <p:graphicFrame>
        <p:nvGraphicFramePr>
          <p:cNvPr id="17418" name="Object 10"/>
          <p:cNvGraphicFramePr>
            <a:graphicFrameLocks noChangeAspect="1"/>
          </p:cNvGraphicFramePr>
          <p:nvPr/>
        </p:nvGraphicFramePr>
        <p:xfrm>
          <a:off x="2446338" y="2047875"/>
          <a:ext cx="4310062" cy="635000"/>
        </p:xfrm>
        <a:graphic>
          <a:graphicData uri="http://schemas.openxmlformats.org/presentationml/2006/ole">
            <mc:AlternateContent xmlns:mc="http://schemas.openxmlformats.org/markup-compatibility/2006">
              <mc:Choice xmlns:v="urn:schemas-microsoft-com:vml" Requires="v">
                <p:oleObj spid="_x0000_s7171" name="Equation" r:id="rId3" imgW="1549080" imgH="228600" progId="">
                  <p:embed/>
                </p:oleObj>
              </mc:Choice>
              <mc:Fallback>
                <p:oleObj name="Equation" r:id="rId3" imgW="1549080" imgH="228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6338" y="2047875"/>
                        <a:ext cx="4310062"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7"/>
          <p:cNvSpPr txBox="1">
            <a:spLocks noChangeArrowheads="1"/>
          </p:cNvSpPr>
          <p:nvPr/>
        </p:nvSpPr>
        <p:spPr bwMode="auto">
          <a:xfrm>
            <a:off x="3967163" y="3684588"/>
            <a:ext cx="341312" cy="519112"/>
          </a:xfrm>
          <a:prstGeom prst="rect">
            <a:avLst/>
          </a:prstGeom>
          <a:noFill/>
          <a:ln w="9525">
            <a:noFill/>
            <a:miter lim="800000"/>
            <a:headEnd/>
            <a:tailEnd/>
          </a:ln>
          <a:effectLst/>
        </p:spPr>
        <p:txBody>
          <a:bodyPr wrap="none">
            <a:spAutoFit/>
          </a:bodyPr>
          <a:lstStyle/>
          <a:p>
            <a:r>
              <a:rPr lang="en-US" altLang="zh-CN" sz="2800" i="1">
                <a:solidFill>
                  <a:schemeClr val="tx2">
                    <a:lumMod val="60000"/>
                    <a:lumOff val="40000"/>
                  </a:schemeClr>
                </a:solidFill>
                <a:latin typeface="Times New Roman" pitchFamily="18" charset="0"/>
                <a:ea typeface="宋体" charset="-122"/>
                <a:cs typeface="Times New Roman" pitchFamily="18" charset="0"/>
              </a:rPr>
              <a:t>v</a:t>
            </a:r>
            <a:endParaRPr lang="en-US" altLang="zh-CN" sz="2800" i="1" baseline="-25000">
              <a:solidFill>
                <a:schemeClr val="tx2">
                  <a:lumMod val="60000"/>
                  <a:lumOff val="40000"/>
                </a:schemeClr>
              </a:solidFill>
              <a:latin typeface="Times New Roman" pitchFamily="18" charset="0"/>
              <a:ea typeface="宋体" charset="-122"/>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Grp="1" noChangeAspect="1"/>
          </p:cNvGraphicFramePr>
          <p:nvPr>
            <p:ph sz="half" idx="2"/>
          </p:nvPr>
        </p:nvGraphicFramePr>
        <p:xfrm>
          <a:off x="658813" y="2582863"/>
          <a:ext cx="5741987" cy="2882900"/>
        </p:xfrm>
        <a:graphic>
          <a:graphicData uri="http://schemas.openxmlformats.org/presentationml/2006/ole">
            <mc:AlternateContent xmlns:mc="http://schemas.openxmlformats.org/markup-compatibility/2006">
              <mc:Choice xmlns:v="urn:schemas-microsoft-com:vml" Requires="v">
                <p:oleObj spid="_x0000_s8195" name="Equation" r:id="rId3" imgW="3162240" imgH="1587240" progId="">
                  <p:embed/>
                </p:oleObj>
              </mc:Choice>
              <mc:Fallback>
                <p:oleObj name="Equation" r:id="rId3" imgW="3162240" imgH="15872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13" y="2582863"/>
                        <a:ext cx="5741987" cy="288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9" name="Rectangle 3"/>
          <p:cNvSpPr>
            <a:spLocks noGrp="1" noChangeArrowheads="1"/>
          </p:cNvSpPr>
          <p:nvPr>
            <p:ph type="title"/>
          </p:nvPr>
        </p:nvSpPr>
        <p:spPr/>
        <p:txBody>
          <a:bodyPr/>
          <a:lstStyle/>
          <a:p>
            <a:r>
              <a:rPr lang="zh-CN" altLang="en-US" dirty="0">
                <a:ea typeface="宋体" charset="-122"/>
              </a:rPr>
              <a:t>点到直线的距离</a:t>
            </a:r>
            <a:r>
              <a:rPr lang="en-US" altLang="zh-CN" dirty="0">
                <a:ea typeface="宋体" charset="-122"/>
              </a:rPr>
              <a:t>(</a:t>
            </a:r>
            <a:r>
              <a:rPr lang="zh-CN" altLang="en-US" dirty="0">
                <a:ea typeface="宋体" charset="-122"/>
              </a:rPr>
              <a:t>代数推导</a:t>
            </a:r>
            <a:r>
              <a:rPr lang="en-US" altLang="zh-CN" dirty="0">
                <a:ea typeface="宋体" charset="-122"/>
              </a:rPr>
              <a:t>,2D/3D)</a:t>
            </a:r>
          </a:p>
        </p:txBody>
      </p:sp>
      <p:sp>
        <p:nvSpPr>
          <p:cNvPr id="19460" name="Rectangle 4"/>
          <p:cNvSpPr>
            <a:spLocks noGrp="1" noChangeArrowheads="1"/>
          </p:cNvSpPr>
          <p:nvPr>
            <p:ph type="body" sz="half" idx="1"/>
          </p:nvPr>
        </p:nvSpPr>
        <p:spPr>
          <a:xfrm>
            <a:off x="476250" y="1676400"/>
            <a:ext cx="4591050" cy="752475"/>
          </a:xfrm>
        </p:spPr>
        <p:txBody>
          <a:bodyPr/>
          <a:lstStyle/>
          <a:p>
            <a:pPr>
              <a:lnSpc>
                <a:spcPct val="90000"/>
              </a:lnSpc>
              <a:buFont typeface="Wingdings" pitchFamily="2" charset="2"/>
              <a:buNone/>
            </a:pPr>
            <a:r>
              <a:rPr lang="zh-CN" altLang="en-US" sz="2000" dirty="0">
                <a:ea typeface="宋体" charset="-122"/>
              </a:rPr>
              <a:t>设</a:t>
            </a:r>
            <a:r>
              <a:rPr lang="en-US" altLang="zh-CN" sz="2000" b="1" dirty="0">
                <a:latin typeface="Times New Roman" pitchFamily="18" charset="0"/>
                <a:ea typeface="宋体" charset="-122"/>
                <a:cs typeface="Times New Roman" pitchFamily="18" charset="0"/>
              </a:rPr>
              <a:t>q’</a:t>
            </a:r>
            <a:r>
              <a:rPr lang="en-US" altLang="zh-CN" sz="2000" dirty="0">
                <a:ea typeface="宋体" charset="-122"/>
              </a:rPr>
              <a:t> </a:t>
            </a:r>
            <a:r>
              <a:rPr lang="zh-CN" altLang="en-US" sz="2000" dirty="0">
                <a:ea typeface="宋体" charset="-122"/>
              </a:rPr>
              <a:t>满足</a:t>
            </a:r>
            <a:r>
              <a:rPr lang="en-US" altLang="zh-CN" sz="2000" dirty="0">
                <a:ea typeface="宋体" charset="-122"/>
              </a:rPr>
              <a:t> </a:t>
            </a:r>
            <a:r>
              <a:rPr lang="en-US" altLang="zh-CN" sz="2000" dirty="0">
                <a:latin typeface="Times New Roman" pitchFamily="18" charset="0"/>
                <a:ea typeface="宋体" charset="-122"/>
              </a:rPr>
              <a:t>(</a:t>
            </a:r>
            <a:r>
              <a:rPr lang="en-US" altLang="zh-CN" sz="2000" b="1" dirty="0">
                <a:latin typeface="Times New Roman" pitchFamily="18" charset="0"/>
                <a:ea typeface="宋体" charset="-122"/>
              </a:rPr>
              <a:t>q</a:t>
            </a:r>
            <a:r>
              <a:rPr lang="en-US" altLang="zh-CN" sz="2000" dirty="0">
                <a:latin typeface="Times New Roman" pitchFamily="18" charset="0"/>
                <a:ea typeface="宋体" charset="-122"/>
              </a:rPr>
              <a:t> </a:t>
            </a:r>
            <a:r>
              <a:rPr lang="en-US" altLang="zh-CN" sz="2000" dirty="0">
                <a:latin typeface="Times New Roman" pitchFamily="18" charset="0"/>
                <a:ea typeface="宋体" charset="-122"/>
                <a:sym typeface="Symbol" pitchFamily="18" charset="2"/>
              </a:rPr>
              <a:t> </a:t>
            </a:r>
            <a:r>
              <a:rPr lang="en-US" altLang="zh-CN" sz="2000" b="1" dirty="0">
                <a:latin typeface="Times New Roman" pitchFamily="18" charset="0"/>
                <a:ea typeface="宋体" charset="-122"/>
              </a:rPr>
              <a:t>q</a:t>
            </a:r>
            <a:r>
              <a:rPr lang="en-US" altLang="zh-CN" sz="2000" b="1" dirty="0">
                <a:latin typeface="Times New Roman" pitchFamily="18" charset="0"/>
                <a:ea typeface="宋体" charset="-122"/>
                <a:sym typeface="Symbol" pitchFamily="18" charset="2"/>
              </a:rPr>
              <a:t>’</a:t>
            </a:r>
            <a:r>
              <a:rPr lang="en-US" altLang="zh-CN" sz="2000" dirty="0">
                <a:latin typeface="Times New Roman" pitchFamily="18" charset="0"/>
                <a:ea typeface="宋体" charset="-122"/>
              </a:rPr>
              <a:t>)</a:t>
            </a:r>
            <a:r>
              <a:rPr lang="en-US" altLang="zh-CN" sz="2000" dirty="0">
                <a:latin typeface="Times New Roman" pitchFamily="18" charset="0"/>
                <a:ea typeface="宋体" charset="-122"/>
                <a:sym typeface="Symbol" pitchFamily="18" charset="2"/>
              </a:rPr>
              <a:t></a:t>
            </a:r>
            <a:r>
              <a:rPr lang="en-US" altLang="zh-CN" sz="2000" b="1" dirty="0">
                <a:latin typeface="Times New Roman" pitchFamily="18" charset="0"/>
                <a:ea typeface="宋体" charset="-122"/>
                <a:sym typeface="Symbol" pitchFamily="18" charset="2"/>
              </a:rPr>
              <a:t>v</a:t>
            </a:r>
            <a:r>
              <a:rPr lang="zh-CN" altLang="en-US" sz="2000" dirty="0">
                <a:latin typeface="Times New Roman" pitchFamily="18" charset="0"/>
                <a:ea typeface="宋体" charset="-122"/>
                <a:sym typeface="Symbol" pitchFamily="18" charset="2"/>
              </a:rPr>
              <a:t>，则</a:t>
            </a:r>
            <a:endParaRPr lang="en-US" altLang="zh-CN" sz="2000" dirty="0">
              <a:latin typeface="Times New Roman" pitchFamily="18" charset="0"/>
              <a:ea typeface="宋体" charset="-122"/>
              <a:sym typeface="Symbol" pitchFamily="18" charset="2"/>
            </a:endParaRPr>
          </a:p>
          <a:p>
            <a:pPr>
              <a:lnSpc>
                <a:spcPct val="90000"/>
              </a:lnSpc>
              <a:buFont typeface="Wingdings" pitchFamily="2" charset="2"/>
              <a:buNone/>
            </a:pPr>
            <a:r>
              <a:rPr lang="en-US" altLang="zh-CN" sz="2000" b="1" dirty="0">
                <a:latin typeface="Times New Roman" pitchFamily="18" charset="0"/>
                <a:ea typeface="宋体" charset="-122"/>
                <a:sym typeface="Symbol" pitchFamily="18" charset="2"/>
              </a:rPr>
              <a:t>dist(</a:t>
            </a:r>
            <a:r>
              <a:rPr lang="en-US" altLang="zh-CN" sz="2000" b="1" dirty="0">
                <a:latin typeface="Times New Roman" pitchFamily="18" charset="0"/>
                <a:ea typeface="宋体" charset="-122"/>
              </a:rPr>
              <a:t>q</a:t>
            </a:r>
            <a:r>
              <a:rPr lang="en-US" altLang="zh-CN" sz="2000" b="1" i="1" dirty="0">
                <a:latin typeface="Times New Roman" pitchFamily="18" charset="0"/>
                <a:ea typeface="宋体" charset="-122"/>
                <a:sym typeface="Symbol" pitchFamily="18" charset="2"/>
              </a:rPr>
              <a:t>, l</a:t>
            </a:r>
            <a:r>
              <a:rPr lang="en-US" altLang="zh-CN" sz="2000" b="1" dirty="0">
                <a:latin typeface="Times New Roman" pitchFamily="18" charset="0"/>
                <a:ea typeface="宋体" charset="-122"/>
                <a:sym typeface="Symbol" pitchFamily="18" charset="2"/>
              </a:rPr>
              <a:t>)</a:t>
            </a:r>
            <a:r>
              <a:rPr lang="en-US" altLang="zh-CN" sz="2000" b="1" i="1" dirty="0">
                <a:latin typeface="Times New Roman" pitchFamily="18" charset="0"/>
                <a:ea typeface="宋体" charset="-122"/>
                <a:sym typeface="Symbol" pitchFamily="18" charset="2"/>
              </a:rPr>
              <a:t>  =  || </a:t>
            </a:r>
            <a:r>
              <a:rPr lang="en-US" altLang="zh-CN" sz="2000" b="1" dirty="0">
                <a:latin typeface="Times New Roman" pitchFamily="18" charset="0"/>
                <a:ea typeface="宋体" charset="-122"/>
              </a:rPr>
              <a:t>q</a:t>
            </a:r>
            <a:r>
              <a:rPr lang="en-US" altLang="zh-CN" sz="2000" b="1" i="1" dirty="0">
                <a:latin typeface="Times New Roman" pitchFamily="18" charset="0"/>
                <a:ea typeface="宋体" charset="-122"/>
                <a:sym typeface="Symbol" pitchFamily="18" charset="2"/>
              </a:rPr>
              <a:t>  </a:t>
            </a:r>
            <a:r>
              <a:rPr lang="en-US" altLang="zh-CN" sz="2000" b="1" dirty="0">
                <a:latin typeface="Times New Roman" pitchFamily="18" charset="0"/>
                <a:ea typeface="宋体" charset="-122"/>
              </a:rPr>
              <a:t>q</a:t>
            </a:r>
            <a:r>
              <a:rPr lang="en-US" altLang="zh-CN" sz="2000" b="1" dirty="0">
                <a:latin typeface="Times New Roman" pitchFamily="18" charset="0"/>
                <a:ea typeface="宋体" charset="-122"/>
                <a:sym typeface="Symbol" pitchFamily="18" charset="2"/>
              </a:rPr>
              <a:t>’</a:t>
            </a:r>
            <a:r>
              <a:rPr lang="en-US" altLang="zh-CN" sz="2000" b="1" i="1" dirty="0">
                <a:latin typeface="Times New Roman" pitchFamily="18" charset="0"/>
                <a:ea typeface="宋体" charset="-122"/>
              </a:rPr>
              <a:t> ||</a:t>
            </a:r>
          </a:p>
        </p:txBody>
      </p:sp>
      <p:grpSp>
        <p:nvGrpSpPr>
          <p:cNvPr id="2" name="Group 5"/>
          <p:cNvGrpSpPr>
            <a:grpSpLocks/>
          </p:cNvGrpSpPr>
          <p:nvPr/>
        </p:nvGrpSpPr>
        <p:grpSpPr bwMode="auto">
          <a:xfrm>
            <a:off x="4478338" y="1385888"/>
            <a:ext cx="4203700" cy="2493962"/>
            <a:chOff x="2821" y="873"/>
            <a:chExt cx="2648" cy="1571"/>
          </a:xfrm>
        </p:grpSpPr>
        <p:sp>
          <p:nvSpPr>
            <p:cNvPr id="19462" name="Text Box 6"/>
            <p:cNvSpPr txBox="1">
              <a:spLocks noChangeArrowheads="1"/>
            </p:cNvSpPr>
            <p:nvPr/>
          </p:nvSpPr>
          <p:spPr bwMode="auto">
            <a:xfrm>
              <a:off x="3272" y="2117"/>
              <a:ext cx="317" cy="327"/>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p</a:t>
              </a:r>
              <a:r>
                <a:rPr lang="en-US" altLang="zh-CN" sz="2800" b="1" baseline="-25000">
                  <a:latin typeface="Times New Roman" pitchFamily="18" charset="0"/>
                  <a:ea typeface="宋体" charset="-122"/>
                  <a:cs typeface="Times New Roman" pitchFamily="18" charset="0"/>
                </a:rPr>
                <a:t>0</a:t>
              </a:r>
            </a:p>
          </p:txBody>
        </p:sp>
        <p:sp>
          <p:nvSpPr>
            <p:cNvPr id="19463" name="Line 7"/>
            <p:cNvSpPr>
              <a:spLocks noChangeShapeType="1"/>
            </p:cNvSpPr>
            <p:nvPr/>
          </p:nvSpPr>
          <p:spPr bwMode="auto">
            <a:xfrm flipV="1">
              <a:off x="2821" y="1538"/>
              <a:ext cx="2634" cy="723"/>
            </a:xfrm>
            <a:prstGeom prst="line">
              <a:avLst/>
            </a:prstGeom>
            <a:noFill/>
            <a:ln w="28575">
              <a:solidFill>
                <a:schemeClr val="tx1"/>
              </a:solidFill>
              <a:miter lim="800000"/>
              <a:headEnd/>
              <a:tailEnd/>
            </a:ln>
            <a:effectLst/>
          </p:spPr>
          <p:txBody>
            <a:bodyPr wrap="none"/>
            <a:lstStyle/>
            <a:p>
              <a:endParaRPr lang="zh-CN" altLang="en-US"/>
            </a:p>
          </p:txBody>
        </p:sp>
        <p:sp>
          <p:nvSpPr>
            <p:cNvPr id="19464" name="Oval 8"/>
            <p:cNvSpPr>
              <a:spLocks noChangeArrowheads="1"/>
            </p:cNvSpPr>
            <p:nvPr/>
          </p:nvSpPr>
          <p:spPr bwMode="auto">
            <a:xfrm>
              <a:off x="3325" y="2051"/>
              <a:ext cx="110" cy="11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19465" name="Line 9"/>
            <p:cNvSpPr>
              <a:spLocks noChangeShapeType="1"/>
            </p:cNvSpPr>
            <p:nvPr/>
          </p:nvSpPr>
          <p:spPr bwMode="auto">
            <a:xfrm flipV="1">
              <a:off x="3444" y="1901"/>
              <a:ext cx="702" cy="189"/>
            </a:xfrm>
            <a:prstGeom prst="line">
              <a:avLst/>
            </a:prstGeom>
            <a:noFill/>
            <a:ln w="57150">
              <a:solidFill>
                <a:schemeClr val="bg2"/>
              </a:solidFill>
              <a:miter lim="800000"/>
              <a:headEnd/>
              <a:tailEnd type="triangle" w="med" len="med"/>
            </a:ln>
            <a:effectLst/>
          </p:spPr>
          <p:txBody>
            <a:bodyPr wrap="none"/>
            <a:lstStyle/>
            <a:p>
              <a:endParaRPr lang="zh-CN" altLang="en-US"/>
            </a:p>
          </p:txBody>
        </p:sp>
        <p:sp>
          <p:nvSpPr>
            <p:cNvPr id="19466" name="Text Box 10"/>
            <p:cNvSpPr txBox="1">
              <a:spLocks noChangeArrowheads="1"/>
            </p:cNvSpPr>
            <p:nvPr/>
          </p:nvSpPr>
          <p:spPr bwMode="auto">
            <a:xfrm>
              <a:off x="3615" y="1697"/>
              <a:ext cx="228" cy="327"/>
            </a:xfrm>
            <a:prstGeom prst="rect">
              <a:avLst/>
            </a:prstGeom>
            <a:noFill/>
            <a:ln w="9525">
              <a:noFill/>
              <a:miter lim="800000"/>
              <a:headEnd/>
              <a:tailEnd/>
            </a:ln>
            <a:effectLst/>
          </p:spPr>
          <p:txBody>
            <a:bodyPr wrap="none">
              <a:spAutoFit/>
            </a:bodyPr>
            <a:lstStyle/>
            <a:p>
              <a:r>
                <a:rPr lang="en-US" altLang="zh-CN" sz="2800" b="1" dirty="0">
                  <a:solidFill>
                    <a:schemeClr val="tx2">
                      <a:lumMod val="60000"/>
                      <a:lumOff val="40000"/>
                    </a:schemeClr>
                  </a:solidFill>
                  <a:latin typeface="Times New Roman" pitchFamily="18" charset="0"/>
                  <a:ea typeface="宋体" charset="-122"/>
                  <a:cs typeface="Times New Roman" pitchFamily="18" charset="0"/>
                </a:rPr>
                <a:t>v</a:t>
              </a:r>
              <a:endParaRPr lang="en-US" altLang="zh-CN" sz="2800" b="1" baseline="-25000" dirty="0">
                <a:solidFill>
                  <a:schemeClr val="tx2">
                    <a:lumMod val="60000"/>
                    <a:lumOff val="40000"/>
                  </a:schemeClr>
                </a:solidFill>
                <a:latin typeface="Times New Roman" pitchFamily="18" charset="0"/>
                <a:ea typeface="宋体" charset="-122"/>
                <a:cs typeface="Times New Roman" pitchFamily="18" charset="0"/>
              </a:endParaRPr>
            </a:p>
          </p:txBody>
        </p:sp>
        <p:sp>
          <p:nvSpPr>
            <p:cNvPr id="19467" name="Oval 11"/>
            <p:cNvSpPr>
              <a:spLocks noChangeArrowheads="1"/>
            </p:cNvSpPr>
            <p:nvPr/>
          </p:nvSpPr>
          <p:spPr bwMode="auto">
            <a:xfrm>
              <a:off x="4199" y="1065"/>
              <a:ext cx="110" cy="110"/>
            </a:xfrm>
            <a:prstGeom prst="ellipse">
              <a:avLst/>
            </a:prstGeom>
            <a:solidFill>
              <a:schemeClr val="accent2"/>
            </a:solidFill>
            <a:ln w="9525">
              <a:solidFill>
                <a:schemeClr val="tx1"/>
              </a:solidFill>
              <a:miter lim="800000"/>
              <a:headEnd/>
              <a:tailEnd/>
            </a:ln>
            <a:effectLst/>
          </p:spPr>
          <p:txBody>
            <a:bodyPr wrap="none" anchor="ctr"/>
            <a:lstStyle/>
            <a:p>
              <a:endParaRPr lang="zh-CN" altLang="en-US"/>
            </a:p>
          </p:txBody>
        </p:sp>
        <p:sp>
          <p:nvSpPr>
            <p:cNvPr id="19468" name="Text Box 12"/>
            <p:cNvSpPr txBox="1">
              <a:spLocks noChangeArrowheads="1"/>
            </p:cNvSpPr>
            <p:nvPr/>
          </p:nvSpPr>
          <p:spPr bwMode="auto">
            <a:xfrm>
              <a:off x="4326" y="873"/>
              <a:ext cx="241" cy="327"/>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q</a:t>
              </a:r>
              <a:endParaRPr lang="en-US" altLang="zh-CN" sz="2800" b="1" baseline="-25000">
                <a:latin typeface="Times New Roman" pitchFamily="18" charset="0"/>
                <a:ea typeface="宋体" charset="-122"/>
                <a:cs typeface="Times New Roman" pitchFamily="18" charset="0"/>
              </a:endParaRPr>
            </a:p>
          </p:txBody>
        </p:sp>
        <p:sp>
          <p:nvSpPr>
            <p:cNvPr id="19469" name="Line 13"/>
            <p:cNvSpPr>
              <a:spLocks noChangeShapeType="1"/>
            </p:cNvSpPr>
            <p:nvPr/>
          </p:nvSpPr>
          <p:spPr bwMode="auto">
            <a:xfrm>
              <a:off x="4278" y="1170"/>
              <a:ext cx="168" cy="648"/>
            </a:xfrm>
            <a:prstGeom prst="line">
              <a:avLst/>
            </a:prstGeom>
            <a:noFill/>
            <a:ln w="9525">
              <a:solidFill>
                <a:schemeClr val="tx1"/>
              </a:solidFill>
              <a:miter lim="800000"/>
              <a:headEnd/>
              <a:tailEnd/>
            </a:ln>
            <a:effectLst/>
          </p:spPr>
          <p:txBody>
            <a:bodyPr wrap="none"/>
            <a:lstStyle/>
            <a:p>
              <a:endParaRPr lang="zh-CN" altLang="en-US"/>
            </a:p>
          </p:txBody>
        </p:sp>
        <p:sp>
          <p:nvSpPr>
            <p:cNvPr id="19470" name="Oval 14"/>
            <p:cNvSpPr>
              <a:spLocks noChangeArrowheads="1"/>
            </p:cNvSpPr>
            <p:nvPr/>
          </p:nvSpPr>
          <p:spPr bwMode="auto">
            <a:xfrm>
              <a:off x="4395" y="1771"/>
              <a:ext cx="110" cy="110"/>
            </a:xfrm>
            <a:prstGeom prst="ellipse">
              <a:avLst/>
            </a:prstGeom>
            <a:solidFill>
              <a:schemeClr val="folHlink"/>
            </a:solidFill>
            <a:ln w="9525">
              <a:solidFill>
                <a:schemeClr val="tx1"/>
              </a:solidFill>
              <a:miter lim="800000"/>
              <a:headEnd/>
              <a:tailEnd/>
            </a:ln>
            <a:effectLst/>
          </p:spPr>
          <p:txBody>
            <a:bodyPr wrap="none" anchor="ctr"/>
            <a:lstStyle/>
            <a:p>
              <a:endParaRPr lang="zh-CN" altLang="en-US"/>
            </a:p>
          </p:txBody>
        </p:sp>
        <p:sp>
          <p:nvSpPr>
            <p:cNvPr id="19471" name="Freeform 15"/>
            <p:cNvSpPr>
              <a:spLocks/>
            </p:cNvSpPr>
            <p:nvPr/>
          </p:nvSpPr>
          <p:spPr bwMode="auto">
            <a:xfrm>
              <a:off x="4404" y="1620"/>
              <a:ext cx="186" cy="150"/>
            </a:xfrm>
            <a:custGeom>
              <a:avLst/>
              <a:gdLst/>
              <a:ahLst/>
              <a:cxnLst>
                <a:cxn ang="0">
                  <a:pos x="0" y="48"/>
                </a:cxn>
                <a:cxn ang="0">
                  <a:pos x="150" y="0"/>
                </a:cxn>
                <a:cxn ang="0">
                  <a:pos x="186" y="150"/>
                </a:cxn>
              </a:cxnLst>
              <a:rect l="0" t="0" r="r" b="b"/>
              <a:pathLst>
                <a:path w="186" h="150">
                  <a:moveTo>
                    <a:pt x="0" y="48"/>
                  </a:moveTo>
                  <a:lnTo>
                    <a:pt x="150" y="0"/>
                  </a:lnTo>
                  <a:lnTo>
                    <a:pt x="186" y="150"/>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19472" name="Text Box 16"/>
            <p:cNvSpPr txBox="1">
              <a:spLocks noChangeArrowheads="1"/>
            </p:cNvSpPr>
            <p:nvPr/>
          </p:nvSpPr>
          <p:spPr bwMode="auto">
            <a:xfrm>
              <a:off x="4326" y="1887"/>
              <a:ext cx="1143" cy="327"/>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q</a:t>
              </a:r>
              <a:r>
                <a:rPr lang="en-US" altLang="zh-CN" sz="2800">
                  <a:latin typeface="Times New Roman" pitchFamily="18" charset="0"/>
                  <a:ea typeface="宋体" charset="-122"/>
                  <a:cs typeface="Times New Roman" pitchFamily="18" charset="0"/>
                </a:rPr>
                <a:t>’</a:t>
              </a:r>
              <a:r>
                <a:rPr lang="en-US" altLang="zh-CN" sz="2800" i="1">
                  <a:latin typeface="Times New Roman" pitchFamily="18" charset="0"/>
                  <a:ea typeface="宋体" charset="-122"/>
                  <a:cs typeface="Times New Roman" pitchFamily="18" charset="0"/>
                </a:rPr>
                <a:t> = </a:t>
              </a:r>
              <a:r>
                <a:rPr lang="en-US" altLang="zh-CN" sz="2800" b="1">
                  <a:latin typeface="Times New Roman" pitchFamily="18" charset="0"/>
                  <a:ea typeface="宋体" charset="-122"/>
                  <a:cs typeface="Times New Roman" pitchFamily="18" charset="0"/>
                </a:rPr>
                <a:t>p</a:t>
              </a:r>
              <a:r>
                <a:rPr lang="en-US" altLang="zh-CN" sz="2800" b="1" baseline="-25000">
                  <a:latin typeface="Times New Roman" pitchFamily="18" charset="0"/>
                  <a:ea typeface="宋体" charset="-122"/>
                  <a:cs typeface="Times New Roman" pitchFamily="18" charset="0"/>
                </a:rPr>
                <a:t>0</a:t>
              </a:r>
              <a:r>
                <a:rPr lang="en-US" altLang="zh-CN" sz="2800" i="1" baseline="-25000">
                  <a:latin typeface="Times New Roman" pitchFamily="18" charset="0"/>
                  <a:ea typeface="宋体" charset="-122"/>
                  <a:cs typeface="Times New Roman" pitchFamily="18" charset="0"/>
                </a:rPr>
                <a:t> </a:t>
              </a:r>
              <a:r>
                <a:rPr lang="en-US" altLang="zh-CN" sz="2800" i="1">
                  <a:latin typeface="Times New Roman" pitchFamily="18" charset="0"/>
                  <a:ea typeface="宋体" charset="-122"/>
                  <a:cs typeface="Times New Roman" pitchFamily="18" charset="0"/>
                </a:rPr>
                <a:t>+t</a:t>
              </a:r>
              <a:r>
                <a:rPr lang="en-US" altLang="zh-CN" sz="2800" b="1">
                  <a:latin typeface="Times New Roman" pitchFamily="18" charset="0"/>
                  <a:ea typeface="宋体" charset="-122"/>
                  <a:cs typeface="Times New Roman" pitchFamily="18" charset="0"/>
                </a:rPr>
                <a:t>v</a:t>
              </a:r>
            </a:p>
          </p:txBody>
        </p:sp>
      </p:grpSp>
      <p:sp>
        <p:nvSpPr>
          <p:cNvPr id="19473" name="Text Box 17"/>
          <p:cNvSpPr txBox="1">
            <a:spLocks noChangeArrowheads="1"/>
          </p:cNvSpPr>
          <p:nvPr/>
        </p:nvSpPr>
        <p:spPr bwMode="auto">
          <a:xfrm>
            <a:off x="8251825" y="2047875"/>
            <a:ext cx="282575" cy="519113"/>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l</a:t>
            </a:r>
          </a:p>
        </p:txBody>
      </p:sp>
      <p:sp>
        <p:nvSpPr>
          <p:cNvPr id="19474" name="Rectangle 18"/>
          <p:cNvSpPr>
            <a:spLocks noChangeArrowheads="1"/>
          </p:cNvSpPr>
          <p:nvPr/>
        </p:nvSpPr>
        <p:spPr bwMode="auto">
          <a:xfrm>
            <a:off x="504825" y="4676775"/>
            <a:ext cx="6048375" cy="828675"/>
          </a:xfrm>
          <a:prstGeom prst="rect">
            <a:avLst/>
          </a:prstGeom>
          <a:noFill/>
          <a:ln w="9525">
            <a:solidFill>
              <a:schemeClr val="tx1"/>
            </a:solidFill>
            <a:miter lim="800000"/>
            <a:headEnd/>
            <a:tailEnd/>
          </a:ln>
          <a:effectLst/>
        </p:spPr>
        <p:txBody>
          <a:bodyPr wrap="none" anchor="ct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Line 2"/>
          <p:cNvSpPr>
            <a:spLocks noChangeShapeType="1"/>
          </p:cNvSpPr>
          <p:nvPr/>
        </p:nvSpPr>
        <p:spPr bwMode="auto">
          <a:xfrm flipV="1">
            <a:off x="5372100" y="1838325"/>
            <a:ext cx="1304925" cy="146685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20483" name="Rectangle 3"/>
          <p:cNvSpPr>
            <a:spLocks noGrp="1" noChangeArrowheads="1"/>
          </p:cNvSpPr>
          <p:nvPr>
            <p:ph type="title"/>
          </p:nvPr>
        </p:nvSpPr>
        <p:spPr/>
        <p:txBody>
          <a:bodyPr/>
          <a:lstStyle/>
          <a:p>
            <a:r>
              <a:rPr lang="zh-CN" altLang="en-US" dirty="0">
                <a:ea typeface="宋体" charset="-122"/>
              </a:rPr>
              <a:t>点到直线的距离</a:t>
            </a:r>
            <a:r>
              <a:rPr lang="en-US" altLang="zh-CN" dirty="0">
                <a:ea typeface="宋体" charset="-122"/>
              </a:rPr>
              <a:t>(</a:t>
            </a:r>
            <a:r>
              <a:rPr lang="zh-CN" altLang="en-US" dirty="0">
                <a:ea typeface="宋体" charset="-122"/>
              </a:rPr>
              <a:t>几何推导</a:t>
            </a:r>
            <a:r>
              <a:rPr lang="en-US" altLang="zh-CN" dirty="0">
                <a:ea typeface="宋体" charset="-122"/>
              </a:rPr>
              <a:t>,2D/3D)</a:t>
            </a:r>
          </a:p>
        </p:txBody>
      </p:sp>
      <p:sp>
        <p:nvSpPr>
          <p:cNvPr id="20484" name="Text Box 4"/>
          <p:cNvSpPr txBox="1">
            <a:spLocks noChangeArrowheads="1"/>
          </p:cNvSpPr>
          <p:nvPr/>
        </p:nvSpPr>
        <p:spPr bwMode="auto">
          <a:xfrm>
            <a:off x="5194300" y="3360738"/>
            <a:ext cx="503238" cy="519112"/>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p</a:t>
            </a:r>
            <a:r>
              <a:rPr lang="en-US" altLang="zh-CN" sz="2800" b="1" baseline="-25000">
                <a:latin typeface="Times New Roman" pitchFamily="18" charset="0"/>
                <a:ea typeface="宋体" charset="-122"/>
                <a:cs typeface="Times New Roman" pitchFamily="18" charset="0"/>
              </a:rPr>
              <a:t>0</a:t>
            </a:r>
          </a:p>
        </p:txBody>
      </p:sp>
      <p:sp>
        <p:nvSpPr>
          <p:cNvPr id="20485" name="Line 5"/>
          <p:cNvSpPr>
            <a:spLocks noChangeShapeType="1"/>
          </p:cNvSpPr>
          <p:nvPr/>
        </p:nvSpPr>
        <p:spPr bwMode="auto">
          <a:xfrm flipV="1">
            <a:off x="4478338" y="2441575"/>
            <a:ext cx="4181475" cy="1147763"/>
          </a:xfrm>
          <a:prstGeom prst="line">
            <a:avLst/>
          </a:prstGeom>
          <a:noFill/>
          <a:ln w="28575">
            <a:solidFill>
              <a:schemeClr val="tx1"/>
            </a:solidFill>
            <a:miter lim="800000"/>
            <a:headEnd/>
            <a:tailEnd/>
          </a:ln>
          <a:effectLst/>
        </p:spPr>
        <p:txBody>
          <a:bodyPr wrap="none"/>
          <a:lstStyle/>
          <a:p>
            <a:endParaRPr lang="zh-CN" altLang="en-US"/>
          </a:p>
        </p:txBody>
      </p:sp>
      <p:sp>
        <p:nvSpPr>
          <p:cNvPr id="20486" name="Oval 6"/>
          <p:cNvSpPr>
            <a:spLocks noChangeArrowheads="1"/>
          </p:cNvSpPr>
          <p:nvPr/>
        </p:nvSpPr>
        <p:spPr bwMode="auto">
          <a:xfrm>
            <a:off x="5278438" y="3255963"/>
            <a:ext cx="174625" cy="17462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0487" name="Line 7"/>
          <p:cNvSpPr>
            <a:spLocks noChangeShapeType="1"/>
          </p:cNvSpPr>
          <p:nvPr/>
        </p:nvSpPr>
        <p:spPr bwMode="auto">
          <a:xfrm flipV="1">
            <a:off x="5467350" y="3017838"/>
            <a:ext cx="1114425" cy="300037"/>
          </a:xfrm>
          <a:prstGeom prst="line">
            <a:avLst/>
          </a:prstGeom>
          <a:noFill/>
          <a:ln w="57150">
            <a:solidFill>
              <a:schemeClr val="bg2"/>
            </a:solidFill>
            <a:miter lim="800000"/>
            <a:headEnd/>
            <a:tailEnd type="triangle" w="med" len="med"/>
          </a:ln>
          <a:effectLst/>
        </p:spPr>
        <p:txBody>
          <a:bodyPr wrap="none"/>
          <a:lstStyle/>
          <a:p>
            <a:endParaRPr lang="zh-CN" altLang="en-US"/>
          </a:p>
        </p:txBody>
      </p:sp>
      <p:sp>
        <p:nvSpPr>
          <p:cNvPr id="20488" name="Text Box 8"/>
          <p:cNvSpPr txBox="1">
            <a:spLocks noChangeArrowheads="1"/>
          </p:cNvSpPr>
          <p:nvPr/>
        </p:nvSpPr>
        <p:spPr bwMode="auto">
          <a:xfrm>
            <a:off x="5738813" y="2693988"/>
            <a:ext cx="361950" cy="519112"/>
          </a:xfrm>
          <a:prstGeom prst="rect">
            <a:avLst/>
          </a:prstGeom>
          <a:noFill/>
          <a:ln w="9525">
            <a:noFill/>
            <a:miter lim="800000"/>
            <a:headEnd/>
            <a:tailEnd/>
          </a:ln>
          <a:effectLst/>
        </p:spPr>
        <p:txBody>
          <a:bodyPr wrap="none">
            <a:spAutoFit/>
          </a:bodyPr>
          <a:lstStyle/>
          <a:p>
            <a:r>
              <a:rPr lang="en-US" altLang="zh-CN" sz="2800" b="1" dirty="0">
                <a:solidFill>
                  <a:schemeClr val="tx2">
                    <a:lumMod val="60000"/>
                    <a:lumOff val="40000"/>
                  </a:schemeClr>
                </a:solidFill>
                <a:latin typeface="Times New Roman" pitchFamily="18" charset="0"/>
                <a:ea typeface="宋体" charset="-122"/>
                <a:cs typeface="Times New Roman" pitchFamily="18" charset="0"/>
              </a:rPr>
              <a:t>v</a:t>
            </a:r>
            <a:endParaRPr lang="en-US" altLang="zh-CN" sz="2800" b="1" baseline="-25000" dirty="0">
              <a:solidFill>
                <a:schemeClr val="tx2">
                  <a:lumMod val="60000"/>
                  <a:lumOff val="40000"/>
                </a:schemeClr>
              </a:solidFill>
              <a:latin typeface="Times New Roman" pitchFamily="18" charset="0"/>
              <a:ea typeface="宋体" charset="-122"/>
              <a:cs typeface="Times New Roman" pitchFamily="18" charset="0"/>
            </a:endParaRPr>
          </a:p>
        </p:txBody>
      </p:sp>
      <p:sp>
        <p:nvSpPr>
          <p:cNvPr id="20489" name="Oval 9"/>
          <p:cNvSpPr>
            <a:spLocks noChangeArrowheads="1"/>
          </p:cNvSpPr>
          <p:nvPr/>
        </p:nvSpPr>
        <p:spPr bwMode="auto">
          <a:xfrm>
            <a:off x="6665913" y="1690688"/>
            <a:ext cx="174625" cy="174625"/>
          </a:xfrm>
          <a:prstGeom prst="ellipse">
            <a:avLst/>
          </a:prstGeom>
          <a:solidFill>
            <a:schemeClr val="accent2"/>
          </a:solidFill>
          <a:ln w="9525">
            <a:solidFill>
              <a:schemeClr val="tx1"/>
            </a:solidFill>
            <a:miter lim="800000"/>
            <a:headEnd/>
            <a:tailEnd/>
          </a:ln>
          <a:effectLst/>
        </p:spPr>
        <p:txBody>
          <a:bodyPr wrap="none" anchor="ctr"/>
          <a:lstStyle/>
          <a:p>
            <a:endParaRPr lang="zh-CN" altLang="en-US"/>
          </a:p>
        </p:txBody>
      </p:sp>
      <p:sp>
        <p:nvSpPr>
          <p:cNvPr id="20490" name="Text Box 10"/>
          <p:cNvSpPr txBox="1">
            <a:spLocks noChangeArrowheads="1"/>
          </p:cNvSpPr>
          <p:nvPr/>
        </p:nvSpPr>
        <p:spPr bwMode="auto">
          <a:xfrm>
            <a:off x="6867525" y="1385888"/>
            <a:ext cx="382588" cy="519112"/>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q</a:t>
            </a:r>
            <a:endParaRPr lang="en-US" altLang="zh-CN" sz="2800" b="1" baseline="-25000">
              <a:latin typeface="Times New Roman" pitchFamily="18" charset="0"/>
              <a:ea typeface="宋体" charset="-122"/>
              <a:cs typeface="Times New Roman" pitchFamily="18" charset="0"/>
            </a:endParaRPr>
          </a:p>
        </p:txBody>
      </p:sp>
      <p:sp>
        <p:nvSpPr>
          <p:cNvPr id="20491" name="Line 11"/>
          <p:cNvSpPr>
            <a:spLocks noChangeShapeType="1"/>
          </p:cNvSpPr>
          <p:nvPr/>
        </p:nvSpPr>
        <p:spPr bwMode="auto">
          <a:xfrm>
            <a:off x="6791325" y="1857375"/>
            <a:ext cx="266700" cy="1028700"/>
          </a:xfrm>
          <a:prstGeom prst="line">
            <a:avLst/>
          </a:prstGeom>
          <a:noFill/>
          <a:ln w="9525">
            <a:solidFill>
              <a:schemeClr val="tx1"/>
            </a:solidFill>
            <a:miter lim="800000"/>
            <a:headEnd/>
            <a:tailEnd/>
          </a:ln>
          <a:effectLst/>
        </p:spPr>
        <p:txBody>
          <a:bodyPr wrap="none"/>
          <a:lstStyle/>
          <a:p>
            <a:endParaRPr lang="zh-CN" altLang="en-US"/>
          </a:p>
        </p:txBody>
      </p:sp>
      <p:sp>
        <p:nvSpPr>
          <p:cNvPr id="20492" name="Oval 12"/>
          <p:cNvSpPr>
            <a:spLocks noChangeArrowheads="1"/>
          </p:cNvSpPr>
          <p:nvPr/>
        </p:nvSpPr>
        <p:spPr bwMode="auto">
          <a:xfrm>
            <a:off x="6977063" y="2811463"/>
            <a:ext cx="174625" cy="174625"/>
          </a:xfrm>
          <a:prstGeom prst="ellipse">
            <a:avLst/>
          </a:prstGeom>
          <a:solidFill>
            <a:schemeClr val="folHlink"/>
          </a:solidFill>
          <a:ln w="9525">
            <a:solidFill>
              <a:schemeClr val="tx1"/>
            </a:solidFill>
            <a:miter lim="800000"/>
            <a:headEnd/>
            <a:tailEnd/>
          </a:ln>
          <a:effectLst/>
        </p:spPr>
        <p:txBody>
          <a:bodyPr wrap="none" anchor="ctr"/>
          <a:lstStyle/>
          <a:p>
            <a:endParaRPr lang="zh-CN" altLang="en-US"/>
          </a:p>
        </p:txBody>
      </p:sp>
      <p:sp>
        <p:nvSpPr>
          <p:cNvPr id="20493" name="Freeform 13"/>
          <p:cNvSpPr>
            <a:spLocks/>
          </p:cNvSpPr>
          <p:nvPr/>
        </p:nvSpPr>
        <p:spPr bwMode="auto">
          <a:xfrm>
            <a:off x="6991350" y="2571750"/>
            <a:ext cx="295275" cy="238125"/>
          </a:xfrm>
          <a:custGeom>
            <a:avLst/>
            <a:gdLst/>
            <a:ahLst/>
            <a:cxnLst>
              <a:cxn ang="0">
                <a:pos x="0" y="48"/>
              </a:cxn>
              <a:cxn ang="0">
                <a:pos x="150" y="0"/>
              </a:cxn>
              <a:cxn ang="0">
                <a:pos x="186" y="150"/>
              </a:cxn>
            </a:cxnLst>
            <a:rect l="0" t="0" r="r" b="b"/>
            <a:pathLst>
              <a:path w="186" h="150">
                <a:moveTo>
                  <a:pt x="0" y="48"/>
                </a:moveTo>
                <a:lnTo>
                  <a:pt x="150" y="0"/>
                </a:lnTo>
                <a:lnTo>
                  <a:pt x="186" y="150"/>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0494" name="Text Box 14"/>
          <p:cNvSpPr txBox="1">
            <a:spLocks noChangeArrowheads="1"/>
          </p:cNvSpPr>
          <p:nvPr/>
        </p:nvSpPr>
        <p:spPr bwMode="auto">
          <a:xfrm>
            <a:off x="6867525" y="2995613"/>
            <a:ext cx="501650" cy="519112"/>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q’</a:t>
            </a:r>
            <a:endParaRPr lang="en-US" altLang="zh-CN" sz="2800" b="1" baseline="-25000">
              <a:latin typeface="Times New Roman" pitchFamily="18" charset="0"/>
              <a:ea typeface="宋体" charset="-122"/>
              <a:cs typeface="Times New Roman" pitchFamily="18" charset="0"/>
            </a:endParaRPr>
          </a:p>
        </p:txBody>
      </p:sp>
      <p:graphicFrame>
        <p:nvGraphicFramePr>
          <p:cNvPr id="20495" name="Object 15"/>
          <p:cNvGraphicFramePr>
            <a:graphicFrameLocks noGrp="1" noChangeAspect="1"/>
          </p:cNvGraphicFramePr>
          <p:nvPr>
            <p:ph sz="half" idx="2"/>
          </p:nvPr>
        </p:nvGraphicFramePr>
        <p:xfrm>
          <a:off x="487363" y="2095500"/>
          <a:ext cx="3648075" cy="3036888"/>
        </p:xfrm>
        <a:graphic>
          <a:graphicData uri="http://schemas.openxmlformats.org/presentationml/2006/ole">
            <mc:AlternateContent xmlns:mc="http://schemas.openxmlformats.org/markup-compatibility/2006">
              <mc:Choice xmlns:v="urn:schemas-microsoft-com:vml" Requires="v">
                <p:oleObj spid="_x0000_s9219" name="Equation" r:id="rId3" imgW="2197080" imgH="1828800" progId="">
                  <p:embed/>
                </p:oleObj>
              </mc:Choice>
              <mc:Fallback>
                <p:oleObj name="Equation" r:id="rId3" imgW="2197080" imgH="1828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3" y="2095500"/>
                        <a:ext cx="3648075" cy="303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6" name="Text Box 16"/>
          <p:cNvSpPr txBox="1">
            <a:spLocks noChangeArrowheads="1"/>
          </p:cNvSpPr>
          <p:nvPr/>
        </p:nvSpPr>
        <p:spPr bwMode="auto">
          <a:xfrm>
            <a:off x="8251825" y="2047875"/>
            <a:ext cx="282575" cy="519113"/>
          </a:xfrm>
          <a:prstGeom prst="rect">
            <a:avLst/>
          </a:prstGeom>
          <a:no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l</a:t>
            </a:r>
          </a:p>
        </p:txBody>
      </p:sp>
      <p:sp>
        <p:nvSpPr>
          <p:cNvPr id="20497" name="Line 17"/>
          <p:cNvSpPr>
            <a:spLocks noChangeShapeType="1"/>
          </p:cNvSpPr>
          <p:nvPr/>
        </p:nvSpPr>
        <p:spPr bwMode="auto">
          <a:xfrm flipV="1">
            <a:off x="5514975" y="3629025"/>
            <a:ext cx="1695450" cy="476250"/>
          </a:xfrm>
          <a:prstGeom prst="line">
            <a:avLst/>
          </a:prstGeom>
          <a:noFill/>
          <a:ln w="9525">
            <a:solidFill>
              <a:schemeClr val="tx1"/>
            </a:solidFill>
            <a:miter lim="800000"/>
            <a:headEnd type="triangle" w="med" len="med"/>
            <a:tailEnd type="triangle" w="med" len="med"/>
          </a:ln>
          <a:effectLst/>
        </p:spPr>
        <p:txBody>
          <a:bodyPr wrap="none"/>
          <a:lstStyle/>
          <a:p>
            <a:endParaRPr lang="zh-CN" altLang="en-US"/>
          </a:p>
        </p:txBody>
      </p:sp>
      <p:sp>
        <p:nvSpPr>
          <p:cNvPr id="20498" name="Text Box 18"/>
          <p:cNvSpPr txBox="1">
            <a:spLocks noChangeArrowheads="1"/>
          </p:cNvSpPr>
          <p:nvPr/>
        </p:nvSpPr>
        <p:spPr bwMode="auto">
          <a:xfrm>
            <a:off x="6232525" y="3571875"/>
            <a:ext cx="382588" cy="519113"/>
          </a:xfrm>
          <a:prstGeom prst="rect">
            <a:avLst/>
          </a:prstGeom>
          <a:solidFill>
            <a:schemeClr val="bg1"/>
          </a:solidFill>
          <a:ln w="9525">
            <a:noFill/>
            <a:miter lim="800000"/>
            <a:headEnd/>
            <a:tailEnd/>
          </a:ln>
          <a:effectLst/>
        </p:spPr>
        <p:txBody>
          <a:bodyPr wrap="none">
            <a:spAutoFit/>
          </a:bodyPr>
          <a:lstStyle/>
          <a:p>
            <a:r>
              <a:rPr lang="en-US" altLang="zh-CN" sz="2800" i="1">
                <a:latin typeface="Times New Roman" pitchFamily="18" charset="0"/>
                <a:ea typeface="宋体" charset="-122"/>
                <a:cs typeface="Times New Roman" pitchFamily="18" charset="0"/>
              </a:rPr>
              <a:t>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dirty="0">
                <a:ea typeface="宋体" charset="-122"/>
              </a:rPr>
              <a:t>直线的一般式</a:t>
            </a:r>
            <a:r>
              <a:rPr lang="en-US" altLang="zh-CN" dirty="0">
                <a:ea typeface="宋体" charset="-122"/>
              </a:rPr>
              <a:t>(2D)</a:t>
            </a:r>
          </a:p>
        </p:txBody>
      </p:sp>
      <p:graphicFrame>
        <p:nvGraphicFramePr>
          <p:cNvPr id="22531" name="Object 3"/>
          <p:cNvGraphicFramePr>
            <a:graphicFrameLocks noChangeAspect="1"/>
          </p:cNvGraphicFramePr>
          <p:nvPr/>
        </p:nvGraphicFramePr>
        <p:xfrm>
          <a:off x="1335088" y="1825625"/>
          <a:ext cx="6334125" cy="476250"/>
        </p:xfrm>
        <a:graphic>
          <a:graphicData uri="http://schemas.openxmlformats.org/presentationml/2006/ole">
            <mc:AlternateContent xmlns:mc="http://schemas.openxmlformats.org/markup-compatibility/2006">
              <mc:Choice xmlns:v="urn:schemas-microsoft-com:vml" Requires="v">
                <p:oleObj spid="_x0000_s10243" name="Equation" r:id="rId3" imgW="2705040" imgH="203040" progId="">
                  <p:embed/>
                </p:oleObj>
              </mc:Choice>
              <mc:Fallback>
                <p:oleObj name="Equation" r:id="rId3" imgW="2705040" imgH="2030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5088" y="1825625"/>
                        <a:ext cx="6334125" cy="4762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32" name="Line 4"/>
          <p:cNvSpPr>
            <a:spLocks noChangeShapeType="1"/>
          </p:cNvSpPr>
          <p:nvPr/>
        </p:nvSpPr>
        <p:spPr bwMode="auto">
          <a:xfrm>
            <a:off x="1019175" y="2924175"/>
            <a:ext cx="0" cy="3276600"/>
          </a:xfrm>
          <a:prstGeom prst="line">
            <a:avLst/>
          </a:prstGeom>
          <a:noFill/>
          <a:ln w="9525">
            <a:solidFill>
              <a:schemeClr val="tx1"/>
            </a:solidFill>
            <a:miter lim="800000"/>
            <a:headEnd type="triangle" w="med" len="med"/>
            <a:tailEnd/>
          </a:ln>
          <a:effectLst/>
        </p:spPr>
        <p:txBody>
          <a:bodyPr wrap="none"/>
          <a:lstStyle/>
          <a:p>
            <a:endParaRPr lang="zh-CN" altLang="en-US"/>
          </a:p>
        </p:txBody>
      </p:sp>
      <p:sp>
        <p:nvSpPr>
          <p:cNvPr id="22533" name="Line 5"/>
          <p:cNvSpPr>
            <a:spLocks noChangeShapeType="1"/>
          </p:cNvSpPr>
          <p:nvPr/>
        </p:nvSpPr>
        <p:spPr bwMode="auto">
          <a:xfrm flipV="1">
            <a:off x="838200" y="5857875"/>
            <a:ext cx="710565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22534" name="Text Box 6"/>
          <p:cNvSpPr txBox="1">
            <a:spLocks noChangeArrowheads="1"/>
          </p:cNvSpPr>
          <p:nvPr/>
        </p:nvSpPr>
        <p:spPr bwMode="auto">
          <a:xfrm>
            <a:off x="7737475" y="5829300"/>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x</a:t>
            </a:r>
          </a:p>
        </p:txBody>
      </p:sp>
      <p:sp>
        <p:nvSpPr>
          <p:cNvPr id="22535" name="Text Box 7"/>
          <p:cNvSpPr txBox="1">
            <a:spLocks noChangeArrowheads="1"/>
          </p:cNvSpPr>
          <p:nvPr/>
        </p:nvSpPr>
        <p:spPr bwMode="auto">
          <a:xfrm>
            <a:off x="676275" y="2949575"/>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y</a:t>
            </a:r>
          </a:p>
        </p:txBody>
      </p:sp>
      <p:sp>
        <p:nvSpPr>
          <p:cNvPr id="22536" name="Text Box 8"/>
          <p:cNvSpPr txBox="1">
            <a:spLocks noChangeArrowheads="1"/>
          </p:cNvSpPr>
          <p:nvPr/>
        </p:nvSpPr>
        <p:spPr bwMode="auto">
          <a:xfrm>
            <a:off x="2578100" y="3165475"/>
            <a:ext cx="1509713"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Ax+By+C &gt; 0</a:t>
            </a:r>
          </a:p>
        </p:txBody>
      </p:sp>
      <p:sp>
        <p:nvSpPr>
          <p:cNvPr id="22537" name="Text Box 9"/>
          <p:cNvSpPr txBox="1">
            <a:spLocks noChangeArrowheads="1"/>
          </p:cNvSpPr>
          <p:nvPr/>
        </p:nvSpPr>
        <p:spPr bwMode="auto">
          <a:xfrm>
            <a:off x="4622800" y="4819650"/>
            <a:ext cx="1509713"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Ax+By+C &lt; 0</a:t>
            </a:r>
          </a:p>
        </p:txBody>
      </p:sp>
      <p:sp>
        <p:nvSpPr>
          <p:cNvPr id="22538" name="Text Box 10"/>
          <p:cNvSpPr txBox="1">
            <a:spLocks noChangeArrowheads="1"/>
          </p:cNvSpPr>
          <p:nvPr/>
        </p:nvSpPr>
        <p:spPr bwMode="auto">
          <a:xfrm rot="-1090241">
            <a:off x="3489325" y="3886200"/>
            <a:ext cx="1509713"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Ax+By+C = 0</a:t>
            </a:r>
          </a:p>
        </p:txBody>
      </p:sp>
      <p:sp>
        <p:nvSpPr>
          <p:cNvPr id="22539" name="Line 11"/>
          <p:cNvSpPr>
            <a:spLocks noChangeShapeType="1"/>
          </p:cNvSpPr>
          <p:nvPr/>
        </p:nvSpPr>
        <p:spPr bwMode="auto">
          <a:xfrm flipV="1">
            <a:off x="-122238" y="2479675"/>
            <a:ext cx="9391651" cy="3271838"/>
          </a:xfrm>
          <a:prstGeom prst="line">
            <a:avLst/>
          </a:prstGeom>
          <a:noFill/>
          <a:ln w="28575">
            <a:solidFill>
              <a:schemeClr val="tx1"/>
            </a:solidFill>
            <a:miter lim="800000"/>
            <a:headEnd/>
            <a:tailEnd/>
          </a:ln>
          <a:effectLst/>
        </p:spPr>
        <p:txBody>
          <a:bodyPr wrap="none"/>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a:ea typeface="宋体" charset="-122"/>
              </a:rPr>
              <a:t>直线和线段相交判定</a:t>
            </a:r>
            <a:r>
              <a:rPr lang="en-US" altLang="zh-CN" dirty="0">
                <a:ea typeface="宋体" charset="-122"/>
              </a:rPr>
              <a:t>(2D)</a:t>
            </a:r>
          </a:p>
        </p:txBody>
      </p:sp>
      <p:graphicFrame>
        <p:nvGraphicFramePr>
          <p:cNvPr id="23555" name="Object 3"/>
          <p:cNvGraphicFramePr>
            <a:graphicFrameLocks noChangeAspect="1"/>
          </p:cNvGraphicFramePr>
          <p:nvPr/>
        </p:nvGraphicFramePr>
        <p:xfrm>
          <a:off x="1920875" y="1465263"/>
          <a:ext cx="5800725" cy="969962"/>
        </p:xfrm>
        <a:graphic>
          <a:graphicData uri="http://schemas.openxmlformats.org/presentationml/2006/ole">
            <mc:AlternateContent xmlns:mc="http://schemas.openxmlformats.org/markup-compatibility/2006">
              <mc:Choice xmlns:v="urn:schemas-microsoft-com:vml" Requires="v">
                <p:oleObj spid="_x0000_s11267" name="Equation" r:id="rId3" imgW="2743200" imgH="457200" progId="">
                  <p:embed/>
                </p:oleObj>
              </mc:Choice>
              <mc:Fallback>
                <p:oleObj name="Equation" r:id="rId3" imgW="274320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0875" y="1465263"/>
                        <a:ext cx="5800725" cy="9699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56" name="Line 4"/>
          <p:cNvSpPr>
            <a:spLocks noChangeShapeType="1"/>
          </p:cNvSpPr>
          <p:nvPr/>
        </p:nvSpPr>
        <p:spPr bwMode="auto">
          <a:xfrm flipV="1">
            <a:off x="-122238" y="2479675"/>
            <a:ext cx="9391651" cy="3271838"/>
          </a:xfrm>
          <a:prstGeom prst="line">
            <a:avLst/>
          </a:prstGeom>
          <a:noFill/>
          <a:ln w="28575">
            <a:solidFill>
              <a:schemeClr val="tx1"/>
            </a:solidFill>
            <a:miter lim="800000"/>
            <a:headEnd/>
            <a:tailEnd/>
          </a:ln>
          <a:effectLst/>
        </p:spPr>
        <p:txBody>
          <a:bodyPr wrap="none"/>
          <a:lstStyle/>
          <a:p>
            <a:endParaRPr lang="zh-CN" altLang="en-US"/>
          </a:p>
        </p:txBody>
      </p:sp>
      <p:sp>
        <p:nvSpPr>
          <p:cNvPr id="23557" name="Line 5"/>
          <p:cNvSpPr>
            <a:spLocks noChangeShapeType="1"/>
          </p:cNvSpPr>
          <p:nvPr/>
        </p:nvSpPr>
        <p:spPr bwMode="auto">
          <a:xfrm>
            <a:off x="1019175" y="2924175"/>
            <a:ext cx="0" cy="3276600"/>
          </a:xfrm>
          <a:prstGeom prst="line">
            <a:avLst/>
          </a:prstGeom>
          <a:noFill/>
          <a:ln w="9525">
            <a:solidFill>
              <a:schemeClr val="tx1"/>
            </a:solidFill>
            <a:miter lim="800000"/>
            <a:headEnd type="triangle" w="med" len="med"/>
            <a:tailEnd/>
          </a:ln>
          <a:effectLst/>
        </p:spPr>
        <p:txBody>
          <a:bodyPr wrap="none"/>
          <a:lstStyle/>
          <a:p>
            <a:endParaRPr lang="zh-CN" altLang="en-US"/>
          </a:p>
        </p:txBody>
      </p:sp>
      <p:sp>
        <p:nvSpPr>
          <p:cNvPr id="23558" name="Line 6"/>
          <p:cNvSpPr>
            <a:spLocks noChangeShapeType="1"/>
          </p:cNvSpPr>
          <p:nvPr/>
        </p:nvSpPr>
        <p:spPr bwMode="auto">
          <a:xfrm flipV="1">
            <a:off x="838200" y="5857875"/>
            <a:ext cx="7105650" cy="0"/>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23559" name="Text Box 7"/>
          <p:cNvSpPr txBox="1">
            <a:spLocks noChangeArrowheads="1"/>
          </p:cNvSpPr>
          <p:nvPr/>
        </p:nvSpPr>
        <p:spPr bwMode="auto">
          <a:xfrm>
            <a:off x="7737475" y="5829300"/>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x</a:t>
            </a:r>
          </a:p>
        </p:txBody>
      </p:sp>
      <p:sp>
        <p:nvSpPr>
          <p:cNvPr id="23560" name="Text Box 8"/>
          <p:cNvSpPr txBox="1">
            <a:spLocks noChangeArrowheads="1"/>
          </p:cNvSpPr>
          <p:nvPr/>
        </p:nvSpPr>
        <p:spPr bwMode="auto">
          <a:xfrm>
            <a:off x="676275" y="2949575"/>
            <a:ext cx="2857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y</a:t>
            </a:r>
          </a:p>
        </p:txBody>
      </p:sp>
      <p:sp>
        <p:nvSpPr>
          <p:cNvPr id="23561" name="Text Box 9"/>
          <p:cNvSpPr txBox="1">
            <a:spLocks noChangeArrowheads="1"/>
          </p:cNvSpPr>
          <p:nvPr/>
        </p:nvSpPr>
        <p:spPr bwMode="auto">
          <a:xfrm>
            <a:off x="2578100" y="3165475"/>
            <a:ext cx="1509713"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Ax+By+C &gt; 0</a:t>
            </a:r>
          </a:p>
        </p:txBody>
      </p:sp>
      <p:sp>
        <p:nvSpPr>
          <p:cNvPr id="23562" name="Text Box 10"/>
          <p:cNvSpPr txBox="1">
            <a:spLocks noChangeArrowheads="1"/>
          </p:cNvSpPr>
          <p:nvPr/>
        </p:nvSpPr>
        <p:spPr bwMode="auto">
          <a:xfrm>
            <a:off x="4622800" y="4819650"/>
            <a:ext cx="1509713"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Ax+By+C &lt; 0</a:t>
            </a:r>
          </a:p>
        </p:txBody>
      </p:sp>
      <p:sp>
        <p:nvSpPr>
          <p:cNvPr id="23563" name="Line 11"/>
          <p:cNvSpPr>
            <a:spLocks noChangeShapeType="1"/>
          </p:cNvSpPr>
          <p:nvPr/>
        </p:nvSpPr>
        <p:spPr bwMode="auto">
          <a:xfrm flipH="1">
            <a:off x="5248275" y="3276600"/>
            <a:ext cx="180975" cy="1085850"/>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wrap="none"/>
          <a:lstStyle/>
          <a:p>
            <a:endParaRPr lang="zh-CN" altLang="en-US"/>
          </a:p>
        </p:txBody>
      </p:sp>
      <p:sp>
        <p:nvSpPr>
          <p:cNvPr id="23564" name="Oval 12"/>
          <p:cNvSpPr>
            <a:spLocks noChangeArrowheads="1"/>
          </p:cNvSpPr>
          <p:nvPr/>
        </p:nvSpPr>
        <p:spPr bwMode="auto">
          <a:xfrm>
            <a:off x="5353050" y="3152775"/>
            <a:ext cx="180975" cy="180975"/>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3565" name="Oval 13"/>
          <p:cNvSpPr>
            <a:spLocks noChangeArrowheads="1"/>
          </p:cNvSpPr>
          <p:nvPr/>
        </p:nvSpPr>
        <p:spPr bwMode="auto">
          <a:xfrm>
            <a:off x="5149850" y="4283075"/>
            <a:ext cx="180975" cy="180975"/>
          </a:xfrm>
          <a:prstGeom prst="ellipse">
            <a:avLst/>
          </a:prstGeom>
          <a:solidFill>
            <a:schemeClr val="accent2"/>
          </a:solidFill>
          <a:ln w="9525">
            <a:solidFill>
              <a:schemeClr val="tx1"/>
            </a:solidFill>
            <a:miter lim="800000"/>
            <a:headEnd/>
            <a:tailEnd/>
          </a:ln>
          <a:effectLst/>
        </p:spPr>
        <p:txBody>
          <a:bodyPr wrap="none" anchor="ctr"/>
          <a:lstStyle/>
          <a:p>
            <a:endParaRPr lang="zh-CN" altLang="en-US"/>
          </a:p>
        </p:txBody>
      </p:sp>
      <p:sp>
        <p:nvSpPr>
          <p:cNvPr id="23566" name="Text Box 14"/>
          <p:cNvSpPr txBox="1">
            <a:spLocks noChangeArrowheads="1"/>
          </p:cNvSpPr>
          <p:nvPr/>
        </p:nvSpPr>
        <p:spPr bwMode="auto">
          <a:xfrm>
            <a:off x="5356225" y="2762250"/>
            <a:ext cx="1320800" cy="366713"/>
          </a:xfrm>
          <a:prstGeom prst="rect">
            <a:avLst/>
          </a:prstGeom>
          <a:noFill/>
          <a:ln w="9525">
            <a:noFill/>
            <a:miter lim="800000"/>
            <a:headEnd/>
            <a:tailEnd/>
          </a:ln>
          <a:effectLst/>
        </p:spPr>
        <p:txBody>
          <a:bodyPr>
            <a:spAutoFit/>
          </a:bodyPr>
          <a:lstStyle/>
          <a:p>
            <a:r>
              <a:rPr lang="en-US" altLang="zh-CN">
                <a:latin typeface="Times New Roman" pitchFamily="18" charset="0"/>
                <a:ea typeface="宋体" charset="-122"/>
                <a:cs typeface="Times New Roman" pitchFamily="18" charset="0"/>
              </a:rPr>
              <a:t>Q</a:t>
            </a:r>
            <a:r>
              <a:rPr lang="en-US" altLang="zh-CN" baseline="-25000">
                <a:latin typeface="Times New Roman" pitchFamily="18" charset="0"/>
                <a:ea typeface="宋体" charset="-122"/>
                <a:cs typeface="Times New Roman" pitchFamily="18" charset="0"/>
              </a:rPr>
              <a:t>1</a:t>
            </a:r>
            <a:r>
              <a:rPr lang="en-US" altLang="zh-CN">
                <a:latin typeface="Times New Roman" pitchFamily="18" charset="0"/>
                <a:ea typeface="宋体" charset="-122"/>
                <a:cs typeface="Times New Roman" pitchFamily="18" charset="0"/>
              </a:rPr>
              <a:t> (</a:t>
            </a:r>
            <a:r>
              <a:rPr lang="en-US" altLang="zh-CN" i="1">
                <a:latin typeface="Times New Roman" pitchFamily="18" charset="0"/>
                <a:ea typeface="宋体" charset="-122"/>
                <a:cs typeface="Times New Roman" pitchFamily="18" charset="0"/>
              </a:rPr>
              <a:t>x</a:t>
            </a:r>
            <a:r>
              <a:rPr lang="en-US" altLang="zh-CN" baseline="-25000">
                <a:latin typeface="Times New Roman" pitchFamily="18" charset="0"/>
                <a:ea typeface="宋体" charset="-122"/>
                <a:cs typeface="Times New Roman" pitchFamily="18" charset="0"/>
              </a:rPr>
              <a:t>1</a:t>
            </a:r>
            <a:r>
              <a:rPr lang="en-US" altLang="zh-CN" i="1">
                <a:latin typeface="Times New Roman" pitchFamily="18" charset="0"/>
                <a:ea typeface="宋体" charset="-122"/>
                <a:cs typeface="Times New Roman" pitchFamily="18" charset="0"/>
              </a:rPr>
              <a:t>, y</a:t>
            </a:r>
            <a:r>
              <a:rPr lang="en-US" altLang="zh-CN" baseline="-25000">
                <a:latin typeface="Times New Roman" pitchFamily="18" charset="0"/>
                <a:ea typeface="宋体" charset="-122"/>
                <a:cs typeface="Times New Roman" pitchFamily="18" charset="0"/>
              </a:rPr>
              <a:t>1</a:t>
            </a:r>
            <a:r>
              <a:rPr lang="en-US" altLang="zh-CN">
                <a:latin typeface="Times New Roman" pitchFamily="18" charset="0"/>
                <a:ea typeface="宋体" charset="-122"/>
                <a:cs typeface="Times New Roman" pitchFamily="18" charset="0"/>
              </a:rPr>
              <a:t>)</a:t>
            </a:r>
          </a:p>
        </p:txBody>
      </p:sp>
      <p:sp>
        <p:nvSpPr>
          <p:cNvPr id="23567" name="Text Box 15"/>
          <p:cNvSpPr txBox="1">
            <a:spLocks noChangeArrowheads="1"/>
          </p:cNvSpPr>
          <p:nvPr/>
        </p:nvSpPr>
        <p:spPr bwMode="auto">
          <a:xfrm>
            <a:off x="5305425" y="4168775"/>
            <a:ext cx="1177925" cy="366713"/>
          </a:xfrm>
          <a:prstGeom prst="rect">
            <a:avLst/>
          </a:prstGeom>
          <a:noFill/>
          <a:ln w="9525">
            <a:noFill/>
            <a:miter lim="800000"/>
            <a:headEnd/>
            <a:tailEnd/>
          </a:ln>
          <a:effectLst/>
        </p:spPr>
        <p:txBody>
          <a:bodyPr>
            <a:spAutoFit/>
          </a:bodyPr>
          <a:lstStyle/>
          <a:p>
            <a:r>
              <a:rPr lang="en-US" altLang="zh-CN">
                <a:latin typeface="Times New Roman" pitchFamily="18" charset="0"/>
                <a:ea typeface="宋体" charset="-122"/>
                <a:cs typeface="Times New Roman" pitchFamily="18" charset="0"/>
              </a:rPr>
              <a:t>Q</a:t>
            </a:r>
            <a:r>
              <a:rPr lang="en-US" altLang="zh-CN" baseline="-25000">
                <a:latin typeface="Times New Roman" pitchFamily="18" charset="0"/>
                <a:ea typeface="宋体" charset="-122"/>
                <a:cs typeface="Times New Roman" pitchFamily="18" charset="0"/>
              </a:rPr>
              <a:t>2  </a:t>
            </a:r>
            <a:r>
              <a:rPr lang="en-US" altLang="zh-CN">
                <a:latin typeface="Times New Roman" pitchFamily="18" charset="0"/>
                <a:ea typeface="宋体" charset="-122"/>
                <a:cs typeface="Times New Roman" pitchFamily="18" charset="0"/>
              </a:rPr>
              <a:t>(</a:t>
            </a:r>
            <a:r>
              <a:rPr lang="en-US" altLang="zh-CN" i="1">
                <a:latin typeface="Times New Roman" pitchFamily="18" charset="0"/>
                <a:ea typeface="宋体" charset="-122"/>
                <a:cs typeface="Times New Roman" pitchFamily="18" charset="0"/>
              </a:rPr>
              <a:t>x</a:t>
            </a:r>
            <a:r>
              <a:rPr lang="en-US" altLang="zh-CN" baseline="-25000">
                <a:latin typeface="Times New Roman" pitchFamily="18" charset="0"/>
                <a:ea typeface="宋体" charset="-122"/>
                <a:cs typeface="Times New Roman" pitchFamily="18" charset="0"/>
              </a:rPr>
              <a:t>2</a:t>
            </a:r>
            <a:r>
              <a:rPr lang="en-US" altLang="zh-CN" i="1">
                <a:latin typeface="Times New Roman" pitchFamily="18" charset="0"/>
                <a:ea typeface="宋体" charset="-122"/>
                <a:cs typeface="Times New Roman" pitchFamily="18" charset="0"/>
              </a:rPr>
              <a:t>, y</a:t>
            </a:r>
            <a:r>
              <a:rPr lang="en-US" altLang="zh-CN" baseline="-25000">
                <a:latin typeface="Times New Roman" pitchFamily="18" charset="0"/>
                <a:ea typeface="宋体" charset="-122"/>
                <a:cs typeface="Times New Roman" pitchFamily="18" charset="0"/>
              </a:rPr>
              <a:t>2</a:t>
            </a:r>
            <a:r>
              <a:rPr lang="en-US" altLang="zh-CN">
                <a:latin typeface="Times New Roman" pitchFamily="18" charset="0"/>
                <a:ea typeface="宋体" charset="-122"/>
                <a:cs typeface="Times New Roman" pitchFamily="18" charset="0"/>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a:bodyPr>
          <a:lstStyle/>
          <a:p>
            <a:r>
              <a:rPr lang="zh-CN" altLang="en-US" dirty="0">
                <a:ea typeface="宋体" charset="-122"/>
              </a:rPr>
              <a:t>平面的点法式</a:t>
            </a:r>
            <a:r>
              <a:rPr lang="en-US" altLang="zh-CN" dirty="0">
                <a:ea typeface="宋体" charset="-122"/>
              </a:rPr>
              <a:t>(3D)</a:t>
            </a:r>
          </a:p>
        </p:txBody>
      </p:sp>
      <p:sp>
        <p:nvSpPr>
          <p:cNvPr id="24579" name="Rectangle 3"/>
          <p:cNvSpPr>
            <a:spLocks noGrp="1" noChangeArrowheads="1"/>
          </p:cNvSpPr>
          <p:nvPr>
            <p:ph type="body" sz="half" idx="1"/>
          </p:nvPr>
        </p:nvSpPr>
        <p:spPr>
          <a:ln>
            <a:solidFill>
              <a:schemeClr val="bg2"/>
            </a:solidFill>
          </a:ln>
        </p:spPr>
        <p:txBody>
          <a:bodyPr/>
          <a:lstStyle/>
          <a:p>
            <a:r>
              <a:rPr lang="zh-CN" altLang="en-US" sz="2400" dirty="0">
                <a:ea typeface="宋体" charset="-122"/>
              </a:rPr>
              <a:t>平面</a:t>
            </a:r>
            <a:r>
              <a:rPr lang="en-US" altLang="zh-CN" sz="2400" dirty="0">
                <a:ea typeface="宋体" charset="-122"/>
              </a:rPr>
              <a:t> </a:t>
            </a:r>
            <a:r>
              <a:rPr lang="en-US" altLang="zh-CN" sz="2400" dirty="0">
                <a:ea typeface="宋体" charset="-122"/>
                <a:sym typeface="Symbol" pitchFamily="18" charset="2"/>
              </a:rPr>
              <a:t> </a:t>
            </a:r>
            <a:r>
              <a:rPr lang="zh-CN" altLang="en-US" sz="2400" dirty="0">
                <a:ea typeface="宋体" charset="-122"/>
                <a:sym typeface="Symbol" pitchFamily="18" charset="2"/>
              </a:rPr>
              <a:t>可以由法向量</a:t>
            </a:r>
            <a:r>
              <a:rPr lang="en-US" altLang="zh-CN" sz="2400" dirty="0">
                <a:ea typeface="宋体" charset="-122"/>
                <a:sym typeface="Symbol" pitchFamily="18" charset="2"/>
              </a:rPr>
              <a:t> </a:t>
            </a:r>
            <a:r>
              <a:rPr lang="en-US" altLang="zh-CN" sz="2400" b="1" dirty="0">
                <a:latin typeface="Times New Roman" pitchFamily="18" charset="0"/>
                <a:ea typeface="宋体" charset="-122"/>
                <a:cs typeface="Times New Roman" pitchFamily="18" charset="0"/>
                <a:sym typeface="Symbol" pitchFamily="18" charset="2"/>
              </a:rPr>
              <a:t>n</a:t>
            </a:r>
            <a:r>
              <a:rPr lang="en-US" altLang="zh-CN" sz="2400" dirty="0">
                <a:ea typeface="宋体" charset="-122"/>
                <a:sym typeface="Symbol" pitchFamily="18" charset="2"/>
              </a:rPr>
              <a:t> </a:t>
            </a:r>
            <a:r>
              <a:rPr lang="zh-CN" altLang="en-US" sz="2400" dirty="0">
                <a:ea typeface="宋体" charset="-122"/>
                <a:sym typeface="Symbol" pitchFamily="18" charset="2"/>
              </a:rPr>
              <a:t>和平面上一点</a:t>
            </a:r>
            <a:r>
              <a:rPr lang="en-US" altLang="zh-CN" sz="2400" dirty="0">
                <a:ea typeface="宋体" charset="-122"/>
                <a:sym typeface="Symbol" pitchFamily="18" charset="2"/>
              </a:rPr>
              <a:t> </a:t>
            </a:r>
            <a:r>
              <a:rPr lang="en-US" altLang="zh-CN" sz="2400" b="1" dirty="0">
                <a:solidFill>
                  <a:schemeClr val="tx2">
                    <a:lumMod val="60000"/>
                    <a:lumOff val="40000"/>
                  </a:schemeClr>
                </a:solidFill>
                <a:latin typeface="Times New Roman" pitchFamily="18" charset="0"/>
                <a:ea typeface="宋体" charset="-122"/>
                <a:sym typeface="Symbol" pitchFamily="18" charset="2"/>
              </a:rPr>
              <a:t>p</a:t>
            </a:r>
            <a:r>
              <a:rPr lang="en-US" altLang="zh-CN" sz="2400" b="1" baseline="-25000" dirty="0">
                <a:solidFill>
                  <a:schemeClr val="tx2">
                    <a:lumMod val="60000"/>
                    <a:lumOff val="40000"/>
                  </a:schemeClr>
                </a:solidFill>
                <a:latin typeface="Times New Roman" pitchFamily="18" charset="0"/>
                <a:ea typeface="宋体" charset="-122"/>
                <a:sym typeface="Symbol" pitchFamily="18" charset="2"/>
              </a:rPr>
              <a:t>0</a:t>
            </a:r>
            <a:r>
              <a:rPr lang="en-US" altLang="zh-CN" sz="2400" dirty="0">
                <a:ea typeface="宋体" charset="-122"/>
                <a:sym typeface="Symbol" pitchFamily="18" charset="2"/>
              </a:rPr>
              <a:t> </a:t>
            </a:r>
            <a:r>
              <a:rPr lang="zh-CN" altLang="en-US" sz="2400" dirty="0">
                <a:ea typeface="宋体" charset="-122"/>
                <a:sym typeface="Symbol" pitchFamily="18" charset="2"/>
              </a:rPr>
              <a:t>表示。</a:t>
            </a:r>
            <a:endParaRPr lang="en-US" altLang="zh-CN" sz="2400" dirty="0">
              <a:ea typeface="宋体" charset="-122"/>
              <a:sym typeface="Symbol" pitchFamily="18" charset="2"/>
            </a:endParaRPr>
          </a:p>
          <a:p>
            <a:r>
              <a:rPr lang="zh-CN" altLang="en-US" sz="2400" dirty="0">
                <a:ea typeface="宋体" charset="-122"/>
                <a:sym typeface="Symbol" pitchFamily="18" charset="2"/>
              </a:rPr>
              <a:t>任意点</a:t>
            </a:r>
            <a:r>
              <a:rPr lang="en-US" altLang="zh-CN" sz="2400" dirty="0">
                <a:ea typeface="宋体" charset="-122"/>
                <a:sym typeface="Symbol" pitchFamily="18" charset="2"/>
              </a:rPr>
              <a:t> </a:t>
            </a:r>
            <a:r>
              <a:rPr lang="en-US" altLang="zh-CN" sz="2400" b="1" dirty="0">
                <a:solidFill>
                  <a:schemeClr val="tx2">
                    <a:lumMod val="60000"/>
                    <a:lumOff val="40000"/>
                  </a:schemeClr>
                </a:solidFill>
                <a:latin typeface="Times New Roman" pitchFamily="18" charset="0"/>
                <a:ea typeface="宋体" charset="-122"/>
                <a:sym typeface="Symbol" pitchFamily="18" charset="2"/>
              </a:rPr>
              <a:t>q</a:t>
            </a:r>
            <a:r>
              <a:rPr lang="en-US" altLang="zh-CN" sz="2400" dirty="0">
                <a:ea typeface="宋体" charset="-122"/>
                <a:sym typeface="Symbol" pitchFamily="18" charset="2"/>
              </a:rPr>
              <a:t> </a:t>
            </a:r>
            <a:r>
              <a:rPr lang="zh-CN" altLang="en-US" sz="2400" dirty="0">
                <a:ea typeface="宋体" charset="-122"/>
                <a:sym typeface="Symbol" pitchFamily="18" charset="2"/>
              </a:rPr>
              <a:t>在平面上</a:t>
            </a:r>
            <a:r>
              <a:rPr lang="en-US" altLang="zh-CN" sz="2400" dirty="0">
                <a:ea typeface="宋体" charset="-122"/>
                <a:sym typeface="Symbol" pitchFamily="18" charset="2"/>
              </a:rPr>
              <a:t>    </a:t>
            </a:r>
            <a:r>
              <a:rPr lang="en-US" altLang="zh-CN" sz="2400" i="1" dirty="0">
                <a:latin typeface="Times New Roman" pitchFamily="18" charset="0"/>
                <a:ea typeface="宋体" charset="-122"/>
                <a:sym typeface="Symbol" pitchFamily="18" charset="2"/>
              </a:rPr>
              <a:t>&lt; </a:t>
            </a:r>
            <a:r>
              <a:rPr lang="en-US" altLang="zh-CN" sz="2400" b="1" dirty="0">
                <a:solidFill>
                  <a:schemeClr val="tx2">
                    <a:lumMod val="60000"/>
                    <a:lumOff val="40000"/>
                  </a:schemeClr>
                </a:solidFill>
                <a:latin typeface="Times New Roman" pitchFamily="18" charset="0"/>
                <a:ea typeface="宋体" charset="-122"/>
                <a:sym typeface="Symbol" pitchFamily="18" charset="2"/>
              </a:rPr>
              <a:t>q</a:t>
            </a:r>
            <a:r>
              <a:rPr lang="en-US" altLang="zh-CN" sz="2400" i="1" dirty="0">
                <a:latin typeface="Times New Roman" pitchFamily="18" charset="0"/>
                <a:ea typeface="宋体" charset="-122"/>
                <a:sym typeface="Symbol" pitchFamily="18" charset="2"/>
              </a:rPr>
              <a:t> – </a:t>
            </a:r>
            <a:r>
              <a:rPr lang="en-US" altLang="zh-CN" sz="2400" b="1" dirty="0">
                <a:solidFill>
                  <a:srgbClr val="FF0000"/>
                </a:solidFill>
                <a:latin typeface="Times New Roman" pitchFamily="18" charset="0"/>
                <a:ea typeface="宋体" charset="-122"/>
                <a:sym typeface="Symbol" pitchFamily="18" charset="2"/>
              </a:rPr>
              <a:t>p</a:t>
            </a:r>
            <a:r>
              <a:rPr lang="en-US" altLang="zh-CN" sz="2400" b="1" baseline="-25000" dirty="0">
                <a:solidFill>
                  <a:srgbClr val="FF0000"/>
                </a:solidFill>
                <a:latin typeface="Times New Roman" pitchFamily="18" charset="0"/>
                <a:ea typeface="宋体" charset="-122"/>
                <a:sym typeface="Symbol" pitchFamily="18" charset="2"/>
              </a:rPr>
              <a:t>0</a:t>
            </a:r>
            <a:r>
              <a:rPr lang="en-US" altLang="zh-CN" sz="2400" i="1" baseline="-25000" dirty="0">
                <a:latin typeface="Times New Roman" pitchFamily="18" charset="0"/>
                <a:ea typeface="宋体" charset="-122"/>
                <a:sym typeface="Symbol" pitchFamily="18" charset="2"/>
              </a:rPr>
              <a:t> </a:t>
            </a:r>
            <a:r>
              <a:rPr lang="en-US" altLang="zh-CN" sz="2400" i="1" dirty="0">
                <a:latin typeface="Times New Roman" pitchFamily="18" charset="0"/>
                <a:ea typeface="宋体" charset="-122"/>
                <a:sym typeface="Symbol" pitchFamily="18" charset="2"/>
              </a:rPr>
              <a:t>, </a:t>
            </a:r>
            <a:r>
              <a:rPr lang="en-US" altLang="zh-CN" sz="2400" b="1" dirty="0">
                <a:latin typeface="Times New Roman" pitchFamily="18" charset="0"/>
                <a:ea typeface="宋体" charset="-122"/>
                <a:sym typeface="Symbol" pitchFamily="18" charset="2"/>
              </a:rPr>
              <a:t>n</a:t>
            </a:r>
            <a:r>
              <a:rPr lang="en-US" altLang="zh-CN" sz="2400" i="1" dirty="0">
                <a:latin typeface="Times New Roman" pitchFamily="18" charset="0"/>
                <a:ea typeface="宋体" charset="-122"/>
                <a:sym typeface="Symbol" pitchFamily="18" charset="2"/>
              </a:rPr>
              <a:t> &gt; = 0</a:t>
            </a:r>
          </a:p>
          <a:p>
            <a:r>
              <a:rPr lang="zh-CN" altLang="en-US" sz="2400" dirty="0">
                <a:ea typeface="宋体" charset="-122"/>
                <a:sym typeface="Symbol" pitchFamily="18" charset="2"/>
              </a:rPr>
              <a:t>法向量</a:t>
            </a:r>
            <a:r>
              <a:rPr lang="en-US" altLang="zh-CN" sz="2400" dirty="0">
                <a:ea typeface="宋体" charset="-122"/>
                <a:sym typeface="Symbol" pitchFamily="18" charset="2"/>
              </a:rPr>
              <a:t> </a:t>
            </a:r>
            <a:r>
              <a:rPr lang="en-US" altLang="zh-CN" sz="2400" b="1" dirty="0">
                <a:solidFill>
                  <a:schemeClr val="tx2">
                    <a:lumMod val="60000"/>
                    <a:lumOff val="40000"/>
                  </a:schemeClr>
                </a:solidFill>
                <a:latin typeface="Times New Roman" pitchFamily="18" charset="0"/>
                <a:ea typeface="宋体" charset="-122"/>
                <a:sym typeface="Symbol" pitchFamily="18" charset="2"/>
              </a:rPr>
              <a:t>n</a:t>
            </a:r>
            <a:r>
              <a:rPr lang="en-US" altLang="zh-CN" sz="2400" dirty="0">
                <a:ea typeface="宋体" charset="-122"/>
                <a:sym typeface="Symbol" pitchFamily="18" charset="2"/>
              </a:rPr>
              <a:t> </a:t>
            </a:r>
            <a:r>
              <a:rPr lang="zh-CN" altLang="en-US" sz="2400" dirty="0">
                <a:ea typeface="宋体" charset="-122"/>
                <a:sym typeface="Symbol" pitchFamily="18" charset="2"/>
              </a:rPr>
              <a:t>和平面上的任意向量垂直</a:t>
            </a:r>
            <a:endParaRPr lang="en-US" altLang="zh-CN" sz="2400" dirty="0">
              <a:ea typeface="宋体" charset="-122"/>
              <a:sym typeface="Symbol" pitchFamily="18" charset="2"/>
            </a:endParaRPr>
          </a:p>
        </p:txBody>
      </p:sp>
      <p:sp>
        <p:nvSpPr>
          <p:cNvPr id="24580" name="Freeform 4"/>
          <p:cNvSpPr>
            <a:spLocks/>
          </p:cNvSpPr>
          <p:nvPr/>
        </p:nvSpPr>
        <p:spPr bwMode="auto">
          <a:xfrm>
            <a:off x="2581275" y="4762500"/>
            <a:ext cx="4133850" cy="885825"/>
          </a:xfrm>
          <a:custGeom>
            <a:avLst/>
            <a:gdLst/>
            <a:ahLst/>
            <a:cxnLst>
              <a:cxn ang="0">
                <a:pos x="0" y="558"/>
              </a:cxn>
              <a:cxn ang="0">
                <a:pos x="660" y="0"/>
              </a:cxn>
              <a:cxn ang="0">
                <a:pos x="2352" y="0"/>
              </a:cxn>
              <a:cxn ang="0">
                <a:pos x="2604" y="558"/>
              </a:cxn>
              <a:cxn ang="0">
                <a:pos x="0" y="558"/>
              </a:cxn>
            </a:cxnLst>
            <a:rect l="0" t="0" r="r" b="b"/>
            <a:pathLst>
              <a:path w="2604" h="558">
                <a:moveTo>
                  <a:pt x="0" y="558"/>
                </a:moveTo>
                <a:lnTo>
                  <a:pt x="660" y="0"/>
                </a:lnTo>
                <a:lnTo>
                  <a:pt x="2352" y="0"/>
                </a:lnTo>
                <a:lnTo>
                  <a:pt x="2604" y="558"/>
                </a:lnTo>
                <a:lnTo>
                  <a:pt x="0" y="558"/>
                </a:lnTo>
                <a:close/>
              </a:path>
            </a:pathLst>
          </a:custGeom>
          <a:gradFill rotWithShape="1">
            <a:gsLst>
              <a:gs pos="0">
                <a:srgbClr val="A1A1AB"/>
              </a:gs>
              <a:gs pos="100000">
                <a:schemeClr val="folHlink"/>
              </a:gs>
            </a:gsLst>
            <a:lin ang="5400000" scaled="1"/>
          </a:grad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4581" name="Text Box 5"/>
          <p:cNvSpPr txBox="1">
            <a:spLocks noChangeArrowheads="1"/>
          </p:cNvSpPr>
          <p:nvPr/>
        </p:nvSpPr>
        <p:spPr bwMode="auto">
          <a:xfrm>
            <a:off x="4784725" y="3657600"/>
            <a:ext cx="382588" cy="519113"/>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n</a:t>
            </a:r>
          </a:p>
        </p:txBody>
      </p:sp>
      <p:sp>
        <p:nvSpPr>
          <p:cNvPr id="24582" name="Freeform 6"/>
          <p:cNvSpPr>
            <a:spLocks/>
          </p:cNvSpPr>
          <p:nvPr/>
        </p:nvSpPr>
        <p:spPr bwMode="auto">
          <a:xfrm>
            <a:off x="4705350" y="4943475"/>
            <a:ext cx="171450" cy="209550"/>
          </a:xfrm>
          <a:custGeom>
            <a:avLst/>
            <a:gdLst/>
            <a:ahLst/>
            <a:cxnLst>
              <a:cxn ang="0">
                <a:pos x="0" y="0"/>
              </a:cxn>
              <a:cxn ang="0">
                <a:pos x="108" y="0"/>
              </a:cxn>
              <a:cxn ang="0">
                <a:pos x="108" y="120"/>
              </a:cxn>
            </a:cxnLst>
            <a:rect l="0" t="0" r="r" b="b"/>
            <a:pathLst>
              <a:path w="108" h="120">
                <a:moveTo>
                  <a:pt x="0" y="0"/>
                </a:moveTo>
                <a:lnTo>
                  <a:pt x="108" y="0"/>
                </a:lnTo>
                <a:lnTo>
                  <a:pt x="108" y="120"/>
                </a:lnTo>
              </a:path>
            </a:pathLst>
          </a:custGeom>
          <a:noFill/>
          <a:ln w="19050"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4583" name="Oval 7"/>
          <p:cNvSpPr>
            <a:spLocks noChangeArrowheads="1"/>
          </p:cNvSpPr>
          <p:nvPr/>
        </p:nvSpPr>
        <p:spPr bwMode="auto">
          <a:xfrm>
            <a:off x="4570413" y="5086350"/>
            <a:ext cx="258762" cy="95250"/>
          </a:xfrm>
          <a:prstGeom prst="ellipse">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24584" name="Line 8"/>
          <p:cNvSpPr>
            <a:spLocks noChangeShapeType="1"/>
          </p:cNvSpPr>
          <p:nvPr/>
        </p:nvSpPr>
        <p:spPr bwMode="auto">
          <a:xfrm flipV="1">
            <a:off x="4705350" y="4000500"/>
            <a:ext cx="0" cy="1143000"/>
          </a:xfrm>
          <a:prstGeom prst="line">
            <a:avLst/>
          </a:prstGeom>
          <a:noFill/>
          <a:ln w="38100">
            <a:solidFill>
              <a:schemeClr val="tx1"/>
            </a:solidFill>
            <a:miter lim="800000"/>
            <a:headEnd/>
            <a:tailEnd type="triangle" w="med" len="med"/>
          </a:ln>
          <a:effectLst/>
        </p:spPr>
        <p:txBody>
          <a:bodyPr wrap="none"/>
          <a:lstStyle/>
          <a:p>
            <a:endParaRPr lang="zh-CN" altLang="en-US"/>
          </a:p>
        </p:txBody>
      </p:sp>
      <p:sp>
        <p:nvSpPr>
          <p:cNvPr id="24585" name="Oval 9"/>
          <p:cNvSpPr>
            <a:spLocks noChangeArrowheads="1"/>
          </p:cNvSpPr>
          <p:nvPr/>
        </p:nvSpPr>
        <p:spPr bwMode="auto">
          <a:xfrm>
            <a:off x="3471863" y="5311775"/>
            <a:ext cx="258762" cy="95250"/>
          </a:xfrm>
          <a:prstGeom prst="ellipse">
            <a:avLst/>
          </a:prstGeom>
          <a:solidFill>
            <a:schemeClr val="bg1"/>
          </a:solidFill>
          <a:ln w="9525">
            <a:solidFill>
              <a:schemeClr val="tx1"/>
            </a:solidFill>
            <a:miter lim="800000"/>
            <a:headEnd/>
            <a:tailEnd/>
          </a:ln>
          <a:effectLst/>
        </p:spPr>
        <p:txBody>
          <a:bodyPr wrap="none" anchor="ctr"/>
          <a:lstStyle/>
          <a:p>
            <a:endParaRPr lang="zh-CN" altLang="en-US"/>
          </a:p>
        </p:txBody>
      </p:sp>
      <p:sp>
        <p:nvSpPr>
          <p:cNvPr id="24586" name="Line 10"/>
          <p:cNvSpPr>
            <a:spLocks noChangeShapeType="1"/>
          </p:cNvSpPr>
          <p:nvPr/>
        </p:nvSpPr>
        <p:spPr bwMode="auto">
          <a:xfrm flipH="1">
            <a:off x="3714750" y="5153025"/>
            <a:ext cx="876300" cy="180975"/>
          </a:xfrm>
          <a:prstGeom prst="line">
            <a:avLst/>
          </a:prstGeom>
          <a:noFill/>
          <a:ln w="28575">
            <a:solidFill>
              <a:schemeClr val="bg2"/>
            </a:solidFill>
            <a:miter lim="800000"/>
            <a:headEnd/>
            <a:tailEnd type="triangle" w="med" len="med"/>
          </a:ln>
          <a:effectLst/>
        </p:spPr>
        <p:txBody>
          <a:bodyPr wrap="none"/>
          <a:lstStyle/>
          <a:p>
            <a:endParaRPr lang="zh-CN" altLang="en-US"/>
          </a:p>
        </p:txBody>
      </p:sp>
      <p:sp>
        <p:nvSpPr>
          <p:cNvPr id="24587" name="Text Box 11"/>
          <p:cNvSpPr txBox="1">
            <a:spLocks noChangeArrowheads="1"/>
          </p:cNvSpPr>
          <p:nvPr/>
        </p:nvSpPr>
        <p:spPr bwMode="auto">
          <a:xfrm>
            <a:off x="4648200" y="5154613"/>
            <a:ext cx="407988" cy="396875"/>
          </a:xfrm>
          <a:prstGeom prst="rect">
            <a:avLst/>
          </a:prstGeom>
          <a:noFill/>
          <a:ln w="9525">
            <a:noFill/>
            <a:miter lim="800000"/>
            <a:headEnd/>
            <a:tailEnd/>
          </a:ln>
          <a:effectLst/>
        </p:spPr>
        <p:txBody>
          <a:bodyPr wrap="none">
            <a:spAutoFit/>
          </a:bodyPr>
          <a:lstStyle/>
          <a:p>
            <a:r>
              <a:rPr lang="en-US" altLang="zh-CN" sz="2000" b="1">
                <a:solidFill>
                  <a:srgbClr val="FF0000"/>
                </a:solidFill>
                <a:latin typeface="Times New Roman" pitchFamily="18" charset="0"/>
                <a:ea typeface="宋体" charset="-122"/>
                <a:cs typeface="Times New Roman" pitchFamily="18" charset="0"/>
              </a:rPr>
              <a:t>p</a:t>
            </a:r>
            <a:r>
              <a:rPr lang="en-US" altLang="zh-CN" sz="2000" b="1" baseline="-25000">
                <a:solidFill>
                  <a:srgbClr val="FF0000"/>
                </a:solidFill>
                <a:latin typeface="Times New Roman" pitchFamily="18" charset="0"/>
                <a:ea typeface="宋体" charset="-122"/>
                <a:cs typeface="Times New Roman" pitchFamily="18" charset="0"/>
              </a:rPr>
              <a:t>0</a:t>
            </a:r>
          </a:p>
        </p:txBody>
      </p:sp>
      <p:sp>
        <p:nvSpPr>
          <p:cNvPr id="24588" name="Text Box 12"/>
          <p:cNvSpPr txBox="1">
            <a:spLocks noChangeArrowheads="1"/>
          </p:cNvSpPr>
          <p:nvPr/>
        </p:nvSpPr>
        <p:spPr bwMode="auto">
          <a:xfrm>
            <a:off x="3349625" y="4903788"/>
            <a:ext cx="325438" cy="396875"/>
          </a:xfrm>
          <a:prstGeom prst="rect">
            <a:avLst/>
          </a:prstGeom>
          <a:noFill/>
          <a:ln w="9525">
            <a:noFill/>
            <a:miter lim="800000"/>
            <a:headEnd/>
            <a:tailEnd/>
          </a:ln>
          <a:effectLst/>
        </p:spPr>
        <p:txBody>
          <a:bodyPr wrap="none">
            <a:spAutoFit/>
          </a:bodyPr>
          <a:lstStyle/>
          <a:p>
            <a:r>
              <a:rPr lang="en-US" altLang="zh-CN" sz="2000" b="1">
                <a:solidFill>
                  <a:schemeClr val="bg2"/>
                </a:solidFill>
                <a:latin typeface="Times New Roman" pitchFamily="18" charset="0"/>
                <a:ea typeface="宋体" charset="-122"/>
                <a:cs typeface="Times New Roman" pitchFamily="18" charset="0"/>
              </a:rPr>
              <a:t>q</a:t>
            </a:r>
            <a:endParaRPr lang="en-US" altLang="zh-CN" sz="2000" b="1" baseline="-25000">
              <a:solidFill>
                <a:schemeClr val="bg2"/>
              </a:solidFill>
              <a:latin typeface="Times New Roman" pitchFamily="18" charset="0"/>
              <a:ea typeface="宋体" charset="-122"/>
              <a:cs typeface="Times New Roman" pitchFamily="18" charset="0"/>
            </a:endParaRPr>
          </a:p>
        </p:txBody>
      </p:sp>
      <p:sp>
        <p:nvSpPr>
          <p:cNvPr id="24589" name="Text Box 13"/>
          <p:cNvSpPr txBox="1">
            <a:spLocks noChangeArrowheads="1"/>
          </p:cNvSpPr>
          <p:nvPr/>
        </p:nvSpPr>
        <p:spPr bwMode="auto">
          <a:xfrm>
            <a:off x="6286500" y="5238750"/>
            <a:ext cx="466725" cy="366713"/>
          </a:xfrm>
          <a:prstGeom prst="rect">
            <a:avLst/>
          </a:prstGeom>
          <a:noFill/>
          <a:ln w="9525">
            <a:noFill/>
            <a:miter lim="800000"/>
            <a:headEnd/>
            <a:tailEnd/>
          </a:ln>
          <a:effectLst/>
        </p:spPr>
        <p:txBody>
          <a:bodyPr>
            <a:spAutoFit/>
          </a:bodyPr>
          <a:lstStyle/>
          <a:p>
            <a:pPr>
              <a:spcBef>
                <a:spcPct val="50000"/>
              </a:spcBef>
            </a:pPr>
            <a:r>
              <a:rPr lang="zh-CN" altLang="en-US">
                <a:ea typeface="宋体" charset="-122"/>
                <a:sym typeface="Symbol" pitchFamily="18" charset="2"/>
              </a:rPr>
              <a:t></a:t>
            </a:r>
          </a:p>
        </p:txBody>
      </p:sp>
      <p:sp>
        <p:nvSpPr>
          <p:cNvPr id="24590" name="Rectangle 14"/>
          <p:cNvSpPr>
            <a:spLocks noChangeArrowheads="1"/>
          </p:cNvSpPr>
          <p:nvPr/>
        </p:nvSpPr>
        <p:spPr bwMode="auto">
          <a:xfrm>
            <a:off x="3857620" y="2000240"/>
            <a:ext cx="2333625" cy="504825"/>
          </a:xfrm>
          <a:prstGeom prst="rect">
            <a:avLst/>
          </a:prstGeom>
          <a:noFill/>
          <a:ln w="9525">
            <a:solidFill>
              <a:schemeClr val="tx1"/>
            </a:solidFill>
            <a:miter lim="800000"/>
            <a:headEnd/>
            <a:tailEnd/>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4586"/>
                                        </p:tgtEl>
                                        <p:attrNameLst>
                                          <p:attrName>style.visibility</p:attrName>
                                        </p:attrNameLst>
                                      </p:cBhvr>
                                      <p:to>
                                        <p:strVal val="visible"/>
                                      </p:to>
                                    </p:set>
                                    <p:animEffect transition="in" filter="wipe(up)">
                                      <p:cBhvr>
                                        <p:cTn id="7" dur="500"/>
                                        <p:tgtEl>
                                          <p:spTgt spid="24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dirty="0">
                <a:ea typeface="宋体" charset="-122"/>
              </a:rPr>
              <a:t>点到平面的距离</a:t>
            </a:r>
            <a:r>
              <a:rPr lang="en-US" altLang="zh-CN" dirty="0">
                <a:ea typeface="宋体" charset="-122"/>
              </a:rPr>
              <a:t>(3D)</a:t>
            </a:r>
          </a:p>
        </p:txBody>
      </p:sp>
      <p:sp>
        <p:nvSpPr>
          <p:cNvPr id="25603" name="Rectangle 3"/>
          <p:cNvSpPr>
            <a:spLocks noGrp="1" noChangeArrowheads="1"/>
          </p:cNvSpPr>
          <p:nvPr>
            <p:ph type="body" idx="1"/>
          </p:nvPr>
        </p:nvSpPr>
        <p:spPr/>
        <p:txBody>
          <a:bodyPr/>
          <a:lstStyle/>
          <a:p>
            <a:r>
              <a:rPr lang="zh-CN" altLang="en-US" dirty="0">
                <a:ea typeface="宋体" charset="-122"/>
              </a:rPr>
              <a:t>把点投影到平面上，则：</a:t>
            </a:r>
            <a:endParaRPr lang="en-US" altLang="zh-CN" dirty="0">
              <a:ea typeface="宋体" charset="-122"/>
            </a:endParaRPr>
          </a:p>
          <a:p>
            <a:pPr algn="ctr">
              <a:buFont typeface="Wingdings" pitchFamily="2" charset="2"/>
              <a:buNone/>
            </a:pPr>
            <a:r>
              <a:rPr lang="en-US" altLang="zh-CN" dirty="0">
                <a:latin typeface="Times New Roman" pitchFamily="18" charset="0"/>
                <a:ea typeface="宋体" charset="-122"/>
                <a:cs typeface="Times New Roman" pitchFamily="18" charset="0"/>
              </a:rPr>
              <a:t>dist(</a:t>
            </a:r>
            <a:r>
              <a:rPr lang="en-US" altLang="zh-CN" b="1" dirty="0">
                <a:latin typeface="Times New Roman" pitchFamily="18" charset="0"/>
                <a:ea typeface="宋体" charset="-122"/>
                <a:cs typeface="Times New Roman" pitchFamily="18" charset="0"/>
              </a:rPr>
              <a:t>q</a:t>
            </a:r>
            <a:r>
              <a:rPr lang="en-US" altLang="zh-CN" i="1" dirty="0">
                <a:latin typeface="Times New Roman" pitchFamily="18" charset="0"/>
                <a:ea typeface="宋体" charset="-122"/>
                <a:cs typeface="Times New Roman" pitchFamily="18" charset="0"/>
              </a:rPr>
              <a:t>, </a:t>
            </a:r>
            <a:r>
              <a:rPr lang="en-US" altLang="zh-CN" dirty="0">
                <a:ea typeface="宋体" charset="-122"/>
                <a:sym typeface="Symbol" pitchFamily="18" charset="2"/>
              </a:rPr>
              <a:t></a:t>
            </a:r>
            <a:r>
              <a:rPr lang="en-US" altLang="zh-CN" dirty="0">
                <a:latin typeface="Times New Roman" pitchFamily="18" charset="0"/>
                <a:ea typeface="宋体" charset="-122"/>
              </a:rPr>
              <a:t>)</a:t>
            </a:r>
            <a:r>
              <a:rPr lang="en-US" altLang="zh-CN" i="1" dirty="0">
                <a:latin typeface="Times New Roman" pitchFamily="18" charset="0"/>
                <a:ea typeface="宋体" charset="-122"/>
              </a:rPr>
              <a:t> = ||</a:t>
            </a:r>
            <a:r>
              <a:rPr lang="en-US" altLang="zh-CN" b="1" dirty="0">
                <a:latin typeface="Times New Roman" pitchFamily="18" charset="0"/>
                <a:ea typeface="宋体" charset="-122"/>
              </a:rPr>
              <a:t>q’ – q</a:t>
            </a:r>
            <a:r>
              <a:rPr lang="en-US" altLang="zh-CN" i="1" dirty="0">
                <a:latin typeface="Times New Roman" pitchFamily="18" charset="0"/>
                <a:ea typeface="宋体" charset="-122"/>
              </a:rPr>
              <a:t>||</a:t>
            </a:r>
          </a:p>
        </p:txBody>
      </p:sp>
      <p:sp>
        <p:nvSpPr>
          <p:cNvPr id="25604" name="Freeform 4"/>
          <p:cNvSpPr>
            <a:spLocks/>
          </p:cNvSpPr>
          <p:nvPr/>
        </p:nvSpPr>
        <p:spPr bwMode="auto">
          <a:xfrm>
            <a:off x="2324100" y="5133975"/>
            <a:ext cx="4133850" cy="885825"/>
          </a:xfrm>
          <a:custGeom>
            <a:avLst/>
            <a:gdLst/>
            <a:ahLst/>
            <a:cxnLst>
              <a:cxn ang="0">
                <a:pos x="0" y="558"/>
              </a:cxn>
              <a:cxn ang="0">
                <a:pos x="660" y="0"/>
              </a:cxn>
              <a:cxn ang="0">
                <a:pos x="2352" y="0"/>
              </a:cxn>
              <a:cxn ang="0">
                <a:pos x="2604" y="558"/>
              </a:cxn>
              <a:cxn ang="0">
                <a:pos x="0" y="558"/>
              </a:cxn>
            </a:cxnLst>
            <a:rect l="0" t="0" r="r" b="b"/>
            <a:pathLst>
              <a:path w="2604" h="558">
                <a:moveTo>
                  <a:pt x="0" y="558"/>
                </a:moveTo>
                <a:lnTo>
                  <a:pt x="660" y="0"/>
                </a:lnTo>
                <a:lnTo>
                  <a:pt x="2352" y="0"/>
                </a:lnTo>
                <a:lnTo>
                  <a:pt x="2604" y="558"/>
                </a:lnTo>
                <a:lnTo>
                  <a:pt x="0" y="558"/>
                </a:lnTo>
                <a:close/>
              </a:path>
            </a:pathLst>
          </a:custGeom>
          <a:gradFill rotWithShape="1">
            <a:gsLst>
              <a:gs pos="0">
                <a:srgbClr val="A1A1AB"/>
              </a:gs>
              <a:gs pos="100000">
                <a:schemeClr val="folHlink"/>
              </a:gs>
            </a:gsLst>
            <a:lin ang="5400000" scaled="1"/>
          </a:grad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5605" name="Text Box 5"/>
          <p:cNvSpPr txBox="1">
            <a:spLocks noChangeArrowheads="1"/>
          </p:cNvSpPr>
          <p:nvPr/>
        </p:nvSpPr>
        <p:spPr bwMode="auto">
          <a:xfrm>
            <a:off x="5222875" y="3886200"/>
            <a:ext cx="382588" cy="519113"/>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n</a:t>
            </a:r>
          </a:p>
        </p:txBody>
      </p:sp>
      <p:sp>
        <p:nvSpPr>
          <p:cNvPr id="25606" name="Freeform 6"/>
          <p:cNvSpPr>
            <a:spLocks/>
          </p:cNvSpPr>
          <p:nvPr/>
        </p:nvSpPr>
        <p:spPr bwMode="auto">
          <a:xfrm>
            <a:off x="5143500" y="5172075"/>
            <a:ext cx="171450" cy="209550"/>
          </a:xfrm>
          <a:custGeom>
            <a:avLst/>
            <a:gdLst/>
            <a:ahLst/>
            <a:cxnLst>
              <a:cxn ang="0">
                <a:pos x="0" y="0"/>
              </a:cxn>
              <a:cxn ang="0">
                <a:pos x="108" y="0"/>
              </a:cxn>
              <a:cxn ang="0">
                <a:pos x="108" y="120"/>
              </a:cxn>
            </a:cxnLst>
            <a:rect l="0" t="0" r="r" b="b"/>
            <a:pathLst>
              <a:path w="108" h="120">
                <a:moveTo>
                  <a:pt x="0" y="0"/>
                </a:moveTo>
                <a:lnTo>
                  <a:pt x="108" y="0"/>
                </a:lnTo>
                <a:lnTo>
                  <a:pt x="108" y="120"/>
                </a:lnTo>
              </a:path>
            </a:pathLst>
          </a:custGeom>
          <a:noFill/>
          <a:ln w="19050"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5607" name="Oval 7"/>
          <p:cNvSpPr>
            <a:spLocks noChangeArrowheads="1"/>
          </p:cNvSpPr>
          <p:nvPr/>
        </p:nvSpPr>
        <p:spPr bwMode="auto">
          <a:xfrm>
            <a:off x="5008563" y="5314950"/>
            <a:ext cx="258762" cy="95250"/>
          </a:xfrm>
          <a:prstGeom prst="ellipse">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25608" name="Line 8"/>
          <p:cNvSpPr>
            <a:spLocks noChangeShapeType="1"/>
          </p:cNvSpPr>
          <p:nvPr/>
        </p:nvSpPr>
        <p:spPr bwMode="auto">
          <a:xfrm flipV="1">
            <a:off x="5143500" y="4229100"/>
            <a:ext cx="0" cy="1143000"/>
          </a:xfrm>
          <a:prstGeom prst="line">
            <a:avLst/>
          </a:prstGeom>
          <a:noFill/>
          <a:ln w="38100">
            <a:solidFill>
              <a:schemeClr val="tx1"/>
            </a:solidFill>
            <a:miter lim="800000"/>
            <a:headEnd/>
            <a:tailEnd type="triangle" w="med" len="med"/>
          </a:ln>
          <a:effectLst/>
        </p:spPr>
        <p:txBody>
          <a:bodyPr wrap="none"/>
          <a:lstStyle/>
          <a:p>
            <a:endParaRPr lang="zh-CN" altLang="en-US"/>
          </a:p>
        </p:txBody>
      </p:sp>
      <p:sp>
        <p:nvSpPr>
          <p:cNvPr id="25609" name="Oval 9"/>
          <p:cNvSpPr>
            <a:spLocks noChangeArrowheads="1"/>
          </p:cNvSpPr>
          <p:nvPr/>
        </p:nvSpPr>
        <p:spPr bwMode="auto">
          <a:xfrm>
            <a:off x="3910013" y="5540375"/>
            <a:ext cx="258762" cy="95250"/>
          </a:xfrm>
          <a:prstGeom prst="ellipse">
            <a:avLst/>
          </a:prstGeom>
          <a:solidFill>
            <a:schemeClr val="bg1"/>
          </a:solidFill>
          <a:ln w="9525">
            <a:solidFill>
              <a:schemeClr val="tx1"/>
            </a:solidFill>
            <a:miter lim="800000"/>
            <a:headEnd/>
            <a:tailEnd/>
          </a:ln>
          <a:effectLst/>
        </p:spPr>
        <p:txBody>
          <a:bodyPr wrap="none" anchor="ctr"/>
          <a:lstStyle/>
          <a:p>
            <a:endParaRPr lang="zh-CN" altLang="en-US"/>
          </a:p>
        </p:txBody>
      </p:sp>
      <p:sp>
        <p:nvSpPr>
          <p:cNvPr id="25610" name="Line 10"/>
          <p:cNvSpPr>
            <a:spLocks noChangeShapeType="1"/>
          </p:cNvSpPr>
          <p:nvPr/>
        </p:nvSpPr>
        <p:spPr bwMode="auto">
          <a:xfrm flipH="1">
            <a:off x="4143375" y="5391150"/>
            <a:ext cx="885825" cy="180975"/>
          </a:xfrm>
          <a:prstGeom prst="line">
            <a:avLst/>
          </a:prstGeom>
          <a:noFill/>
          <a:ln w="28575">
            <a:solidFill>
              <a:schemeClr val="bg2"/>
            </a:solidFill>
            <a:miter lim="800000"/>
            <a:headEnd/>
            <a:tailEnd type="triangle" w="med" len="med"/>
          </a:ln>
          <a:effectLst/>
        </p:spPr>
        <p:txBody>
          <a:bodyPr wrap="none"/>
          <a:lstStyle/>
          <a:p>
            <a:endParaRPr lang="zh-CN" altLang="en-US"/>
          </a:p>
        </p:txBody>
      </p:sp>
      <p:sp>
        <p:nvSpPr>
          <p:cNvPr id="25611" name="Text Box 11"/>
          <p:cNvSpPr txBox="1">
            <a:spLocks noChangeArrowheads="1"/>
          </p:cNvSpPr>
          <p:nvPr/>
        </p:nvSpPr>
        <p:spPr bwMode="auto">
          <a:xfrm>
            <a:off x="5086350" y="5383213"/>
            <a:ext cx="407988" cy="396875"/>
          </a:xfrm>
          <a:prstGeom prst="rect">
            <a:avLst/>
          </a:prstGeom>
          <a:noFill/>
          <a:ln w="9525">
            <a:noFill/>
            <a:miter lim="800000"/>
            <a:headEnd/>
            <a:tailEnd/>
          </a:ln>
          <a:effectLst/>
        </p:spPr>
        <p:txBody>
          <a:bodyPr wrap="none">
            <a:spAutoFit/>
          </a:bodyPr>
          <a:lstStyle/>
          <a:p>
            <a:r>
              <a:rPr lang="en-US" altLang="zh-CN" sz="2000" b="1">
                <a:solidFill>
                  <a:srgbClr val="FF0000"/>
                </a:solidFill>
                <a:latin typeface="Times New Roman" pitchFamily="18" charset="0"/>
                <a:ea typeface="宋体" charset="-122"/>
                <a:cs typeface="Times New Roman" pitchFamily="18" charset="0"/>
              </a:rPr>
              <a:t>p</a:t>
            </a:r>
            <a:r>
              <a:rPr lang="en-US" altLang="zh-CN" sz="2000" b="1" baseline="-25000">
                <a:solidFill>
                  <a:srgbClr val="FF0000"/>
                </a:solidFill>
                <a:latin typeface="Times New Roman" pitchFamily="18" charset="0"/>
                <a:ea typeface="宋体" charset="-122"/>
                <a:cs typeface="Times New Roman" pitchFamily="18" charset="0"/>
              </a:rPr>
              <a:t>0</a:t>
            </a:r>
          </a:p>
        </p:txBody>
      </p:sp>
      <p:sp>
        <p:nvSpPr>
          <p:cNvPr id="25612" name="Text Box 12"/>
          <p:cNvSpPr txBox="1">
            <a:spLocks noChangeArrowheads="1"/>
          </p:cNvSpPr>
          <p:nvPr/>
        </p:nvSpPr>
        <p:spPr bwMode="auto">
          <a:xfrm>
            <a:off x="3473450" y="5341938"/>
            <a:ext cx="409575" cy="396875"/>
          </a:xfrm>
          <a:prstGeom prst="rect">
            <a:avLst/>
          </a:prstGeom>
          <a:noFill/>
          <a:ln w="9525">
            <a:noFill/>
            <a:miter lim="800000"/>
            <a:headEnd/>
            <a:tailEnd/>
          </a:ln>
          <a:effectLst/>
        </p:spPr>
        <p:txBody>
          <a:bodyPr wrap="none">
            <a:spAutoFit/>
          </a:bodyPr>
          <a:lstStyle/>
          <a:p>
            <a:r>
              <a:rPr lang="en-US" altLang="zh-CN" sz="2000" b="1">
                <a:solidFill>
                  <a:schemeClr val="bg2"/>
                </a:solidFill>
                <a:latin typeface="Times New Roman" pitchFamily="18" charset="0"/>
                <a:ea typeface="宋体" charset="-122"/>
                <a:cs typeface="Times New Roman" pitchFamily="18" charset="0"/>
              </a:rPr>
              <a:t>q’</a:t>
            </a:r>
            <a:endParaRPr lang="en-US" altLang="zh-CN" sz="2000" b="1" baseline="-25000">
              <a:solidFill>
                <a:schemeClr val="bg2"/>
              </a:solidFill>
              <a:latin typeface="Times New Roman" pitchFamily="18" charset="0"/>
              <a:ea typeface="宋体" charset="-122"/>
              <a:cs typeface="Times New Roman" pitchFamily="18" charset="0"/>
            </a:endParaRPr>
          </a:p>
        </p:txBody>
      </p:sp>
      <p:sp>
        <p:nvSpPr>
          <p:cNvPr id="25613" name="Text Box 13"/>
          <p:cNvSpPr txBox="1">
            <a:spLocks noChangeArrowheads="1"/>
          </p:cNvSpPr>
          <p:nvPr/>
        </p:nvSpPr>
        <p:spPr bwMode="auto">
          <a:xfrm>
            <a:off x="6029325" y="5610225"/>
            <a:ext cx="466725" cy="366713"/>
          </a:xfrm>
          <a:prstGeom prst="rect">
            <a:avLst/>
          </a:prstGeom>
          <a:noFill/>
          <a:ln w="9525">
            <a:noFill/>
            <a:miter lim="800000"/>
            <a:headEnd/>
            <a:tailEnd/>
          </a:ln>
          <a:effectLst/>
        </p:spPr>
        <p:txBody>
          <a:bodyPr>
            <a:spAutoFit/>
          </a:bodyPr>
          <a:lstStyle/>
          <a:p>
            <a:pPr>
              <a:spcBef>
                <a:spcPct val="50000"/>
              </a:spcBef>
            </a:pPr>
            <a:r>
              <a:rPr lang="zh-CN" altLang="en-US">
                <a:ea typeface="宋体" charset="-122"/>
                <a:sym typeface="Symbol" pitchFamily="18" charset="2"/>
              </a:rPr>
              <a:t></a:t>
            </a:r>
          </a:p>
        </p:txBody>
      </p:sp>
      <p:sp>
        <p:nvSpPr>
          <p:cNvPr id="25614" name="Text Box 14"/>
          <p:cNvSpPr txBox="1">
            <a:spLocks noChangeArrowheads="1"/>
          </p:cNvSpPr>
          <p:nvPr/>
        </p:nvSpPr>
        <p:spPr bwMode="auto">
          <a:xfrm>
            <a:off x="3565525" y="4033838"/>
            <a:ext cx="325438" cy="396875"/>
          </a:xfrm>
          <a:prstGeom prst="rect">
            <a:avLst/>
          </a:prstGeom>
          <a:noFill/>
          <a:ln w="9525">
            <a:noFill/>
            <a:miter lim="800000"/>
            <a:headEnd/>
            <a:tailEnd/>
          </a:ln>
          <a:effectLst/>
        </p:spPr>
        <p:txBody>
          <a:bodyPr wrap="none">
            <a:spAutoFit/>
          </a:bodyPr>
          <a:lstStyle/>
          <a:p>
            <a:r>
              <a:rPr lang="en-US" altLang="zh-CN" sz="2000" b="1" dirty="0">
                <a:solidFill>
                  <a:schemeClr val="tx2">
                    <a:lumMod val="60000"/>
                    <a:lumOff val="40000"/>
                  </a:schemeClr>
                </a:solidFill>
                <a:latin typeface="Times New Roman" pitchFamily="18" charset="0"/>
                <a:ea typeface="宋体" charset="-122"/>
                <a:cs typeface="Times New Roman" pitchFamily="18" charset="0"/>
              </a:rPr>
              <a:t>q</a:t>
            </a:r>
            <a:endParaRPr lang="en-US" altLang="zh-CN" sz="2000" b="1" baseline="-25000" dirty="0">
              <a:solidFill>
                <a:schemeClr val="tx2">
                  <a:lumMod val="60000"/>
                  <a:lumOff val="40000"/>
                </a:schemeClr>
              </a:solidFill>
              <a:latin typeface="Times New Roman" pitchFamily="18" charset="0"/>
              <a:ea typeface="宋体" charset="-122"/>
              <a:cs typeface="Times New Roman" pitchFamily="18" charset="0"/>
            </a:endParaRPr>
          </a:p>
        </p:txBody>
      </p:sp>
      <p:sp>
        <p:nvSpPr>
          <p:cNvPr id="25615" name="Oval 15"/>
          <p:cNvSpPr>
            <a:spLocks noChangeArrowheads="1"/>
          </p:cNvSpPr>
          <p:nvPr/>
        </p:nvSpPr>
        <p:spPr bwMode="auto">
          <a:xfrm>
            <a:off x="3906838" y="4346575"/>
            <a:ext cx="258762" cy="9525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5616" name="Line 16"/>
          <p:cNvSpPr>
            <a:spLocks noChangeShapeType="1"/>
          </p:cNvSpPr>
          <p:nvPr/>
        </p:nvSpPr>
        <p:spPr bwMode="auto">
          <a:xfrm>
            <a:off x="4029075" y="4448175"/>
            <a:ext cx="0" cy="1133475"/>
          </a:xfrm>
          <a:prstGeom prst="line">
            <a:avLst/>
          </a:prstGeom>
          <a:noFill/>
          <a:ln w="19050">
            <a:solidFill>
              <a:schemeClr val="tx1"/>
            </a:solidFill>
            <a:miter lim="800000"/>
            <a:headEnd/>
            <a:tailEnd type="arrow" w="med" len="med"/>
          </a:ln>
          <a:effectLst/>
        </p:spPr>
        <p:txBody>
          <a:bodyPr wrap="none"/>
          <a:lstStyle/>
          <a:p>
            <a:endParaRPr lang="zh-CN" altLang="en-US"/>
          </a:p>
        </p:txBody>
      </p:sp>
      <p:sp>
        <p:nvSpPr>
          <p:cNvPr id="25617" name="Freeform 17"/>
          <p:cNvSpPr>
            <a:spLocks/>
          </p:cNvSpPr>
          <p:nvPr/>
        </p:nvSpPr>
        <p:spPr bwMode="auto">
          <a:xfrm>
            <a:off x="4025900" y="5330825"/>
            <a:ext cx="171450" cy="209550"/>
          </a:xfrm>
          <a:custGeom>
            <a:avLst/>
            <a:gdLst/>
            <a:ahLst/>
            <a:cxnLst>
              <a:cxn ang="0">
                <a:pos x="0" y="0"/>
              </a:cxn>
              <a:cxn ang="0">
                <a:pos x="108" y="0"/>
              </a:cxn>
              <a:cxn ang="0">
                <a:pos x="108" y="120"/>
              </a:cxn>
            </a:cxnLst>
            <a:rect l="0" t="0" r="r" b="b"/>
            <a:pathLst>
              <a:path w="108" h="120">
                <a:moveTo>
                  <a:pt x="0" y="0"/>
                </a:moveTo>
                <a:lnTo>
                  <a:pt x="108" y="0"/>
                </a:lnTo>
                <a:lnTo>
                  <a:pt x="108" y="120"/>
                </a:lnTo>
              </a:path>
            </a:pathLst>
          </a:custGeom>
          <a:noFill/>
          <a:ln w="19050" cap="flat" cmpd="sng">
            <a:solidFill>
              <a:schemeClr val="tx1"/>
            </a:solidFill>
            <a:prstDash val="solid"/>
            <a:miter lim="800000"/>
            <a:headEnd type="none" w="med" len="med"/>
            <a:tailEnd type="none" w="med" len="med"/>
          </a:ln>
          <a:effectLst/>
        </p:spPr>
        <p:txBody>
          <a:bodyPr wrap="none"/>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5616"/>
                                        </p:tgtEl>
                                        <p:attrNameLst>
                                          <p:attrName>style.visibility</p:attrName>
                                        </p:attrNameLst>
                                      </p:cBhvr>
                                      <p:to>
                                        <p:strVal val="visible"/>
                                      </p:to>
                                    </p:set>
                                    <p:animEffect transition="in" filter="wipe(up)">
                                      <p:cBhvr>
                                        <p:cTn id="7" dur="500"/>
                                        <p:tgtEl>
                                          <p:spTgt spid="25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dirty="0">
                <a:ea typeface="宋体" charset="-122"/>
              </a:rPr>
              <a:t>点到平面的距离</a:t>
            </a:r>
            <a:r>
              <a:rPr lang="en-US" altLang="zh-CN" dirty="0">
                <a:ea typeface="宋体" charset="-122"/>
              </a:rPr>
              <a:t>(</a:t>
            </a:r>
            <a:r>
              <a:rPr lang="zh-CN" altLang="en-US" dirty="0">
                <a:ea typeface="宋体" charset="-122"/>
              </a:rPr>
              <a:t>代数推导</a:t>
            </a:r>
            <a:r>
              <a:rPr lang="en-US" altLang="zh-CN" dirty="0">
                <a:ea typeface="宋体" charset="-122"/>
              </a:rPr>
              <a:t>,3D)</a:t>
            </a:r>
          </a:p>
        </p:txBody>
      </p:sp>
      <p:sp>
        <p:nvSpPr>
          <p:cNvPr id="26627" name="Freeform 3"/>
          <p:cNvSpPr>
            <a:spLocks/>
          </p:cNvSpPr>
          <p:nvPr/>
        </p:nvSpPr>
        <p:spPr bwMode="auto">
          <a:xfrm>
            <a:off x="2324100" y="5476875"/>
            <a:ext cx="4133850" cy="885825"/>
          </a:xfrm>
          <a:custGeom>
            <a:avLst/>
            <a:gdLst/>
            <a:ahLst/>
            <a:cxnLst>
              <a:cxn ang="0">
                <a:pos x="0" y="558"/>
              </a:cxn>
              <a:cxn ang="0">
                <a:pos x="660" y="0"/>
              </a:cxn>
              <a:cxn ang="0">
                <a:pos x="2352" y="0"/>
              </a:cxn>
              <a:cxn ang="0">
                <a:pos x="2604" y="558"/>
              </a:cxn>
              <a:cxn ang="0">
                <a:pos x="0" y="558"/>
              </a:cxn>
            </a:cxnLst>
            <a:rect l="0" t="0" r="r" b="b"/>
            <a:pathLst>
              <a:path w="2604" h="558">
                <a:moveTo>
                  <a:pt x="0" y="558"/>
                </a:moveTo>
                <a:lnTo>
                  <a:pt x="660" y="0"/>
                </a:lnTo>
                <a:lnTo>
                  <a:pt x="2352" y="0"/>
                </a:lnTo>
                <a:lnTo>
                  <a:pt x="2604" y="558"/>
                </a:lnTo>
                <a:lnTo>
                  <a:pt x="0" y="558"/>
                </a:lnTo>
                <a:close/>
              </a:path>
            </a:pathLst>
          </a:custGeom>
          <a:gradFill rotWithShape="1">
            <a:gsLst>
              <a:gs pos="0">
                <a:srgbClr val="A1A1AB"/>
              </a:gs>
              <a:gs pos="100000">
                <a:schemeClr val="folHlink"/>
              </a:gs>
            </a:gsLst>
            <a:lin ang="5400000" scaled="1"/>
          </a:grad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6628" name="Text Box 4"/>
          <p:cNvSpPr txBox="1">
            <a:spLocks noChangeArrowheads="1"/>
          </p:cNvSpPr>
          <p:nvPr/>
        </p:nvSpPr>
        <p:spPr bwMode="auto">
          <a:xfrm>
            <a:off x="5222875" y="4229100"/>
            <a:ext cx="382588" cy="519113"/>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n</a:t>
            </a:r>
          </a:p>
        </p:txBody>
      </p:sp>
      <p:sp>
        <p:nvSpPr>
          <p:cNvPr id="26629" name="Freeform 5"/>
          <p:cNvSpPr>
            <a:spLocks/>
          </p:cNvSpPr>
          <p:nvPr/>
        </p:nvSpPr>
        <p:spPr bwMode="auto">
          <a:xfrm>
            <a:off x="5143500" y="5514975"/>
            <a:ext cx="171450" cy="209550"/>
          </a:xfrm>
          <a:custGeom>
            <a:avLst/>
            <a:gdLst/>
            <a:ahLst/>
            <a:cxnLst>
              <a:cxn ang="0">
                <a:pos x="0" y="0"/>
              </a:cxn>
              <a:cxn ang="0">
                <a:pos x="108" y="0"/>
              </a:cxn>
              <a:cxn ang="0">
                <a:pos x="108" y="120"/>
              </a:cxn>
            </a:cxnLst>
            <a:rect l="0" t="0" r="r" b="b"/>
            <a:pathLst>
              <a:path w="108" h="120">
                <a:moveTo>
                  <a:pt x="0" y="0"/>
                </a:moveTo>
                <a:lnTo>
                  <a:pt x="108" y="0"/>
                </a:lnTo>
                <a:lnTo>
                  <a:pt x="108" y="120"/>
                </a:lnTo>
              </a:path>
            </a:pathLst>
          </a:custGeom>
          <a:noFill/>
          <a:ln w="19050"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6630" name="Oval 6"/>
          <p:cNvSpPr>
            <a:spLocks noChangeArrowheads="1"/>
          </p:cNvSpPr>
          <p:nvPr/>
        </p:nvSpPr>
        <p:spPr bwMode="auto">
          <a:xfrm>
            <a:off x="5008563" y="5657850"/>
            <a:ext cx="258762" cy="95250"/>
          </a:xfrm>
          <a:prstGeom prst="ellipse">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26631" name="Line 7"/>
          <p:cNvSpPr>
            <a:spLocks noChangeShapeType="1"/>
          </p:cNvSpPr>
          <p:nvPr/>
        </p:nvSpPr>
        <p:spPr bwMode="auto">
          <a:xfrm flipV="1">
            <a:off x="5143500" y="4572000"/>
            <a:ext cx="0" cy="1143000"/>
          </a:xfrm>
          <a:prstGeom prst="line">
            <a:avLst/>
          </a:prstGeom>
          <a:noFill/>
          <a:ln w="38100">
            <a:solidFill>
              <a:schemeClr val="tx1"/>
            </a:solidFill>
            <a:miter lim="800000"/>
            <a:headEnd/>
            <a:tailEnd type="triangle" w="med" len="med"/>
          </a:ln>
          <a:effectLst/>
        </p:spPr>
        <p:txBody>
          <a:bodyPr wrap="none"/>
          <a:lstStyle/>
          <a:p>
            <a:endParaRPr lang="zh-CN" altLang="en-US"/>
          </a:p>
        </p:txBody>
      </p:sp>
      <p:sp>
        <p:nvSpPr>
          <p:cNvPr id="26632" name="Oval 8"/>
          <p:cNvSpPr>
            <a:spLocks noChangeArrowheads="1"/>
          </p:cNvSpPr>
          <p:nvPr/>
        </p:nvSpPr>
        <p:spPr bwMode="auto">
          <a:xfrm>
            <a:off x="3910013" y="5883275"/>
            <a:ext cx="258762" cy="95250"/>
          </a:xfrm>
          <a:prstGeom prst="ellipse">
            <a:avLst/>
          </a:prstGeom>
          <a:solidFill>
            <a:schemeClr val="bg1"/>
          </a:solidFill>
          <a:ln w="9525">
            <a:solidFill>
              <a:schemeClr val="tx1"/>
            </a:solidFill>
            <a:miter lim="800000"/>
            <a:headEnd/>
            <a:tailEnd/>
          </a:ln>
          <a:effectLst/>
        </p:spPr>
        <p:txBody>
          <a:bodyPr wrap="none" anchor="ctr"/>
          <a:lstStyle/>
          <a:p>
            <a:endParaRPr lang="zh-CN" altLang="en-US"/>
          </a:p>
        </p:txBody>
      </p:sp>
      <p:sp>
        <p:nvSpPr>
          <p:cNvPr id="26633" name="Line 9"/>
          <p:cNvSpPr>
            <a:spLocks noChangeShapeType="1"/>
          </p:cNvSpPr>
          <p:nvPr/>
        </p:nvSpPr>
        <p:spPr bwMode="auto">
          <a:xfrm flipH="1">
            <a:off x="4143375" y="5734050"/>
            <a:ext cx="885825" cy="180975"/>
          </a:xfrm>
          <a:prstGeom prst="line">
            <a:avLst/>
          </a:prstGeom>
          <a:noFill/>
          <a:ln w="28575">
            <a:solidFill>
              <a:schemeClr val="bg2"/>
            </a:solidFill>
            <a:miter lim="800000"/>
            <a:headEnd/>
            <a:tailEnd type="triangle" w="med" len="med"/>
          </a:ln>
          <a:effectLst/>
        </p:spPr>
        <p:txBody>
          <a:bodyPr wrap="none"/>
          <a:lstStyle/>
          <a:p>
            <a:endParaRPr lang="zh-CN" altLang="en-US"/>
          </a:p>
        </p:txBody>
      </p:sp>
      <p:sp>
        <p:nvSpPr>
          <p:cNvPr id="26634" name="Text Box 10"/>
          <p:cNvSpPr txBox="1">
            <a:spLocks noChangeArrowheads="1"/>
          </p:cNvSpPr>
          <p:nvPr/>
        </p:nvSpPr>
        <p:spPr bwMode="auto">
          <a:xfrm>
            <a:off x="5086350" y="5726113"/>
            <a:ext cx="407988" cy="396875"/>
          </a:xfrm>
          <a:prstGeom prst="rect">
            <a:avLst/>
          </a:prstGeom>
          <a:noFill/>
          <a:ln w="9525">
            <a:noFill/>
            <a:miter lim="800000"/>
            <a:headEnd/>
            <a:tailEnd/>
          </a:ln>
          <a:effectLst/>
        </p:spPr>
        <p:txBody>
          <a:bodyPr wrap="none">
            <a:spAutoFit/>
          </a:bodyPr>
          <a:lstStyle/>
          <a:p>
            <a:r>
              <a:rPr lang="en-US" altLang="zh-CN" sz="2000" b="1">
                <a:solidFill>
                  <a:srgbClr val="FF0000"/>
                </a:solidFill>
                <a:latin typeface="Times New Roman" pitchFamily="18" charset="0"/>
                <a:ea typeface="宋体" charset="-122"/>
                <a:cs typeface="Times New Roman" pitchFamily="18" charset="0"/>
              </a:rPr>
              <a:t>p</a:t>
            </a:r>
            <a:r>
              <a:rPr lang="en-US" altLang="zh-CN" sz="2000" b="1" baseline="-25000">
                <a:solidFill>
                  <a:srgbClr val="FF0000"/>
                </a:solidFill>
                <a:latin typeface="Times New Roman" pitchFamily="18" charset="0"/>
                <a:ea typeface="宋体" charset="-122"/>
                <a:cs typeface="Times New Roman" pitchFamily="18" charset="0"/>
              </a:rPr>
              <a:t>0</a:t>
            </a:r>
          </a:p>
        </p:txBody>
      </p:sp>
      <p:sp>
        <p:nvSpPr>
          <p:cNvPr id="26635" name="Text Box 11"/>
          <p:cNvSpPr txBox="1">
            <a:spLocks noChangeArrowheads="1"/>
          </p:cNvSpPr>
          <p:nvPr/>
        </p:nvSpPr>
        <p:spPr bwMode="auto">
          <a:xfrm>
            <a:off x="3473450" y="5684838"/>
            <a:ext cx="409575" cy="396875"/>
          </a:xfrm>
          <a:prstGeom prst="rect">
            <a:avLst/>
          </a:prstGeom>
          <a:noFill/>
          <a:ln w="9525">
            <a:noFill/>
            <a:miter lim="800000"/>
            <a:headEnd/>
            <a:tailEnd/>
          </a:ln>
          <a:effectLst/>
        </p:spPr>
        <p:txBody>
          <a:bodyPr wrap="none">
            <a:spAutoFit/>
          </a:bodyPr>
          <a:lstStyle/>
          <a:p>
            <a:r>
              <a:rPr lang="en-US" altLang="zh-CN" sz="2000" b="1">
                <a:solidFill>
                  <a:schemeClr val="bg2"/>
                </a:solidFill>
                <a:latin typeface="Times New Roman" pitchFamily="18" charset="0"/>
                <a:ea typeface="宋体" charset="-122"/>
                <a:cs typeface="Times New Roman" pitchFamily="18" charset="0"/>
              </a:rPr>
              <a:t>q’</a:t>
            </a:r>
            <a:endParaRPr lang="en-US" altLang="zh-CN" sz="2000" b="1" baseline="-25000">
              <a:solidFill>
                <a:schemeClr val="bg2"/>
              </a:solidFill>
              <a:latin typeface="Times New Roman" pitchFamily="18" charset="0"/>
              <a:ea typeface="宋体" charset="-122"/>
              <a:cs typeface="Times New Roman" pitchFamily="18" charset="0"/>
            </a:endParaRPr>
          </a:p>
        </p:txBody>
      </p:sp>
      <p:sp>
        <p:nvSpPr>
          <p:cNvPr id="26636" name="Text Box 12"/>
          <p:cNvSpPr txBox="1">
            <a:spLocks noChangeArrowheads="1"/>
          </p:cNvSpPr>
          <p:nvPr/>
        </p:nvSpPr>
        <p:spPr bwMode="auto">
          <a:xfrm>
            <a:off x="6029325" y="5953125"/>
            <a:ext cx="466725" cy="366713"/>
          </a:xfrm>
          <a:prstGeom prst="rect">
            <a:avLst/>
          </a:prstGeom>
          <a:noFill/>
          <a:ln w="9525">
            <a:noFill/>
            <a:miter lim="800000"/>
            <a:headEnd/>
            <a:tailEnd/>
          </a:ln>
          <a:effectLst/>
        </p:spPr>
        <p:txBody>
          <a:bodyPr>
            <a:spAutoFit/>
          </a:bodyPr>
          <a:lstStyle/>
          <a:p>
            <a:pPr>
              <a:spcBef>
                <a:spcPct val="50000"/>
              </a:spcBef>
            </a:pPr>
            <a:r>
              <a:rPr lang="zh-CN" altLang="en-US">
                <a:ea typeface="宋体" charset="-122"/>
                <a:sym typeface="Symbol" pitchFamily="18" charset="2"/>
              </a:rPr>
              <a:t></a:t>
            </a:r>
          </a:p>
        </p:txBody>
      </p:sp>
      <p:sp>
        <p:nvSpPr>
          <p:cNvPr id="26637" name="Text Box 13"/>
          <p:cNvSpPr txBox="1">
            <a:spLocks noChangeArrowheads="1"/>
          </p:cNvSpPr>
          <p:nvPr/>
        </p:nvSpPr>
        <p:spPr bwMode="auto">
          <a:xfrm>
            <a:off x="3565525" y="4376738"/>
            <a:ext cx="325438" cy="396875"/>
          </a:xfrm>
          <a:prstGeom prst="rect">
            <a:avLst/>
          </a:prstGeom>
          <a:noFill/>
          <a:ln w="9525">
            <a:noFill/>
            <a:miter lim="800000"/>
            <a:headEnd/>
            <a:tailEnd/>
          </a:ln>
          <a:effectLst/>
        </p:spPr>
        <p:txBody>
          <a:bodyPr wrap="none">
            <a:spAutoFit/>
          </a:bodyPr>
          <a:lstStyle/>
          <a:p>
            <a:r>
              <a:rPr lang="en-US" altLang="zh-CN" sz="2000" b="1" dirty="0">
                <a:solidFill>
                  <a:schemeClr val="tx2">
                    <a:lumMod val="60000"/>
                    <a:lumOff val="40000"/>
                  </a:schemeClr>
                </a:solidFill>
                <a:latin typeface="Times New Roman" pitchFamily="18" charset="0"/>
                <a:ea typeface="宋体" charset="-122"/>
                <a:cs typeface="Times New Roman" pitchFamily="18" charset="0"/>
              </a:rPr>
              <a:t>q</a:t>
            </a:r>
            <a:endParaRPr lang="en-US" altLang="zh-CN" sz="2000" b="1" baseline="-25000" dirty="0">
              <a:solidFill>
                <a:schemeClr val="tx2">
                  <a:lumMod val="60000"/>
                  <a:lumOff val="40000"/>
                </a:schemeClr>
              </a:solidFill>
              <a:latin typeface="Times New Roman" pitchFamily="18" charset="0"/>
              <a:ea typeface="宋体" charset="-122"/>
              <a:cs typeface="Times New Roman" pitchFamily="18" charset="0"/>
            </a:endParaRPr>
          </a:p>
        </p:txBody>
      </p:sp>
      <p:sp>
        <p:nvSpPr>
          <p:cNvPr id="26638" name="Oval 14"/>
          <p:cNvSpPr>
            <a:spLocks noChangeArrowheads="1"/>
          </p:cNvSpPr>
          <p:nvPr/>
        </p:nvSpPr>
        <p:spPr bwMode="auto">
          <a:xfrm>
            <a:off x="3906838" y="4689475"/>
            <a:ext cx="258762" cy="9525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6639" name="Line 15"/>
          <p:cNvSpPr>
            <a:spLocks noChangeShapeType="1"/>
          </p:cNvSpPr>
          <p:nvPr/>
        </p:nvSpPr>
        <p:spPr bwMode="auto">
          <a:xfrm>
            <a:off x="4029075" y="4791075"/>
            <a:ext cx="0" cy="1133475"/>
          </a:xfrm>
          <a:prstGeom prst="line">
            <a:avLst/>
          </a:prstGeom>
          <a:noFill/>
          <a:ln w="19050">
            <a:solidFill>
              <a:schemeClr val="tx1"/>
            </a:solidFill>
            <a:miter lim="800000"/>
            <a:headEnd/>
            <a:tailEnd type="arrow" w="med" len="med"/>
          </a:ln>
          <a:effectLst/>
        </p:spPr>
        <p:txBody>
          <a:bodyPr wrap="none"/>
          <a:lstStyle/>
          <a:p>
            <a:endParaRPr lang="zh-CN" altLang="en-US"/>
          </a:p>
        </p:txBody>
      </p:sp>
      <p:sp>
        <p:nvSpPr>
          <p:cNvPr id="26640" name="Freeform 16"/>
          <p:cNvSpPr>
            <a:spLocks/>
          </p:cNvSpPr>
          <p:nvPr/>
        </p:nvSpPr>
        <p:spPr bwMode="auto">
          <a:xfrm>
            <a:off x="4025900" y="5673725"/>
            <a:ext cx="171450" cy="209550"/>
          </a:xfrm>
          <a:custGeom>
            <a:avLst/>
            <a:gdLst/>
            <a:ahLst/>
            <a:cxnLst>
              <a:cxn ang="0">
                <a:pos x="0" y="0"/>
              </a:cxn>
              <a:cxn ang="0">
                <a:pos x="108" y="0"/>
              </a:cxn>
              <a:cxn ang="0">
                <a:pos x="108" y="120"/>
              </a:cxn>
            </a:cxnLst>
            <a:rect l="0" t="0" r="r" b="b"/>
            <a:pathLst>
              <a:path w="108" h="120">
                <a:moveTo>
                  <a:pt x="0" y="0"/>
                </a:moveTo>
                <a:lnTo>
                  <a:pt x="108" y="0"/>
                </a:lnTo>
                <a:lnTo>
                  <a:pt x="108" y="120"/>
                </a:lnTo>
              </a:path>
            </a:pathLst>
          </a:custGeom>
          <a:noFill/>
          <a:ln w="19050" cap="flat" cmpd="sng">
            <a:solidFill>
              <a:schemeClr val="tx1"/>
            </a:solidFill>
            <a:prstDash val="solid"/>
            <a:miter lim="800000"/>
            <a:headEnd type="none" w="med" len="med"/>
            <a:tailEnd type="none" w="med" len="med"/>
          </a:ln>
          <a:effectLst/>
        </p:spPr>
        <p:txBody>
          <a:bodyPr wrap="none"/>
          <a:lstStyle/>
          <a:p>
            <a:endParaRPr lang="zh-CN" altLang="en-US"/>
          </a:p>
        </p:txBody>
      </p:sp>
      <p:graphicFrame>
        <p:nvGraphicFramePr>
          <p:cNvPr id="26641" name="Object 17"/>
          <p:cNvGraphicFramePr>
            <a:graphicFrameLocks noGrp="1" noChangeAspect="1"/>
          </p:cNvGraphicFramePr>
          <p:nvPr>
            <p:ph idx="1"/>
          </p:nvPr>
        </p:nvGraphicFramePr>
        <p:xfrm>
          <a:off x="2162175" y="1595438"/>
          <a:ext cx="5137150" cy="2701925"/>
        </p:xfrm>
        <a:graphic>
          <a:graphicData uri="http://schemas.openxmlformats.org/presentationml/2006/ole">
            <mc:AlternateContent xmlns:mc="http://schemas.openxmlformats.org/markup-compatibility/2006">
              <mc:Choice xmlns:v="urn:schemas-microsoft-com:vml" Requires="v">
                <p:oleObj spid="_x0000_s12291" name="Equation" r:id="rId3" imgW="3429000" imgH="1803240" progId="">
                  <p:embed/>
                </p:oleObj>
              </mc:Choice>
              <mc:Fallback>
                <p:oleObj name="Equation" r:id="rId3" imgW="3429000" imgH="18032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2175" y="1595438"/>
                        <a:ext cx="5137150" cy="270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42" name="Rectangle 18"/>
          <p:cNvSpPr>
            <a:spLocks noChangeArrowheads="1"/>
          </p:cNvSpPr>
          <p:nvPr/>
        </p:nvSpPr>
        <p:spPr bwMode="auto">
          <a:xfrm>
            <a:off x="2076450" y="3629025"/>
            <a:ext cx="4829175" cy="704850"/>
          </a:xfrm>
          <a:prstGeom prst="rect">
            <a:avLst/>
          </a:prstGeom>
          <a:noFill/>
          <a:ln w="9525">
            <a:solidFill>
              <a:schemeClr val="tx1"/>
            </a:solidFill>
            <a:miter lim="800000"/>
            <a:headEnd/>
            <a:tailEnd/>
          </a:ln>
          <a:effectLst/>
        </p:spPr>
        <p:txBody>
          <a:bodyPr wrap="none" anchor="ctr"/>
          <a:lstStyle/>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zh-CN" altLang="en-US" dirty="0">
                <a:ea typeface="宋体" charset="-122"/>
              </a:rPr>
              <a:t>点到平面的距离</a:t>
            </a:r>
            <a:r>
              <a:rPr lang="en-US" altLang="zh-CN" dirty="0">
                <a:ea typeface="宋体" charset="-122"/>
              </a:rPr>
              <a:t>(</a:t>
            </a:r>
            <a:r>
              <a:rPr lang="zh-CN" altLang="en-US" dirty="0">
                <a:ea typeface="宋体" charset="-122"/>
              </a:rPr>
              <a:t>几何推导</a:t>
            </a:r>
            <a:r>
              <a:rPr lang="en-US" altLang="zh-CN" dirty="0">
                <a:ea typeface="宋体" charset="-122"/>
              </a:rPr>
              <a:t>,3D)</a:t>
            </a:r>
          </a:p>
        </p:txBody>
      </p:sp>
      <p:sp>
        <p:nvSpPr>
          <p:cNvPr id="65556" name="Rectangle 20"/>
          <p:cNvSpPr>
            <a:spLocks noGrp="1" noChangeArrowheads="1"/>
          </p:cNvSpPr>
          <p:nvPr>
            <p:ph type="body" idx="1"/>
          </p:nvPr>
        </p:nvSpPr>
        <p:spPr/>
        <p:txBody>
          <a:bodyPr/>
          <a:lstStyle/>
          <a:p>
            <a:r>
              <a:rPr lang="zh-CN" altLang="en-US" dirty="0">
                <a:ea typeface="宋体" charset="-122"/>
              </a:rPr>
              <a:t>把向量</a:t>
            </a:r>
            <a:r>
              <a:rPr lang="en-US" altLang="zh-CN" b="1" dirty="0">
                <a:latin typeface="Times New Roman" pitchFamily="18" charset="0"/>
                <a:ea typeface="宋体" charset="-122"/>
                <a:cs typeface="Times New Roman" pitchFamily="18" charset="0"/>
              </a:rPr>
              <a:t>q</a:t>
            </a:r>
            <a:r>
              <a:rPr lang="en-US" altLang="zh-CN" dirty="0">
                <a:latin typeface="Times New Roman" pitchFamily="18" charset="0"/>
                <a:ea typeface="宋体" charset="-122"/>
                <a:cs typeface="Times New Roman" pitchFamily="18" charset="0"/>
              </a:rPr>
              <a:t> - </a:t>
            </a:r>
            <a:r>
              <a:rPr lang="en-US" altLang="zh-CN" b="1" dirty="0">
                <a:latin typeface="Times New Roman" pitchFamily="18" charset="0"/>
                <a:ea typeface="宋体" charset="-122"/>
                <a:cs typeface="Times New Roman" pitchFamily="18" charset="0"/>
              </a:rPr>
              <a:t>p</a:t>
            </a:r>
            <a:r>
              <a:rPr lang="en-US" altLang="zh-CN" baseline="-25000" dirty="0">
                <a:latin typeface="Times New Roman" pitchFamily="18" charset="0"/>
                <a:ea typeface="宋体" charset="-122"/>
                <a:cs typeface="Times New Roman" pitchFamily="18" charset="0"/>
              </a:rPr>
              <a:t>0</a:t>
            </a:r>
            <a:r>
              <a:rPr lang="zh-CN" altLang="en-US" dirty="0">
                <a:latin typeface="Times New Roman" pitchFamily="18" charset="0"/>
                <a:ea typeface="宋体" charset="-122"/>
                <a:cs typeface="Times New Roman" pitchFamily="18" charset="0"/>
              </a:rPr>
              <a:t>投影到</a:t>
            </a:r>
            <a:r>
              <a:rPr lang="zh-CN" altLang="en-US" dirty="0">
                <a:ea typeface="宋体" charset="-122"/>
              </a:rPr>
              <a:t>向量</a:t>
            </a:r>
            <a:r>
              <a:rPr lang="en-US" altLang="zh-CN" dirty="0">
                <a:ea typeface="宋体" charset="-122"/>
              </a:rPr>
              <a:t> </a:t>
            </a:r>
            <a:r>
              <a:rPr lang="en-US" altLang="zh-CN" b="1" dirty="0">
                <a:latin typeface="Times New Roman" pitchFamily="18" charset="0"/>
                <a:ea typeface="宋体" charset="-122"/>
                <a:cs typeface="Times New Roman" pitchFamily="18" charset="0"/>
              </a:rPr>
              <a:t>n </a:t>
            </a:r>
            <a:r>
              <a:rPr lang="zh-CN" altLang="en-US" dirty="0">
                <a:latin typeface="Times New Roman" pitchFamily="18" charset="0"/>
                <a:ea typeface="宋体" charset="-122"/>
                <a:cs typeface="Times New Roman" pitchFamily="18" charset="0"/>
              </a:rPr>
              <a:t>上</a:t>
            </a:r>
            <a:r>
              <a:rPr lang="en-US" altLang="zh-CN" dirty="0">
                <a:ea typeface="宋体" charset="-122"/>
              </a:rPr>
              <a:t>!</a:t>
            </a:r>
            <a:endParaRPr lang="en-US" dirty="0"/>
          </a:p>
        </p:txBody>
      </p:sp>
      <p:sp>
        <p:nvSpPr>
          <p:cNvPr id="65539" name="Freeform 3"/>
          <p:cNvSpPr>
            <a:spLocks/>
          </p:cNvSpPr>
          <p:nvPr/>
        </p:nvSpPr>
        <p:spPr bwMode="auto">
          <a:xfrm>
            <a:off x="2324100" y="5476875"/>
            <a:ext cx="4133850" cy="885825"/>
          </a:xfrm>
          <a:custGeom>
            <a:avLst/>
            <a:gdLst/>
            <a:ahLst/>
            <a:cxnLst>
              <a:cxn ang="0">
                <a:pos x="0" y="558"/>
              </a:cxn>
              <a:cxn ang="0">
                <a:pos x="660" y="0"/>
              </a:cxn>
              <a:cxn ang="0">
                <a:pos x="2352" y="0"/>
              </a:cxn>
              <a:cxn ang="0">
                <a:pos x="2604" y="558"/>
              </a:cxn>
              <a:cxn ang="0">
                <a:pos x="0" y="558"/>
              </a:cxn>
            </a:cxnLst>
            <a:rect l="0" t="0" r="r" b="b"/>
            <a:pathLst>
              <a:path w="2604" h="558">
                <a:moveTo>
                  <a:pt x="0" y="558"/>
                </a:moveTo>
                <a:lnTo>
                  <a:pt x="660" y="0"/>
                </a:lnTo>
                <a:lnTo>
                  <a:pt x="2352" y="0"/>
                </a:lnTo>
                <a:lnTo>
                  <a:pt x="2604" y="558"/>
                </a:lnTo>
                <a:lnTo>
                  <a:pt x="0" y="558"/>
                </a:lnTo>
                <a:close/>
              </a:path>
            </a:pathLst>
          </a:custGeom>
          <a:gradFill rotWithShape="1">
            <a:gsLst>
              <a:gs pos="0">
                <a:srgbClr val="A1A1AB"/>
              </a:gs>
              <a:gs pos="100000">
                <a:schemeClr val="folHlink"/>
              </a:gs>
            </a:gsLst>
            <a:lin ang="5400000" scaled="1"/>
          </a:grad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65540" name="Text Box 4"/>
          <p:cNvSpPr txBox="1">
            <a:spLocks noChangeArrowheads="1"/>
          </p:cNvSpPr>
          <p:nvPr/>
        </p:nvSpPr>
        <p:spPr bwMode="auto">
          <a:xfrm>
            <a:off x="5222875" y="4229100"/>
            <a:ext cx="382588" cy="519113"/>
          </a:xfrm>
          <a:prstGeom prst="rect">
            <a:avLst/>
          </a:prstGeom>
          <a:noFill/>
          <a:ln w="9525">
            <a:noFill/>
            <a:miter lim="800000"/>
            <a:headEnd/>
            <a:tailEnd/>
          </a:ln>
          <a:effectLst/>
        </p:spPr>
        <p:txBody>
          <a:bodyPr wrap="none">
            <a:spAutoFit/>
          </a:bodyPr>
          <a:lstStyle/>
          <a:p>
            <a:r>
              <a:rPr lang="en-US" altLang="zh-CN" sz="2800" b="1">
                <a:latin typeface="Times New Roman" pitchFamily="18" charset="0"/>
                <a:ea typeface="宋体" charset="-122"/>
                <a:cs typeface="Times New Roman" pitchFamily="18" charset="0"/>
              </a:rPr>
              <a:t>n</a:t>
            </a:r>
          </a:p>
        </p:txBody>
      </p:sp>
      <p:sp>
        <p:nvSpPr>
          <p:cNvPr id="65541" name="Freeform 5"/>
          <p:cNvSpPr>
            <a:spLocks/>
          </p:cNvSpPr>
          <p:nvPr/>
        </p:nvSpPr>
        <p:spPr bwMode="auto">
          <a:xfrm>
            <a:off x="5143500" y="5514975"/>
            <a:ext cx="171450" cy="209550"/>
          </a:xfrm>
          <a:custGeom>
            <a:avLst/>
            <a:gdLst/>
            <a:ahLst/>
            <a:cxnLst>
              <a:cxn ang="0">
                <a:pos x="0" y="0"/>
              </a:cxn>
              <a:cxn ang="0">
                <a:pos x="108" y="0"/>
              </a:cxn>
              <a:cxn ang="0">
                <a:pos x="108" y="120"/>
              </a:cxn>
            </a:cxnLst>
            <a:rect l="0" t="0" r="r" b="b"/>
            <a:pathLst>
              <a:path w="108" h="120">
                <a:moveTo>
                  <a:pt x="0" y="0"/>
                </a:moveTo>
                <a:lnTo>
                  <a:pt x="108" y="0"/>
                </a:lnTo>
                <a:lnTo>
                  <a:pt x="108" y="120"/>
                </a:lnTo>
              </a:path>
            </a:pathLst>
          </a:custGeom>
          <a:noFill/>
          <a:ln w="19050"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65542" name="Oval 6"/>
          <p:cNvSpPr>
            <a:spLocks noChangeArrowheads="1"/>
          </p:cNvSpPr>
          <p:nvPr/>
        </p:nvSpPr>
        <p:spPr bwMode="auto">
          <a:xfrm>
            <a:off x="5008563" y="5657850"/>
            <a:ext cx="258762" cy="95250"/>
          </a:xfrm>
          <a:prstGeom prst="ellipse">
            <a:avLst/>
          </a:prstGeom>
          <a:solidFill>
            <a:srgbClr val="FF0000"/>
          </a:solidFill>
          <a:ln w="9525">
            <a:solidFill>
              <a:schemeClr val="tx1"/>
            </a:solidFill>
            <a:miter lim="800000"/>
            <a:headEnd/>
            <a:tailEnd/>
          </a:ln>
          <a:effectLst/>
        </p:spPr>
        <p:txBody>
          <a:bodyPr wrap="none" anchor="ctr"/>
          <a:lstStyle/>
          <a:p>
            <a:endParaRPr lang="zh-CN" altLang="en-US"/>
          </a:p>
        </p:txBody>
      </p:sp>
      <p:sp>
        <p:nvSpPr>
          <p:cNvPr id="65543" name="Line 7"/>
          <p:cNvSpPr>
            <a:spLocks noChangeShapeType="1"/>
          </p:cNvSpPr>
          <p:nvPr/>
        </p:nvSpPr>
        <p:spPr bwMode="auto">
          <a:xfrm flipV="1">
            <a:off x="5143500" y="4572000"/>
            <a:ext cx="0" cy="1143000"/>
          </a:xfrm>
          <a:prstGeom prst="line">
            <a:avLst/>
          </a:prstGeom>
          <a:noFill/>
          <a:ln w="38100">
            <a:solidFill>
              <a:schemeClr val="tx1"/>
            </a:solidFill>
            <a:miter lim="800000"/>
            <a:headEnd/>
            <a:tailEnd type="triangle" w="med" len="med"/>
          </a:ln>
          <a:effectLst/>
        </p:spPr>
        <p:txBody>
          <a:bodyPr wrap="none"/>
          <a:lstStyle/>
          <a:p>
            <a:endParaRPr lang="zh-CN" altLang="en-US"/>
          </a:p>
        </p:txBody>
      </p:sp>
      <p:sp>
        <p:nvSpPr>
          <p:cNvPr id="65546" name="Text Box 10"/>
          <p:cNvSpPr txBox="1">
            <a:spLocks noChangeArrowheads="1"/>
          </p:cNvSpPr>
          <p:nvPr/>
        </p:nvSpPr>
        <p:spPr bwMode="auto">
          <a:xfrm>
            <a:off x="5086350" y="5726113"/>
            <a:ext cx="407988" cy="396875"/>
          </a:xfrm>
          <a:prstGeom prst="rect">
            <a:avLst/>
          </a:prstGeom>
          <a:noFill/>
          <a:ln w="9525">
            <a:noFill/>
            <a:miter lim="800000"/>
            <a:headEnd/>
            <a:tailEnd/>
          </a:ln>
          <a:effectLst/>
        </p:spPr>
        <p:txBody>
          <a:bodyPr wrap="none">
            <a:spAutoFit/>
          </a:bodyPr>
          <a:lstStyle/>
          <a:p>
            <a:r>
              <a:rPr lang="en-US" altLang="zh-CN" sz="2000" b="1">
                <a:solidFill>
                  <a:srgbClr val="FF0000"/>
                </a:solidFill>
                <a:latin typeface="Times New Roman" pitchFamily="18" charset="0"/>
                <a:ea typeface="宋体" charset="-122"/>
                <a:cs typeface="Times New Roman" pitchFamily="18" charset="0"/>
              </a:rPr>
              <a:t>p</a:t>
            </a:r>
            <a:r>
              <a:rPr lang="en-US" altLang="zh-CN" sz="2000" b="1" baseline="-25000">
                <a:solidFill>
                  <a:srgbClr val="FF0000"/>
                </a:solidFill>
                <a:latin typeface="Times New Roman" pitchFamily="18" charset="0"/>
                <a:ea typeface="宋体" charset="-122"/>
                <a:cs typeface="Times New Roman" pitchFamily="18" charset="0"/>
              </a:rPr>
              <a:t>0</a:t>
            </a:r>
          </a:p>
        </p:txBody>
      </p:sp>
      <p:sp>
        <p:nvSpPr>
          <p:cNvPr id="65548" name="Text Box 12"/>
          <p:cNvSpPr txBox="1">
            <a:spLocks noChangeArrowheads="1"/>
          </p:cNvSpPr>
          <p:nvPr/>
        </p:nvSpPr>
        <p:spPr bwMode="auto">
          <a:xfrm>
            <a:off x="6029325" y="5953125"/>
            <a:ext cx="466725" cy="366713"/>
          </a:xfrm>
          <a:prstGeom prst="rect">
            <a:avLst/>
          </a:prstGeom>
          <a:noFill/>
          <a:ln w="9525">
            <a:noFill/>
            <a:miter lim="800000"/>
            <a:headEnd/>
            <a:tailEnd/>
          </a:ln>
          <a:effectLst/>
        </p:spPr>
        <p:txBody>
          <a:bodyPr>
            <a:spAutoFit/>
          </a:bodyPr>
          <a:lstStyle/>
          <a:p>
            <a:pPr>
              <a:spcBef>
                <a:spcPct val="50000"/>
              </a:spcBef>
            </a:pPr>
            <a:r>
              <a:rPr lang="zh-CN" altLang="en-US">
                <a:ea typeface="宋体" charset="-122"/>
                <a:sym typeface="Symbol" pitchFamily="18" charset="2"/>
              </a:rPr>
              <a:t></a:t>
            </a:r>
          </a:p>
        </p:txBody>
      </p:sp>
      <p:sp>
        <p:nvSpPr>
          <p:cNvPr id="65549" name="Text Box 13"/>
          <p:cNvSpPr txBox="1">
            <a:spLocks noChangeArrowheads="1"/>
          </p:cNvSpPr>
          <p:nvPr/>
        </p:nvSpPr>
        <p:spPr bwMode="auto">
          <a:xfrm>
            <a:off x="3679825" y="4419600"/>
            <a:ext cx="325438" cy="396875"/>
          </a:xfrm>
          <a:prstGeom prst="rect">
            <a:avLst/>
          </a:prstGeom>
          <a:noFill/>
          <a:ln w="9525">
            <a:noFill/>
            <a:miter lim="800000"/>
            <a:headEnd/>
            <a:tailEnd/>
          </a:ln>
          <a:effectLst/>
        </p:spPr>
        <p:txBody>
          <a:bodyPr wrap="none">
            <a:spAutoFit/>
          </a:bodyPr>
          <a:lstStyle/>
          <a:p>
            <a:r>
              <a:rPr lang="en-US" altLang="zh-CN" sz="2000" b="1" dirty="0">
                <a:solidFill>
                  <a:schemeClr val="tx2">
                    <a:lumMod val="60000"/>
                    <a:lumOff val="40000"/>
                  </a:schemeClr>
                </a:solidFill>
                <a:latin typeface="Times New Roman" pitchFamily="18" charset="0"/>
                <a:ea typeface="宋体" charset="-122"/>
                <a:cs typeface="Times New Roman" pitchFamily="18" charset="0"/>
              </a:rPr>
              <a:t>q</a:t>
            </a:r>
            <a:endParaRPr lang="en-US" altLang="zh-CN" sz="2000" b="1" baseline="-25000" dirty="0">
              <a:solidFill>
                <a:schemeClr val="tx2">
                  <a:lumMod val="60000"/>
                  <a:lumOff val="40000"/>
                </a:schemeClr>
              </a:solidFill>
              <a:latin typeface="Times New Roman" pitchFamily="18" charset="0"/>
              <a:ea typeface="宋体" charset="-122"/>
              <a:cs typeface="Times New Roman" pitchFamily="18" charset="0"/>
            </a:endParaRPr>
          </a:p>
        </p:txBody>
      </p:sp>
      <p:sp>
        <p:nvSpPr>
          <p:cNvPr id="65550" name="Oval 14"/>
          <p:cNvSpPr>
            <a:spLocks noChangeArrowheads="1"/>
          </p:cNvSpPr>
          <p:nvPr/>
        </p:nvSpPr>
        <p:spPr bwMode="auto">
          <a:xfrm>
            <a:off x="4021138" y="4732338"/>
            <a:ext cx="258762" cy="9525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65557" name="Line 21"/>
          <p:cNvSpPr>
            <a:spLocks noChangeShapeType="1"/>
          </p:cNvSpPr>
          <p:nvPr/>
        </p:nvSpPr>
        <p:spPr bwMode="auto">
          <a:xfrm flipH="1" flipV="1">
            <a:off x="4179888" y="4848225"/>
            <a:ext cx="942975" cy="827088"/>
          </a:xfrm>
          <a:prstGeom prst="line">
            <a:avLst/>
          </a:prstGeom>
          <a:noFill/>
          <a:ln w="9525">
            <a:solidFill>
              <a:schemeClr val="tx1"/>
            </a:solidFill>
            <a:miter lim="800000"/>
            <a:headEnd/>
            <a:tailEnd type="triangle" w="med" len="med"/>
          </a:ln>
          <a:effectLst/>
        </p:spPr>
        <p:txBody>
          <a:bodyPr wrap="none"/>
          <a:lstStyle/>
          <a:p>
            <a:endParaRPr lang="zh-CN" altLang="en-US"/>
          </a:p>
        </p:txBody>
      </p:sp>
      <p:sp>
        <p:nvSpPr>
          <p:cNvPr id="65558" name="Line 22"/>
          <p:cNvSpPr>
            <a:spLocks noChangeShapeType="1"/>
          </p:cNvSpPr>
          <p:nvPr/>
        </p:nvSpPr>
        <p:spPr bwMode="auto">
          <a:xfrm>
            <a:off x="4238625" y="4833938"/>
            <a:ext cx="884238" cy="0"/>
          </a:xfrm>
          <a:prstGeom prst="line">
            <a:avLst/>
          </a:prstGeom>
          <a:noFill/>
          <a:ln w="9525">
            <a:solidFill>
              <a:schemeClr val="tx1"/>
            </a:solidFill>
            <a:prstDash val="dash"/>
            <a:miter lim="800000"/>
            <a:headEnd/>
            <a:tailEnd/>
          </a:ln>
          <a:effectLst/>
        </p:spPr>
        <p:txBody>
          <a:bodyPr wrap="none"/>
          <a:lstStyle/>
          <a:p>
            <a:endParaRPr lang="zh-CN" altLang="en-US"/>
          </a:p>
        </p:txBody>
      </p:sp>
      <p:graphicFrame>
        <p:nvGraphicFramePr>
          <p:cNvPr id="65559" name="Object 23"/>
          <p:cNvGraphicFramePr>
            <a:graphicFrameLocks noChangeAspect="1"/>
          </p:cNvGraphicFramePr>
          <p:nvPr/>
        </p:nvGraphicFramePr>
        <p:xfrm>
          <a:off x="3357563" y="2903538"/>
          <a:ext cx="2890837" cy="1041400"/>
        </p:xfrm>
        <a:graphic>
          <a:graphicData uri="http://schemas.openxmlformats.org/presentationml/2006/ole">
            <mc:AlternateContent xmlns:mc="http://schemas.openxmlformats.org/markup-compatibility/2006">
              <mc:Choice xmlns:v="urn:schemas-microsoft-com:vml" Requires="v">
                <p:oleObj spid="_x0000_s13315" name="Equation" r:id="rId3" imgW="1231560" imgH="444240" progId="">
                  <p:embed/>
                </p:oleObj>
              </mc:Choice>
              <mc:Fallback>
                <p:oleObj name="Equation" r:id="rId3" imgW="1231560" imgH="4442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7563" y="2903538"/>
                        <a:ext cx="2890837"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r>
              <a:rPr lang="zh-CN" altLang="en-US" dirty="0">
                <a:ea typeface="宋体" charset="-122"/>
              </a:rPr>
              <a:t>平面的一般式</a:t>
            </a:r>
            <a:r>
              <a:rPr lang="en-US" altLang="zh-CN" dirty="0">
                <a:ea typeface="宋体" charset="-122"/>
              </a:rPr>
              <a:t>(3D)</a:t>
            </a:r>
          </a:p>
        </p:txBody>
      </p:sp>
      <p:graphicFrame>
        <p:nvGraphicFramePr>
          <p:cNvPr id="27651" name="Object 3"/>
          <p:cNvGraphicFramePr>
            <a:graphicFrameLocks noGrp="1" noChangeAspect="1"/>
          </p:cNvGraphicFramePr>
          <p:nvPr>
            <p:ph sz="quarter" idx="1"/>
          </p:nvPr>
        </p:nvGraphicFramePr>
        <p:xfrm>
          <a:off x="1130300" y="1620838"/>
          <a:ext cx="7119938" cy="415925"/>
        </p:xfrm>
        <a:graphic>
          <a:graphicData uri="http://schemas.openxmlformats.org/presentationml/2006/ole">
            <mc:AlternateContent xmlns:mc="http://schemas.openxmlformats.org/markup-compatibility/2006">
              <mc:Choice xmlns:v="urn:schemas-microsoft-com:vml" Requires="v">
                <p:oleObj spid="_x0000_s14339" name="Equation" r:id="rId3" imgW="3479760" imgH="203040" progId="">
                  <p:embed/>
                </p:oleObj>
              </mc:Choice>
              <mc:Fallback>
                <p:oleObj name="Equation" r:id="rId3" imgW="3479760" imgH="20304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0300" y="1620838"/>
                        <a:ext cx="7119938" cy="415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2" name="Rectangle 4"/>
          <p:cNvSpPr>
            <a:spLocks noGrp="1" noChangeArrowheads="1"/>
          </p:cNvSpPr>
          <p:nvPr>
            <p:ph type="body" sz="half" idx="3"/>
          </p:nvPr>
        </p:nvSpPr>
        <p:spPr>
          <a:xfrm>
            <a:off x="457200" y="2314575"/>
            <a:ext cx="8229600" cy="3552825"/>
          </a:xfrm>
        </p:spPr>
        <p:txBody>
          <a:bodyPr/>
          <a:lstStyle/>
          <a:p>
            <a:r>
              <a:rPr lang="en-US" altLang="zh-CN" sz="2400" i="1" dirty="0">
                <a:latin typeface="Times New Roman" pitchFamily="18" charset="0"/>
                <a:ea typeface="宋体" charset="-122"/>
                <a:cs typeface="Times New Roman" pitchFamily="18" charset="0"/>
              </a:rPr>
              <a:t>(x, y, z)</a:t>
            </a:r>
            <a:r>
              <a:rPr lang="en-US" altLang="zh-CN" sz="2400" dirty="0">
                <a:ea typeface="宋体" charset="-122"/>
                <a:cs typeface="Times New Roman" pitchFamily="18" charset="0"/>
              </a:rPr>
              <a:t> </a:t>
            </a:r>
            <a:r>
              <a:rPr lang="zh-CN" altLang="en-US" sz="2400" dirty="0">
                <a:ea typeface="宋体" charset="-122"/>
                <a:cs typeface="Times New Roman" pitchFamily="18" charset="0"/>
              </a:rPr>
              <a:t>是平面上一个点的坐标</a:t>
            </a:r>
            <a:endParaRPr lang="en-US" altLang="zh-CN" sz="2400" dirty="0">
              <a:ea typeface="宋体" charset="-122"/>
              <a:cs typeface="Times New Roman" pitchFamily="18" charset="0"/>
            </a:endParaRPr>
          </a:p>
          <a:p>
            <a:r>
              <a:rPr lang="en-US" altLang="zh-CN" sz="2400" i="1" dirty="0">
                <a:latin typeface="Times New Roman" pitchFamily="18" charset="0"/>
                <a:ea typeface="宋体" charset="-122"/>
                <a:cs typeface="Times New Roman" pitchFamily="18" charset="0"/>
              </a:rPr>
              <a:t>(A, B, C)</a:t>
            </a:r>
            <a:r>
              <a:rPr lang="en-US" altLang="zh-CN" sz="2400" dirty="0">
                <a:ea typeface="宋体" charset="-122"/>
                <a:cs typeface="Times New Roman" pitchFamily="18" charset="0"/>
              </a:rPr>
              <a:t> </a:t>
            </a:r>
            <a:r>
              <a:rPr lang="zh-CN" altLang="en-US" sz="2400" dirty="0">
                <a:ea typeface="宋体" charset="-122"/>
                <a:cs typeface="Times New Roman" pitchFamily="18" charset="0"/>
              </a:rPr>
              <a:t>是平面的一个法向量对应的点的坐标！！！！！</a:t>
            </a:r>
            <a:endParaRPr lang="en-US" altLang="zh-CN" sz="2400" dirty="0">
              <a:ea typeface="宋体" charset="-122"/>
              <a:cs typeface="Times New Roman" pitchFamily="18" charset="0"/>
            </a:endParaRPr>
          </a:p>
        </p:txBody>
      </p:sp>
      <p:sp>
        <p:nvSpPr>
          <p:cNvPr id="27653" name="Freeform 5"/>
          <p:cNvSpPr>
            <a:spLocks/>
          </p:cNvSpPr>
          <p:nvPr/>
        </p:nvSpPr>
        <p:spPr bwMode="auto">
          <a:xfrm>
            <a:off x="1657350" y="4648200"/>
            <a:ext cx="5762625" cy="657225"/>
          </a:xfrm>
          <a:custGeom>
            <a:avLst/>
            <a:gdLst/>
            <a:ahLst/>
            <a:cxnLst>
              <a:cxn ang="0">
                <a:pos x="0" y="558"/>
              </a:cxn>
              <a:cxn ang="0">
                <a:pos x="660" y="0"/>
              </a:cxn>
              <a:cxn ang="0">
                <a:pos x="2352" y="0"/>
              </a:cxn>
              <a:cxn ang="0">
                <a:pos x="2604" y="558"/>
              </a:cxn>
              <a:cxn ang="0">
                <a:pos x="0" y="558"/>
              </a:cxn>
            </a:cxnLst>
            <a:rect l="0" t="0" r="r" b="b"/>
            <a:pathLst>
              <a:path w="2604" h="558">
                <a:moveTo>
                  <a:pt x="0" y="558"/>
                </a:moveTo>
                <a:lnTo>
                  <a:pt x="660" y="0"/>
                </a:lnTo>
                <a:lnTo>
                  <a:pt x="2352" y="0"/>
                </a:lnTo>
                <a:lnTo>
                  <a:pt x="2604" y="558"/>
                </a:lnTo>
                <a:lnTo>
                  <a:pt x="0" y="558"/>
                </a:lnTo>
                <a:close/>
              </a:path>
            </a:pathLst>
          </a:custGeom>
          <a:gradFill rotWithShape="1">
            <a:gsLst>
              <a:gs pos="0">
                <a:srgbClr val="A1A1AB"/>
              </a:gs>
              <a:gs pos="100000">
                <a:schemeClr val="folHlink"/>
              </a:gs>
            </a:gsLst>
            <a:lin ang="5400000" scaled="1"/>
          </a:grad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7654" name="Text Box 6"/>
          <p:cNvSpPr txBox="1">
            <a:spLocks noChangeArrowheads="1"/>
          </p:cNvSpPr>
          <p:nvPr/>
        </p:nvSpPr>
        <p:spPr bwMode="auto">
          <a:xfrm>
            <a:off x="3597275" y="3870325"/>
            <a:ext cx="2586038" cy="457200"/>
          </a:xfrm>
          <a:prstGeom prst="rect">
            <a:avLst/>
          </a:prstGeom>
          <a:noFill/>
          <a:ln w="9525">
            <a:noFill/>
            <a:miter lim="800000"/>
            <a:headEnd/>
            <a:tailEnd/>
          </a:ln>
          <a:effectLst/>
        </p:spPr>
        <p:txBody>
          <a:bodyPr>
            <a:spAutoFit/>
          </a:bodyPr>
          <a:lstStyle/>
          <a:p>
            <a:r>
              <a:rPr lang="en-US" altLang="zh-CN" sz="2400" i="1" dirty="0" err="1">
                <a:latin typeface="Times New Roman" pitchFamily="18" charset="0"/>
                <a:ea typeface="宋体" charset="-122"/>
                <a:cs typeface="Times New Roman" pitchFamily="18" charset="0"/>
              </a:rPr>
              <a:t>Ax+By+Cz+D</a:t>
            </a:r>
            <a:r>
              <a:rPr lang="en-US" altLang="zh-CN" sz="2400" i="1" dirty="0">
                <a:latin typeface="Times New Roman" pitchFamily="18" charset="0"/>
                <a:ea typeface="宋体" charset="-122"/>
                <a:cs typeface="Times New Roman" pitchFamily="18" charset="0"/>
              </a:rPr>
              <a:t> &gt; 0</a:t>
            </a:r>
          </a:p>
        </p:txBody>
      </p:sp>
      <p:sp>
        <p:nvSpPr>
          <p:cNvPr id="27655" name="Text Box 7"/>
          <p:cNvSpPr txBox="1">
            <a:spLocks noChangeArrowheads="1"/>
          </p:cNvSpPr>
          <p:nvPr/>
        </p:nvSpPr>
        <p:spPr bwMode="auto">
          <a:xfrm>
            <a:off x="3565525" y="5629275"/>
            <a:ext cx="2586038" cy="457200"/>
          </a:xfrm>
          <a:prstGeom prst="rect">
            <a:avLst/>
          </a:prstGeom>
          <a:noFill/>
          <a:ln w="9525">
            <a:noFill/>
            <a:miter lim="800000"/>
            <a:headEnd/>
            <a:tailEnd/>
          </a:ln>
          <a:effectLst/>
        </p:spPr>
        <p:txBody>
          <a:bodyPr>
            <a:spAutoFit/>
          </a:bodyPr>
          <a:lstStyle/>
          <a:p>
            <a:r>
              <a:rPr lang="en-US" altLang="zh-CN" sz="2400" i="1">
                <a:latin typeface="Times New Roman" pitchFamily="18" charset="0"/>
                <a:ea typeface="宋体" charset="-122"/>
                <a:cs typeface="Times New Roman" pitchFamily="18" charset="0"/>
              </a:rPr>
              <a:t>Ax+By+Cz+D &lt; 0</a:t>
            </a:r>
          </a:p>
        </p:txBody>
      </p:sp>
      <p:sp>
        <p:nvSpPr>
          <p:cNvPr id="27656" name="Text Box 8"/>
          <p:cNvSpPr txBox="1">
            <a:spLocks noChangeArrowheads="1"/>
          </p:cNvSpPr>
          <p:nvPr/>
        </p:nvSpPr>
        <p:spPr bwMode="auto">
          <a:xfrm>
            <a:off x="3603625" y="4714875"/>
            <a:ext cx="2586038" cy="457200"/>
          </a:xfrm>
          <a:prstGeom prst="rect">
            <a:avLst/>
          </a:prstGeom>
          <a:noFill/>
          <a:ln w="9525">
            <a:noFill/>
            <a:miter lim="800000"/>
            <a:headEnd/>
            <a:tailEnd/>
          </a:ln>
          <a:effectLst/>
        </p:spPr>
        <p:txBody>
          <a:bodyPr>
            <a:spAutoFit/>
          </a:bodyPr>
          <a:lstStyle/>
          <a:p>
            <a:r>
              <a:rPr lang="en-US" altLang="zh-CN" sz="2400" i="1">
                <a:latin typeface="Times New Roman" pitchFamily="18" charset="0"/>
                <a:ea typeface="宋体" charset="-122"/>
                <a:cs typeface="Times New Roman" pitchFamily="18" charset="0"/>
              </a:rPr>
              <a:t>Ax+By+Cz+D = 0</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zh-CN" altLang="en-US" dirty="0"/>
              <a:t>直线和平面的交点</a:t>
            </a:r>
            <a:r>
              <a:rPr lang="en-US" altLang="zh-CN" dirty="0"/>
              <a:t>(3D)</a:t>
            </a:r>
            <a:endParaRPr lang="zh-CN" altLang="en-US" dirty="0"/>
          </a:p>
        </p:txBody>
      </p:sp>
      <p:sp>
        <p:nvSpPr>
          <p:cNvPr id="249859" name="Rectangle 3"/>
          <p:cNvSpPr>
            <a:spLocks noGrp="1" noChangeArrowheads="1"/>
          </p:cNvSpPr>
          <p:nvPr>
            <p:ph type="body" idx="1"/>
          </p:nvPr>
        </p:nvSpPr>
        <p:spPr/>
        <p:txBody>
          <a:bodyPr/>
          <a:lstStyle/>
          <a:p>
            <a:r>
              <a:rPr lang="zh-CN" altLang="en-US" dirty="0"/>
              <a:t>过</a:t>
            </a:r>
            <a:r>
              <a:rPr lang="en-US" altLang="zh-CN" dirty="0"/>
              <a:t>P</a:t>
            </a:r>
            <a:r>
              <a:rPr lang="en-US" altLang="zh-CN" baseline="-25000" dirty="0"/>
              <a:t>3</a:t>
            </a:r>
            <a:r>
              <a:rPr lang="zh-CN" altLang="en-US" dirty="0"/>
              <a:t>且法线为</a:t>
            </a:r>
            <a:r>
              <a:rPr lang="en-US" altLang="zh-CN" dirty="0"/>
              <a:t>N</a:t>
            </a:r>
            <a:r>
              <a:rPr lang="zh-CN" altLang="en-US" dirty="0"/>
              <a:t>的平面方程为</a:t>
            </a:r>
            <a:r>
              <a:rPr lang="en-US" altLang="zh-CN" dirty="0"/>
              <a:t>N(P-P</a:t>
            </a:r>
            <a:r>
              <a:rPr lang="en-US" altLang="zh-CN" baseline="-25000" dirty="0"/>
              <a:t>3</a:t>
            </a:r>
            <a:r>
              <a:rPr lang="en-US" altLang="zh-CN" dirty="0"/>
              <a:t>)=0, </a:t>
            </a:r>
            <a:r>
              <a:rPr lang="zh-CN" altLang="en-US" dirty="0"/>
              <a:t>过点</a:t>
            </a:r>
            <a:r>
              <a:rPr lang="en-US" altLang="zh-CN" dirty="0"/>
              <a:t>P</a:t>
            </a:r>
            <a:r>
              <a:rPr lang="en-US" altLang="zh-CN" baseline="-25000" dirty="0"/>
              <a:t>1</a:t>
            </a:r>
            <a:r>
              <a:rPr lang="zh-CN" altLang="en-US" dirty="0"/>
              <a:t>和</a:t>
            </a:r>
            <a:r>
              <a:rPr lang="en-US" altLang="zh-CN" dirty="0"/>
              <a:t>P</a:t>
            </a:r>
            <a:r>
              <a:rPr lang="en-US" altLang="zh-CN" baseline="-25000" dirty="0"/>
              <a:t>2</a:t>
            </a:r>
            <a:r>
              <a:rPr lang="zh-CN" altLang="en-US" dirty="0"/>
              <a:t>的直线方程为</a:t>
            </a:r>
            <a:r>
              <a:rPr lang="en-US" altLang="zh-CN" dirty="0"/>
              <a:t>P=P</a:t>
            </a:r>
            <a:r>
              <a:rPr lang="en-US" altLang="zh-CN" baseline="-25000" dirty="0"/>
              <a:t>1</a:t>
            </a:r>
            <a:r>
              <a:rPr lang="en-US" altLang="zh-CN" dirty="0"/>
              <a:t>+u(P</a:t>
            </a:r>
            <a:r>
              <a:rPr lang="en-US" altLang="zh-CN" baseline="-25000" dirty="0"/>
              <a:t>2</a:t>
            </a:r>
            <a:r>
              <a:rPr lang="en-US" altLang="zh-CN" dirty="0"/>
              <a:t>-P</a:t>
            </a:r>
            <a:r>
              <a:rPr lang="en-US" altLang="zh-CN" baseline="-25000" dirty="0"/>
              <a:t>1</a:t>
            </a:r>
            <a:r>
              <a:rPr lang="en-US" altLang="zh-CN" dirty="0"/>
              <a:t>). </a:t>
            </a:r>
            <a:r>
              <a:rPr lang="zh-CN" altLang="en-US" dirty="0"/>
              <a:t>联立解得               </a:t>
            </a:r>
            <a:endParaRPr lang="en-US" altLang="zh-CN" dirty="0"/>
          </a:p>
          <a:p>
            <a:endParaRPr lang="en-US" altLang="zh-CN" dirty="0"/>
          </a:p>
          <a:p>
            <a:endParaRPr lang="en-US" altLang="zh-CN" dirty="0"/>
          </a:p>
          <a:p>
            <a:r>
              <a:rPr lang="zh-CN" altLang="en-US" dirty="0"/>
              <a:t>分母为</a:t>
            </a:r>
            <a:r>
              <a:rPr lang="en-US" altLang="zh-CN" dirty="0"/>
              <a:t>0</a:t>
            </a:r>
            <a:r>
              <a:rPr lang="zh-CN" altLang="en-US" dirty="0"/>
              <a:t>表示平行或包含</a:t>
            </a:r>
          </a:p>
          <a:p>
            <a:r>
              <a:rPr lang="zh-CN" altLang="en-US" dirty="0"/>
              <a:t>若平面用一般式</a:t>
            </a:r>
            <a:r>
              <a:rPr lang="en-US" altLang="zh-CN" dirty="0"/>
              <a:t>, </a:t>
            </a:r>
            <a:r>
              <a:rPr lang="zh-CN" altLang="en-US" dirty="0"/>
              <a:t>联立解得</a:t>
            </a:r>
          </a:p>
        </p:txBody>
      </p:sp>
      <p:pic>
        <p:nvPicPr>
          <p:cNvPr id="249860" name="Picture 4"/>
          <p:cNvPicPr>
            <a:picLocks noChangeAspect="1" noChangeArrowheads="1"/>
          </p:cNvPicPr>
          <p:nvPr/>
        </p:nvPicPr>
        <p:blipFill>
          <a:blip r:embed="rId2" cstate="print"/>
          <a:srcRect/>
          <a:stretch>
            <a:fillRect/>
          </a:stretch>
        </p:blipFill>
        <p:spPr bwMode="auto">
          <a:xfrm>
            <a:off x="3491880" y="2781527"/>
            <a:ext cx="2358008" cy="863497"/>
          </a:xfrm>
          <a:prstGeom prst="rect">
            <a:avLst/>
          </a:prstGeom>
          <a:noFill/>
          <a:ln w="9525">
            <a:noFill/>
            <a:miter lim="800000"/>
            <a:headEnd/>
            <a:tailEnd/>
          </a:ln>
          <a:effectLst/>
        </p:spPr>
      </p:pic>
      <p:pic>
        <p:nvPicPr>
          <p:cNvPr id="249861" name="Picture 5"/>
          <p:cNvPicPr>
            <a:picLocks noChangeAspect="1" noChangeArrowheads="1"/>
          </p:cNvPicPr>
          <p:nvPr/>
        </p:nvPicPr>
        <p:blipFill>
          <a:blip r:embed="rId3" cstate="print"/>
          <a:srcRect/>
          <a:stretch>
            <a:fillRect/>
          </a:stretch>
        </p:blipFill>
        <p:spPr bwMode="auto">
          <a:xfrm>
            <a:off x="1115616" y="5229200"/>
            <a:ext cx="7448264" cy="1152128"/>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dirty="0">
                <a:ea typeface="宋体" charset="-122"/>
              </a:rPr>
              <a:t>空间二直线的距离</a:t>
            </a:r>
            <a:r>
              <a:rPr lang="en-US" altLang="zh-CN" dirty="0">
                <a:ea typeface="宋体" charset="-122"/>
              </a:rPr>
              <a:t>(3D)</a:t>
            </a:r>
          </a:p>
        </p:txBody>
      </p:sp>
      <p:sp>
        <p:nvSpPr>
          <p:cNvPr id="28675" name="Line 3"/>
          <p:cNvSpPr>
            <a:spLocks noChangeShapeType="1"/>
          </p:cNvSpPr>
          <p:nvPr/>
        </p:nvSpPr>
        <p:spPr bwMode="auto">
          <a:xfrm>
            <a:off x="3248025" y="2228850"/>
            <a:ext cx="4467225" cy="1466850"/>
          </a:xfrm>
          <a:prstGeom prst="line">
            <a:avLst/>
          </a:prstGeom>
          <a:noFill/>
          <a:ln w="38100">
            <a:solidFill>
              <a:schemeClr val="tx1"/>
            </a:solidFill>
            <a:miter lim="800000"/>
            <a:headEnd/>
            <a:tailEnd/>
          </a:ln>
          <a:effectLst/>
        </p:spPr>
        <p:txBody>
          <a:bodyPr wrap="none"/>
          <a:lstStyle/>
          <a:p>
            <a:endParaRPr lang="zh-CN" altLang="en-US"/>
          </a:p>
        </p:txBody>
      </p:sp>
      <p:sp>
        <p:nvSpPr>
          <p:cNvPr id="28676" name="Line 4"/>
          <p:cNvSpPr>
            <a:spLocks noChangeShapeType="1"/>
          </p:cNvSpPr>
          <p:nvPr/>
        </p:nvSpPr>
        <p:spPr bwMode="auto">
          <a:xfrm flipV="1">
            <a:off x="3009900" y="3438525"/>
            <a:ext cx="3657600" cy="876300"/>
          </a:xfrm>
          <a:prstGeom prst="line">
            <a:avLst/>
          </a:prstGeom>
          <a:noFill/>
          <a:ln w="38100">
            <a:solidFill>
              <a:schemeClr val="tx1"/>
            </a:solidFill>
            <a:miter lim="800000"/>
            <a:headEnd/>
            <a:tailEnd/>
          </a:ln>
          <a:effectLst/>
        </p:spPr>
        <p:txBody>
          <a:bodyPr wrap="none"/>
          <a:lstStyle/>
          <a:p>
            <a:endParaRPr lang="zh-CN" altLang="en-US"/>
          </a:p>
        </p:txBody>
      </p:sp>
      <p:sp>
        <p:nvSpPr>
          <p:cNvPr id="28677" name="Line 5"/>
          <p:cNvSpPr>
            <a:spLocks noChangeShapeType="1"/>
          </p:cNvSpPr>
          <p:nvPr/>
        </p:nvSpPr>
        <p:spPr bwMode="auto">
          <a:xfrm flipV="1">
            <a:off x="6981825" y="3124200"/>
            <a:ext cx="1171575" cy="247650"/>
          </a:xfrm>
          <a:prstGeom prst="line">
            <a:avLst/>
          </a:prstGeom>
          <a:noFill/>
          <a:ln w="38100">
            <a:solidFill>
              <a:schemeClr val="tx1"/>
            </a:solidFill>
            <a:miter lim="800000"/>
            <a:headEnd/>
            <a:tailEnd/>
          </a:ln>
          <a:effectLst/>
        </p:spPr>
        <p:txBody>
          <a:bodyPr wrap="none"/>
          <a:lstStyle/>
          <a:p>
            <a:endParaRPr lang="zh-CN" altLang="en-US"/>
          </a:p>
        </p:txBody>
      </p:sp>
      <p:sp>
        <p:nvSpPr>
          <p:cNvPr id="28678" name="Line 6"/>
          <p:cNvSpPr>
            <a:spLocks noChangeShapeType="1"/>
          </p:cNvSpPr>
          <p:nvPr/>
        </p:nvSpPr>
        <p:spPr bwMode="auto">
          <a:xfrm>
            <a:off x="4572000" y="2714625"/>
            <a:ext cx="0" cy="1171575"/>
          </a:xfrm>
          <a:prstGeom prst="line">
            <a:avLst/>
          </a:prstGeom>
          <a:noFill/>
          <a:ln w="9525">
            <a:solidFill>
              <a:schemeClr val="tx1"/>
            </a:solidFill>
            <a:miter lim="800000"/>
            <a:headEnd type="triangle" w="med" len="med"/>
            <a:tailEnd type="triangle" w="med" len="med"/>
          </a:ln>
          <a:effectLst/>
        </p:spPr>
        <p:txBody>
          <a:bodyPr wrap="none"/>
          <a:lstStyle/>
          <a:p>
            <a:endParaRPr lang="zh-CN" altLang="en-US"/>
          </a:p>
        </p:txBody>
      </p:sp>
      <p:sp>
        <p:nvSpPr>
          <p:cNvPr id="28679" name="Line 7"/>
          <p:cNvSpPr>
            <a:spLocks noChangeShapeType="1"/>
          </p:cNvSpPr>
          <p:nvPr/>
        </p:nvSpPr>
        <p:spPr bwMode="auto">
          <a:xfrm>
            <a:off x="5400675" y="2933700"/>
            <a:ext cx="647700" cy="209550"/>
          </a:xfrm>
          <a:prstGeom prst="line">
            <a:avLst/>
          </a:prstGeom>
          <a:noFill/>
          <a:ln w="57150">
            <a:solidFill>
              <a:schemeClr val="accent1"/>
            </a:solidFill>
            <a:miter lim="800000"/>
            <a:headEnd/>
            <a:tailEnd type="triangle" w="med" len="med"/>
          </a:ln>
          <a:effectLst/>
        </p:spPr>
        <p:txBody>
          <a:bodyPr wrap="none"/>
          <a:lstStyle/>
          <a:p>
            <a:endParaRPr lang="zh-CN" altLang="en-US"/>
          </a:p>
        </p:txBody>
      </p:sp>
      <p:sp>
        <p:nvSpPr>
          <p:cNvPr id="28680" name="Line 8"/>
          <p:cNvSpPr>
            <a:spLocks noChangeShapeType="1"/>
          </p:cNvSpPr>
          <p:nvPr/>
        </p:nvSpPr>
        <p:spPr bwMode="auto">
          <a:xfrm flipH="1">
            <a:off x="5302250" y="3587750"/>
            <a:ext cx="742950" cy="180975"/>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28681" name="Oval 9"/>
          <p:cNvSpPr>
            <a:spLocks noChangeArrowheads="1"/>
          </p:cNvSpPr>
          <p:nvPr/>
        </p:nvSpPr>
        <p:spPr bwMode="auto">
          <a:xfrm>
            <a:off x="5410200" y="289560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8682" name="Oval 10"/>
          <p:cNvSpPr>
            <a:spLocks noChangeArrowheads="1"/>
          </p:cNvSpPr>
          <p:nvPr/>
        </p:nvSpPr>
        <p:spPr bwMode="auto">
          <a:xfrm>
            <a:off x="6007100" y="35210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28683" name="Text Box 11"/>
          <p:cNvSpPr txBox="1">
            <a:spLocks noChangeArrowheads="1"/>
          </p:cNvSpPr>
          <p:nvPr/>
        </p:nvSpPr>
        <p:spPr bwMode="auto">
          <a:xfrm>
            <a:off x="5308600" y="2571750"/>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1</a:t>
            </a:r>
          </a:p>
        </p:txBody>
      </p:sp>
      <p:sp>
        <p:nvSpPr>
          <p:cNvPr id="28684" name="Text Box 12"/>
          <p:cNvSpPr txBox="1">
            <a:spLocks noChangeArrowheads="1"/>
          </p:cNvSpPr>
          <p:nvPr/>
        </p:nvSpPr>
        <p:spPr bwMode="auto">
          <a:xfrm>
            <a:off x="5915025" y="35782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2</a:t>
            </a:r>
          </a:p>
        </p:txBody>
      </p:sp>
      <p:sp>
        <p:nvSpPr>
          <p:cNvPr id="28685" name="Text Box 13"/>
          <p:cNvSpPr txBox="1">
            <a:spLocks noChangeArrowheads="1"/>
          </p:cNvSpPr>
          <p:nvPr/>
        </p:nvSpPr>
        <p:spPr bwMode="auto">
          <a:xfrm>
            <a:off x="5788025" y="2727325"/>
            <a:ext cx="3111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u</a:t>
            </a:r>
            <a:endParaRPr lang="en-US" altLang="zh-CN" b="1" baseline="-25000">
              <a:latin typeface="Times New Roman" pitchFamily="18" charset="0"/>
              <a:ea typeface="宋体" charset="-122"/>
              <a:cs typeface="Times New Roman" pitchFamily="18" charset="0"/>
            </a:endParaRPr>
          </a:p>
        </p:txBody>
      </p:sp>
      <p:sp>
        <p:nvSpPr>
          <p:cNvPr id="28686" name="Text Box 14"/>
          <p:cNvSpPr txBox="1">
            <a:spLocks noChangeArrowheads="1"/>
          </p:cNvSpPr>
          <p:nvPr/>
        </p:nvSpPr>
        <p:spPr bwMode="auto">
          <a:xfrm>
            <a:off x="5375275" y="3724275"/>
            <a:ext cx="2984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v</a:t>
            </a:r>
            <a:endParaRPr lang="en-US" altLang="zh-CN" b="1" baseline="-25000">
              <a:latin typeface="Times New Roman" pitchFamily="18" charset="0"/>
              <a:ea typeface="宋体" charset="-122"/>
              <a:cs typeface="Times New Roman" pitchFamily="18" charset="0"/>
            </a:endParaRPr>
          </a:p>
        </p:txBody>
      </p:sp>
      <p:sp>
        <p:nvSpPr>
          <p:cNvPr id="28687" name="Text Box 15"/>
          <p:cNvSpPr txBox="1">
            <a:spLocks noChangeArrowheads="1"/>
          </p:cNvSpPr>
          <p:nvPr/>
        </p:nvSpPr>
        <p:spPr bwMode="auto">
          <a:xfrm>
            <a:off x="4289425" y="3074988"/>
            <a:ext cx="311150" cy="366712"/>
          </a:xfrm>
          <a:prstGeom prst="rect">
            <a:avLst/>
          </a:prstGeom>
          <a:noFill/>
          <a:ln w="9525">
            <a:noFill/>
            <a:miter lim="800000"/>
            <a:headEnd/>
            <a:tailEnd/>
          </a:ln>
          <a:effectLst/>
        </p:spPr>
        <p:txBody>
          <a:bodyPr wrap="none">
            <a:spAutoFit/>
          </a:bodyPr>
          <a:lstStyle/>
          <a:p>
            <a:r>
              <a:rPr lang="en-US" altLang="zh-CN">
                <a:ea typeface="宋体" charset="-122"/>
              </a:rPr>
              <a:t>d</a:t>
            </a:r>
          </a:p>
        </p:txBody>
      </p:sp>
      <p:sp>
        <p:nvSpPr>
          <p:cNvPr id="28688" name="Text Box 16"/>
          <p:cNvSpPr txBox="1">
            <a:spLocks noChangeArrowheads="1"/>
          </p:cNvSpPr>
          <p:nvPr/>
        </p:nvSpPr>
        <p:spPr bwMode="auto">
          <a:xfrm>
            <a:off x="928662" y="5284788"/>
            <a:ext cx="6878663" cy="830997"/>
          </a:xfrm>
          <a:prstGeom prst="rect">
            <a:avLst/>
          </a:prstGeom>
          <a:noFill/>
          <a:ln w="9525">
            <a:noFill/>
            <a:miter lim="800000"/>
            <a:headEnd/>
            <a:tailEnd/>
          </a:ln>
          <a:effectLst/>
        </p:spPr>
        <p:txBody>
          <a:bodyPr wrap="square">
            <a:spAutoFit/>
          </a:bodyPr>
          <a:lstStyle/>
          <a:p>
            <a:r>
              <a:rPr lang="zh-CN" altLang="en-US" sz="2400" dirty="0">
                <a:ea typeface="宋体" charset="-122"/>
              </a:rPr>
              <a:t>空间二直线的最短距离在</a:t>
            </a:r>
            <a:r>
              <a:rPr lang="en-US" altLang="zh-CN" sz="2400" b="1" dirty="0">
                <a:latin typeface="Times New Roman" pitchFamily="18" charset="0"/>
                <a:ea typeface="宋体" charset="-122"/>
                <a:cs typeface="Times New Roman" pitchFamily="18" charset="0"/>
              </a:rPr>
              <a:t>q</a:t>
            </a:r>
            <a:r>
              <a:rPr lang="en-US" altLang="zh-CN" sz="2400" b="1" baseline="-25000" dirty="0">
                <a:latin typeface="Times New Roman" pitchFamily="18" charset="0"/>
                <a:ea typeface="宋体" charset="-122"/>
                <a:cs typeface="Times New Roman" pitchFamily="18" charset="0"/>
              </a:rPr>
              <a:t>1</a:t>
            </a:r>
            <a:r>
              <a:rPr lang="en-US" altLang="zh-CN" sz="2400" dirty="0">
                <a:ea typeface="宋体" charset="-122"/>
              </a:rPr>
              <a:t> </a:t>
            </a:r>
            <a:r>
              <a:rPr lang="zh-CN" altLang="en-US" sz="2400" dirty="0">
                <a:ea typeface="宋体" charset="-122"/>
              </a:rPr>
              <a:t>和 </a:t>
            </a:r>
            <a:r>
              <a:rPr lang="en-US" altLang="zh-CN" sz="2400" b="1" dirty="0">
                <a:latin typeface="Times New Roman" pitchFamily="18" charset="0"/>
                <a:ea typeface="宋体" charset="-122"/>
              </a:rPr>
              <a:t>q</a:t>
            </a:r>
            <a:r>
              <a:rPr lang="en-US" altLang="zh-CN" sz="2400" b="1" baseline="-25000" dirty="0">
                <a:latin typeface="Times New Roman" pitchFamily="18" charset="0"/>
                <a:ea typeface="宋体" charset="-122"/>
              </a:rPr>
              <a:t>2</a:t>
            </a:r>
            <a:r>
              <a:rPr lang="en-US" altLang="zh-CN" sz="2400" b="1" dirty="0">
                <a:ea typeface="宋体" charset="-122"/>
              </a:rPr>
              <a:t> </a:t>
            </a:r>
            <a:r>
              <a:rPr lang="zh-CN" altLang="en-US" sz="2400" dirty="0">
                <a:ea typeface="宋体" charset="-122"/>
              </a:rPr>
              <a:t>处取到，其中</a:t>
            </a:r>
            <a:endParaRPr lang="en-US" altLang="zh-CN" sz="2400" dirty="0">
              <a:ea typeface="宋体" charset="-122"/>
            </a:endParaRPr>
          </a:p>
          <a:p>
            <a:r>
              <a:rPr lang="en-US" altLang="zh-CN" sz="2400" dirty="0">
                <a:solidFill>
                  <a:schemeClr val="tx2">
                    <a:lumMod val="60000"/>
                    <a:lumOff val="40000"/>
                  </a:schemeClr>
                </a:solidFill>
                <a:ea typeface="宋体" charset="-122"/>
              </a:rPr>
              <a:t> </a:t>
            </a:r>
            <a:r>
              <a:rPr lang="en-US" altLang="zh-CN" sz="2400" dirty="0">
                <a:solidFill>
                  <a:schemeClr val="tx2">
                    <a:lumMod val="60000"/>
                    <a:lumOff val="40000"/>
                  </a:schemeClr>
                </a:solidFill>
                <a:latin typeface="Times New Roman" pitchFamily="18" charset="0"/>
                <a:ea typeface="宋体" charset="-122"/>
              </a:rPr>
              <a:t>(</a:t>
            </a:r>
            <a:r>
              <a:rPr lang="en-US" altLang="zh-CN" sz="2400" b="1" dirty="0">
                <a:solidFill>
                  <a:schemeClr val="tx2">
                    <a:lumMod val="60000"/>
                    <a:lumOff val="40000"/>
                  </a:schemeClr>
                </a:solidFill>
                <a:latin typeface="Times New Roman" pitchFamily="18" charset="0"/>
                <a:ea typeface="宋体" charset="-122"/>
              </a:rPr>
              <a:t>q</a:t>
            </a:r>
            <a:r>
              <a:rPr lang="en-US" altLang="zh-CN" sz="2400" b="1" baseline="-25000" dirty="0">
                <a:solidFill>
                  <a:schemeClr val="tx2">
                    <a:lumMod val="60000"/>
                    <a:lumOff val="40000"/>
                  </a:schemeClr>
                </a:solidFill>
                <a:latin typeface="Times New Roman" pitchFamily="18" charset="0"/>
                <a:ea typeface="宋体" charset="-122"/>
              </a:rPr>
              <a:t>1</a:t>
            </a:r>
            <a:r>
              <a:rPr lang="en-US" altLang="zh-CN" sz="2400" dirty="0">
                <a:solidFill>
                  <a:schemeClr val="tx2">
                    <a:lumMod val="60000"/>
                    <a:lumOff val="40000"/>
                  </a:schemeClr>
                </a:solidFill>
                <a:ea typeface="宋体" charset="-122"/>
              </a:rPr>
              <a:t> – </a:t>
            </a:r>
            <a:r>
              <a:rPr lang="en-US" altLang="zh-CN" sz="2400" b="1" dirty="0">
                <a:solidFill>
                  <a:schemeClr val="tx2">
                    <a:lumMod val="60000"/>
                    <a:lumOff val="40000"/>
                  </a:schemeClr>
                </a:solidFill>
                <a:latin typeface="Times New Roman" pitchFamily="18" charset="0"/>
                <a:ea typeface="宋体" charset="-122"/>
              </a:rPr>
              <a:t>q</a:t>
            </a:r>
            <a:r>
              <a:rPr lang="en-US" altLang="zh-CN" sz="2400" b="1" baseline="-25000" dirty="0">
                <a:solidFill>
                  <a:schemeClr val="tx2">
                    <a:lumMod val="60000"/>
                    <a:lumOff val="40000"/>
                  </a:schemeClr>
                </a:solidFill>
                <a:latin typeface="Times New Roman" pitchFamily="18" charset="0"/>
                <a:ea typeface="宋体" charset="-122"/>
              </a:rPr>
              <a:t>2</a:t>
            </a:r>
            <a:r>
              <a:rPr lang="en-US" altLang="zh-CN" sz="2400" dirty="0">
                <a:solidFill>
                  <a:schemeClr val="tx2">
                    <a:lumMod val="60000"/>
                    <a:lumOff val="40000"/>
                  </a:schemeClr>
                </a:solidFill>
                <a:latin typeface="Times New Roman" pitchFamily="18" charset="0"/>
                <a:ea typeface="宋体" charset="-122"/>
              </a:rPr>
              <a:t>)</a:t>
            </a:r>
            <a:r>
              <a:rPr lang="en-US" altLang="zh-CN" sz="2400" dirty="0">
                <a:solidFill>
                  <a:schemeClr val="tx2">
                    <a:lumMod val="60000"/>
                    <a:lumOff val="40000"/>
                  </a:schemeClr>
                </a:solidFill>
                <a:ea typeface="宋体" charset="-122"/>
              </a:rPr>
              <a:t> </a:t>
            </a:r>
            <a:r>
              <a:rPr lang="en-US" altLang="zh-CN" sz="2400" dirty="0">
                <a:solidFill>
                  <a:schemeClr val="tx2">
                    <a:lumMod val="60000"/>
                    <a:lumOff val="40000"/>
                  </a:schemeClr>
                </a:solidFill>
                <a:ea typeface="宋体" charset="-122"/>
                <a:sym typeface="Symbol" pitchFamily="18" charset="2"/>
              </a:rPr>
              <a:t> </a:t>
            </a:r>
            <a:r>
              <a:rPr lang="en-US" altLang="zh-CN" sz="2400" b="1" dirty="0">
                <a:solidFill>
                  <a:schemeClr val="tx2">
                    <a:lumMod val="60000"/>
                    <a:lumOff val="40000"/>
                  </a:schemeClr>
                </a:solidFill>
                <a:latin typeface="Times New Roman" pitchFamily="18" charset="0"/>
                <a:ea typeface="宋体" charset="-122"/>
              </a:rPr>
              <a:t>u</a:t>
            </a:r>
            <a:r>
              <a:rPr lang="en-US" altLang="zh-CN" sz="2400" dirty="0">
                <a:solidFill>
                  <a:schemeClr val="tx2">
                    <a:lumMod val="60000"/>
                    <a:lumOff val="40000"/>
                  </a:schemeClr>
                </a:solidFill>
                <a:ea typeface="宋体" charset="-122"/>
              </a:rPr>
              <a:t>  and  </a:t>
            </a:r>
            <a:r>
              <a:rPr lang="en-US" altLang="zh-CN" sz="2400" dirty="0">
                <a:solidFill>
                  <a:schemeClr val="tx2">
                    <a:lumMod val="60000"/>
                    <a:lumOff val="40000"/>
                  </a:schemeClr>
                </a:solidFill>
                <a:latin typeface="Times New Roman" pitchFamily="18" charset="0"/>
                <a:ea typeface="宋体" charset="-122"/>
              </a:rPr>
              <a:t>(</a:t>
            </a:r>
            <a:r>
              <a:rPr lang="en-US" altLang="zh-CN" sz="2400" b="1" dirty="0">
                <a:solidFill>
                  <a:schemeClr val="tx2">
                    <a:lumMod val="60000"/>
                    <a:lumOff val="40000"/>
                  </a:schemeClr>
                </a:solidFill>
                <a:latin typeface="Times New Roman" pitchFamily="18" charset="0"/>
                <a:ea typeface="宋体" charset="-122"/>
              </a:rPr>
              <a:t>q</a:t>
            </a:r>
            <a:r>
              <a:rPr lang="en-US" altLang="zh-CN" sz="2400" b="1" baseline="-25000" dirty="0">
                <a:solidFill>
                  <a:schemeClr val="tx2">
                    <a:lumMod val="60000"/>
                    <a:lumOff val="40000"/>
                  </a:schemeClr>
                </a:solidFill>
                <a:latin typeface="Times New Roman" pitchFamily="18" charset="0"/>
                <a:ea typeface="宋体" charset="-122"/>
              </a:rPr>
              <a:t>1</a:t>
            </a:r>
            <a:r>
              <a:rPr lang="en-US" altLang="zh-CN" sz="2400" dirty="0">
                <a:solidFill>
                  <a:schemeClr val="tx2">
                    <a:lumMod val="60000"/>
                    <a:lumOff val="40000"/>
                  </a:schemeClr>
                </a:solidFill>
                <a:ea typeface="宋体" charset="-122"/>
              </a:rPr>
              <a:t> – </a:t>
            </a:r>
            <a:r>
              <a:rPr lang="en-US" altLang="zh-CN" sz="2400" b="1" dirty="0">
                <a:solidFill>
                  <a:schemeClr val="tx2">
                    <a:lumMod val="60000"/>
                    <a:lumOff val="40000"/>
                  </a:schemeClr>
                </a:solidFill>
                <a:latin typeface="Times New Roman" pitchFamily="18" charset="0"/>
                <a:ea typeface="宋体" charset="-122"/>
              </a:rPr>
              <a:t>q</a:t>
            </a:r>
            <a:r>
              <a:rPr lang="en-US" altLang="zh-CN" sz="2400" b="1" baseline="-25000" dirty="0">
                <a:solidFill>
                  <a:schemeClr val="tx2">
                    <a:lumMod val="60000"/>
                    <a:lumOff val="40000"/>
                  </a:schemeClr>
                </a:solidFill>
                <a:latin typeface="Times New Roman" pitchFamily="18" charset="0"/>
                <a:ea typeface="宋体" charset="-122"/>
              </a:rPr>
              <a:t>2</a:t>
            </a:r>
            <a:r>
              <a:rPr lang="en-US" altLang="zh-CN" sz="2400" dirty="0">
                <a:solidFill>
                  <a:schemeClr val="tx2">
                    <a:lumMod val="60000"/>
                    <a:lumOff val="40000"/>
                  </a:schemeClr>
                </a:solidFill>
                <a:latin typeface="Times New Roman" pitchFamily="18" charset="0"/>
                <a:ea typeface="宋体" charset="-122"/>
              </a:rPr>
              <a:t>)</a:t>
            </a:r>
            <a:r>
              <a:rPr lang="en-US" altLang="zh-CN" sz="2400" dirty="0">
                <a:solidFill>
                  <a:schemeClr val="tx2">
                    <a:lumMod val="60000"/>
                    <a:lumOff val="40000"/>
                  </a:schemeClr>
                </a:solidFill>
                <a:ea typeface="宋体" charset="-122"/>
              </a:rPr>
              <a:t> </a:t>
            </a:r>
            <a:r>
              <a:rPr lang="en-US" altLang="zh-CN" sz="2400" dirty="0">
                <a:solidFill>
                  <a:schemeClr val="tx2">
                    <a:lumMod val="60000"/>
                    <a:lumOff val="40000"/>
                  </a:schemeClr>
                </a:solidFill>
                <a:ea typeface="宋体" charset="-122"/>
                <a:sym typeface="Symbol" pitchFamily="18" charset="2"/>
              </a:rPr>
              <a:t> </a:t>
            </a:r>
            <a:r>
              <a:rPr lang="en-US" altLang="zh-CN" sz="2400" b="1" dirty="0">
                <a:solidFill>
                  <a:schemeClr val="tx2">
                    <a:lumMod val="60000"/>
                    <a:lumOff val="40000"/>
                  </a:schemeClr>
                </a:solidFill>
                <a:latin typeface="Times New Roman" pitchFamily="18" charset="0"/>
                <a:ea typeface="宋体" charset="-122"/>
              </a:rPr>
              <a:t>v</a:t>
            </a:r>
            <a:r>
              <a:rPr lang="en-US" altLang="zh-CN" sz="2400" dirty="0">
                <a:solidFill>
                  <a:schemeClr val="tx2">
                    <a:lumMod val="60000"/>
                    <a:lumOff val="40000"/>
                  </a:schemeClr>
                </a:solidFill>
                <a:ea typeface="宋体" charset="-122"/>
              </a:rPr>
              <a:t> </a:t>
            </a:r>
          </a:p>
        </p:txBody>
      </p:sp>
      <p:sp>
        <p:nvSpPr>
          <p:cNvPr id="28689" name="Text Box 17"/>
          <p:cNvSpPr txBox="1">
            <a:spLocks noChangeArrowheads="1"/>
          </p:cNvSpPr>
          <p:nvPr/>
        </p:nvSpPr>
        <p:spPr bwMode="auto">
          <a:xfrm>
            <a:off x="4448175" y="22447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1</a:t>
            </a:r>
          </a:p>
        </p:txBody>
      </p:sp>
      <p:sp>
        <p:nvSpPr>
          <p:cNvPr id="28690" name="Text Box 18"/>
          <p:cNvSpPr txBox="1">
            <a:spLocks noChangeArrowheads="1"/>
          </p:cNvSpPr>
          <p:nvPr/>
        </p:nvSpPr>
        <p:spPr bwMode="auto">
          <a:xfrm>
            <a:off x="4397375" y="392747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2</a:t>
            </a:r>
          </a:p>
        </p:txBody>
      </p:sp>
      <p:sp>
        <p:nvSpPr>
          <p:cNvPr id="28691" name="Oval 19"/>
          <p:cNvSpPr>
            <a:spLocks noChangeArrowheads="1"/>
          </p:cNvSpPr>
          <p:nvPr/>
        </p:nvSpPr>
        <p:spPr bwMode="auto">
          <a:xfrm>
            <a:off x="4521200" y="259715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8692" name="Oval 20"/>
          <p:cNvSpPr>
            <a:spLocks noChangeArrowheads="1"/>
          </p:cNvSpPr>
          <p:nvPr/>
        </p:nvSpPr>
        <p:spPr bwMode="auto">
          <a:xfrm>
            <a:off x="4527550" y="38893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28693" name="Text Box 21"/>
          <p:cNvSpPr txBox="1">
            <a:spLocks noChangeArrowheads="1"/>
          </p:cNvSpPr>
          <p:nvPr/>
        </p:nvSpPr>
        <p:spPr bwMode="auto">
          <a:xfrm>
            <a:off x="3209925" y="22923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1</a:t>
            </a:r>
          </a:p>
        </p:txBody>
      </p:sp>
      <p:sp>
        <p:nvSpPr>
          <p:cNvPr id="28694" name="Text Box 22"/>
          <p:cNvSpPr txBox="1">
            <a:spLocks noChangeArrowheads="1"/>
          </p:cNvSpPr>
          <p:nvPr/>
        </p:nvSpPr>
        <p:spPr bwMode="auto">
          <a:xfrm>
            <a:off x="3092450" y="38798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2</a:t>
            </a:r>
          </a:p>
        </p:txBody>
      </p:sp>
      <p:graphicFrame>
        <p:nvGraphicFramePr>
          <p:cNvPr id="28695" name="Object 23"/>
          <p:cNvGraphicFramePr>
            <a:graphicFrameLocks noGrp="1" noChangeAspect="1"/>
          </p:cNvGraphicFramePr>
          <p:nvPr>
            <p:ph idx="1"/>
          </p:nvPr>
        </p:nvGraphicFramePr>
        <p:xfrm>
          <a:off x="457200" y="2362200"/>
          <a:ext cx="2133600" cy="1143000"/>
        </p:xfrm>
        <a:graphic>
          <a:graphicData uri="http://schemas.openxmlformats.org/presentationml/2006/ole">
            <mc:AlternateContent xmlns:mc="http://schemas.openxmlformats.org/markup-compatibility/2006">
              <mc:Choice xmlns:v="urn:schemas-microsoft-com:vml" Requires="v">
                <p:oleObj spid="_x0000_s15363" name="Equation" r:id="rId3" imgW="876240" imgH="457200" progId="">
                  <p:embed/>
                </p:oleObj>
              </mc:Choice>
              <mc:Fallback>
                <p:oleObj name="Equation" r:id="rId3" imgW="87624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62200"/>
                        <a:ext cx="21336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6" name="Freeform 24"/>
          <p:cNvSpPr>
            <a:spLocks/>
          </p:cNvSpPr>
          <p:nvPr/>
        </p:nvSpPr>
        <p:spPr bwMode="auto">
          <a:xfrm>
            <a:off x="4572000" y="2724150"/>
            <a:ext cx="152400" cy="161925"/>
          </a:xfrm>
          <a:custGeom>
            <a:avLst/>
            <a:gdLst/>
            <a:ahLst/>
            <a:cxnLst>
              <a:cxn ang="0">
                <a:pos x="96" y="0"/>
              </a:cxn>
              <a:cxn ang="0">
                <a:pos x="96" y="102"/>
              </a:cxn>
              <a:cxn ang="0">
                <a:pos x="0" y="72"/>
              </a:cxn>
            </a:cxnLst>
            <a:rect l="0" t="0" r="r" b="b"/>
            <a:pathLst>
              <a:path w="96" h="102">
                <a:moveTo>
                  <a:pt x="96" y="0"/>
                </a:moveTo>
                <a:lnTo>
                  <a:pt x="96" y="102"/>
                </a:lnTo>
                <a:lnTo>
                  <a:pt x="0" y="7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8697" name="Freeform 25"/>
          <p:cNvSpPr>
            <a:spLocks/>
          </p:cNvSpPr>
          <p:nvPr/>
        </p:nvSpPr>
        <p:spPr bwMode="auto">
          <a:xfrm>
            <a:off x="4572000" y="3724275"/>
            <a:ext cx="171450" cy="161925"/>
          </a:xfrm>
          <a:custGeom>
            <a:avLst/>
            <a:gdLst/>
            <a:ahLst/>
            <a:cxnLst>
              <a:cxn ang="0">
                <a:pos x="0" y="24"/>
              </a:cxn>
              <a:cxn ang="0">
                <a:pos x="108" y="0"/>
              </a:cxn>
              <a:cxn ang="0">
                <a:pos x="108" y="102"/>
              </a:cxn>
            </a:cxnLst>
            <a:rect l="0" t="0" r="r" b="b"/>
            <a:pathLst>
              <a:path w="108" h="102">
                <a:moveTo>
                  <a:pt x="0" y="24"/>
                </a:moveTo>
                <a:lnTo>
                  <a:pt x="108" y="0"/>
                </a:lnTo>
                <a:lnTo>
                  <a:pt x="108" y="10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zh-CN" altLang="en-US" dirty="0">
                <a:ea typeface="宋体" charset="-122"/>
              </a:rPr>
              <a:t>空间二直线的距离</a:t>
            </a:r>
            <a:r>
              <a:rPr lang="en-US" altLang="zh-CN" dirty="0">
                <a:ea typeface="宋体" charset="-122"/>
              </a:rPr>
              <a:t>(3D)</a:t>
            </a:r>
          </a:p>
        </p:txBody>
      </p:sp>
      <p:graphicFrame>
        <p:nvGraphicFramePr>
          <p:cNvPr id="29699" name="Object 3"/>
          <p:cNvGraphicFramePr>
            <a:graphicFrameLocks noChangeAspect="1"/>
          </p:cNvGraphicFramePr>
          <p:nvPr/>
        </p:nvGraphicFramePr>
        <p:xfrm>
          <a:off x="409575" y="4892675"/>
          <a:ext cx="2976563" cy="785813"/>
        </p:xfrm>
        <a:graphic>
          <a:graphicData uri="http://schemas.openxmlformats.org/presentationml/2006/ole">
            <mc:AlternateContent xmlns:mc="http://schemas.openxmlformats.org/markup-compatibility/2006">
              <mc:Choice xmlns:v="urn:schemas-microsoft-com:vml" Requires="v">
                <p:oleObj spid="_x0000_s16389" name="Equation" r:id="rId3" imgW="1828800" imgH="482400" progId="">
                  <p:embed/>
                </p:oleObj>
              </mc:Choice>
              <mc:Fallback>
                <p:oleObj name="Equation" r:id="rId3" imgW="1828800" imgH="4824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9575" y="4892675"/>
                        <a:ext cx="2976563"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0" name="Object 4"/>
          <p:cNvGraphicFramePr>
            <a:graphicFrameLocks noChangeAspect="1"/>
          </p:cNvGraphicFramePr>
          <p:nvPr/>
        </p:nvGraphicFramePr>
        <p:xfrm>
          <a:off x="4410075" y="4892675"/>
          <a:ext cx="4383088" cy="827088"/>
        </p:xfrm>
        <a:graphic>
          <a:graphicData uri="http://schemas.openxmlformats.org/presentationml/2006/ole">
            <mc:AlternateContent xmlns:mc="http://schemas.openxmlformats.org/markup-compatibility/2006">
              <mc:Choice xmlns:v="urn:schemas-microsoft-com:vml" Requires="v">
                <p:oleObj spid="_x0000_s16390" name="Equation" r:id="rId5" imgW="2692080" imgH="507960" progId="">
                  <p:embed/>
                </p:oleObj>
              </mc:Choice>
              <mc:Fallback>
                <p:oleObj name="Equation" r:id="rId5" imgW="2692080" imgH="50796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0075" y="4892675"/>
                        <a:ext cx="4383088" cy="827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1" name="AutoShape 5"/>
          <p:cNvSpPr>
            <a:spLocks noChangeArrowheads="1"/>
          </p:cNvSpPr>
          <p:nvPr/>
        </p:nvSpPr>
        <p:spPr bwMode="auto">
          <a:xfrm>
            <a:off x="3619500" y="5210175"/>
            <a:ext cx="609600" cy="219075"/>
          </a:xfrm>
          <a:prstGeom prst="rightArrow">
            <a:avLst>
              <a:gd name="adj1" fmla="val 50000"/>
              <a:gd name="adj2" fmla="val 69565"/>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9702" name="Line 6"/>
          <p:cNvSpPr>
            <a:spLocks noChangeShapeType="1"/>
          </p:cNvSpPr>
          <p:nvPr/>
        </p:nvSpPr>
        <p:spPr bwMode="auto">
          <a:xfrm>
            <a:off x="3248025" y="2228850"/>
            <a:ext cx="4467225" cy="1466850"/>
          </a:xfrm>
          <a:prstGeom prst="line">
            <a:avLst/>
          </a:prstGeom>
          <a:noFill/>
          <a:ln w="38100">
            <a:solidFill>
              <a:schemeClr val="tx1"/>
            </a:solidFill>
            <a:miter lim="800000"/>
            <a:headEnd/>
            <a:tailEnd/>
          </a:ln>
          <a:effectLst/>
        </p:spPr>
        <p:txBody>
          <a:bodyPr wrap="none"/>
          <a:lstStyle/>
          <a:p>
            <a:endParaRPr lang="zh-CN" altLang="en-US"/>
          </a:p>
        </p:txBody>
      </p:sp>
      <p:sp>
        <p:nvSpPr>
          <p:cNvPr id="29703" name="Line 7"/>
          <p:cNvSpPr>
            <a:spLocks noChangeShapeType="1"/>
          </p:cNvSpPr>
          <p:nvPr/>
        </p:nvSpPr>
        <p:spPr bwMode="auto">
          <a:xfrm flipV="1">
            <a:off x="3009900" y="3438525"/>
            <a:ext cx="3657600" cy="876300"/>
          </a:xfrm>
          <a:prstGeom prst="line">
            <a:avLst/>
          </a:prstGeom>
          <a:noFill/>
          <a:ln w="38100">
            <a:solidFill>
              <a:schemeClr val="tx1"/>
            </a:solidFill>
            <a:miter lim="800000"/>
            <a:headEnd/>
            <a:tailEnd/>
          </a:ln>
          <a:effectLst/>
        </p:spPr>
        <p:txBody>
          <a:bodyPr wrap="none"/>
          <a:lstStyle/>
          <a:p>
            <a:endParaRPr lang="zh-CN" altLang="en-US"/>
          </a:p>
        </p:txBody>
      </p:sp>
      <p:sp>
        <p:nvSpPr>
          <p:cNvPr id="29704" name="Line 8"/>
          <p:cNvSpPr>
            <a:spLocks noChangeShapeType="1"/>
          </p:cNvSpPr>
          <p:nvPr/>
        </p:nvSpPr>
        <p:spPr bwMode="auto">
          <a:xfrm flipV="1">
            <a:off x="6981825" y="3124200"/>
            <a:ext cx="1171575" cy="247650"/>
          </a:xfrm>
          <a:prstGeom prst="line">
            <a:avLst/>
          </a:prstGeom>
          <a:noFill/>
          <a:ln w="38100">
            <a:solidFill>
              <a:schemeClr val="tx1"/>
            </a:solidFill>
            <a:miter lim="800000"/>
            <a:headEnd/>
            <a:tailEnd/>
          </a:ln>
          <a:effectLst/>
        </p:spPr>
        <p:txBody>
          <a:bodyPr wrap="none"/>
          <a:lstStyle/>
          <a:p>
            <a:endParaRPr lang="zh-CN" altLang="en-US"/>
          </a:p>
        </p:txBody>
      </p:sp>
      <p:sp>
        <p:nvSpPr>
          <p:cNvPr id="29705" name="Line 9"/>
          <p:cNvSpPr>
            <a:spLocks noChangeShapeType="1"/>
          </p:cNvSpPr>
          <p:nvPr/>
        </p:nvSpPr>
        <p:spPr bwMode="auto">
          <a:xfrm>
            <a:off x="4572000" y="2714625"/>
            <a:ext cx="0" cy="1171575"/>
          </a:xfrm>
          <a:prstGeom prst="line">
            <a:avLst/>
          </a:prstGeom>
          <a:noFill/>
          <a:ln w="9525">
            <a:solidFill>
              <a:schemeClr val="tx1"/>
            </a:solidFill>
            <a:miter lim="800000"/>
            <a:headEnd type="triangle" w="med" len="med"/>
            <a:tailEnd type="triangle" w="med" len="med"/>
          </a:ln>
          <a:effectLst/>
        </p:spPr>
        <p:txBody>
          <a:bodyPr wrap="none"/>
          <a:lstStyle/>
          <a:p>
            <a:endParaRPr lang="zh-CN" altLang="en-US"/>
          </a:p>
        </p:txBody>
      </p:sp>
      <p:sp>
        <p:nvSpPr>
          <p:cNvPr id="29706" name="Line 10"/>
          <p:cNvSpPr>
            <a:spLocks noChangeShapeType="1"/>
          </p:cNvSpPr>
          <p:nvPr/>
        </p:nvSpPr>
        <p:spPr bwMode="auto">
          <a:xfrm>
            <a:off x="5400675" y="2933700"/>
            <a:ext cx="647700" cy="209550"/>
          </a:xfrm>
          <a:prstGeom prst="line">
            <a:avLst/>
          </a:prstGeom>
          <a:noFill/>
          <a:ln w="57150">
            <a:solidFill>
              <a:schemeClr val="accent1"/>
            </a:solidFill>
            <a:miter lim="800000"/>
            <a:headEnd/>
            <a:tailEnd type="triangle" w="med" len="med"/>
          </a:ln>
          <a:effectLst/>
        </p:spPr>
        <p:txBody>
          <a:bodyPr wrap="none"/>
          <a:lstStyle/>
          <a:p>
            <a:endParaRPr lang="zh-CN" altLang="en-US"/>
          </a:p>
        </p:txBody>
      </p:sp>
      <p:sp>
        <p:nvSpPr>
          <p:cNvPr id="29707" name="Line 11"/>
          <p:cNvSpPr>
            <a:spLocks noChangeShapeType="1"/>
          </p:cNvSpPr>
          <p:nvPr/>
        </p:nvSpPr>
        <p:spPr bwMode="auto">
          <a:xfrm flipH="1">
            <a:off x="5302250" y="3587750"/>
            <a:ext cx="742950" cy="180975"/>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29708" name="Oval 12"/>
          <p:cNvSpPr>
            <a:spLocks noChangeArrowheads="1"/>
          </p:cNvSpPr>
          <p:nvPr/>
        </p:nvSpPr>
        <p:spPr bwMode="auto">
          <a:xfrm>
            <a:off x="5410200" y="289560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9709" name="Oval 13"/>
          <p:cNvSpPr>
            <a:spLocks noChangeArrowheads="1"/>
          </p:cNvSpPr>
          <p:nvPr/>
        </p:nvSpPr>
        <p:spPr bwMode="auto">
          <a:xfrm>
            <a:off x="6007100" y="35210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29710" name="Text Box 14"/>
          <p:cNvSpPr txBox="1">
            <a:spLocks noChangeArrowheads="1"/>
          </p:cNvSpPr>
          <p:nvPr/>
        </p:nvSpPr>
        <p:spPr bwMode="auto">
          <a:xfrm>
            <a:off x="5308600" y="2571750"/>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1</a:t>
            </a:r>
          </a:p>
        </p:txBody>
      </p:sp>
      <p:sp>
        <p:nvSpPr>
          <p:cNvPr id="29711" name="Text Box 15"/>
          <p:cNvSpPr txBox="1">
            <a:spLocks noChangeArrowheads="1"/>
          </p:cNvSpPr>
          <p:nvPr/>
        </p:nvSpPr>
        <p:spPr bwMode="auto">
          <a:xfrm>
            <a:off x="5915025" y="35782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2</a:t>
            </a:r>
          </a:p>
        </p:txBody>
      </p:sp>
      <p:sp>
        <p:nvSpPr>
          <p:cNvPr id="29712" name="Text Box 16"/>
          <p:cNvSpPr txBox="1">
            <a:spLocks noChangeArrowheads="1"/>
          </p:cNvSpPr>
          <p:nvPr/>
        </p:nvSpPr>
        <p:spPr bwMode="auto">
          <a:xfrm>
            <a:off x="5788025" y="2727325"/>
            <a:ext cx="3111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u</a:t>
            </a:r>
            <a:endParaRPr lang="en-US" altLang="zh-CN" b="1" baseline="-25000">
              <a:latin typeface="Times New Roman" pitchFamily="18" charset="0"/>
              <a:ea typeface="宋体" charset="-122"/>
              <a:cs typeface="Times New Roman" pitchFamily="18" charset="0"/>
            </a:endParaRPr>
          </a:p>
        </p:txBody>
      </p:sp>
      <p:sp>
        <p:nvSpPr>
          <p:cNvPr id="29713" name="Text Box 17"/>
          <p:cNvSpPr txBox="1">
            <a:spLocks noChangeArrowheads="1"/>
          </p:cNvSpPr>
          <p:nvPr/>
        </p:nvSpPr>
        <p:spPr bwMode="auto">
          <a:xfrm>
            <a:off x="5375275" y="3724275"/>
            <a:ext cx="2984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v</a:t>
            </a:r>
            <a:endParaRPr lang="en-US" altLang="zh-CN" b="1" baseline="-25000">
              <a:latin typeface="Times New Roman" pitchFamily="18" charset="0"/>
              <a:ea typeface="宋体" charset="-122"/>
              <a:cs typeface="Times New Roman" pitchFamily="18" charset="0"/>
            </a:endParaRPr>
          </a:p>
        </p:txBody>
      </p:sp>
      <p:sp>
        <p:nvSpPr>
          <p:cNvPr id="29714" name="Text Box 18"/>
          <p:cNvSpPr txBox="1">
            <a:spLocks noChangeArrowheads="1"/>
          </p:cNvSpPr>
          <p:nvPr/>
        </p:nvSpPr>
        <p:spPr bwMode="auto">
          <a:xfrm>
            <a:off x="4289425" y="3074988"/>
            <a:ext cx="311150" cy="366712"/>
          </a:xfrm>
          <a:prstGeom prst="rect">
            <a:avLst/>
          </a:prstGeom>
          <a:noFill/>
          <a:ln w="9525">
            <a:noFill/>
            <a:miter lim="800000"/>
            <a:headEnd/>
            <a:tailEnd/>
          </a:ln>
          <a:effectLst/>
        </p:spPr>
        <p:txBody>
          <a:bodyPr wrap="none">
            <a:spAutoFit/>
          </a:bodyPr>
          <a:lstStyle/>
          <a:p>
            <a:r>
              <a:rPr lang="en-US" altLang="zh-CN">
                <a:ea typeface="宋体" charset="-122"/>
              </a:rPr>
              <a:t>d</a:t>
            </a:r>
          </a:p>
        </p:txBody>
      </p:sp>
      <p:sp>
        <p:nvSpPr>
          <p:cNvPr id="29715" name="Text Box 19"/>
          <p:cNvSpPr txBox="1">
            <a:spLocks noChangeArrowheads="1"/>
          </p:cNvSpPr>
          <p:nvPr/>
        </p:nvSpPr>
        <p:spPr bwMode="auto">
          <a:xfrm>
            <a:off x="4448175" y="22447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1</a:t>
            </a:r>
          </a:p>
        </p:txBody>
      </p:sp>
      <p:sp>
        <p:nvSpPr>
          <p:cNvPr id="29716" name="Text Box 20"/>
          <p:cNvSpPr txBox="1">
            <a:spLocks noChangeArrowheads="1"/>
          </p:cNvSpPr>
          <p:nvPr/>
        </p:nvSpPr>
        <p:spPr bwMode="auto">
          <a:xfrm>
            <a:off x="4397375" y="392747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2</a:t>
            </a:r>
          </a:p>
        </p:txBody>
      </p:sp>
      <p:sp>
        <p:nvSpPr>
          <p:cNvPr id="29717" name="Oval 21"/>
          <p:cNvSpPr>
            <a:spLocks noChangeArrowheads="1"/>
          </p:cNvSpPr>
          <p:nvPr/>
        </p:nvSpPr>
        <p:spPr bwMode="auto">
          <a:xfrm>
            <a:off x="4521200" y="259715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29718" name="Oval 22"/>
          <p:cNvSpPr>
            <a:spLocks noChangeArrowheads="1"/>
          </p:cNvSpPr>
          <p:nvPr/>
        </p:nvSpPr>
        <p:spPr bwMode="auto">
          <a:xfrm>
            <a:off x="4527550" y="38893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29719" name="Text Box 23"/>
          <p:cNvSpPr txBox="1">
            <a:spLocks noChangeArrowheads="1"/>
          </p:cNvSpPr>
          <p:nvPr/>
        </p:nvSpPr>
        <p:spPr bwMode="auto">
          <a:xfrm>
            <a:off x="3209925" y="22923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1</a:t>
            </a:r>
          </a:p>
        </p:txBody>
      </p:sp>
      <p:sp>
        <p:nvSpPr>
          <p:cNvPr id="29720" name="Text Box 24"/>
          <p:cNvSpPr txBox="1">
            <a:spLocks noChangeArrowheads="1"/>
          </p:cNvSpPr>
          <p:nvPr/>
        </p:nvSpPr>
        <p:spPr bwMode="auto">
          <a:xfrm>
            <a:off x="3092450" y="38798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2</a:t>
            </a:r>
          </a:p>
        </p:txBody>
      </p:sp>
      <p:sp>
        <p:nvSpPr>
          <p:cNvPr id="29721" name="Freeform 25"/>
          <p:cNvSpPr>
            <a:spLocks/>
          </p:cNvSpPr>
          <p:nvPr/>
        </p:nvSpPr>
        <p:spPr bwMode="auto">
          <a:xfrm>
            <a:off x="4572000" y="2724150"/>
            <a:ext cx="152400" cy="161925"/>
          </a:xfrm>
          <a:custGeom>
            <a:avLst/>
            <a:gdLst/>
            <a:ahLst/>
            <a:cxnLst>
              <a:cxn ang="0">
                <a:pos x="96" y="0"/>
              </a:cxn>
              <a:cxn ang="0">
                <a:pos x="96" y="102"/>
              </a:cxn>
              <a:cxn ang="0">
                <a:pos x="0" y="72"/>
              </a:cxn>
            </a:cxnLst>
            <a:rect l="0" t="0" r="r" b="b"/>
            <a:pathLst>
              <a:path w="96" h="102">
                <a:moveTo>
                  <a:pt x="96" y="0"/>
                </a:moveTo>
                <a:lnTo>
                  <a:pt x="96" y="102"/>
                </a:lnTo>
                <a:lnTo>
                  <a:pt x="0" y="7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29722" name="Freeform 26"/>
          <p:cNvSpPr>
            <a:spLocks/>
          </p:cNvSpPr>
          <p:nvPr/>
        </p:nvSpPr>
        <p:spPr bwMode="auto">
          <a:xfrm>
            <a:off x="4572000" y="3724275"/>
            <a:ext cx="171450" cy="161925"/>
          </a:xfrm>
          <a:custGeom>
            <a:avLst/>
            <a:gdLst/>
            <a:ahLst/>
            <a:cxnLst>
              <a:cxn ang="0">
                <a:pos x="0" y="24"/>
              </a:cxn>
              <a:cxn ang="0">
                <a:pos x="108" y="0"/>
              </a:cxn>
              <a:cxn ang="0">
                <a:pos x="108" y="102"/>
              </a:cxn>
            </a:cxnLst>
            <a:rect l="0" t="0" r="r" b="b"/>
            <a:pathLst>
              <a:path w="108" h="102">
                <a:moveTo>
                  <a:pt x="0" y="24"/>
                </a:moveTo>
                <a:lnTo>
                  <a:pt x="108" y="0"/>
                </a:lnTo>
                <a:lnTo>
                  <a:pt x="108" y="10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graphicFrame>
        <p:nvGraphicFramePr>
          <p:cNvPr id="29723" name="Object 27"/>
          <p:cNvGraphicFramePr>
            <a:graphicFrameLocks noChangeAspect="1"/>
          </p:cNvGraphicFramePr>
          <p:nvPr/>
        </p:nvGraphicFramePr>
        <p:xfrm>
          <a:off x="492125" y="2327275"/>
          <a:ext cx="2133600" cy="1112838"/>
        </p:xfrm>
        <a:graphic>
          <a:graphicData uri="http://schemas.openxmlformats.org/presentationml/2006/ole">
            <mc:AlternateContent xmlns:mc="http://schemas.openxmlformats.org/markup-compatibility/2006">
              <mc:Choice xmlns:v="urn:schemas-microsoft-com:vml" Requires="v">
                <p:oleObj spid="_x0000_s16391" name="Equation" r:id="rId7" imgW="876240" imgH="457200" progId="">
                  <p:embed/>
                </p:oleObj>
              </mc:Choice>
              <mc:Fallback>
                <p:oleObj name="Equation" r:id="rId7" imgW="876240" imgH="45720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125" y="2327275"/>
                        <a:ext cx="2133600" cy="1112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dirty="0">
                <a:ea typeface="宋体" charset="-122"/>
              </a:rPr>
              <a:t>空间二直线的距离</a:t>
            </a:r>
            <a:r>
              <a:rPr lang="en-US" altLang="zh-CN" dirty="0">
                <a:ea typeface="宋体" charset="-122"/>
              </a:rPr>
              <a:t>(3D)</a:t>
            </a:r>
          </a:p>
        </p:txBody>
      </p:sp>
      <p:graphicFrame>
        <p:nvGraphicFramePr>
          <p:cNvPr id="30723" name="Object 3"/>
          <p:cNvGraphicFramePr>
            <a:graphicFrameLocks noChangeAspect="1"/>
          </p:cNvGraphicFramePr>
          <p:nvPr/>
        </p:nvGraphicFramePr>
        <p:xfrm>
          <a:off x="2298700" y="4779963"/>
          <a:ext cx="4878388" cy="1489075"/>
        </p:xfrm>
        <a:graphic>
          <a:graphicData uri="http://schemas.openxmlformats.org/presentationml/2006/ole">
            <mc:AlternateContent xmlns:mc="http://schemas.openxmlformats.org/markup-compatibility/2006">
              <mc:Choice xmlns:v="urn:schemas-microsoft-com:vml" Requires="v">
                <p:oleObj spid="_x0000_s17412" name="Equation" r:id="rId3" imgW="2997000" imgH="914400" progId="">
                  <p:embed/>
                </p:oleObj>
              </mc:Choice>
              <mc:Fallback>
                <p:oleObj name="Equation" r:id="rId3" imgW="2997000" imgH="9144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700" y="4779963"/>
                        <a:ext cx="4878388" cy="148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4" name="Line 4"/>
          <p:cNvSpPr>
            <a:spLocks noChangeShapeType="1"/>
          </p:cNvSpPr>
          <p:nvPr/>
        </p:nvSpPr>
        <p:spPr bwMode="auto">
          <a:xfrm>
            <a:off x="3248025" y="2228850"/>
            <a:ext cx="4467225" cy="1466850"/>
          </a:xfrm>
          <a:prstGeom prst="line">
            <a:avLst/>
          </a:prstGeom>
          <a:noFill/>
          <a:ln w="38100">
            <a:solidFill>
              <a:schemeClr val="tx1"/>
            </a:solidFill>
            <a:miter lim="800000"/>
            <a:headEnd/>
            <a:tailEnd/>
          </a:ln>
          <a:effectLst/>
        </p:spPr>
        <p:txBody>
          <a:bodyPr wrap="none"/>
          <a:lstStyle/>
          <a:p>
            <a:endParaRPr lang="zh-CN" altLang="en-US"/>
          </a:p>
        </p:txBody>
      </p:sp>
      <p:sp>
        <p:nvSpPr>
          <p:cNvPr id="30725" name="Line 5"/>
          <p:cNvSpPr>
            <a:spLocks noChangeShapeType="1"/>
          </p:cNvSpPr>
          <p:nvPr/>
        </p:nvSpPr>
        <p:spPr bwMode="auto">
          <a:xfrm flipV="1">
            <a:off x="3009900" y="3438525"/>
            <a:ext cx="3657600" cy="876300"/>
          </a:xfrm>
          <a:prstGeom prst="line">
            <a:avLst/>
          </a:prstGeom>
          <a:noFill/>
          <a:ln w="38100">
            <a:solidFill>
              <a:schemeClr val="tx1"/>
            </a:solidFill>
            <a:miter lim="800000"/>
            <a:headEnd/>
            <a:tailEnd/>
          </a:ln>
          <a:effectLst/>
        </p:spPr>
        <p:txBody>
          <a:bodyPr wrap="none"/>
          <a:lstStyle/>
          <a:p>
            <a:endParaRPr lang="zh-CN" altLang="en-US"/>
          </a:p>
        </p:txBody>
      </p:sp>
      <p:sp>
        <p:nvSpPr>
          <p:cNvPr id="30726" name="Line 6"/>
          <p:cNvSpPr>
            <a:spLocks noChangeShapeType="1"/>
          </p:cNvSpPr>
          <p:nvPr/>
        </p:nvSpPr>
        <p:spPr bwMode="auto">
          <a:xfrm flipV="1">
            <a:off x="6981825" y="3124200"/>
            <a:ext cx="1171575" cy="247650"/>
          </a:xfrm>
          <a:prstGeom prst="line">
            <a:avLst/>
          </a:prstGeom>
          <a:noFill/>
          <a:ln w="38100">
            <a:solidFill>
              <a:schemeClr val="tx1"/>
            </a:solidFill>
            <a:miter lim="800000"/>
            <a:headEnd/>
            <a:tailEnd/>
          </a:ln>
          <a:effectLst/>
        </p:spPr>
        <p:txBody>
          <a:bodyPr wrap="none"/>
          <a:lstStyle/>
          <a:p>
            <a:endParaRPr lang="zh-CN" altLang="en-US"/>
          </a:p>
        </p:txBody>
      </p:sp>
      <p:sp>
        <p:nvSpPr>
          <p:cNvPr id="30727" name="Line 7"/>
          <p:cNvSpPr>
            <a:spLocks noChangeShapeType="1"/>
          </p:cNvSpPr>
          <p:nvPr/>
        </p:nvSpPr>
        <p:spPr bwMode="auto">
          <a:xfrm>
            <a:off x="4572000" y="2714625"/>
            <a:ext cx="0" cy="1171575"/>
          </a:xfrm>
          <a:prstGeom prst="line">
            <a:avLst/>
          </a:prstGeom>
          <a:noFill/>
          <a:ln w="9525">
            <a:solidFill>
              <a:schemeClr val="tx1"/>
            </a:solidFill>
            <a:miter lim="800000"/>
            <a:headEnd type="triangle" w="med" len="med"/>
            <a:tailEnd type="triangle" w="med" len="med"/>
          </a:ln>
          <a:effectLst/>
        </p:spPr>
        <p:txBody>
          <a:bodyPr wrap="none"/>
          <a:lstStyle/>
          <a:p>
            <a:endParaRPr lang="zh-CN" altLang="en-US"/>
          </a:p>
        </p:txBody>
      </p:sp>
      <p:sp>
        <p:nvSpPr>
          <p:cNvPr id="30728" name="Line 8"/>
          <p:cNvSpPr>
            <a:spLocks noChangeShapeType="1"/>
          </p:cNvSpPr>
          <p:nvPr/>
        </p:nvSpPr>
        <p:spPr bwMode="auto">
          <a:xfrm>
            <a:off x="5400675" y="2933700"/>
            <a:ext cx="647700" cy="209550"/>
          </a:xfrm>
          <a:prstGeom prst="line">
            <a:avLst/>
          </a:prstGeom>
          <a:noFill/>
          <a:ln w="57150">
            <a:solidFill>
              <a:schemeClr val="accent1"/>
            </a:solidFill>
            <a:miter lim="800000"/>
            <a:headEnd/>
            <a:tailEnd type="triangle" w="med" len="med"/>
          </a:ln>
          <a:effectLst/>
        </p:spPr>
        <p:txBody>
          <a:bodyPr wrap="none"/>
          <a:lstStyle/>
          <a:p>
            <a:endParaRPr lang="zh-CN" altLang="en-US"/>
          </a:p>
        </p:txBody>
      </p:sp>
      <p:sp>
        <p:nvSpPr>
          <p:cNvPr id="30729" name="Line 9"/>
          <p:cNvSpPr>
            <a:spLocks noChangeShapeType="1"/>
          </p:cNvSpPr>
          <p:nvPr/>
        </p:nvSpPr>
        <p:spPr bwMode="auto">
          <a:xfrm flipH="1">
            <a:off x="5302250" y="3587750"/>
            <a:ext cx="742950" cy="180975"/>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30730" name="Oval 10"/>
          <p:cNvSpPr>
            <a:spLocks noChangeArrowheads="1"/>
          </p:cNvSpPr>
          <p:nvPr/>
        </p:nvSpPr>
        <p:spPr bwMode="auto">
          <a:xfrm>
            <a:off x="5410200" y="289560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0731" name="Oval 11"/>
          <p:cNvSpPr>
            <a:spLocks noChangeArrowheads="1"/>
          </p:cNvSpPr>
          <p:nvPr/>
        </p:nvSpPr>
        <p:spPr bwMode="auto">
          <a:xfrm>
            <a:off x="6007100" y="35210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30732" name="Text Box 12"/>
          <p:cNvSpPr txBox="1">
            <a:spLocks noChangeArrowheads="1"/>
          </p:cNvSpPr>
          <p:nvPr/>
        </p:nvSpPr>
        <p:spPr bwMode="auto">
          <a:xfrm>
            <a:off x="5308600" y="2571750"/>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1</a:t>
            </a:r>
          </a:p>
        </p:txBody>
      </p:sp>
      <p:sp>
        <p:nvSpPr>
          <p:cNvPr id="30733" name="Text Box 13"/>
          <p:cNvSpPr txBox="1">
            <a:spLocks noChangeArrowheads="1"/>
          </p:cNvSpPr>
          <p:nvPr/>
        </p:nvSpPr>
        <p:spPr bwMode="auto">
          <a:xfrm>
            <a:off x="5915025" y="35782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2</a:t>
            </a:r>
          </a:p>
        </p:txBody>
      </p:sp>
      <p:sp>
        <p:nvSpPr>
          <p:cNvPr id="30734" name="Text Box 14"/>
          <p:cNvSpPr txBox="1">
            <a:spLocks noChangeArrowheads="1"/>
          </p:cNvSpPr>
          <p:nvPr/>
        </p:nvSpPr>
        <p:spPr bwMode="auto">
          <a:xfrm>
            <a:off x="5788025" y="2727325"/>
            <a:ext cx="3111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u</a:t>
            </a:r>
            <a:endParaRPr lang="en-US" altLang="zh-CN" b="1" baseline="-25000">
              <a:latin typeface="Times New Roman" pitchFamily="18" charset="0"/>
              <a:ea typeface="宋体" charset="-122"/>
              <a:cs typeface="Times New Roman" pitchFamily="18" charset="0"/>
            </a:endParaRPr>
          </a:p>
        </p:txBody>
      </p:sp>
      <p:sp>
        <p:nvSpPr>
          <p:cNvPr id="30735" name="Text Box 15"/>
          <p:cNvSpPr txBox="1">
            <a:spLocks noChangeArrowheads="1"/>
          </p:cNvSpPr>
          <p:nvPr/>
        </p:nvSpPr>
        <p:spPr bwMode="auto">
          <a:xfrm>
            <a:off x="5375275" y="3724275"/>
            <a:ext cx="2984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v</a:t>
            </a:r>
            <a:endParaRPr lang="en-US" altLang="zh-CN" b="1" baseline="-25000">
              <a:latin typeface="Times New Roman" pitchFamily="18" charset="0"/>
              <a:ea typeface="宋体" charset="-122"/>
              <a:cs typeface="Times New Roman" pitchFamily="18" charset="0"/>
            </a:endParaRPr>
          </a:p>
        </p:txBody>
      </p:sp>
      <p:sp>
        <p:nvSpPr>
          <p:cNvPr id="30736" name="Text Box 16"/>
          <p:cNvSpPr txBox="1">
            <a:spLocks noChangeArrowheads="1"/>
          </p:cNvSpPr>
          <p:nvPr/>
        </p:nvSpPr>
        <p:spPr bwMode="auto">
          <a:xfrm>
            <a:off x="4289425" y="3074988"/>
            <a:ext cx="311150" cy="366712"/>
          </a:xfrm>
          <a:prstGeom prst="rect">
            <a:avLst/>
          </a:prstGeom>
          <a:noFill/>
          <a:ln w="9525">
            <a:noFill/>
            <a:miter lim="800000"/>
            <a:headEnd/>
            <a:tailEnd/>
          </a:ln>
          <a:effectLst/>
        </p:spPr>
        <p:txBody>
          <a:bodyPr wrap="none">
            <a:spAutoFit/>
          </a:bodyPr>
          <a:lstStyle/>
          <a:p>
            <a:r>
              <a:rPr lang="en-US" altLang="zh-CN">
                <a:ea typeface="宋体" charset="-122"/>
              </a:rPr>
              <a:t>d</a:t>
            </a:r>
          </a:p>
        </p:txBody>
      </p:sp>
      <p:sp>
        <p:nvSpPr>
          <p:cNvPr id="30737" name="Text Box 17"/>
          <p:cNvSpPr txBox="1">
            <a:spLocks noChangeArrowheads="1"/>
          </p:cNvSpPr>
          <p:nvPr/>
        </p:nvSpPr>
        <p:spPr bwMode="auto">
          <a:xfrm>
            <a:off x="4448175" y="22447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1</a:t>
            </a:r>
          </a:p>
        </p:txBody>
      </p:sp>
      <p:sp>
        <p:nvSpPr>
          <p:cNvPr id="30738" name="Text Box 18"/>
          <p:cNvSpPr txBox="1">
            <a:spLocks noChangeArrowheads="1"/>
          </p:cNvSpPr>
          <p:nvPr/>
        </p:nvSpPr>
        <p:spPr bwMode="auto">
          <a:xfrm>
            <a:off x="4397375" y="392747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2</a:t>
            </a:r>
          </a:p>
        </p:txBody>
      </p:sp>
      <p:sp>
        <p:nvSpPr>
          <p:cNvPr id="30739" name="Oval 19"/>
          <p:cNvSpPr>
            <a:spLocks noChangeArrowheads="1"/>
          </p:cNvSpPr>
          <p:nvPr/>
        </p:nvSpPr>
        <p:spPr bwMode="auto">
          <a:xfrm>
            <a:off x="4521200" y="259715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0740" name="Oval 20"/>
          <p:cNvSpPr>
            <a:spLocks noChangeArrowheads="1"/>
          </p:cNvSpPr>
          <p:nvPr/>
        </p:nvSpPr>
        <p:spPr bwMode="auto">
          <a:xfrm>
            <a:off x="4527550" y="38893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30741" name="Text Box 21"/>
          <p:cNvSpPr txBox="1">
            <a:spLocks noChangeArrowheads="1"/>
          </p:cNvSpPr>
          <p:nvPr/>
        </p:nvSpPr>
        <p:spPr bwMode="auto">
          <a:xfrm>
            <a:off x="3209925" y="22923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1</a:t>
            </a:r>
          </a:p>
        </p:txBody>
      </p:sp>
      <p:sp>
        <p:nvSpPr>
          <p:cNvPr id="30742" name="Text Box 22"/>
          <p:cNvSpPr txBox="1">
            <a:spLocks noChangeArrowheads="1"/>
          </p:cNvSpPr>
          <p:nvPr/>
        </p:nvSpPr>
        <p:spPr bwMode="auto">
          <a:xfrm>
            <a:off x="3092450" y="38798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2</a:t>
            </a:r>
          </a:p>
        </p:txBody>
      </p:sp>
      <p:sp>
        <p:nvSpPr>
          <p:cNvPr id="30743" name="Freeform 23"/>
          <p:cNvSpPr>
            <a:spLocks/>
          </p:cNvSpPr>
          <p:nvPr/>
        </p:nvSpPr>
        <p:spPr bwMode="auto">
          <a:xfrm>
            <a:off x="4572000" y="2724150"/>
            <a:ext cx="152400" cy="161925"/>
          </a:xfrm>
          <a:custGeom>
            <a:avLst/>
            <a:gdLst/>
            <a:ahLst/>
            <a:cxnLst>
              <a:cxn ang="0">
                <a:pos x="96" y="0"/>
              </a:cxn>
              <a:cxn ang="0">
                <a:pos x="96" y="102"/>
              </a:cxn>
              <a:cxn ang="0">
                <a:pos x="0" y="72"/>
              </a:cxn>
            </a:cxnLst>
            <a:rect l="0" t="0" r="r" b="b"/>
            <a:pathLst>
              <a:path w="96" h="102">
                <a:moveTo>
                  <a:pt x="96" y="0"/>
                </a:moveTo>
                <a:lnTo>
                  <a:pt x="96" y="102"/>
                </a:lnTo>
                <a:lnTo>
                  <a:pt x="0" y="7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30744" name="Freeform 24"/>
          <p:cNvSpPr>
            <a:spLocks/>
          </p:cNvSpPr>
          <p:nvPr/>
        </p:nvSpPr>
        <p:spPr bwMode="auto">
          <a:xfrm>
            <a:off x="4572000" y="3724275"/>
            <a:ext cx="171450" cy="161925"/>
          </a:xfrm>
          <a:custGeom>
            <a:avLst/>
            <a:gdLst/>
            <a:ahLst/>
            <a:cxnLst>
              <a:cxn ang="0">
                <a:pos x="0" y="24"/>
              </a:cxn>
              <a:cxn ang="0">
                <a:pos x="108" y="0"/>
              </a:cxn>
              <a:cxn ang="0">
                <a:pos x="108" y="102"/>
              </a:cxn>
            </a:cxnLst>
            <a:rect l="0" t="0" r="r" b="b"/>
            <a:pathLst>
              <a:path w="108" h="102">
                <a:moveTo>
                  <a:pt x="0" y="24"/>
                </a:moveTo>
                <a:lnTo>
                  <a:pt x="108" y="0"/>
                </a:lnTo>
                <a:lnTo>
                  <a:pt x="108" y="10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graphicFrame>
        <p:nvGraphicFramePr>
          <p:cNvPr id="30745" name="Object 25"/>
          <p:cNvGraphicFramePr>
            <a:graphicFrameLocks noChangeAspect="1"/>
          </p:cNvGraphicFramePr>
          <p:nvPr/>
        </p:nvGraphicFramePr>
        <p:xfrm>
          <a:off x="492125" y="2327275"/>
          <a:ext cx="2133600" cy="1112838"/>
        </p:xfrm>
        <a:graphic>
          <a:graphicData uri="http://schemas.openxmlformats.org/presentationml/2006/ole">
            <mc:AlternateContent xmlns:mc="http://schemas.openxmlformats.org/markup-compatibility/2006">
              <mc:Choice xmlns:v="urn:schemas-microsoft-com:vml" Requires="v">
                <p:oleObj spid="_x0000_s17413" name="Equation" r:id="rId5" imgW="876240" imgH="457200" progId="">
                  <p:embed/>
                </p:oleObj>
              </mc:Choice>
              <mc:Fallback>
                <p:oleObj name="Equation" r:id="rId5" imgW="876240" imgH="457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125" y="2327275"/>
                        <a:ext cx="2133600" cy="1112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dirty="0">
                <a:ea typeface="宋体" charset="-122"/>
              </a:rPr>
              <a:t>空间二直线的距离</a:t>
            </a:r>
            <a:r>
              <a:rPr lang="en-US" altLang="zh-CN" dirty="0">
                <a:ea typeface="宋体" charset="-122"/>
              </a:rPr>
              <a:t>(3D)</a:t>
            </a:r>
          </a:p>
        </p:txBody>
      </p:sp>
      <p:graphicFrame>
        <p:nvGraphicFramePr>
          <p:cNvPr id="31747" name="Object 3"/>
          <p:cNvGraphicFramePr>
            <a:graphicFrameLocks noChangeAspect="1"/>
          </p:cNvGraphicFramePr>
          <p:nvPr/>
        </p:nvGraphicFramePr>
        <p:xfrm>
          <a:off x="2792413" y="5243513"/>
          <a:ext cx="3884612" cy="503237"/>
        </p:xfrm>
        <a:graphic>
          <a:graphicData uri="http://schemas.openxmlformats.org/presentationml/2006/ole">
            <mc:AlternateContent xmlns:mc="http://schemas.openxmlformats.org/markup-compatibility/2006">
              <mc:Choice xmlns:v="urn:schemas-microsoft-com:vml" Requires="v">
                <p:oleObj spid="_x0000_s18436" name="משוואה" r:id="rId3" imgW="1663560" imgH="215640" progId="Equation.3">
                  <p:embed/>
                </p:oleObj>
              </mc:Choice>
              <mc:Fallback>
                <p:oleObj name="משוואה" r:id="rId3" imgW="1663560" imgH="215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2413" y="5243513"/>
                        <a:ext cx="3884612" cy="503237"/>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48" name="Line 4"/>
          <p:cNvSpPr>
            <a:spLocks noChangeShapeType="1"/>
          </p:cNvSpPr>
          <p:nvPr/>
        </p:nvSpPr>
        <p:spPr bwMode="auto">
          <a:xfrm>
            <a:off x="3248025" y="2228850"/>
            <a:ext cx="4467225" cy="1466850"/>
          </a:xfrm>
          <a:prstGeom prst="line">
            <a:avLst/>
          </a:prstGeom>
          <a:noFill/>
          <a:ln w="38100">
            <a:solidFill>
              <a:schemeClr val="tx1"/>
            </a:solidFill>
            <a:miter lim="800000"/>
            <a:headEnd/>
            <a:tailEnd/>
          </a:ln>
          <a:effectLst/>
        </p:spPr>
        <p:txBody>
          <a:bodyPr wrap="none"/>
          <a:lstStyle/>
          <a:p>
            <a:endParaRPr lang="zh-CN" altLang="en-US"/>
          </a:p>
        </p:txBody>
      </p:sp>
      <p:sp>
        <p:nvSpPr>
          <p:cNvPr id="31749" name="Line 5"/>
          <p:cNvSpPr>
            <a:spLocks noChangeShapeType="1"/>
          </p:cNvSpPr>
          <p:nvPr/>
        </p:nvSpPr>
        <p:spPr bwMode="auto">
          <a:xfrm flipV="1">
            <a:off x="3009900" y="3438525"/>
            <a:ext cx="3657600" cy="876300"/>
          </a:xfrm>
          <a:prstGeom prst="line">
            <a:avLst/>
          </a:prstGeom>
          <a:noFill/>
          <a:ln w="38100">
            <a:solidFill>
              <a:schemeClr val="tx1"/>
            </a:solidFill>
            <a:miter lim="800000"/>
            <a:headEnd/>
            <a:tailEnd/>
          </a:ln>
          <a:effectLst/>
        </p:spPr>
        <p:txBody>
          <a:bodyPr wrap="none"/>
          <a:lstStyle/>
          <a:p>
            <a:endParaRPr lang="zh-CN" altLang="en-US"/>
          </a:p>
        </p:txBody>
      </p:sp>
      <p:sp>
        <p:nvSpPr>
          <p:cNvPr id="31750" name="Line 6"/>
          <p:cNvSpPr>
            <a:spLocks noChangeShapeType="1"/>
          </p:cNvSpPr>
          <p:nvPr/>
        </p:nvSpPr>
        <p:spPr bwMode="auto">
          <a:xfrm flipV="1">
            <a:off x="6981825" y="3124200"/>
            <a:ext cx="1171575" cy="247650"/>
          </a:xfrm>
          <a:prstGeom prst="line">
            <a:avLst/>
          </a:prstGeom>
          <a:noFill/>
          <a:ln w="38100">
            <a:solidFill>
              <a:schemeClr val="tx1"/>
            </a:solidFill>
            <a:miter lim="800000"/>
            <a:headEnd/>
            <a:tailEnd/>
          </a:ln>
          <a:effectLst/>
        </p:spPr>
        <p:txBody>
          <a:bodyPr wrap="none"/>
          <a:lstStyle/>
          <a:p>
            <a:endParaRPr lang="zh-CN" altLang="en-US"/>
          </a:p>
        </p:txBody>
      </p:sp>
      <p:sp>
        <p:nvSpPr>
          <p:cNvPr id="31751" name="Line 7"/>
          <p:cNvSpPr>
            <a:spLocks noChangeShapeType="1"/>
          </p:cNvSpPr>
          <p:nvPr/>
        </p:nvSpPr>
        <p:spPr bwMode="auto">
          <a:xfrm>
            <a:off x="4572000" y="2714625"/>
            <a:ext cx="0" cy="1171575"/>
          </a:xfrm>
          <a:prstGeom prst="line">
            <a:avLst/>
          </a:prstGeom>
          <a:noFill/>
          <a:ln w="9525">
            <a:solidFill>
              <a:schemeClr val="tx1"/>
            </a:solidFill>
            <a:miter lim="800000"/>
            <a:headEnd type="triangle" w="med" len="med"/>
            <a:tailEnd type="triangle" w="med" len="med"/>
          </a:ln>
          <a:effectLst/>
        </p:spPr>
        <p:txBody>
          <a:bodyPr wrap="none"/>
          <a:lstStyle/>
          <a:p>
            <a:endParaRPr lang="zh-CN" altLang="en-US"/>
          </a:p>
        </p:txBody>
      </p:sp>
      <p:sp>
        <p:nvSpPr>
          <p:cNvPr id="31752" name="Line 8"/>
          <p:cNvSpPr>
            <a:spLocks noChangeShapeType="1"/>
          </p:cNvSpPr>
          <p:nvPr/>
        </p:nvSpPr>
        <p:spPr bwMode="auto">
          <a:xfrm>
            <a:off x="5400675" y="2933700"/>
            <a:ext cx="647700" cy="209550"/>
          </a:xfrm>
          <a:prstGeom prst="line">
            <a:avLst/>
          </a:prstGeom>
          <a:noFill/>
          <a:ln w="57150">
            <a:solidFill>
              <a:schemeClr val="accent1"/>
            </a:solidFill>
            <a:miter lim="800000"/>
            <a:headEnd/>
            <a:tailEnd type="triangle" w="med" len="med"/>
          </a:ln>
          <a:effectLst/>
        </p:spPr>
        <p:txBody>
          <a:bodyPr wrap="none"/>
          <a:lstStyle/>
          <a:p>
            <a:endParaRPr lang="zh-CN" altLang="en-US"/>
          </a:p>
        </p:txBody>
      </p:sp>
      <p:sp>
        <p:nvSpPr>
          <p:cNvPr id="31753" name="Line 9"/>
          <p:cNvSpPr>
            <a:spLocks noChangeShapeType="1"/>
          </p:cNvSpPr>
          <p:nvPr/>
        </p:nvSpPr>
        <p:spPr bwMode="auto">
          <a:xfrm flipH="1">
            <a:off x="5302250" y="3587750"/>
            <a:ext cx="742950" cy="180975"/>
          </a:xfrm>
          <a:prstGeom prst="line">
            <a:avLst/>
          </a:prstGeom>
          <a:noFill/>
          <a:ln w="57150">
            <a:solidFill>
              <a:schemeClr val="hlink"/>
            </a:solidFill>
            <a:miter lim="800000"/>
            <a:headEnd/>
            <a:tailEnd type="triangle" w="med" len="med"/>
          </a:ln>
          <a:effectLst/>
        </p:spPr>
        <p:txBody>
          <a:bodyPr wrap="none"/>
          <a:lstStyle/>
          <a:p>
            <a:endParaRPr lang="zh-CN" altLang="en-US"/>
          </a:p>
        </p:txBody>
      </p:sp>
      <p:sp>
        <p:nvSpPr>
          <p:cNvPr id="31754" name="Oval 10"/>
          <p:cNvSpPr>
            <a:spLocks noChangeArrowheads="1"/>
          </p:cNvSpPr>
          <p:nvPr/>
        </p:nvSpPr>
        <p:spPr bwMode="auto">
          <a:xfrm>
            <a:off x="5410200" y="289560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1755" name="Oval 11"/>
          <p:cNvSpPr>
            <a:spLocks noChangeArrowheads="1"/>
          </p:cNvSpPr>
          <p:nvPr/>
        </p:nvSpPr>
        <p:spPr bwMode="auto">
          <a:xfrm>
            <a:off x="6007100" y="35210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31756" name="Text Box 12"/>
          <p:cNvSpPr txBox="1">
            <a:spLocks noChangeArrowheads="1"/>
          </p:cNvSpPr>
          <p:nvPr/>
        </p:nvSpPr>
        <p:spPr bwMode="auto">
          <a:xfrm>
            <a:off x="5308600" y="2571750"/>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1</a:t>
            </a:r>
          </a:p>
        </p:txBody>
      </p:sp>
      <p:sp>
        <p:nvSpPr>
          <p:cNvPr id="31757" name="Text Box 13"/>
          <p:cNvSpPr txBox="1">
            <a:spLocks noChangeArrowheads="1"/>
          </p:cNvSpPr>
          <p:nvPr/>
        </p:nvSpPr>
        <p:spPr bwMode="auto">
          <a:xfrm>
            <a:off x="5915025" y="35782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p</a:t>
            </a:r>
            <a:r>
              <a:rPr lang="en-US" altLang="zh-CN" b="1" baseline="-25000">
                <a:latin typeface="Times New Roman" pitchFamily="18" charset="0"/>
                <a:ea typeface="宋体" charset="-122"/>
                <a:cs typeface="Times New Roman" pitchFamily="18" charset="0"/>
              </a:rPr>
              <a:t>2</a:t>
            </a:r>
          </a:p>
        </p:txBody>
      </p:sp>
      <p:sp>
        <p:nvSpPr>
          <p:cNvPr id="31758" name="Text Box 14"/>
          <p:cNvSpPr txBox="1">
            <a:spLocks noChangeArrowheads="1"/>
          </p:cNvSpPr>
          <p:nvPr/>
        </p:nvSpPr>
        <p:spPr bwMode="auto">
          <a:xfrm>
            <a:off x="5788025" y="2727325"/>
            <a:ext cx="3111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u</a:t>
            </a:r>
            <a:endParaRPr lang="en-US" altLang="zh-CN" b="1" baseline="-25000">
              <a:latin typeface="Times New Roman" pitchFamily="18" charset="0"/>
              <a:ea typeface="宋体" charset="-122"/>
              <a:cs typeface="Times New Roman" pitchFamily="18" charset="0"/>
            </a:endParaRPr>
          </a:p>
        </p:txBody>
      </p:sp>
      <p:sp>
        <p:nvSpPr>
          <p:cNvPr id="31759" name="Text Box 15"/>
          <p:cNvSpPr txBox="1">
            <a:spLocks noChangeArrowheads="1"/>
          </p:cNvSpPr>
          <p:nvPr/>
        </p:nvSpPr>
        <p:spPr bwMode="auto">
          <a:xfrm>
            <a:off x="5375275" y="3724275"/>
            <a:ext cx="2984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v</a:t>
            </a:r>
            <a:endParaRPr lang="en-US" altLang="zh-CN" b="1" baseline="-25000">
              <a:latin typeface="Times New Roman" pitchFamily="18" charset="0"/>
              <a:ea typeface="宋体" charset="-122"/>
              <a:cs typeface="Times New Roman" pitchFamily="18" charset="0"/>
            </a:endParaRPr>
          </a:p>
        </p:txBody>
      </p:sp>
      <p:sp>
        <p:nvSpPr>
          <p:cNvPr id="31760" name="Text Box 16"/>
          <p:cNvSpPr txBox="1">
            <a:spLocks noChangeArrowheads="1"/>
          </p:cNvSpPr>
          <p:nvPr/>
        </p:nvSpPr>
        <p:spPr bwMode="auto">
          <a:xfrm>
            <a:off x="4289425" y="3074988"/>
            <a:ext cx="311150" cy="366712"/>
          </a:xfrm>
          <a:prstGeom prst="rect">
            <a:avLst/>
          </a:prstGeom>
          <a:noFill/>
          <a:ln w="9525">
            <a:noFill/>
            <a:miter lim="800000"/>
            <a:headEnd/>
            <a:tailEnd/>
          </a:ln>
          <a:effectLst/>
        </p:spPr>
        <p:txBody>
          <a:bodyPr wrap="none">
            <a:spAutoFit/>
          </a:bodyPr>
          <a:lstStyle/>
          <a:p>
            <a:r>
              <a:rPr lang="en-US" altLang="zh-CN">
                <a:ea typeface="宋体" charset="-122"/>
              </a:rPr>
              <a:t>d</a:t>
            </a:r>
          </a:p>
        </p:txBody>
      </p:sp>
      <p:sp>
        <p:nvSpPr>
          <p:cNvPr id="31761" name="Text Box 17"/>
          <p:cNvSpPr txBox="1">
            <a:spLocks noChangeArrowheads="1"/>
          </p:cNvSpPr>
          <p:nvPr/>
        </p:nvSpPr>
        <p:spPr bwMode="auto">
          <a:xfrm>
            <a:off x="4448175" y="224472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1</a:t>
            </a:r>
          </a:p>
        </p:txBody>
      </p:sp>
      <p:sp>
        <p:nvSpPr>
          <p:cNvPr id="31762" name="Text Box 18"/>
          <p:cNvSpPr txBox="1">
            <a:spLocks noChangeArrowheads="1"/>
          </p:cNvSpPr>
          <p:nvPr/>
        </p:nvSpPr>
        <p:spPr bwMode="auto">
          <a:xfrm>
            <a:off x="4397375" y="3927475"/>
            <a:ext cx="387350" cy="366713"/>
          </a:xfrm>
          <a:prstGeom prst="rect">
            <a:avLst/>
          </a:prstGeom>
          <a:noFill/>
          <a:ln w="9525">
            <a:noFill/>
            <a:miter lim="800000"/>
            <a:headEnd/>
            <a:tailEnd/>
          </a:ln>
          <a:effectLst/>
        </p:spPr>
        <p:txBody>
          <a:bodyPr wrap="none">
            <a:spAutoFit/>
          </a:bodyPr>
          <a:lstStyle/>
          <a:p>
            <a:r>
              <a:rPr lang="en-US" altLang="zh-CN" b="1">
                <a:latin typeface="Times New Roman" pitchFamily="18" charset="0"/>
                <a:ea typeface="宋体" charset="-122"/>
                <a:cs typeface="Times New Roman" pitchFamily="18" charset="0"/>
              </a:rPr>
              <a:t>q</a:t>
            </a:r>
            <a:r>
              <a:rPr lang="en-US" altLang="zh-CN" b="1" baseline="-25000">
                <a:latin typeface="Times New Roman" pitchFamily="18" charset="0"/>
                <a:ea typeface="宋体" charset="-122"/>
                <a:cs typeface="Times New Roman" pitchFamily="18" charset="0"/>
              </a:rPr>
              <a:t>2</a:t>
            </a:r>
          </a:p>
        </p:txBody>
      </p:sp>
      <p:sp>
        <p:nvSpPr>
          <p:cNvPr id="31763" name="Oval 19"/>
          <p:cNvSpPr>
            <a:spLocks noChangeArrowheads="1"/>
          </p:cNvSpPr>
          <p:nvPr/>
        </p:nvSpPr>
        <p:spPr bwMode="auto">
          <a:xfrm>
            <a:off x="4521200" y="2597150"/>
            <a:ext cx="114300" cy="114300"/>
          </a:xfrm>
          <a:prstGeom prst="ellipse">
            <a:avLst/>
          </a:prstGeom>
          <a:solidFill>
            <a:schemeClr val="accent1"/>
          </a:solidFill>
          <a:ln w="9525">
            <a:solidFill>
              <a:schemeClr val="tx1"/>
            </a:solidFill>
            <a:miter lim="800000"/>
            <a:headEnd/>
            <a:tailEnd/>
          </a:ln>
          <a:effectLst/>
        </p:spPr>
        <p:txBody>
          <a:bodyPr wrap="none" anchor="ctr"/>
          <a:lstStyle/>
          <a:p>
            <a:endParaRPr lang="zh-CN" altLang="en-US"/>
          </a:p>
        </p:txBody>
      </p:sp>
      <p:sp>
        <p:nvSpPr>
          <p:cNvPr id="31764" name="Oval 20"/>
          <p:cNvSpPr>
            <a:spLocks noChangeArrowheads="1"/>
          </p:cNvSpPr>
          <p:nvPr/>
        </p:nvSpPr>
        <p:spPr bwMode="auto">
          <a:xfrm>
            <a:off x="4527550" y="3889375"/>
            <a:ext cx="114300" cy="114300"/>
          </a:xfrm>
          <a:prstGeom prst="ellipse">
            <a:avLst/>
          </a:prstGeom>
          <a:solidFill>
            <a:schemeClr val="bg2"/>
          </a:solidFill>
          <a:ln w="9525">
            <a:solidFill>
              <a:schemeClr val="bg2"/>
            </a:solidFill>
            <a:miter lim="800000"/>
            <a:headEnd/>
            <a:tailEnd/>
          </a:ln>
          <a:effectLst/>
        </p:spPr>
        <p:txBody>
          <a:bodyPr wrap="none" anchor="ctr"/>
          <a:lstStyle/>
          <a:p>
            <a:endParaRPr lang="zh-CN" altLang="en-US"/>
          </a:p>
        </p:txBody>
      </p:sp>
      <p:sp>
        <p:nvSpPr>
          <p:cNvPr id="31765" name="Text Box 21"/>
          <p:cNvSpPr txBox="1">
            <a:spLocks noChangeArrowheads="1"/>
          </p:cNvSpPr>
          <p:nvPr/>
        </p:nvSpPr>
        <p:spPr bwMode="auto">
          <a:xfrm>
            <a:off x="3209925" y="22923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1</a:t>
            </a:r>
          </a:p>
        </p:txBody>
      </p:sp>
      <p:sp>
        <p:nvSpPr>
          <p:cNvPr id="31766" name="Text Box 22"/>
          <p:cNvSpPr txBox="1">
            <a:spLocks noChangeArrowheads="1"/>
          </p:cNvSpPr>
          <p:nvPr/>
        </p:nvSpPr>
        <p:spPr bwMode="auto">
          <a:xfrm>
            <a:off x="3092450" y="3879850"/>
            <a:ext cx="323850" cy="366713"/>
          </a:xfrm>
          <a:prstGeom prst="rect">
            <a:avLst/>
          </a:prstGeom>
          <a:noFill/>
          <a:ln w="9525">
            <a:noFill/>
            <a:miter lim="800000"/>
            <a:headEnd/>
            <a:tailEnd/>
          </a:ln>
          <a:effectLst/>
        </p:spPr>
        <p:txBody>
          <a:bodyPr wrap="none">
            <a:spAutoFit/>
          </a:bodyPr>
          <a:lstStyle/>
          <a:p>
            <a:r>
              <a:rPr lang="en-US" altLang="zh-CN" i="1">
                <a:latin typeface="Times New Roman" pitchFamily="18" charset="0"/>
                <a:ea typeface="宋体" charset="-122"/>
                <a:cs typeface="Times New Roman" pitchFamily="18" charset="0"/>
              </a:rPr>
              <a:t>l</a:t>
            </a:r>
            <a:r>
              <a:rPr lang="en-US" altLang="zh-CN" i="1" baseline="-25000">
                <a:latin typeface="Times New Roman" pitchFamily="18" charset="0"/>
                <a:ea typeface="宋体" charset="-122"/>
                <a:cs typeface="Times New Roman" pitchFamily="18" charset="0"/>
              </a:rPr>
              <a:t>2</a:t>
            </a:r>
          </a:p>
        </p:txBody>
      </p:sp>
      <p:sp>
        <p:nvSpPr>
          <p:cNvPr id="31767" name="Freeform 23"/>
          <p:cNvSpPr>
            <a:spLocks/>
          </p:cNvSpPr>
          <p:nvPr/>
        </p:nvSpPr>
        <p:spPr bwMode="auto">
          <a:xfrm>
            <a:off x="4572000" y="2724150"/>
            <a:ext cx="152400" cy="161925"/>
          </a:xfrm>
          <a:custGeom>
            <a:avLst/>
            <a:gdLst/>
            <a:ahLst/>
            <a:cxnLst>
              <a:cxn ang="0">
                <a:pos x="96" y="0"/>
              </a:cxn>
              <a:cxn ang="0">
                <a:pos x="96" y="102"/>
              </a:cxn>
              <a:cxn ang="0">
                <a:pos x="0" y="72"/>
              </a:cxn>
            </a:cxnLst>
            <a:rect l="0" t="0" r="r" b="b"/>
            <a:pathLst>
              <a:path w="96" h="102">
                <a:moveTo>
                  <a:pt x="96" y="0"/>
                </a:moveTo>
                <a:lnTo>
                  <a:pt x="96" y="102"/>
                </a:lnTo>
                <a:lnTo>
                  <a:pt x="0" y="7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sp>
        <p:nvSpPr>
          <p:cNvPr id="31768" name="Freeform 24"/>
          <p:cNvSpPr>
            <a:spLocks/>
          </p:cNvSpPr>
          <p:nvPr/>
        </p:nvSpPr>
        <p:spPr bwMode="auto">
          <a:xfrm>
            <a:off x="4572000" y="3724275"/>
            <a:ext cx="171450" cy="161925"/>
          </a:xfrm>
          <a:custGeom>
            <a:avLst/>
            <a:gdLst/>
            <a:ahLst/>
            <a:cxnLst>
              <a:cxn ang="0">
                <a:pos x="0" y="24"/>
              </a:cxn>
              <a:cxn ang="0">
                <a:pos x="108" y="0"/>
              </a:cxn>
              <a:cxn ang="0">
                <a:pos x="108" y="102"/>
              </a:cxn>
            </a:cxnLst>
            <a:rect l="0" t="0" r="r" b="b"/>
            <a:pathLst>
              <a:path w="108" h="102">
                <a:moveTo>
                  <a:pt x="0" y="24"/>
                </a:moveTo>
                <a:lnTo>
                  <a:pt x="108" y="0"/>
                </a:lnTo>
                <a:lnTo>
                  <a:pt x="108" y="102"/>
                </a:lnTo>
              </a:path>
            </a:pathLst>
          </a:custGeom>
          <a:noFill/>
          <a:ln w="9525" cap="flat" cmpd="sng">
            <a:solidFill>
              <a:schemeClr val="tx1"/>
            </a:solidFill>
            <a:prstDash val="solid"/>
            <a:miter lim="800000"/>
            <a:headEnd type="none" w="med" len="med"/>
            <a:tailEnd type="none" w="med" len="med"/>
          </a:ln>
          <a:effectLst/>
        </p:spPr>
        <p:txBody>
          <a:bodyPr wrap="none"/>
          <a:lstStyle/>
          <a:p>
            <a:endParaRPr lang="zh-CN" altLang="en-US"/>
          </a:p>
        </p:txBody>
      </p:sp>
      <p:graphicFrame>
        <p:nvGraphicFramePr>
          <p:cNvPr id="31769" name="Object 25"/>
          <p:cNvGraphicFramePr>
            <a:graphicFrameLocks noChangeAspect="1"/>
          </p:cNvGraphicFramePr>
          <p:nvPr/>
        </p:nvGraphicFramePr>
        <p:xfrm>
          <a:off x="492125" y="2327275"/>
          <a:ext cx="2133600" cy="1112838"/>
        </p:xfrm>
        <a:graphic>
          <a:graphicData uri="http://schemas.openxmlformats.org/presentationml/2006/ole">
            <mc:AlternateContent xmlns:mc="http://schemas.openxmlformats.org/markup-compatibility/2006">
              <mc:Choice xmlns:v="urn:schemas-microsoft-com:vml" Requires="v">
                <p:oleObj spid="_x0000_s18437" name="Equation" r:id="rId5" imgW="876240" imgH="457200" progId="">
                  <p:embed/>
                </p:oleObj>
              </mc:Choice>
              <mc:Fallback>
                <p:oleObj name="Equation" r:id="rId5" imgW="876240" imgH="457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2125" y="2327275"/>
                        <a:ext cx="2133600" cy="1112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a:xfrm>
            <a:off x="457200" y="1600200"/>
            <a:ext cx="8229600" cy="4925144"/>
          </a:xfrm>
        </p:spPr>
        <p:txBody>
          <a:bodyPr>
            <a:normAutofit/>
          </a:bodyPr>
          <a:lstStyle/>
          <a:p>
            <a:r>
              <a:rPr lang="zh-CN" altLang="en-US" dirty="0"/>
              <a:t>向量</a:t>
            </a:r>
            <a:r>
              <a:rPr lang="en-US" altLang="zh-CN" dirty="0"/>
              <a:t>A</a:t>
            </a:r>
            <a:r>
              <a:rPr lang="zh-CN" altLang="en-US" dirty="0"/>
              <a:t>和向量</a:t>
            </a:r>
            <a:r>
              <a:rPr lang="en-US" altLang="zh-CN" dirty="0"/>
              <a:t>B</a:t>
            </a:r>
            <a:r>
              <a:rPr lang="zh-CN" altLang="en-US" dirty="0"/>
              <a:t>的点积是一个数</a:t>
            </a:r>
            <a:r>
              <a:rPr lang="en-US" altLang="zh-CN" dirty="0"/>
              <a:t>(scalar)</a:t>
            </a:r>
            <a:r>
              <a:rPr lang="zh-CN" altLang="en-US" dirty="0"/>
              <a:t>，它的几何意义是向量</a:t>
            </a:r>
            <a:r>
              <a:rPr lang="en-US" altLang="zh-CN" dirty="0"/>
              <a:t>A</a:t>
            </a:r>
            <a:r>
              <a:rPr lang="zh-CN" altLang="en-US" dirty="0"/>
              <a:t>在向量</a:t>
            </a:r>
            <a:r>
              <a:rPr lang="en-US" altLang="zh-CN" dirty="0"/>
              <a:t>B</a:t>
            </a:r>
            <a:r>
              <a:rPr lang="zh-CN" altLang="en-US" dirty="0"/>
              <a:t>上的</a:t>
            </a:r>
            <a:r>
              <a:rPr lang="zh-CN" altLang="en-US"/>
              <a:t>投影长度与向量</a:t>
            </a:r>
            <a:r>
              <a:rPr lang="en-US" altLang="zh-CN" dirty="0"/>
              <a:t>B</a:t>
            </a:r>
            <a:r>
              <a:rPr lang="zh-CN" altLang="en-US" dirty="0"/>
              <a:t>的长度的乘积</a:t>
            </a:r>
            <a:endParaRPr lang="en-US" altLang="zh-CN" dirty="0"/>
          </a:p>
          <a:p>
            <a:r>
              <a:rPr lang="zh-CN" altLang="en-US" dirty="0"/>
              <a:t>两向量垂直</a:t>
            </a:r>
            <a:r>
              <a:rPr lang="en-US" altLang="zh-CN" dirty="0">
                <a:sym typeface="Wingdings" pitchFamily="2" charset="2"/>
              </a:rPr>
              <a:t></a:t>
            </a:r>
            <a:r>
              <a:rPr lang="zh-CN" altLang="en-US" dirty="0">
                <a:sym typeface="Wingdings" pitchFamily="2" charset="2"/>
              </a:rPr>
              <a:t>点积为</a:t>
            </a:r>
            <a:r>
              <a:rPr lang="en-US" altLang="zh-CN" dirty="0">
                <a:sym typeface="Wingdings" pitchFamily="2" charset="2"/>
              </a:rPr>
              <a:t>0</a:t>
            </a:r>
          </a:p>
          <a:p>
            <a:r>
              <a:rPr lang="zh-CN" altLang="en-US" dirty="0">
                <a:sym typeface="Wingdings" pitchFamily="2" charset="2"/>
              </a:rPr>
              <a:t>可以用来推导点到直线的距离、点到平面的距离、直线和平面的交点，以及空间二直线的最短距离</a:t>
            </a:r>
            <a:endParaRPr lang="en-US" altLang="zh-CN" dirty="0">
              <a:sym typeface="Wingdings" pitchFamily="2" charset="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1</a:t>
            </a:r>
            <a:r>
              <a:rPr lang="zh-CN" altLang="en-US" dirty="0"/>
              <a:t>：点在平面上的投影</a:t>
            </a:r>
          </a:p>
        </p:txBody>
      </p:sp>
      <p:pic>
        <p:nvPicPr>
          <p:cNvPr id="74754" name="Picture 2"/>
          <p:cNvPicPr>
            <a:picLocks noChangeAspect="1" noChangeArrowheads="1"/>
          </p:cNvPicPr>
          <p:nvPr/>
        </p:nvPicPr>
        <p:blipFill>
          <a:blip r:embed="rId2" cstate="print"/>
          <a:srcRect/>
          <a:stretch>
            <a:fillRect/>
          </a:stretch>
        </p:blipFill>
        <p:spPr bwMode="auto">
          <a:xfrm>
            <a:off x="415283" y="1628800"/>
            <a:ext cx="8261173" cy="4464496"/>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2</a:t>
            </a:r>
            <a:r>
              <a:rPr lang="zh-CN" altLang="en-US" dirty="0"/>
              <a:t>：向量在平面上的投影</a:t>
            </a:r>
          </a:p>
        </p:txBody>
      </p:sp>
      <p:pic>
        <p:nvPicPr>
          <p:cNvPr id="75778" name="Picture 2"/>
          <p:cNvPicPr>
            <a:picLocks noChangeAspect="1" noChangeArrowheads="1"/>
          </p:cNvPicPr>
          <p:nvPr/>
        </p:nvPicPr>
        <p:blipFill>
          <a:blip r:embed="rId2" cstate="print"/>
          <a:srcRect/>
          <a:stretch>
            <a:fillRect/>
          </a:stretch>
        </p:blipFill>
        <p:spPr bwMode="auto">
          <a:xfrm>
            <a:off x="467544" y="1844824"/>
            <a:ext cx="8066148" cy="4104456"/>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练习</a:t>
            </a:r>
            <a:r>
              <a:rPr lang="en-US" altLang="zh-CN" dirty="0"/>
              <a:t>3</a:t>
            </a:r>
            <a:r>
              <a:rPr lang="zh-CN" altLang="en-US" dirty="0"/>
              <a:t>：过定点垂直于定直线的平面</a:t>
            </a:r>
          </a:p>
        </p:txBody>
      </p:sp>
      <p:pic>
        <p:nvPicPr>
          <p:cNvPr id="78851" name="Picture 3"/>
          <p:cNvPicPr>
            <a:picLocks noChangeAspect="1" noChangeArrowheads="1"/>
          </p:cNvPicPr>
          <p:nvPr/>
        </p:nvPicPr>
        <p:blipFill>
          <a:blip r:embed="rId2" cstate="print"/>
          <a:srcRect/>
          <a:stretch>
            <a:fillRect/>
          </a:stretch>
        </p:blipFill>
        <p:spPr bwMode="auto">
          <a:xfrm>
            <a:off x="683568" y="1412776"/>
            <a:ext cx="7959841" cy="4896544"/>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4</a:t>
            </a:r>
            <a:r>
              <a:rPr lang="zh-CN" altLang="en-US" dirty="0"/>
              <a:t>：直线和平面的夹角</a:t>
            </a:r>
          </a:p>
        </p:txBody>
      </p:sp>
      <p:pic>
        <p:nvPicPr>
          <p:cNvPr id="76802" name="Picture 2"/>
          <p:cNvPicPr>
            <a:picLocks noChangeAspect="1" noChangeArrowheads="1"/>
          </p:cNvPicPr>
          <p:nvPr/>
        </p:nvPicPr>
        <p:blipFill>
          <a:blip r:embed="rId2" cstate="print"/>
          <a:srcRect/>
          <a:stretch>
            <a:fillRect/>
          </a:stretch>
        </p:blipFill>
        <p:spPr bwMode="auto">
          <a:xfrm>
            <a:off x="683568" y="1772816"/>
            <a:ext cx="7686484" cy="4032448"/>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5</a:t>
            </a:r>
            <a:r>
              <a:rPr lang="zh-CN" altLang="en-US" dirty="0"/>
              <a:t>：两平面的夹角</a:t>
            </a:r>
          </a:p>
        </p:txBody>
      </p:sp>
      <p:pic>
        <p:nvPicPr>
          <p:cNvPr id="77826" name="Picture 2"/>
          <p:cNvPicPr>
            <a:picLocks noChangeAspect="1" noChangeArrowheads="1"/>
          </p:cNvPicPr>
          <p:nvPr/>
        </p:nvPicPr>
        <p:blipFill>
          <a:blip r:embed="rId2" cstate="print"/>
          <a:srcRect/>
          <a:stretch>
            <a:fillRect/>
          </a:stretch>
        </p:blipFill>
        <p:spPr bwMode="auto">
          <a:xfrm>
            <a:off x="755576" y="1556792"/>
            <a:ext cx="7704856" cy="4969489"/>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6</a:t>
            </a:r>
            <a:r>
              <a:rPr lang="zh-CN" altLang="en-US" dirty="0"/>
              <a:t>：两直线的夹角</a:t>
            </a:r>
          </a:p>
        </p:txBody>
      </p:sp>
      <p:pic>
        <p:nvPicPr>
          <p:cNvPr id="79874" name="Picture 2"/>
          <p:cNvPicPr>
            <a:picLocks noChangeAspect="1" noChangeArrowheads="1"/>
          </p:cNvPicPr>
          <p:nvPr/>
        </p:nvPicPr>
        <p:blipFill>
          <a:blip r:embed="rId2" cstate="print"/>
          <a:srcRect/>
          <a:stretch>
            <a:fillRect/>
          </a:stretch>
        </p:blipFill>
        <p:spPr bwMode="auto">
          <a:xfrm>
            <a:off x="2339752" y="1199381"/>
            <a:ext cx="4619625" cy="2733675"/>
          </a:xfrm>
          <a:prstGeom prst="rect">
            <a:avLst/>
          </a:prstGeom>
          <a:noFill/>
          <a:ln w="9525">
            <a:noFill/>
            <a:miter lim="800000"/>
            <a:headEnd/>
            <a:tailEnd/>
          </a:ln>
        </p:spPr>
      </p:pic>
      <p:pic>
        <p:nvPicPr>
          <p:cNvPr id="79875" name="Picture 3"/>
          <p:cNvPicPr>
            <a:picLocks noChangeAspect="1" noChangeArrowheads="1"/>
          </p:cNvPicPr>
          <p:nvPr/>
        </p:nvPicPr>
        <p:blipFill>
          <a:blip r:embed="rId3" cstate="print"/>
          <a:srcRect/>
          <a:stretch>
            <a:fillRect/>
          </a:stretch>
        </p:blipFill>
        <p:spPr bwMode="auto">
          <a:xfrm>
            <a:off x="2319114" y="3892252"/>
            <a:ext cx="4629150" cy="27051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三、叉积</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二维叉积（回顾）</a:t>
            </a:r>
          </a:p>
        </p:txBody>
      </p:sp>
      <p:graphicFrame>
        <p:nvGraphicFramePr>
          <p:cNvPr id="20482" name="Object 2"/>
          <p:cNvGraphicFramePr>
            <a:graphicFrameLocks noChangeAspect="1"/>
          </p:cNvGraphicFramePr>
          <p:nvPr/>
        </p:nvGraphicFramePr>
        <p:xfrm>
          <a:off x="3143240" y="3357562"/>
          <a:ext cx="3122612" cy="563563"/>
        </p:xfrm>
        <a:graphic>
          <a:graphicData uri="http://schemas.openxmlformats.org/presentationml/2006/ole">
            <mc:AlternateContent xmlns:mc="http://schemas.openxmlformats.org/markup-compatibility/2006">
              <mc:Choice xmlns:v="urn:schemas-microsoft-com:vml" Requires="v">
                <p:oleObj spid="_x0000_s20483" name="公式" r:id="rId3" imgW="1193760" imgH="215640" progId="Equation.3">
                  <p:embed/>
                </p:oleObj>
              </mc:Choice>
              <mc:Fallback>
                <p:oleObj name="公式" r:id="rId3" imgW="1193760" imgH="2156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40" y="3357562"/>
                        <a:ext cx="3122612"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三维叉积</a:t>
            </a:r>
          </a:p>
        </p:txBody>
      </p:sp>
      <p:pic>
        <p:nvPicPr>
          <p:cNvPr id="19458" name="Picture 2"/>
          <p:cNvPicPr>
            <a:picLocks noChangeAspect="1" noChangeArrowheads="1"/>
          </p:cNvPicPr>
          <p:nvPr/>
        </p:nvPicPr>
        <p:blipFill>
          <a:blip r:embed="rId3" cstate="print"/>
          <a:srcRect/>
          <a:stretch>
            <a:fillRect/>
          </a:stretch>
        </p:blipFill>
        <p:spPr bwMode="auto">
          <a:xfrm>
            <a:off x="500034" y="3786190"/>
            <a:ext cx="2225858" cy="2702827"/>
          </a:xfrm>
          <a:prstGeom prst="rect">
            <a:avLst/>
          </a:prstGeom>
          <a:noFill/>
          <a:ln w="9525">
            <a:noFill/>
            <a:miter lim="800000"/>
            <a:headEnd/>
            <a:tailEnd/>
          </a:ln>
          <a:effectLst/>
        </p:spPr>
      </p:pic>
      <p:pic>
        <p:nvPicPr>
          <p:cNvPr id="19459" name="Picture 3"/>
          <p:cNvPicPr>
            <a:picLocks noChangeAspect="1" noChangeArrowheads="1"/>
          </p:cNvPicPr>
          <p:nvPr/>
        </p:nvPicPr>
        <p:blipFill>
          <a:blip r:embed="rId4" cstate="print"/>
          <a:srcRect/>
          <a:stretch>
            <a:fillRect/>
          </a:stretch>
        </p:blipFill>
        <p:spPr bwMode="auto">
          <a:xfrm>
            <a:off x="3643306" y="3857628"/>
            <a:ext cx="2166236" cy="2643206"/>
          </a:xfrm>
          <a:prstGeom prst="rect">
            <a:avLst/>
          </a:prstGeom>
          <a:noFill/>
          <a:ln w="9525">
            <a:noFill/>
            <a:miter lim="800000"/>
            <a:headEnd/>
            <a:tailEnd/>
          </a:ln>
          <a:effectLst/>
        </p:spPr>
      </p:pic>
      <p:pic>
        <p:nvPicPr>
          <p:cNvPr id="19460" name="Picture 4"/>
          <p:cNvPicPr>
            <a:picLocks noChangeAspect="1" noChangeArrowheads="1"/>
          </p:cNvPicPr>
          <p:nvPr/>
        </p:nvPicPr>
        <p:blipFill>
          <a:blip r:embed="rId5" cstate="print"/>
          <a:srcRect/>
          <a:stretch>
            <a:fillRect/>
          </a:stretch>
        </p:blipFill>
        <p:spPr bwMode="auto">
          <a:xfrm>
            <a:off x="6710387" y="3786190"/>
            <a:ext cx="1362075" cy="2647950"/>
          </a:xfrm>
          <a:prstGeom prst="rect">
            <a:avLst/>
          </a:prstGeom>
          <a:noFill/>
          <a:ln w="9525">
            <a:noFill/>
            <a:miter lim="800000"/>
            <a:headEnd/>
            <a:tailEnd/>
          </a:ln>
          <a:effectLst/>
        </p:spPr>
      </p:pic>
      <p:graphicFrame>
        <p:nvGraphicFramePr>
          <p:cNvPr id="19461" name="Object 5"/>
          <p:cNvGraphicFramePr>
            <a:graphicFrameLocks noChangeAspect="1"/>
          </p:cNvGraphicFramePr>
          <p:nvPr/>
        </p:nvGraphicFramePr>
        <p:xfrm>
          <a:off x="285720" y="1643050"/>
          <a:ext cx="3521075" cy="1857375"/>
        </p:xfrm>
        <a:graphic>
          <a:graphicData uri="http://schemas.openxmlformats.org/presentationml/2006/ole">
            <mc:AlternateContent xmlns:mc="http://schemas.openxmlformats.org/markup-compatibility/2006">
              <mc:Choice xmlns:v="urn:schemas-microsoft-com:vml" Requires="v">
                <p:oleObj spid="_x0000_s19462" name="公式" r:id="rId6" imgW="1346040" imgH="711000" progId="Equation.3">
                  <p:embed/>
                </p:oleObj>
              </mc:Choice>
              <mc:Fallback>
                <p:oleObj name="公式" r:id="rId6" imgW="1346040" imgH="711000" progId="Equation.3">
                  <p:embed/>
                  <p:pic>
                    <p:nvPicPr>
                      <p:cNvPr id="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720" y="1643050"/>
                        <a:ext cx="3521075" cy="185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3929058" y="2071678"/>
            <a:ext cx="4801314" cy="830997"/>
          </a:xfrm>
          <a:prstGeom prst="rect">
            <a:avLst/>
          </a:prstGeom>
          <a:noFill/>
        </p:spPr>
        <p:txBody>
          <a:bodyPr wrap="none" rtlCol="0">
            <a:spAutoFit/>
          </a:bodyPr>
          <a:lstStyle/>
          <a:p>
            <a:r>
              <a:rPr lang="zh-CN" altLang="en-US" sz="2400" dirty="0"/>
              <a:t>叉积同时垂直于两个向量</a:t>
            </a:r>
            <a:endParaRPr lang="en-US" altLang="zh-CN" sz="2400" dirty="0"/>
          </a:p>
          <a:p>
            <a:r>
              <a:rPr lang="zh-CN" altLang="en-US" sz="2400" dirty="0"/>
              <a:t>思考：如果两个向量平行会如何？</a:t>
            </a:r>
          </a:p>
        </p:txBody>
      </p:sp>
      <p:sp>
        <p:nvSpPr>
          <p:cNvPr id="9" name="矩形 8"/>
          <p:cNvSpPr/>
          <p:nvPr/>
        </p:nvSpPr>
        <p:spPr>
          <a:xfrm>
            <a:off x="1428728" y="2928934"/>
            <a:ext cx="2500330" cy="571504"/>
          </a:xfrm>
          <a:prstGeom prst="rect">
            <a:avLst/>
          </a:prstGeom>
          <a:noFill/>
          <a:ln>
            <a:solidFill>
              <a:srgbClr val="FF0000"/>
            </a:solidFill>
            <a:prstDash val="dash"/>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7</a:t>
            </a:r>
            <a:r>
              <a:rPr lang="zh-CN" altLang="en-US" dirty="0"/>
              <a:t>：过三点的平面</a:t>
            </a:r>
          </a:p>
        </p:txBody>
      </p:sp>
      <p:pic>
        <p:nvPicPr>
          <p:cNvPr id="80898" name="Picture 2"/>
          <p:cNvPicPr>
            <a:picLocks noChangeAspect="1" noChangeArrowheads="1"/>
          </p:cNvPicPr>
          <p:nvPr/>
        </p:nvPicPr>
        <p:blipFill>
          <a:blip r:embed="rId2" cstate="print"/>
          <a:srcRect/>
          <a:stretch>
            <a:fillRect/>
          </a:stretch>
        </p:blipFill>
        <p:spPr bwMode="auto">
          <a:xfrm>
            <a:off x="169068" y="1916832"/>
            <a:ext cx="8723412" cy="3312368"/>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8</a:t>
            </a:r>
            <a:r>
              <a:rPr lang="zh-CN" altLang="en-US" dirty="0"/>
              <a:t>：两平面交线（参数式）</a:t>
            </a:r>
          </a:p>
        </p:txBody>
      </p:sp>
      <p:pic>
        <p:nvPicPr>
          <p:cNvPr id="81922" name="Picture 2"/>
          <p:cNvPicPr>
            <a:picLocks noChangeAspect="1" noChangeArrowheads="1"/>
          </p:cNvPicPr>
          <p:nvPr/>
        </p:nvPicPr>
        <p:blipFill>
          <a:blip r:embed="rId2" cstate="print"/>
          <a:srcRect/>
          <a:stretch>
            <a:fillRect/>
          </a:stretch>
        </p:blipFill>
        <p:spPr bwMode="auto">
          <a:xfrm>
            <a:off x="1187624" y="1556792"/>
            <a:ext cx="6926163" cy="464281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en-US" altLang="zh-CN" dirty="0"/>
              <a:t>9</a:t>
            </a:r>
            <a:r>
              <a:rPr lang="zh-CN" altLang="en-US" dirty="0"/>
              <a:t>：三平面的位置关系</a:t>
            </a:r>
          </a:p>
        </p:txBody>
      </p:sp>
      <p:pic>
        <p:nvPicPr>
          <p:cNvPr id="82946" name="Picture 2"/>
          <p:cNvPicPr>
            <a:picLocks noChangeAspect="1" noChangeArrowheads="1"/>
          </p:cNvPicPr>
          <p:nvPr/>
        </p:nvPicPr>
        <p:blipFill>
          <a:blip r:embed="rId2" cstate="print"/>
          <a:srcRect/>
          <a:stretch>
            <a:fillRect/>
          </a:stretch>
        </p:blipFill>
        <p:spPr bwMode="auto">
          <a:xfrm>
            <a:off x="899592" y="1340768"/>
            <a:ext cx="7488832" cy="5222689"/>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四、网格和多面体</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多边形网格</a:t>
            </a:r>
            <a:r>
              <a:rPr lang="en-US" altLang="zh-CN" dirty="0"/>
              <a:t>(</a:t>
            </a:r>
            <a:r>
              <a:rPr lang="en-US" altLang="zh-CN" dirty="0" err="1"/>
              <a:t>Polymesh</a:t>
            </a:r>
            <a:r>
              <a:rPr lang="en-US" altLang="zh-CN" dirty="0"/>
              <a:t>)</a:t>
            </a:r>
            <a:endParaRPr lang="zh-CN" altLang="en-US" dirty="0"/>
          </a:p>
        </p:txBody>
      </p:sp>
      <p:sp>
        <p:nvSpPr>
          <p:cNvPr id="3" name="内容占位符 2"/>
          <p:cNvSpPr>
            <a:spLocks noGrp="1"/>
          </p:cNvSpPr>
          <p:nvPr>
            <p:ph idx="1"/>
          </p:nvPr>
        </p:nvSpPr>
        <p:spPr>
          <a:xfrm>
            <a:off x="457200" y="1600200"/>
            <a:ext cx="8229600" cy="4900634"/>
          </a:xfrm>
        </p:spPr>
        <p:txBody>
          <a:bodyPr/>
          <a:lstStyle/>
          <a:p>
            <a:r>
              <a:rPr lang="zh-CN" altLang="en-US" dirty="0"/>
              <a:t>有限多点、边和面的集合称为多边形网格，当且仅当</a:t>
            </a:r>
            <a:endParaRPr lang="en-US" altLang="zh-CN" dirty="0"/>
          </a:p>
          <a:p>
            <a:pPr lvl="1"/>
            <a:r>
              <a:rPr lang="zh-CN" altLang="en-US" dirty="0"/>
              <a:t>没有孤立点（每个点至少连一条边）</a:t>
            </a:r>
            <a:endParaRPr lang="en-US" altLang="zh-CN" dirty="0"/>
          </a:p>
          <a:p>
            <a:pPr lvl="1"/>
            <a:r>
              <a:rPr lang="zh-CN" altLang="en-US" dirty="0"/>
              <a:t>没有孤立的边</a:t>
            </a:r>
            <a:r>
              <a:rPr lang="en-US" altLang="zh-CN" dirty="0"/>
              <a:t>/</a:t>
            </a:r>
            <a:r>
              <a:rPr lang="zh-CN" altLang="en-US" dirty="0"/>
              <a:t>折线（每条边至少有一个邻接面）</a:t>
            </a:r>
            <a:endParaRPr lang="en-US" altLang="zh-CN" dirty="0"/>
          </a:p>
          <a:p>
            <a:pPr lvl="1"/>
            <a:r>
              <a:rPr lang="zh-CN" altLang="en-US" dirty="0"/>
              <a:t>如果两个面有公共部分，公共部分的顶点和边必须也在网格中（面不能穿插，一个面上的边不能在另一个面的内部）</a:t>
            </a:r>
            <a:endParaRPr lang="en-US" altLang="zh-CN" dirty="0"/>
          </a:p>
          <a:p>
            <a:r>
              <a:rPr lang="zh-CN" altLang="en-US" dirty="0"/>
              <a:t>每个面都是三角形：三角形网格</a:t>
            </a:r>
            <a:r>
              <a:rPr lang="en-US" altLang="zh-CN" dirty="0"/>
              <a:t>(</a:t>
            </a:r>
            <a:r>
              <a:rPr lang="en-US" altLang="zh-CN" dirty="0" err="1"/>
              <a:t>trimesh</a:t>
            </a:r>
            <a:r>
              <a:rPr lang="en-US" altLang="zh-CN" dirty="0"/>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多面体</a:t>
            </a:r>
          </a:p>
        </p:txBody>
      </p:sp>
      <p:sp>
        <p:nvSpPr>
          <p:cNvPr id="3" name="内容占位符 2"/>
          <p:cNvSpPr>
            <a:spLocks noGrp="1"/>
          </p:cNvSpPr>
          <p:nvPr>
            <p:ph idx="1"/>
          </p:nvPr>
        </p:nvSpPr>
        <p:spPr/>
        <p:txBody>
          <a:bodyPr/>
          <a:lstStyle/>
          <a:p>
            <a:r>
              <a:rPr lang="zh-CN" altLang="en-US" dirty="0"/>
              <a:t>多面体</a:t>
            </a:r>
            <a:r>
              <a:rPr lang="en-US" altLang="zh-CN" dirty="0"/>
              <a:t>(polyhedron)</a:t>
            </a:r>
            <a:r>
              <a:rPr lang="zh-CN" altLang="en-US" dirty="0"/>
              <a:t>是特殊的多边形网格，它满足以下条件：</a:t>
            </a:r>
            <a:endParaRPr lang="en-US" altLang="zh-CN" dirty="0"/>
          </a:p>
          <a:p>
            <a:pPr lvl="1"/>
            <a:r>
              <a:rPr lang="zh-CN" altLang="en-US" dirty="0"/>
              <a:t>如果把面看成顶点，相邻面的公共边看成弧，则得到的图是无向连通图</a:t>
            </a:r>
            <a:endParaRPr lang="en-US" altLang="zh-CN" dirty="0"/>
          </a:p>
          <a:p>
            <a:pPr lvl="1"/>
            <a:r>
              <a:rPr lang="zh-CN" altLang="en-US" dirty="0"/>
              <a:t>每条边恰好有两个邻接面</a:t>
            </a:r>
          </a:p>
        </p:txBody>
      </p:sp>
      <p:pic>
        <p:nvPicPr>
          <p:cNvPr id="171010" name="Picture 2"/>
          <p:cNvPicPr>
            <a:picLocks noChangeAspect="1" noChangeArrowheads="1"/>
          </p:cNvPicPr>
          <p:nvPr/>
        </p:nvPicPr>
        <p:blipFill>
          <a:blip r:embed="rId2"/>
          <a:srcRect/>
          <a:stretch>
            <a:fillRect/>
          </a:stretch>
        </p:blipFill>
        <p:spPr bwMode="auto">
          <a:xfrm>
            <a:off x="857224" y="4357694"/>
            <a:ext cx="2608530" cy="2071702"/>
          </a:xfrm>
          <a:prstGeom prst="rect">
            <a:avLst/>
          </a:prstGeom>
          <a:noFill/>
          <a:ln w="9525">
            <a:noFill/>
            <a:miter lim="800000"/>
            <a:headEnd/>
            <a:tailEnd/>
          </a:ln>
          <a:effectLst/>
        </p:spPr>
      </p:pic>
      <p:pic>
        <p:nvPicPr>
          <p:cNvPr id="171011" name="Picture 3"/>
          <p:cNvPicPr>
            <a:picLocks noChangeAspect="1" noChangeArrowheads="1"/>
          </p:cNvPicPr>
          <p:nvPr/>
        </p:nvPicPr>
        <p:blipFill>
          <a:blip r:embed="rId3"/>
          <a:srcRect/>
          <a:stretch>
            <a:fillRect/>
          </a:stretch>
        </p:blipFill>
        <p:spPr bwMode="auto">
          <a:xfrm>
            <a:off x="4714876" y="4271124"/>
            <a:ext cx="3143272" cy="222971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p:txBody>
          <a:bodyPr/>
          <a:lstStyle/>
          <a:p>
            <a:r>
              <a:rPr lang="zh-CN" altLang="en-US" dirty="0"/>
              <a:t>四面体的体积</a:t>
            </a:r>
          </a:p>
        </p:txBody>
      </p:sp>
      <p:sp>
        <p:nvSpPr>
          <p:cNvPr id="384003" name="Rectangle 3"/>
          <p:cNvSpPr>
            <a:spLocks noGrp="1" noChangeArrowheads="1"/>
          </p:cNvSpPr>
          <p:nvPr>
            <p:ph type="body" sz="half" idx="1"/>
          </p:nvPr>
        </p:nvSpPr>
        <p:spPr>
          <a:xfrm>
            <a:off x="457200" y="1600200"/>
            <a:ext cx="8147248" cy="4525963"/>
          </a:xfrm>
        </p:spPr>
        <p:txBody>
          <a:bodyPr>
            <a:normAutofit/>
          </a:bodyPr>
          <a:lstStyle/>
          <a:p>
            <a:r>
              <a:rPr lang="zh-CN" altLang="en-US" dirty="0"/>
              <a:t>把</a:t>
            </a:r>
            <a:r>
              <a:rPr lang="en-US" altLang="zh-CN" dirty="0"/>
              <a:t>ABC</a:t>
            </a:r>
            <a:r>
              <a:rPr lang="zh-CN" altLang="en-US" dirty="0"/>
              <a:t>放在</a:t>
            </a:r>
            <a:r>
              <a:rPr lang="en-US" altLang="zh-CN" dirty="0" err="1"/>
              <a:t>xy</a:t>
            </a:r>
            <a:r>
              <a:rPr lang="zh-CN" altLang="en-US" dirty="0"/>
              <a:t>平面上</a:t>
            </a:r>
            <a:r>
              <a:rPr lang="en-US" altLang="zh-CN" dirty="0"/>
              <a:t>, AE</a:t>
            </a:r>
            <a:r>
              <a:rPr lang="zh-CN" altLang="en-US" dirty="0"/>
              <a:t>沿</a:t>
            </a:r>
            <a:r>
              <a:rPr lang="en-US" altLang="zh-CN" dirty="0"/>
              <a:t>z</a:t>
            </a:r>
            <a:r>
              <a:rPr lang="zh-CN" altLang="en-US" dirty="0"/>
              <a:t>轴方向</a:t>
            </a:r>
            <a:r>
              <a:rPr lang="en-US" altLang="zh-CN" dirty="0"/>
              <a:t>, D</a:t>
            </a:r>
            <a:r>
              <a:rPr lang="zh-CN" altLang="en-US" dirty="0"/>
              <a:t>在</a:t>
            </a:r>
            <a:r>
              <a:rPr lang="en-US" altLang="zh-CN" dirty="0"/>
              <a:t>ABC</a:t>
            </a:r>
            <a:r>
              <a:rPr lang="zh-CN" altLang="en-US" dirty="0"/>
              <a:t>上投影为</a:t>
            </a:r>
            <a:r>
              <a:rPr lang="en-US" altLang="zh-CN" dirty="0"/>
              <a:t>M, </a:t>
            </a:r>
            <a:r>
              <a:rPr lang="zh-CN" altLang="en-US" dirty="0"/>
              <a:t>则</a:t>
            </a:r>
            <a:endParaRPr lang="en-US" altLang="zh-CN" dirty="0"/>
          </a:p>
          <a:p>
            <a:endParaRPr lang="en-US" altLang="zh-CN" dirty="0"/>
          </a:p>
          <a:p>
            <a:endParaRPr lang="en-US" altLang="zh-CN" dirty="0"/>
          </a:p>
          <a:p>
            <a:r>
              <a:rPr lang="en-US" altLang="zh-CN" dirty="0"/>
              <a:t>AB, AC, AD</a:t>
            </a:r>
            <a:r>
              <a:rPr lang="zh-CN" altLang="en-US" dirty="0"/>
              <a:t>右手系时为正</a:t>
            </a:r>
            <a:endParaRPr lang="en-US" altLang="zh-CN" dirty="0"/>
          </a:p>
          <a:p>
            <a:r>
              <a:rPr lang="en-US" altLang="zh-CN" dirty="0"/>
              <a:t>V</a:t>
            </a:r>
            <a:r>
              <a:rPr lang="zh-CN" altLang="en-US" dirty="0"/>
              <a:t>是带符号体积！！！</a:t>
            </a:r>
            <a:endParaRPr lang="zh-CN" altLang="el-GR" dirty="0"/>
          </a:p>
        </p:txBody>
      </p:sp>
      <p:pic>
        <p:nvPicPr>
          <p:cNvPr id="384004" name="Picture 4"/>
          <p:cNvPicPr>
            <a:picLocks noGrp="1" noChangeAspect="1" noChangeArrowheads="1"/>
          </p:cNvPicPr>
          <p:nvPr>
            <p:ph sz="quarter" idx="2"/>
          </p:nvPr>
        </p:nvPicPr>
        <p:blipFill>
          <a:blip r:embed="rId3" cstate="print"/>
          <a:srcRect/>
          <a:stretch>
            <a:fillRect/>
          </a:stretch>
        </p:blipFill>
        <p:spPr>
          <a:xfrm>
            <a:off x="5040560" y="3933056"/>
            <a:ext cx="3995936" cy="2716085"/>
          </a:xfrm>
          <a:noFill/>
          <a:ln/>
        </p:spPr>
      </p:pic>
      <p:graphicFrame>
        <p:nvGraphicFramePr>
          <p:cNvPr id="83970" name="Object 2"/>
          <p:cNvGraphicFramePr>
            <a:graphicFrameLocks noChangeAspect="1"/>
          </p:cNvGraphicFramePr>
          <p:nvPr/>
        </p:nvGraphicFramePr>
        <p:xfrm>
          <a:off x="701675" y="2781300"/>
          <a:ext cx="7639050" cy="1028700"/>
        </p:xfrm>
        <a:graphic>
          <a:graphicData uri="http://schemas.openxmlformats.org/presentationml/2006/ole">
            <mc:AlternateContent xmlns:mc="http://schemas.openxmlformats.org/markup-compatibility/2006">
              <mc:Choice xmlns:v="urn:schemas-microsoft-com:vml" Requires="v">
                <p:oleObj spid="_x0000_s83971" name="公式" r:id="rId4" imgW="2920680" imgH="393480" progId="Equation.3">
                  <p:embed/>
                </p:oleObj>
              </mc:Choice>
              <mc:Fallback>
                <p:oleObj name="公式" r:id="rId4" imgW="2920680" imgH="39348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675" y="2781300"/>
                        <a:ext cx="7639050"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混合积</a:t>
            </a:r>
            <a:r>
              <a:rPr lang="en-US" altLang="zh-CN" dirty="0"/>
              <a:t>(Scalar Triple Product)</a:t>
            </a:r>
            <a:endParaRPr lang="zh-CN" altLang="en-US" dirty="0"/>
          </a:p>
        </p:txBody>
      </p:sp>
      <p:pic>
        <p:nvPicPr>
          <p:cNvPr id="123906" name="Picture 2"/>
          <p:cNvPicPr>
            <a:picLocks noChangeAspect="1" noChangeArrowheads="1"/>
          </p:cNvPicPr>
          <p:nvPr/>
        </p:nvPicPr>
        <p:blipFill>
          <a:blip r:embed="rId2" cstate="print"/>
          <a:srcRect/>
          <a:stretch>
            <a:fillRect/>
          </a:stretch>
        </p:blipFill>
        <p:spPr bwMode="auto">
          <a:xfrm>
            <a:off x="2267744" y="1772816"/>
            <a:ext cx="4536504" cy="4365315"/>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r>
              <a:rPr lang="zh-CN" altLang="en-US" dirty="0"/>
              <a:t>多面体的体积</a:t>
            </a:r>
          </a:p>
        </p:txBody>
      </p:sp>
      <p:sp>
        <p:nvSpPr>
          <p:cNvPr id="279555" name="Rectangle 3"/>
          <p:cNvSpPr>
            <a:spLocks noGrp="1" noChangeArrowheads="1"/>
          </p:cNvSpPr>
          <p:nvPr>
            <p:ph type="body" idx="1"/>
          </p:nvPr>
        </p:nvSpPr>
        <p:spPr/>
        <p:txBody>
          <a:bodyPr>
            <a:normAutofit/>
          </a:bodyPr>
          <a:lstStyle/>
          <a:p>
            <a:r>
              <a:rPr lang="zh-CN" altLang="en-US" dirty="0"/>
              <a:t>多面体这样表示</a:t>
            </a:r>
            <a:endParaRPr lang="en-US" altLang="zh-CN" dirty="0"/>
          </a:p>
          <a:p>
            <a:pPr lvl="1"/>
            <a:r>
              <a:rPr lang="zh-CN" altLang="en-US" dirty="0"/>
              <a:t>顶点数组</a:t>
            </a:r>
            <a:r>
              <a:rPr lang="en-US" altLang="zh-CN" dirty="0"/>
              <a:t>V</a:t>
            </a:r>
            <a:r>
              <a:rPr lang="zh-CN" altLang="en-US" dirty="0"/>
              <a:t>：每个顶点的坐标</a:t>
            </a:r>
            <a:endParaRPr lang="en-US" altLang="zh-CN" dirty="0"/>
          </a:p>
          <a:p>
            <a:pPr lvl="1"/>
            <a:r>
              <a:rPr lang="zh-CN" altLang="en-US" dirty="0"/>
              <a:t>面数组</a:t>
            </a:r>
            <a:r>
              <a:rPr lang="en-US" altLang="zh-CN" dirty="0"/>
              <a:t>F</a:t>
            </a:r>
            <a:r>
              <a:rPr lang="zh-CN" altLang="en-US" dirty="0"/>
              <a:t>：每个面的三个顶点的索引（</a:t>
            </a:r>
            <a:r>
              <a:rPr lang="en-US" altLang="zh-CN" dirty="0"/>
              <a:t>V</a:t>
            </a:r>
            <a:r>
              <a:rPr lang="zh-CN" altLang="en-US" dirty="0"/>
              <a:t>数组的下标）</a:t>
            </a:r>
            <a:endParaRPr lang="en-US" altLang="zh-CN" dirty="0"/>
          </a:p>
          <a:p>
            <a:pPr lvl="1"/>
            <a:r>
              <a:rPr lang="zh-CN" altLang="en-US" dirty="0"/>
              <a:t>假设各个面都是三角形，且三个点右手定则确定的方向指向多边形外部（即：从外部看，三个顶点呈逆时针排列）</a:t>
            </a:r>
            <a:endParaRPr lang="en-US" altLang="zh-CN" dirty="0"/>
          </a:p>
          <a:p>
            <a:r>
              <a:rPr lang="zh-CN" altLang="en-US" dirty="0"/>
              <a:t>对比</a:t>
            </a:r>
            <a:r>
              <a:rPr lang="en-US" altLang="zh-CN" dirty="0"/>
              <a:t>2D</a:t>
            </a:r>
            <a:r>
              <a:rPr lang="zh-CN" altLang="en-US" dirty="0"/>
              <a:t>多边形的面积，猜一猜多面体体积公式是怎样的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空间两三角形相交</a:t>
            </a:r>
            <a:br>
              <a:rPr lang="en-US" altLang="zh-CN" dirty="0"/>
            </a:br>
            <a:r>
              <a:rPr lang="zh-CN" altLang="en-US" dirty="0"/>
              <a:t>（</a:t>
            </a:r>
            <a:r>
              <a:rPr lang="en-US" altLang="zh-CN" dirty="0" err="1"/>
              <a:t>Uva</a:t>
            </a:r>
            <a:r>
              <a:rPr lang="en-US" altLang="zh-CN" dirty="0"/>
              <a:t> 11275</a:t>
            </a:r>
            <a:r>
              <a:rPr lang="zh-CN" altLang="en-US" dirty="0"/>
              <a:t>：</a:t>
            </a:r>
            <a:r>
              <a:rPr lang="en-US" altLang="zh-CN" dirty="0"/>
              <a:t>3D Triangles</a:t>
            </a:r>
            <a:r>
              <a:rPr lang="zh-CN" altLang="en-US" dirty="0"/>
              <a:t>）</a:t>
            </a:r>
          </a:p>
        </p:txBody>
      </p:sp>
      <p:pic>
        <p:nvPicPr>
          <p:cNvPr id="87042" name="Picture 2"/>
          <p:cNvPicPr>
            <a:picLocks noChangeAspect="1" noChangeArrowheads="1"/>
          </p:cNvPicPr>
          <p:nvPr/>
        </p:nvPicPr>
        <p:blipFill>
          <a:blip r:embed="rId2" cstate="print"/>
          <a:srcRect/>
          <a:stretch>
            <a:fillRect/>
          </a:stretch>
        </p:blipFill>
        <p:spPr bwMode="auto">
          <a:xfrm>
            <a:off x="1191657" y="1628800"/>
            <a:ext cx="6836727" cy="4968552"/>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a:t>
            </a:r>
          </a:p>
        </p:txBody>
      </p:sp>
      <p:sp>
        <p:nvSpPr>
          <p:cNvPr id="3" name="内容占位符 2"/>
          <p:cNvSpPr>
            <a:spLocks noGrp="1"/>
          </p:cNvSpPr>
          <p:nvPr>
            <p:ph idx="1"/>
          </p:nvPr>
        </p:nvSpPr>
        <p:spPr/>
        <p:txBody>
          <a:bodyPr/>
          <a:lstStyle/>
          <a:p>
            <a:r>
              <a:rPr lang="zh-CN" altLang="en-US" dirty="0"/>
              <a:t>暴力算法：枚举每个三角形的每条边，看它是否穿过另一个三角形</a:t>
            </a:r>
            <a:endParaRPr lang="en-US" altLang="zh-CN" dirty="0"/>
          </a:p>
          <a:p>
            <a:pPr lvl="1"/>
            <a:r>
              <a:rPr lang="zh-CN" altLang="en-US" dirty="0"/>
              <a:t>线段</a:t>
            </a:r>
            <a:r>
              <a:rPr lang="en-US" altLang="zh-CN" dirty="0"/>
              <a:t>-</a:t>
            </a:r>
            <a:r>
              <a:rPr lang="zh-CN" altLang="en-US" dirty="0"/>
              <a:t>平面求交（直线用参数式）</a:t>
            </a:r>
            <a:endParaRPr lang="en-US" altLang="zh-CN" dirty="0"/>
          </a:p>
          <a:p>
            <a:pPr lvl="1"/>
            <a:r>
              <a:rPr lang="zh-CN" altLang="en-US" dirty="0"/>
              <a:t>空间中的“点在三角形内判定”</a:t>
            </a:r>
            <a:endParaRPr lang="en-US" altLang="zh-CN" dirty="0"/>
          </a:p>
          <a:p>
            <a:r>
              <a:rPr lang="en-US" altLang="zh-CN" dirty="0" err="1"/>
              <a:t>Möller</a:t>
            </a:r>
            <a:r>
              <a:rPr lang="zh-CN" altLang="en-US" dirty="0"/>
              <a:t>算法：区间重叠</a:t>
            </a:r>
          </a:p>
        </p:txBody>
      </p:sp>
      <p:pic>
        <p:nvPicPr>
          <p:cNvPr id="88066" name="Picture 2"/>
          <p:cNvPicPr>
            <a:picLocks noChangeAspect="1" noChangeArrowheads="1"/>
          </p:cNvPicPr>
          <p:nvPr/>
        </p:nvPicPr>
        <p:blipFill>
          <a:blip r:embed="rId3" cstate="print"/>
          <a:srcRect/>
          <a:stretch>
            <a:fillRect/>
          </a:stretch>
        </p:blipFill>
        <p:spPr bwMode="auto">
          <a:xfrm>
            <a:off x="4980092" y="3789040"/>
            <a:ext cx="3878188" cy="2621368"/>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86058"/>
            <a:ext cx="8229600" cy="1143000"/>
          </a:xfrm>
        </p:spPr>
        <p:txBody>
          <a:bodyPr>
            <a:normAutofit fontScale="90000"/>
          </a:bodyPr>
          <a:lstStyle/>
          <a:p>
            <a:r>
              <a:rPr lang="zh-CN" altLang="en-US" dirty="0"/>
              <a:t>两个四面体的最短距离</a:t>
            </a:r>
            <a:br>
              <a:rPr lang="en-US" altLang="zh-CN" dirty="0"/>
            </a:br>
            <a:r>
              <a:rPr lang="zh-CN" altLang="en-US" dirty="0"/>
              <a:t>（</a:t>
            </a:r>
            <a:r>
              <a:rPr lang="en-US" altLang="zh-CN" dirty="0"/>
              <a:t>UVa11836</a:t>
            </a:r>
            <a:r>
              <a:rPr lang="zh-CN" altLang="en-US" dirty="0"/>
              <a:t>：</a:t>
            </a:r>
            <a:r>
              <a:rPr lang="en-US" altLang="zh-CN" dirty="0"/>
              <a:t>Star War</a:t>
            </a:r>
            <a:r>
              <a:rPr lang="zh-CN" altLang="en-US"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Paperweight (WF 2010, LA 4795)</a:t>
            </a:r>
            <a:endParaRPr lang="zh-CN" altLang="en-US" dirty="0"/>
          </a:p>
        </p:txBody>
      </p:sp>
      <p:sp>
        <p:nvSpPr>
          <p:cNvPr id="3" name="内容占位符 2"/>
          <p:cNvSpPr>
            <a:spLocks noGrp="1"/>
          </p:cNvSpPr>
          <p:nvPr>
            <p:ph idx="1"/>
          </p:nvPr>
        </p:nvSpPr>
        <p:spPr/>
        <p:txBody>
          <a:bodyPr>
            <a:normAutofit/>
          </a:bodyPr>
          <a:lstStyle/>
          <a:p>
            <a:r>
              <a:rPr lang="zh-CN" altLang="en-US" dirty="0"/>
              <a:t>你的公司从事压纸器的生产，压纸器由两个共面的四面体组成，四面体由透明玻璃构成，内部镶嵌数个彩色微粒，其中有一个微粒是一个</a:t>
            </a:r>
            <a:r>
              <a:rPr lang="en-US" altLang="zh-CN"/>
              <a:t>RFID</a:t>
            </a:r>
            <a:r>
              <a:rPr lang="zh-CN" altLang="en-US" dirty="0"/>
              <a:t>芯片，它必须被放置在接近计算机的位置计算机才能正常工作，一般将压纸器放置在计算机的顶部。芯片只能作用很有限的区域，因此它离计算机顶部的距离十分重要。</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7384"/>
            <a:ext cx="8229600" cy="4525963"/>
          </a:xfrm>
        </p:spPr>
        <p:txBody>
          <a:bodyPr/>
          <a:lstStyle/>
          <a:p>
            <a:r>
              <a:rPr lang="zh-CN" altLang="en-US" dirty="0"/>
              <a:t>需要计算当压纸器处于稳定位置时芯片离电脑顶部的最近距离和最远距离。一个位置被认为是稳定的当且仅当重心向任意方向移动不超过</a:t>
            </a:r>
            <a:r>
              <a:rPr lang="en-US" altLang="zh-CN" dirty="0"/>
              <a:t>0.2</a:t>
            </a:r>
            <a:r>
              <a:rPr lang="zh-CN" altLang="en-US" dirty="0"/>
              <a:t>米压纸器都处于平衡，你可以认为压纸器密度统一，并且芯片体积足够小可以被认为是一个点。</a:t>
            </a:r>
          </a:p>
        </p:txBody>
      </p:sp>
      <p:pic>
        <p:nvPicPr>
          <p:cNvPr id="52227" name="Picture 3" descr="p4795"/>
          <p:cNvPicPr>
            <a:picLocks noChangeAspect="1" noChangeArrowheads="1"/>
          </p:cNvPicPr>
          <p:nvPr/>
        </p:nvPicPr>
        <p:blipFill>
          <a:blip r:embed="rId2" cstate="print"/>
          <a:srcRect/>
          <a:stretch>
            <a:fillRect/>
          </a:stretch>
        </p:blipFill>
        <p:spPr bwMode="auto">
          <a:xfrm>
            <a:off x="611560" y="3068960"/>
            <a:ext cx="7766577" cy="3600400"/>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Fairies’ </a:t>
            </a:r>
            <a:r>
              <a:rPr lang="en-US" altLang="zh-CN" dirty="0" err="1"/>
              <a:t>Defence</a:t>
            </a:r>
            <a:r>
              <a:rPr lang="en-US" altLang="zh-CN" dirty="0"/>
              <a:t> (Xi’an 2006, LA 3786)</a:t>
            </a:r>
            <a:endParaRPr lang="zh-CN" altLang="en-US" dirty="0"/>
          </a:p>
        </p:txBody>
      </p:sp>
      <p:sp>
        <p:nvSpPr>
          <p:cNvPr id="3" name="内容占位符 2"/>
          <p:cNvSpPr>
            <a:spLocks noGrp="1"/>
          </p:cNvSpPr>
          <p:nvPr>
            <p:ph idx="1"/>
          </p:nvPr>
        </p:nvSpPr>
        <p:spPr/>
        <p:txBody>
          <a:bodyPr/>
          <a:lstStyle/>
          <a:p>
            <a:r>
              <a:rPr lang="zh-CN" altLang="en-US" dirty="0"/>
              <a:t>在长方体</a:t>
            </a:r>
            <a:r>
              <a:rPr lang="en-US" altLang="zh-CN" dirty="0"/>
              <a:t>(0,0,0)-(</a:t>
            </a:r>
            <a:r>
              <a:rPr lang="en-US" altLang="zh-CN" dirty="0" err="1"/>
              <a:t>a,b,c</a:t>
            </a:r>
            <a:r>
              <a:rPr lang="en-US" altLang="zh-CN" dirty="0"/>
              <a:t>)</a:t>
            </a:r>
            <a:r>
              <a:rPr lang="zh-CN" altLang="en-US" dirty="0"/>
              <a:t>内有</a:t>
            </a:r>
            <a:r>
              <a:rPr lang="en-US" altLang="zh-CN" dirty="0"/>
              <a:t>n(&lt;=20)</a:t>
            </a:r>
            <a:r>
              <a:rPr lang="zh-CN" altLang="en-US" dirty="0"/>
              <a:t>只天使。一只魔鬼会在该长方体内随机出现（概率密度在长方体内处处相等），并攻击最近的一只天使。求每只天使被攻击到的概率。</a:t>
            </a:r>
            <a:endParaRPr lang="en-US" altLang="zh-CN" dirty="0"/>
          </a:p>
          <a:p>
            <a:r>
              <a:rPr lang="en-US" altLang="zh-CN" dirty="0"/>
              <a:t>1&lt;=</a:t>
            </a:r>
            <a:r>
              <a:rPr lang="en-US" altLang="zh-CN" dirty="0" err="1"/>
              <a:t>a,b,c</a:t>
            </a:r>
            <a:r>
              <a:rPr lang="en-US" altLang="zh-CN" dirty="0"/>
              <a:t>&lt;=1000, </a:t>
            </a:r>
            <a:r>
              <a:rPr lang="zh-CN" altLang="en-US" dirty="0"/>
              <a:t>保留小数点后三位</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平面切割多面体</a:t>
            </a:r>
          </a:p>
        </p:txBody>
      </p:sp>
      <p:sp>
        <p:nvSpPr>
          <p:cNvPr id="3" name="内容占位符 2"/>
          <p:cNvSpPr>
            <a:spLocks noGrp="1"/>
          </p:cNvSpPr>
          <p:nvPr>
            <p:ph idx="1"/>
          </p:nvPr>
        </p:nvSpPr>
        <p:spPr/>
        <p:txBody>
          <a:bodyPr/>
          <a:lstStyle/>
          <a:p>
            <a:r>
              <a:rPr lang="zh-CN" altLang="en-US" dirty="0"/>
              <a:t>假设多面体用三角形网格</a:t>
            </a:r>
            <a:r>
              <a:rPr lang="en-US" altLang="zh-CN" dirty="0"/>
              <a:t>(triangle mesh)</a:t>
            </a:r>
            <a:r>
              <a:rPr lang="zh-CN" altLang="en-US" dirty="0"/>
              <a:t>表示，则问题转化为三角形和平面相交</a:t>
            </a:r>
          </a:p>
        </p:txBody>
      </p:sp>
      <p:pic>
        <p:nvPicPr>
          <p:cNvPr id="84994" name="Picture 2"/>
          <p:cNvPicPr>
            <a:picLocks noChangeAspect="1" noChangeArrowheads="1"/>
          </p:cNvPicPr>
          <p:nvPr/>
        </p:nvPicPr>
        <p:blipFill>
          <a:blip r:embed="rId2" cstate="print"/>
          <a:srcRect/>
          <a:stretch>
            <a:fillRect/>
          </a:stretch>
        </p:blipFill>
        <p:spPr bwMode="auto">
          <a:xfrm>
            <a:off x="1907704" y="2780928"/>
            <a:ext cx="5314354" cy="3669939"/>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平面切割多面体（续）</a:t>
            </a:r>
          </a:p>
        </p:txBody>
      </p:sp>
      <p:pic>
        <p:nvPicPr>
          <p:cNvPr id="86018" name="Picture 2"/>
          <p:cNvPicPr>
            <a:picLocks noChangeAspect="1" noChangeArrowheads="1"/>
          </p:cNvPicPr>
          <p:nvPr/>
        </p:nvPicPr>
        <p:blipFill>
          <a:blip r:embed="rId2" cstate="print"/>
          <a:srcRect/>
          <a:stretch>
            <a:fillRect/>
          </a:stretch>
        </p:blipFill>
        <p:spPr bwMode="auto">
          <a:xfrm>
            <a:off x="1475656" y="1412776"/>
            <a:ext cx="6019576" cy="494156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86058"/>
            <a:ext cx="8229600" cy="1143000"/>
          </a:xfrm>
        </p:spPr>
        <p:txBody>
          <a:bodyPr>
            <a:normAutofit/>
          </a:bodyPr>
          <a:lstStyle/>
          <a:p>
            <a:r>
              <a:rPr lang="zh-CN" altLang="en-US" dirty="0"/>
              <a:t>题外话：网格和</a:t>
            </a:r>
            <a:r>
              <a:rPr lang="en-US" altLang="zh-CN" dirty="0"/>
              <a:t>3D</a:t>
            </a:r>
            <a:r>
              <a:rPr lang="zh-CN" altLang="en-US" dirty="0"/>
              <a:t>游戏模型</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2"/>
          <a:srcRect/>
          <a:stretch>
            <a:fillRect/>
          </a:stretch>
        </p:blipFill>
        <p:spPr bwMode="auto">
          <a:xfrm>
            <a:off x="571500" y="795338"/>
            <a:ext cx="8001000" cy="5267325"/>
          </a:xfrm>
          <a:prstGeom prst="rect">
            <a:avLst/>
          </a:prstGeom>
          <a:noFill/>
          <a:ln w="9525">
            <a:noFill/>
            <a:miter lim="800000"/>
            <a:headEnd/>
            <a:tailEnd/>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p:cNvPicPr>
            <a:picLocks noChangeAspect="1" noChangeArrowheads="1"/>
          </p:cNvPicPr>
          <p:nvPr/>
        </p:nvPicPr>
        <p:blipFill>
          <a:blip r:embed="rId2"/>
          <a:srcRect/>
          <a:stretch>
            <a:fillRect/>
          </a:stretch>
        </p:blipFill>
        <p:spPr bwMode="auto">
          <a:xfrm>
            <a:off x="571500" y="795338"/>
            <a:ext cx="8001000" cy="5267325"/>
          </a:xfrm>
          <a:prstGeom prst="rect">
            <a:avLst/>
          </a:prstGeom>
          <a:noFill/>
          <a:ln w="9525">
            <a:noFill/>
            <a:miter lim="800000"/>
            <a:headEnd/>
            <a:tailEnd/>
          </a:ln>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ChangeAspect="1" noChangeArrowheads="1"/>
          </p:cNvPicPr>
          <p:nvPr/>
        </p:nvPicPr>
        <p:blipFill>
          <a:blip r:embed="rId2"/>
          <a:srcRect/>
          <a:stretch>
            <a:fillRect/>
          </a:stretch>
        </p:blipFill>
        <p:spPr bwMode="auto">
          <a:xfrm>
            <a:off x="571500" y="795338"/>
            <a:ext cx="8001000" cy="5267325"/>
          </a:xfrm>
          <a:prstGeom prst="rect">
            <a:avLst/>
          </a:prstGeom>
          <a:noFill/>
          <a:ln w="9525">
            <a:noFill/>
            <a:miter lim="800000"/>
            <a:headEnd/>
            <a:tailEnd/>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86058"/>
            <a:ext cx="8229600" cy="1143000"/>
          </a:xfrm>
        </p:spPr>
        <p:txBody>
          <a:bodyPr>
            <a:normAutofit/>
          </a:bodyPr>
          <a:lstStyle/>
          <a:p>
            <a:r>
              <a:rPr lang="zh-CN" altLang="en-US" dirty="0"/>
              <a:t>课间休息 </a:t>
            </a:r>
            <a:r>
              <a:rPr lang="en-US" altLang="zh-CN" dirty="0"/>
              <a:t>+ Blender</a:t>
            </a:r>
            <a:r>
              <a:rPr lang="zh-CN" altLang="en-US" dirty="0"/>
              <a:t>练习</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五、凸包（难！）</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二维凸包（回顾）</a:t>
            </a:r>
          </a:p>
        </p:txBody>
      </p:sp>
      <p:sp>
        <p:nvSpPr>
          <p:cNvPr id="3" name="内容占位符 2"/>
          <p:cNvSpPr>
            <a:spLocks noGrp="1"/>
          </p:cNvSpPr>
          <p:nvPr>
            <p:ph idx="1"/>
          </p:nvPr>
        </p:nvSpPr>
        <p:spPr/>
        <p:txBody>
          <a:bodyPr/>
          <a:lstStyle/>
          <a:p>
            <a:r>
              <a:rPr lang="zh-CN" altLang="en-US" dirty="0"/>
              <a:t>卷包裹法</a:t>
            </a:r>
            <a:endParaRPr lang="en-US" altLang="zh-CN" dirty="0"/>
          </a:p>
          <a:p>
            <a:r>
              <a:rPr lang="en-US" altLang="zh-CN" dirty="0"/>
              <a:t>Graham Scan</a:t>
            </a:r>
            <a:r>
              <a:rPr lang="zh-CN" altLang="en-US" dirty="0"/>
              <a:t>（水平序）</a:t>
            </a:r>
            <a:endParaRPr lang="en-US" altLang="zh-CN" dirty="0"/>
          </a:p>
          <a:p>
            <a:r>
              <a:rPr lang="zh-CN" altLang="en-US" dirty="0"/>
              <a:t>分治算法</a:t>
            </a:r>
            <a:endParaRPr lang="en-US" altLang="zh-CN" dirty="0"/>
          </a:p>
          <a:p>
            <a:r>
              <a:rPr lang="en-US" altLang="zh-CN" dirty="0"/>
              <a:t>Quick Hull</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fld id="{C7C89FFA-844D-4042-954F-9BA41B2A10D1}" type="slidenum">
              <a:rPr lang="en-US" altLang="zh-CN"/>
              <a:pPr/>
              <a:t>64</a:t>
            </a:fld>
            <a:r>
              <a:rPr lang="en-US" altLang="zh-CN"/>
              <a:t> / 41</a:t>
            </a:r>
          </a:p>
        </p:txBody>
      </p:sp>
      <p:sp>
        <p:nvSpPr>
          <p:cNvPr id="3074" name="Rectangle 2"/>
          <p:cNvSpPr>
            <a:spLocks noGrp="1" noChangeArrowheads="1"/>
          </p:cNvSpPr>
          <p:nvPr>
            <p:ph type="title"/>
          </p:nvPr>
        </p:nvSpPr>
        <p:spPr/>
        <p:txBody>
          <a:bodyPr/>
          <a:lstStyle/>
          <a:p>
            <a:r>
              <a:rPr lang="zh-CN" altLang="en-US" dirty="0">
                <a:ea typeface="宋体" pitchFamily="2" charset="-122"/>
              </a:rPr>
              <a:t>三维凸包</a:t>
            </a:r>
            <a:endParaRPr lang="en-US" altLang="zh-CN" dirty="0">
              <a:ea typeface="宋体" pitchFamily="2" charset="-122"/>
            </a:endParaRPr>
          </a:p>
        </p:txBody>
      </p:sp>
      <p:sp>
        <p:nvSpPr>
          <p:cNvPr id="3075" name="Rectangle 3"/>
          <p:cNvSpPr>
            <a:spLocks noGrp="1" noChangeArrowheads="1"/>
          </p:cNvSpPr>
          <p:nvPr>
            <p:ph type="body" idx="1"/>
          </p:nvPr>
        </p:nvSpPr>
        <p:spPr/>
        <p:txBody>
          <a:bodyPr/>
          <a:lstStyle/>
          <a:p>
            <a:r>
              <a:rPr lang="zh-CN" altLang="en-US" dirty="0">
                <a:ea typeface="宋体" pitchFamily="2" charset="-122"/>
              </a:rPr>
              <a:t>输入</a:t>
            </a:r>
            <a:r>
              <a:rPr lang="en-US" altLang="zh-CN" dirty="0">
                <a:ea typeface="宋体" pitchFamily="2" charset="-122"/>
              </a:rPr>
              <a:t>P</a:t>
            </a:r>
            <a:r>
              <a:rPr lang="zh-CN" altLang="en-US" dirty="0">
                <a:ea typeface="宋体" pitchFamily="2" charset="-122"/>
              </a:rPr>
              <a:t>：三维空间中的</a:t>
            </a:r>
            <a:r>
              <a:rPr lang="en-US" altLang="zh-CN" dirty="0">
                <a:ea typeface="宋体" pitchFamily="2" charset="-122"/>
              </a:rPr>
              <a:t>n</a:t>
            </a:r>
            <a:r>
              <a:rPr lang="zh-CN" altLang="en-US" dirty="0">
                <a:ea typeface="宋体" pitchFamily="2" charset="-122"/>
              </a:rPr>
              <a:t>个点组成的集合</a:t>
            </a:r>
            <a:endParaRPr lang="en-US" altLang="zh-CN" dirty="0">
              <a:ea typeface="宋体" pitchFamily="2" charset="-122"/>
            </a:endParaRPr>
          </a:p>
          <a:p>
            <a:r>
              <a:rPr lang="zh-CN" altLang="en-US" dirty="0">
                <a:ea typeface="宋体" pitchFamily="2" charset="-122"/>
              </a:rPr>
              <a:t>输出：</a:t>
            </a:r>
            <a:r>
              <a:rPr lang="en-US" altLang="zh-CN" dirty="0">
                <a:ea typeface="宋体" pitchFamily="2" charset="-122"/>
              </a:rPr>
              <a:t>P</a:t>
            </a:r>
            <a:r>
              <a:rPr lang="zh-CN" altLang="en-US" dirty="0">
                <a:ea typeface="宋体" pitchFamily="2" charset="-122"/>
              </a:rPr>
              <a:t>的凸包</a:t>
            </a:r>
            <a:r>
              <a:rPr lang="en-US" altLang="zh-CN" dirty="0">
                <a:latin typeface="Monotype Corsiva" pitchFamily="66" charset="0"/>
                <a:ea typeface="宋体" pitchFamily="2" charset="-122"/>
              </a:rPr>
              <a:t>CH</a:t>
            </a:r>
            <a:r>
              <a:rPr lang="en-US" altLang="zh-CN" dirty="0">
                <a:ea typeface="宋体" pitchFamily="2" charset="-122"/>
              </a:rPr>
              <a:t>(</a:t>
            </a:r>
            <a:r>
              <a:rPr lang="en-US" altLang="zh-CN" i="1" dirty="0">
                <a:ea typeface="宋体" pitchFamily="2" charset="-122"/>
              </a:rPr>
              <a:t>P</a:t>
            </a:r>
            <a:r>
              <a:rPr lang="en-US" altLang="zh-CN" dirty="0">
                <a:ea typeface="宋体" pitchFamily="2" charset="-122"/>
              </a:rPr>
              <a:t>)</a:t>
            </a:r>
            <a:r>
              <a:rPr lang="zh-CN" altLang="en-US" dirty="0">
                <a:ea typeface="宋体" pitchFamily="2" charset="-122"/>
              </a:rPr>
              <a:t>，即把所有点包围在内部或边界上的最小凸多面体</a:t>
            </a:r>
            <a:endParaRPr lang="en-US" altLang="zh-CN" dirty="0">
              <a:ea typeface="宋体" pitchFamily="2" charset="-122"/>
            </a:endParaRPr>
          </a:p>
        </p:txBody>
      </p:sp>
      <p:graphicFrame>
        <p:nvGraphicFramePr>
          <p:cNvPr id="3076" name="Object 4"/>
          <p:cNvGraphicFramePr>
            <a:graphicFrameLocks noChangeAspect="1"/>
          </p:cNvGraphicFramePr>
          <p:nvPr/>
        </p:nvGraphicFramePr>
        <p:xfrm>
          <a:off x="3500430" y="3429000"/>
          <a:ext cx="2895600" cy="2862262"/>
        </p:xfrm>
        <a:graphic>
          <a:graphicData uri="http://schemas.openxmlformats.org/presentationml/2006/ole">
            <mc:AlternateContent xmlns:mc="http://schemas.openxmlformats.org/markup-compatibility/2006">
              <mc:Choice xmlns:v="urn:schemas-microsoft-com:vml" Requires="v">
                <p:oleObj spid="_x0000_s21507" name="Bitmap Image" r:id="rId3" imgW="3343742" imgH="3304762" progId="PBrush">
                  <p:embed/>
                </p:oleObj>
              </mc:Choice>
              <mc:Fallback>
                <p:oleObj name="Bitmap Image" r:id="rId3" imgW="3343742" imgH="3304762"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0430" y="3429000"/>
                        <a:ext cx="2895600"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Aerodynamics (NEERC 2008, LA 4371)</a:t>
            </a:r>
            <a:endParaRPr lang="zh-CN" altLang="en-US" dirty="0"/>
          </a:p>
        </p:txBody>
      </p:sp>
      <p:sp>
        <p:nvSpPr>
          <p:cNvPr id="3" name="内容占位符 2"/>
          <p:cNvSpPr>
            <a:spLocks noGrp="1"/>
          </p:cNvSpPr>
          <p:nvPr>
            <p:ph idx="1"/>
          </p:nvPr>
        </p:nvSpPr>
        <p:spPr/>
        <p:txBody>
          <a:bodyPr/>
          <a:lstStyle/>
          <a:p>
            <a:r>
              <a:rPr lang="zh-CN" altLang="en-US" dirty="0"/>
              <a:t>给空间中的</a:t>
            </a:r>
            <a:r>
              <a:rPr lang="en-US" altLang="zh-CN" dirty="0"/>
              <a:t>n(&lt;=100)</a:t>
            </a:r>
            <a:r>
              <a:rPr lang="zh-CN" altLang="en-US" dirty="0"/>
              <a:t>个点和两个整数</a:t>
            </a:r>
            <a:r>
              <a:rPr lang="en-US" altLang="zh-CN" dirty="0" err="1"/>
              <a:t>zmin</a:t>
            </a:r>
            <a:r>
              <a:rPr lang="zh-CN" altLang="en-US" dirty="0"/>
              <a:t>和</a:t>
            </a:r>
            <a:r>
              <a:rPr lang="en-US" altLang="zh-CN" dirty="0" err="1"/>
              <a:t>zmax</a:t>
            </a:r>
            <a:r>
              <a:rPr lang="zh-CN" altLang="en-US" dirty="0"/>
              <a:t>，对于</a:t>
            </a:r>
            <a:r>
              <a:rPr lang="en-US" altLang="zh-CN" dirty="0"/>
              <a:t>[</a:t>
            </a:r>
            <a:r>
              <a:rPr lang="en-US" altLang="zh-CN" dirty="0" err="1"/>
              <a:t>zmin,zmax</a:t>
            </a:r>
            <a:r>
              <a:rPr lang="en-US" altLang="zh-CN" dirty="0"/>
              <a:t>]</a:t>
            </a:r>
            <a:r>
              <a:rPr lang="zh-CN" altLang="en-US" dirty="0"/>
              <a:t>内的每个整数</a:t>
            </a:r>
            <a:r>
              <a:rPr lang="en-US" altLang="zh-CN" dirty="0"/>
              <a:t>z</a:t>
            </a:r>
            <a:r>
              <a:rPr lang="en-US" altLang="zh-CN" baseline="-25000" dirty="0"/>
              <a:t>0</a:t>
            </a:r>
            <a:r>
              <a:rPr lang="zh-CN" altLang="en-US" dirty="0"/>
              <a:t>，分别输出所有点的凸包被</a:t>
            </a:r>
            <a:r>
              <a:rPr lang="en-US" altLang="zh-CN" dirty="0"/>
              <a:t>z=z</a:t>
            </a:r>
            <a:r>
              <a:rPr lang="en-US" altLang="zh-CN" baseline="-25000" dirty="0"/>
              <a:t>0</a:t>
            </a:r>
            <a:r>
              <a:rPr lang="zh-CN" altLang="en-US" dirty="0"/>
              <a:t>所截得的面积</a:t>
            </a:r>
          </a:p>
        </p:txBody>
      </p:sp>
      <p:pic>
        <p:nvPicPr>
          <p:cNvPr id="55298" name="Picture 2"/>
          <p:cNvPicPr>
            <a:picLocks noChangeAspect="1" noChangeArrowheads="1"/>
          </p:cNvPicPr>
          <p:nvPr/>
        </p:nvPicPr>
        <p:blipFill>
          <a:blip r:embed="rId2" cstate="print"/>
          <a:srcRect/>
          <a:stretch>
            <a:fillRect/>
          </a:stretch>
        </p:blipFill>
        <p:spPr bwMode="auto">
          <a:xfrm>
            <a:off x="2411760" y="3284984"/>
            <a:ext cx="4464496" cy="3081903"/>
          </a:xfrm>
          <a:prstGeom prst="rect">
            <a:avLst/>
          </a:prstGeom>
          <a:noFill/>
          <a:ln w="9525">
            <a:noFill/>
            <a:miter lim="800000"/>
            <a:headEnd/>
            <a:tailEnd/>
          </a:ln>
        </p:spPr>
      </p:pic>
      <p:sp>
        <p:nvSpPr>
          <p:cNvPr id="5" name="TextBox 4"/>
          <p:cNvSpPr txBox="1"/>
          <p:nvPr/>
        </p:nvSpPr>
        <p:spPr>
          <a:xfrm>
            <a:off x="285720" y="6143644"/>
            <a:ext cx="3278462" cy="461665"/>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400" b="1" dirty="0"/>
              <a:t>需要计算三维凸包么？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Asteroids (NEERC 2009, LA 4589)</a:t>
            </a:r>
            <a:endParaRPr lang="zh-CN" altLang="en-US" dirty="0"/>
          </a:p>
        </p:txBody>
      </p:sp>
      <p:sp>
        <p:nvSpPr>
          <p:cNvPr id="3" name="内容占位符 2"/>
          <p:cNvSpPr>
            <a:spLocks noGrp="1"/>
          </p:cNvSpPr>
          <p:nvPr>
            <p:ph idx="1"/>
          </p:nvPr>
        </p:nvSpPr>
        <p:spPr/>
        <p:txBody>
          <a:bodyPr/>
          <a:lstStyle/>
          <a:p>
            <a:r>
              <a:rPr lang="zh-CN" altLang="en-US" dirty="0"/>
              <a:t>给两颗凸多面体行星，你的任务是求出二者重心的最近距离。两个行星的密度均为均匀分布，且可以任意旋转和平移</a:t>
            </a:r>
            <a:endParaRPr lang="en-US" altLang="zh-CN" dirty="0"/>
          </a:p>
          <a:p>
            <a:r>
              <a:rPr lang="zh-CN" altLang="en-US" dirty="0"/>
              <a:t>每颗行星顶点数不超过</a:t>
            </a:r>
            <a:r>
              <a:rPr lang="en-US" altLang="zh-CN" dirty="0"/>
              <a:t>60</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算法们</a:t>
            </a:r>
          </a:p>
        </p:txBody>
      </p:sp>
      <p:sp>
        <p:nvSpPr>
          <p:cNvPr id="3" name="内容占位符 2"/>
          <p:cNvSpPr>
            <a:spLocks noGrp="1"/>
          </p:cNvSpPr>
          <p:nvPr>
            <p:ph idx="1"/>
          </p:nvPr>
        </p:nvSpPr>
        <p:spPr/>
        <p:txBody>
          <a:bodyPr>
            <a:normAutofit/>
          </a:bodyPr>
          <a:lstStyle/>
          <a:p>
            <a:r>
              <a:rPr lang="zh-CN" altLang="en-US" dirty="0"/>
              <a:t>暴力法：</a:t>
            </a:r>
            <a:r>
              <a:rPr lang="en-US" altLang="zh-CN" dirty="0"/>
              <a:t>O(n</a:t>
            </a:r>
            <a:r>
              <a:rPr lang="en-US" altLang="zh-CN" baseline="30000" dirty="0"/>
              <a:t>4</a:t>
            </a:r>
            <a:r>
              <a:rPr lang="en-US" altLang="zh-CN" dirty="0"/>
              <a:t>)</a:t>
            </a:r>
            <a:r>
              <a:rPr lang="zh-CN" altLang="en-US" dirty="0"/>
              <a:t>，代码见后</a:t>
            </a:r>
            <a:endParaRPr lang="en-US" altLang="zh-CN" dirty="0"/>
          </a:p>
          <a:p>
            <a:r>
              <a:rPr lang="zh-CN" altLang="en-US" dirty="0"/>
              <a:t>卷包裹：</a:t>
            </a:r>
            <a:r>
              <a:rPr lang="en-US" altLang="zh-CN" dirty="0"/>
              <a:t>O(n</a:t>
            </a:r>
            <a:r>
              <a:rPr lang="en-US" altLang="zh-CN" baseline="30000" dirty="0"/>
              <a:t>2</a:t>
            </a:r>
            <a:r>
              <a:rPr lang="en-US" altLang="zh-CN" dirty="0"/>
              <a:t>)</a:t>
            </a:r>
            <a:r>
              <a:rPr lang="zh-CN" altLang="en-US" dirty="0"/>
              <a:t>，代码见后</a:t>
            </a:r>
            <a:endParaRPr lang="en-US" altLang="zh-CN" dirty="0"/>
          </a:p>
          <a:p>
            <a:r>
              <a:rPr lang="zh-CN" altLang="en-US" dirty="0"/>
              <a:t>增量法</a:t>
            </a:r>
            <a:endParaRPr lang="en-US" altLang="zh-CN" dirty="0"/>
          </a:p>
          <a:p>
            <a:pPr lvl="1"/>
            <a:r>
              <a:rPr lang="zh-CN" altLang="en-US" dirty="0"/>
              <a:t>普通：</a:t>
            </a:r>
            <a:r>
              <a:rPr lang="en-US" altLang="zh-CN" dirty="0"/>
              <a:t>O(n</a:t>
            </a:r>
            <a:r>
              <a:rPr lang="en-US" altLang="zh-CN" baseline="30000" dirty="0"/>
              <a:t>2</a:t>
            </a:r>
            <a:r>
              <a:rPr lang="en-US" altLang="zh-CN" dirty="0"/>
              <a:t>)</a:t>
            </a:r>
            <a:r>
              <a:rPr lang="zh-CN" altLang="en-US" dirty="0"/>
              <a:t>：代码见后</a:t>
            </a:r>
            <a:endParaRPr lang="en-US" altLang="zh-CN" dirty="0"/>
          </a:p>
          <a:p>
            <a:pPr lvl="1"/>
            <a:r>
              <a:rPr lang="zh-CN" altLang="en-US" dirty="0"/>
              <a:t>随机增量：</a:t>
            </a:r>
            <a:r>
              <a:rPr lang="en-US" altLang="zh-CN" dirty="0"/>
              <a:t>O(</a:t>
            </a:r>
            <a:r>
              <a:rPr lang="en-US" altLang="zh-CN" dirty="0" err="1"/>
              <a:t>nlogn</a:t>
            </a:r>
            <a:r>
              <a:rPr lang="en-US" altLang="zh-CN" dirty="0"/>
              <a:t>)</a:t>
            </a:r>
          </a:p>
          <a:p>
            <a:pPr lvl="1"/>
            <a:r>
              <a:rPr lang="zh-CN" altLang="en-US" dirty="0"/>
              <a:t>快速凸包：也许最坏</a:t>
            </a:r>
            <a:r>
              <a:rPr lang="en-US" altLang="zh-CN" dirty="0"/>
              <a:t>O(n</a:t>
            </a:r>
            <a:r>
              <a:rPr lang="en-US" altLang="zh-CN" baseline="30000" dirty="0"/>
              <a:t>2</a:t>
            </a:r>
            <a:r>
              <a:rPr lang="en-US" altLang="zh-CN" dirty="0"/>
              <a:t>)</a:t>
            </a:r>
            <a:r>
              <a:rPr lang="zh-CN" altLang="en-US" dirty="0"/>
              <a:t>，但效果很不错</a:t>
            </a:r>
            <a:endParaRPr lang="en-US" altLang="zh-CN" dirty="0"/>
          </a:p>
          <a:p>
            <a:pPr lvl="1"/>
            <a:r>
              <a:rPr lang="zh-CN" altLang="en-US" dirty="0"/>
              <a:t>实现复杂程度和数据结构相关</a:t>
            </a:r>
            <a:endParaRPr lang="en-US" altLang="zh-CN" dirty="0"/>
          </a:p>
          <a:p>
            <a:r>
              <a:rPr lang="zh-CN" altLang="en-US" dirty="0"/>
              <a:t>分治：</a:t>
            </a:r>
            <a:r>
              <a:rPr lang="en-US" altLang="zh-CN" dirty="0"/>
              <a:t>O(</a:t>
            </a:r>
            <a:r>
              <a:rPr lang="en-US" altLang="zh-CN" dirty="0" err="1"/>
              <a:t>nlogn</a:t>
            </a:r>
            <a:r>
              <a:rPr lang="en-US" altLang="zh-CN" dirty="0"/>
              <a:t>)</a:t>
            </a:r>
            <a:r>
              <a:rPr lang="zh-CN" altLang="en-US" dirty="0"/>
              <a:t>，代码见后</a:t>
            </a:r>
            <a:endParaRPr lang="en-US" altLang="zh-CN"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暴力法</a:t>
            </a:r>
          </a:p>
        </p:txBody>
      </p:sp>
      <p:sp>
        <p:nvSpPr>
          <p:cNvPr id="3" name="内容占位符 2"/>
          <p:cNvSpPr>
            <a:spLocks noGrp="1"/>
          </p:cNvSpPr>
          <p:nvPr>
            <p:ph idx="1"/>
          </p:nvPr>
        </p:nvSpPr>
        <p:spPr/>
        <p:txBody>
          <a:bodyPr/>
          <a:lstStyle/>
          <a:p>
            <a:r>
              <a:rPr lang="zh-CN" altLang="en-US" dirty="0"/>
              <a:t>对于每个平面，判断是否所有点都在平面的同侧</a:t>
            </a:r>
            <a:endParaRPr lang="en-US" altLang="zh-CN" dirty="0"/>
          </a:p>
          <a:p>
            <a:pPr lvl="1"/>
            <a:r>
              <a:rPr lang="zh-CN" altLang="en-US" dirty="0"/>
              <a:t>平面有</a:t>
            </a:r>
            <a:r>
              <a:rPr lang="en-US" altLang="zh-CN" dirty="0"/>
              <a:t>O(n</a:t>
            </a:r>
            <a:r>
              <a:rPr lang="en-US" altLang="zh-CN" baseline="30000" dirty="0"/>
              <a:t>3</a:t>
            </a:r>
            <a:r>
              <a:rPr lang="en-US" altLang="zh-CN" dirty="0"/>
              <a:t>)</a:t>
            </a:r>
            <a:r>
              <a:rPr lang="zh-CN" altLang="en-US" dirty="0"/>
              <a:t>个</a:t>
            </a:r>
            <a:endParaRPr lang="en-US" altLang="zh-CN" dirty="0"/>
          </a:p>
          <a:p>
            <a:pPr lvl="1"/>
            <a:r>
              <a:rPr lang="zh-CN" altLang="en-US" dirty="0"/>
              <a:t>判断一个点需要计算一次叉积和一次点积（实际上是一次混合积）</a:t>
            </a:r>
            <a:endParaRPr lang="en-US" altLang="zh-CN" dirty="0"/>
          </a:p>
          <a:p>
            <a:pPr lvl="1"/>
            <a:r>
              <a:rPr lang="zh-CN" altLang="en-US" dirty="0"/>
              <a:t>总时间</a:t>
            </a:r>
            <a:r>
              <a:rPr lang="en-US" altLang="zh-CN" dirty="0"/>
              <a:t>O(n</a:t>
            </a:r>
            <a:r>
              <a:rPr lang="en-US" altLang="zh-CN" baseline="30000" dirty="0"/>
              <a:t>4</a:t>
            </a:r>
            <a:r>
              <a:rPr lang="en-US" altLang="zh-CN" dirty="0"/>
              <a:t>)</a:t>
            </a:r>
          </a:p>
          <a:p>
            <a:r>
              <a:rPr lang="zh-CN" altLang="en-US" dirty="0"/>
              <a:t>程序简单，容易处理多点共面</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06" y="714356"/>
            <a:ext cx="8985793" cy="5262979"/>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nn-NO" altLang="zh-CN" sz="2400" dirty="0"/>
              <a:t>for (int i = 0; i &lt; n; i++)</a:t>
            </a:r>
          </a:p>
          <a:p>
            <a:r>
              <a:rPr lang="nn-NO" altLang="zh-CN" sz="2400" dirty="0"/>
              <a:t> for (int j = i+1; j &lt; n; j++)</a:t>
            </a:r>
          </a:p>
          <a:p>
            <a:r>
              <a:rPr lang="nn-NO" altLang="zh-CN" sz="2400" dirty="0"/>
              <a:t>  for (int k = j+1; k &lt; n; k++){</a:t>
            </a:r>
          </a:p>
          <a:p>
            <a:r>
              <a:rPr lang="nn-NO" altLang="zh-CN" sz="2400" dirty="0"/>
              <a:t>    point direction = (X[j]-X[i]).cross(X[k]-X[i]);</a:t>
            </a:r>
          </a:p>
          <a:p>
            <a:r>
              <a:rPr lang="nn-NO" altLang="zh-CN" sz="2400" dirty="0"/>
              <a:t>    int sign = 0;</a:t>
            </a:r>
          </a:p>
          <a:p>
            <a:r>
              <a:rPr lang="nn-NO" altLang="zh-CN" sz="2400" dirty="0"/>
              <a:t>    bool good = true;</a:t>
            </a:r>
          </a:p>
          <a:p>
            <a:r>
              <a:rPr lang="nn-NO" altLang="zh-CN" sz="2400" dirty="0"/>
              <a:t>    for (int m = 0; good &amp;&amp; m &lt; n; m++) if (m != i &amp;&amp; m != j &amp;&amp; m != k){</a:t>
            </a:r>
          </a:p>
          <a:p>
            <a:r>
              <a:rPr lang="nn-NO" altLang="zh-CN" sz="2400" dirty="0"/>
              <a:t>      double dot = direction.dot(X[m]-X[i]);</a:t>
            </a:r>
          </a:p>
          <a:p>
            <a:r>
              <a:rPr lang="nn-NO" altLang="zh-CN" sz="2400" dirty="0"/>
              <a:t>      int newsign = 0;</a:t>
            </a:r>
          </a:p>
          <a:p>
            <a:r>
              <a:rPr lang="nn-NO" altLang="zh-CN" sz="2400" dirty="0"/>
              <a:t>      if (dot &gt; 0) newsign = 1; else if (dot &lt; 0) newsign = -1; else continue;</a:t>
            </a:r>
          </a:p>
          <a:p>
            <a:r>
              <a:rPr lang="nn-NO" altLang="zh-CN" sz="2400" dirty="0"/>
              <a:t>      if (sign == 0) sign = newsign; else if (newsign != sign) good = false;</a:t>
            </a:r>
          </a:p>
          <a:p>
            <a:r>
              <a:rPr lang="nn-NO" altLang="zh-CN" sz="2400" dirty="0"/>
              <a:t>    }</a:t>
            </a:r>
          </a:p>
          <a:p>
            <a:r>
              <a:rPr lang="nn-NO" altLang="zh-CN" sz="2400" dirty="0"/>
              <a:t>    if (good) area += direction.length()/2;</a:t>
            </a:r>
          </a:p>
          <a:p>
            <a:r>
              <a:rPr lang="nn-NO" altLang="zh-CN" sz="2400" dirty="0"/>
              <a:t>  }</a:t>
            </a:r>
          </a:p>
        </p:txBody>
      </p:sp>
      <p:sp>
        <p:nvSpPr>
          <p:cNvPr id="5" name="矩形 4"/>
          <p:cNvSpPr/>
          <p:nvPr/>
        </p:nvSpPr>
        <p:spPr>
          <a:xfrm>
            <a:off x="285720" y="1857364"/>
            <a:ext cx="5357850"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428596" y="3286124"/>
            <a:ext cx="4786346"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000496" y="4429132"/>
            <a:ext cx="4714908"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357158" y="5143512"/>
            <a:ext cx="4714908"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1716074" y="6093296"/>
            <a:ext cx="5952270" cy="584775"/>
          </a:xfrm>
          <a:prstGeom prst="rect">
            <a:avLst/>
          </a:prstGeom>
          <a:noFill/>
        </p:spPr>
        <p:txBody>
          <a:bodyPr wrap="none" rtlCol="0">
            <a:spAutoFit/>
          </a:bodyPr>
          <a:lstStyle/>
          <a:p>
            <a:r>
              <a:rPr lang="zh-CN" altLang="en-US" sz="3200" b="1" dirty="0"/>
              <a:t>讨论：凸包上有多点共面的情况</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卷包裹法</a:t>
            </a:r>
          </a:p>
        </p:txBody>
      </p:sp>
      <p:sp>
        <p:nvSpPr>
          <p:cNvPr id="3" name="内容占位符 2"/>
          <p:cNvSpPr>
            <a:spLocks noGrp="1"/>
          </p:cNvSpPr>
          <p:nvPr>
            <p:ph idx="1"/>
          </p:nvPr>
        </p:nvSpPr>
        <p:spPr/>
        <p:txBody>
          <a:bodyPr/>
          <a:lstStyle/>
          <a:p>
            <a:r>
              <a:rPr lang="zh-CN" altLang="en-US" dirty="0"/>
              <a:t>找一条肯定在凸包上的边（比如，投影在平面上的凸包的边）</a:t>
            </a:r>
            <a:r>
              <a:rPr lang="en-US" altLang="zh-CN" dirty="0" err="1"/>
              <a:t>p</a:t>
            </a:r>
            <a:r>
              <a:rPr lang="en-US" altLang="zh-CN" baseline="-25000" dirty="0" err="1"/>
              <a:t>a</a:t>
            </a:r>
            <a:r>
              <a:rPr lang="en-US" altLang="zh-CN" dirty="0" err="1"/>
              <a:t>p</a:t>
            </a:r>
            <a:r>
              <a:rPr lang="en-US" altLang="zh-CN" baseline="-25000" dirty="0" err="1"/>
              <a:t>b</a:t>
            </a:r>
            <a:endParaRPr lang="en-US" altLang="zh-CN" baseline="-25000" dirty="0"/>
          </a:p>
          <a:p>
            <a:r>
              <a:rPr lang="zh-CN" altLang="en-US" dirty="0"/>
              <a:t>想象一张纸紧贴</a:t>
            </a:r>
            <a:r>
              <a:rPr lang="en-US" altLang="zh-CN" dirty="0" err="1"/>
              <a:t>p</a:t>
            </a:r>
            <a:r>
              <a:rPr lang="en-US" altLang="zh-CN" baseline="-25000" dirty="0" err="1"/>
              <a:t>a</a:t>
            </a:r>
            <a:r>
              <a:rPr lang="en-US" altLang="zh-CN" dirty="0" err="1"/>
              <a:t>p</a:t>
            </a:r>
            <a:r>
              <a:rPr lang="en-US" altLang="zh-CN" baseline="-25000" dirty="0" err="1"/>
              <a:t>b</a:t>
            </a:r>
            <a:r>
              <a:rPr lang="zh-CN" altLang="en-US" dirty="0"/>
              <a:t>旋转，直到碰到一个点</a:t>
            </a:r>
            <a:r>
              <a:rPr lang="en-US" altLang="zh-CN" dirty="0"/>
              <a:t>…</a:t>
            </a:r>
          </a:p>
        </p:txBody>
      </p:sp>
      <p:pic>
        <p:nvPicPr>
          <p:cNvPr id="114689" name="Picture 1"/>
          <p:cNvPicPr>
            <a:picLocks noChangeAspect="1" noChangeArrowheads="1"/>
          </p:cNvPicPr>
          <p:nvPr/>
        </p:nvPicPr>
        <p:blipFill>
          <a:blip r:embed="rId2" cstate="print"/>
          <a:srcRect/>
          <a:stretch>
            <a:fillRect/>
          </a:stretch>
        </p:blipFill>
        <p:spPr bwMode="auto">
          <a:xfrm>
            <a:off x="2699792" y="3356992"/>
            <a:ext cx="3888432" cy="3154471"/>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332656"/>
            <a:ext cx="8956298" cy="5632311"/>
          </a:xfrm>
          <a:prstGeom prst="rect">
            <a:avLst/>
          </a:prstGeom>
          <a:noFill/>
        </p:spPr>
        <p:txBody>
          <a:bodyPr wrap="none" rtlCol="0">
            <a:spAutoFit/>
          </a:bodyPr>
          <a:lstStyle/>
          <a:p>
            <a:r>
              <a:rPr lang="en-US" altLang="zh-CN" sz="2000" dirty="0">
                <a:latin typeface="Courier New" pitchFamily="49" charset="0"/>
                <a:cs typeface="Courier New" pitchFamily="49" charset="0"/>
              </a:rPr>
              <a:t>void wrap(</a:t>
            </a:r>
            <a:r>
              <a:rPr lang="en-US" altLang="zh-CN" sz="2000" dirty="0" err="1">
                <a:latin typeface="Courier New" pitchFamily="49" charset="0"/>
                <a:cs typeface="Courier New" pitchFamily="49" charset="0"/>
              </a:rPr>
              <a:t>int</a:t>
            </a:r>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int</a:t>
            </a:r>
            <a:r>
              <a:rPr lang="en-US" altLang="zh-CN" sz="2000" dirty="0">
                <a:latin typeface="Courier New" pitchFamily="49" charset="0"/>
                <a:cs typeface="Courier New" pitchFamily="49" charset="0"/>
              </a:rPr>
              <a:t> j) {</a:t>
            </a:r>
          </a:p>
          <a:p>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int</a:t>
            </a:r>
            <a:r>
              <a:rPr lang="en-US" altLang="zh-CN" sz="2000" dirty="0">
                <a:latin typeface="Courier New" pitchFamily="49" charset="0"/>
                <a:cs typeface="Courier New" pitchFamily="49" charset="0"/>
              </a:rPr>
              <a:t> k =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l, m;</a:t>
            </a:r>
          </a:p>
          <a:p>
            <a:r>
              <a:rPr lang="en-US" altLang="zh-CN" sz="2000" dirty="0">
                <a:latin typeface="Courier New" pitchFamily="49" charset="0"/>
                <a:cs typeface="Courier New" pitchFamily="49" charset="0"/>
              </a:rPr>
              <a:t>  for(m = 0; m &lt; h; m++)</a:t>
            </a:r>
          </a:p>
          <a:p>
            <a:r>
              <a:rPr lang="en-US" altLang="zh-CN" sz="2000" dirty="0">
                <a:latin typeface="Courier New" pitchFamily="49" charset="0"/>
                <a:cs typeface="Courier New" pitchFamily="49" charset="0"/>
              </a:rPr>
              <a:t>    if ((I[m] ==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&amp;&amp; J[m] == j) || </a:t>
            </a:r>
          </a:p>
          <a:p>
            <a:r>
              <a:rPr lang="en-US" altLang="zh-CN" sz="2000" dirty="0">
                <a:latin typeface="Courier New" pitchFamily="49" charset="0"/>
                <a:cs typeface="Courier New" pitchFamily="49" charset="0"/>
              </a:rPr>
              <a:t>        (J[m] ==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&amp;&amp; K[m] == j) || </a:t>
            </a:r>
          </a:p>
          <a:p>
            <a:r>
              <a:rPr lang="en-US" altLang="zh-CN" sz="2000" dirty="0">
                <a:latin typeface="Courier New" pitchFamily="49" charset="0"/>
                <a:cs typeface="Courier New" pitchFamily="49" charset="0"/>
              </a:rPr>
              <a:t>        (K[m] ==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&amp;&amp; I[m] == j))</a:t>
            </a:r>
          </a:p>
          <a:p>
            <a:r>
              <a:rPr lang="en-US" altLang="zh-CN" sz="2000" dirty="0">
                <a:latin typeface="Courier New" pitchFamily="49" charset="0"/>
                <a:cs typeface="Courier New" pitchFamily="49" charset="0"/>
              </a:rPr>
              <a:t>      return;</a:t>
            </a:r>
          </a:p>
          <a:p>
            <a:r>
              <a:rPr lang="en-US" altLang="zh-CN" sz="2000" dirty="0">
                <a:latin typeface="Courier New" pitchFamily="49" charset="0"/>
                <a:cs typeface="Courier New" pitchFamily="49" charset="0"/>
              </a:rPr>
              <a:t>  for(l = 0; l &lt; n; l++)</a:t>
            </a:r>
          </a:p>
          <a:p>
            <a:r>
              <a:rPr lang="en-US" altLang="zh-CN" sz="2000" dirty="0">
                <a:latin typeface="Courier New" pitchFamily="49" charset="0"/>
                <a:cs typeface="Courier New" pitchFamily="49" charset="0"/>
              </a:rPr>
              <a:t>    if(k ==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 </a:t>
            </a:r>
            <a:r>
              <a:rPr lang="en-US" altLang="zh-CN" sz="2000" dirty="0" err="1">
                <a:latin typeface="Courier New" pitchFamily="49" charset="0"/>
                <a:cs typeface="Courier New" pitchFamily="49" charset="0"/>
              </a:rPr>
              <a:t>SignedVolume</a:t>
            </a:r>
            <a:r>
              <a:rPr lang="en-US" altLang="zh-CN" sz="2000" dirty="0">
                <a:latin typeface="Courier New" pitchFamily="49" charset="0"/>
                <a:cs typeface="Courier New" pitchFamily="49" charset="0"/>
              </a:rPr>
              <a:t>(P[</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],P[j],P[k],P[l]) &gt; EPS)</a:t>
            </a:r>
          </a:p>
          <a:p>
            <a:r>
              <a:rPr lang="en-US" altLang="zh-CN" sz="2000" dirty="0">
                <a:latin typeface="Courier New" pitchFamily="49" charset="0"/>
                <a:cs typeface="Courier New" pitchFamily="49" charset="0"/>
              </a:rPr>
              <a:t>      k = l;</a:t>
            </a:r>
          </a:p>
          <a:p>
            <a:r>
              <a:rPr lang="en-US" altLang="zh-CN" sz="2000" dirty="0">
                <a:latin typeface="Courier New" pitchFamily="49" charset="0"/>
                <a:cs typeface="Courier New" pitchFamily="49" charset="0"/>
              </a:rPr>
              <a:t>  if(k == j) return;</a:t>
            </a:r>
          </a:p>
          <a:p>
            <a:r>
              <a:rPr lang="en-US" altLang="zh-CN" sz="2000" dirty="0">
                <a:latin typeface="Courier New" pitchFamily="49" charset="0"/>
                <a:cs typeface="Courier New" pitchFamily="49" charset="0"/>
              </a:rPr>
              <a:t>  I[h] =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J[h] = j;  K[h] = k;</a:t>
            </a:r>
          </a:p>
          <a:p>
            <a:r>
              <a:rPr lang="en-US" altLang="zh-CN" sz="2000" dirty="0">
                <a:latin typeface="Courier New" pitchFamily="49" charset="0"/>
                <a:cs typeface="Courier New" pitchFamily="49" charset="0"/>
              </a:rPr>
              <a:t>  h++;</a:t>
            </a:r>
          </a:p>
          <a:p>
            <a:r>
              <a:rPr lang="en-US" altLang="zh-CN" sz="2000" dirty="0">
                <a:latin typeface="Courier New" pitchFamily="49" charset="0"/>
                <a:cs typeface="Courier New" pitchFamily="49" charset="0"/>
              </a:rPr>
              <a:t>  a += Area(P[</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P[j], P[k]);</a:t>
            </a:r>
          </a:p>
          <a:p>
            <a:r>
              <a:rPr lang="en-US" altLang="zh-CN" sz="2000" dirty="0">
                <a:latin typeface="Courier New" pitchFamily="49" charset="0"/>
                <a:cs typeface="Courier New" pitchFamily="49" charset="0"/>
              </a:rPr>
              <a:t>  v += Volume (P[0], P[</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P[j], P[k]);</a:t>
            </a:r>
          </a:p>
          <a:p>
            <a:r>
              <a:rPr lang="en-US" altLang="zh-CN" sz="2000" dirty="0">
                <a:latin typeface="Courier New" pitchFamily="49" charset="0"/>
                <a:cs typeface="Courier New" pitchFamily="49" charset="0"/>
              </a:rPr>
              <a:t>  </a:t>
            </a:r>
            <a:r>
              <a:rPr lang="en-US" altLang="zh-CN" sz="2000" dirty="0" err="1">
                <a:latin typeface="Courier New" pitchFamily="49" charset="0"/>
                <a:cs typeface="Courier New" pitchFamily="49" charset="0"/>
              </a:rPr>
              <a:t>printf</a:t>
            </a:r>
            <a:r>
              <a:rPr lang="en-US" altLang="zh-CN" sz="2000" dirty="0">
                <a:latin typeface="Courier New" pitchFamily="49" charset="0"/>
                <a:cs typeface="Courier New" pitchFamily="49" charset="0"/>
              </a:rPr>
              <a:t>(“Found face: %d %d %d\n", </a:t>
            </a:r>
            <a:r>
              <a:rPr lang="en-US" altLang="zh-CN" sz="2000" dirty="0" err="1">
                <a:latin typeface="Courier New" pitchFamily="49" charset="0"/>
                <a:cs typeface="Courier New" pitchFamily="49" charset="0"/>
              </a:rPr>
              <a:t>i</a:t>
            </a:r>
            <a:r>
              <a:rPr lang="en-US" altLang="zh-CN" sz="2000" dirty="0">
                <a:latin typeface="Courier New" pitchFamily="49" charset="0"/>
                <a:cs typeface="Courier New" pitchFamily="49" charset="0"/>
              </a:rPr>
              <a:t>, j, k);</a:t>
            </a:r>
          </a:p>
          <a:p>
            <a:r>
              <a:rPr lang="en-US" altLang="zh-CN" sz="2000" dirty="0">
                <a:latin typeface="Courier New" pitchFamily="49" charset="0"/>
                <a:cs typeface="Courier New" pitchFamily="49" charset="0"/>
              </a:rPr>
              <a:t>  wrap(</a:t>
            </a:r>
            <a:r>
              <a:rPr lang="en-US" altLang="zh-CN" sz="2000" dirty="0" err="1">
                <a:latin typeface="Courier New" pitchFamily="49" charset="0"/>
                <a:cs typeface="Courier New" pitchFamily="49" charset="0"/>
              </a:rPr>
              <a:t>k,j</a:t>
            </a:r>
            <a:r>
              <a:rPr lang="en-US" altLang="zh-CN" sz="2000" dirty="0">
                <a:latin typeface="Courier New" pitchFamily="49" charset="0"/>
                <a:cs typeface="Courier New" pitchFamily="49" charset="0"/>
              </a:rPr>
              <a:t>); wrap(</a:t>
            </a:r>
            <a:r>
              <a:rPr lang="en-US" altLang="zh-CN" sz="2000" dirty="0" err="1">
                <a:latin typeface="Courier New" pitchFamily="49" charset="0"/>
                <a:cs typeface="Courier New" pitchFamily="49" charset="0"/>
              </a:rPr>
              <a:t>i,k</a:t>
            </a:r>
            <a:r>
              <a:rPr lang="en-US" altLang="zh-CN" sz="2000" dirty="0">
                <a:latin typeface="Courier New" pitchFamily="49" charset="0"/>
                <a:cs typeface="Courier New" pitchFamily="49" charset="0"/>
              </a:rPr>
              <a:t>);</a:t>
            </a:r>
          </a:p>
          <a:p>
            <a:r>
              <a:rPr lang="en-US" altLang="zh-CN" sz="2000" dirty="0">
                <a:latin typeface="Courier New" pitchFamily="49" charset="0"/>
                <a:cs typeface="Courier New" pitchFamily="49" charset="0"/>
              </a:rPr>
              <a:t>}</a:t>
            </a:r>
          </a:p>
        </p:txBody>
      </p:sp>
      <p:sp>
        <p:nvSpPr>
          <p:cNvPr id="8" name="TextBox 7"/>
          <p:cNvSpPr txBox="1"/>
          <p:nvPr/>
        </p:nvSpPr>
        <p:spPr>
          <a:xfrm>
            <a:off x="5086503" y="980728"/>
            <a:ext cx="3877985" cy="369332"/>
          </a:xfrm>
          <a:prstGeom prst="rect">
            <a:avLst/>
          </a:prstGeom>
          <a:noFill/>
        </p:spPr>
        <p:txBody>
          <a:bodyPr wrap="none" rtlCol="0">
            <a:spAutoFit/>
          </a:bodyPr>
          <a:lstStyle/>
          <a:p>
            <a:r>
              <a:rPr lang="zh-CN" altLang="en-US" b="1" dirty="0"/>
              <a:t>如果以前已经得到过这个边，则退出</a:t>
            </a:r>
          </a:p>
        </p:txBody>
      </p:sp>
      <p:cxnSp>
        <p:nvCxnSpPr>
          <p:cNvPr id="10" name="直接连接符 9"/>
          <p:cNvCxnSpPr/>
          <p:nvPr/>
        </p:nvCxnSpPr>
        <p:spPr>
          <a:xfrm>
            <a:off x="0" y="980728"/>
            <a:ext cx="9144000"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0" y="2492896"/>
            <a:ext cx="9144000"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0" y="3717032"/>
            <a:ext cx="9144000" cy="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V="1">
            <a:off x="6372200" y="6237312"/>
            <a:ext cx="1944216" cy="216024"/>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6" name="直接箭头连接符 15"/>
          <p:cNvCxnSpPr/>
          <p:nvPr/>
        </p:nvCxnSpPr>
        <p:spPr>
          <a:xfrm rot="16200000" flipV="1">
            <a:off x="7020272" y="5013176"/>
            <a:ext cx="1224136" cy="1224136"/>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cxnSp>
        <p:nvCxnSpPr>
          <p:cNvPr id="18" name="直接箭头连接符 17"/>
          <p:cNvCxnSpPr/>
          <p:nvPr/>
        </p:nvCxnSpPr>
        <p:spPr>
          <a:xfrm rot="5400000">
            <a:off x="5976156" y="5409220"/>
            <a:ext cx="1440160" cy="648072"/>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19" name="TextBox 18"/>
          <p:cNvSpPr txBox="1"/>
          <p:nvPr/>
        </p:nvSpPr>
        <p:spPr>
          <a:xfrm>
            <a:off x="8388424" y="6165304"/>
            <a:ext cx="240772" cy="369332"/>
          </a:xfrm>
          <a:prstGeom prst="rect">
            <a:avLst/>
          </a:prstGeom>
          <a:noFill/>
        </p:spPr>
        <p:txBody>
          <a:bodyPr wrap="none" rtlCol="0">
            <a:spAutoFit/>
          </a:bodyPr>
          <a:lstStyle/>
          <a:p>
            <a:r>
              <a:rPr lang="en-US" altLang="zh-CN" b="1" dirty="0" err="1"/>
              <a:t>i</a:t>
            </a:r>
            <a:endParaRPr lang="zh-CN" altLang="en-US" b="1" dirty="0"/>
          </a:p>
        </p:txBody>
      </p:sp>
      <p:sp>
        <p:nvSpPr>
          <p:cNvPr id="20" name="TextBox 19"/>
          <p:cNvSpPr txBox="1"/>
          <p:nvPr/>
        </p:nvSpPr>
        <p:spPr>
          <a:xfrm>
            <a:off x="6997128" y="4653136"/>
            <a:ext cx="243978" cy="369332"/>
          </a:xfrm>
          <a:prstGeom prst="rect">
            <a:avLst/>
          </a:prstGeom>
          <a:noFill/>
        </p:spPr>
        <p:txBody>
          <a:bodyPr wrap="none" rtlCol="0">
            <a:spAutoFit/>
          </a:bodyPr>
          <a:lstStyle/>
          <a:p>
            <a:r>
              <a:rPr lang="en-US" altLang="zh-CN" b="1" dirty="0"/>
              <a:t>j</a:t>
            </a:r>
            <a:endParaRPr lang="zh-CN" altLang="en-US" b="1" dirty="0"/>
          </a:p>
        </p:txBody>
      </p:sp>
      <p:sp>
        <p:nvSpPr>
          <p:cNvPr id="21" name="TextBox 20"/>
          <p:cNvSpPr txBox="1"/>
          <p:nvPr/>
        </p:nvSpPr>
        <p:spPr>
          <a:xfrm>
            <a:off x="6083338" y="6453336"/>
            <a:ext cx="295274" cy="369332"/>
          </a:xfrm>
          <a:prstGeom prst="rect">
            <a:avLst/>
          </a:prstGeom>
          <a:noFill/>
        </p:spPr>
        <p:txBody>
          <a:bodyPr wrap="none" rtlCol="0">
            <a:spAutoFit/>
          </a:bodyPr>
          <a:lstStyle/>
          <a:p>
            <a:r>
              <a:rPr lang="en-US" altLang="zh-CN" b="1" dirty="0"/>
              <a:t>k</a:t>
            </a:r>
            <a:endParaRPr lang="zh-CN" altLang="en-US" b="1" dirty="0"/>
          </a:p>
        </p:txBody>
      </p:sp>
      <p:sp>
        <p:nvSpPr>
          <p:cNvPr id="22" name="TextBox 21"/>
          <p:cNvSpPr txBox="1"/>
          <p:nvPr/>
        </p:nvSpPr>
        <p:spPr>
          <a:xfrm>
            <a:off x="971600" y="5651956"/>
            <a:ext cx="4599336" cy="646331"/>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b="1" dirty="0">
                <a:latin typeface="Times New Roman" pitchFamily="18" charset="0"/>
                <a:cs typeface="Times New Roman" pitchFamily="18" charset="0"/>
              </a:rPr>
              <a:t>注意方向！每个有向边</a:t>
            </a:r>
            <a:r>
              <a:rPr lang="en-US" altLang="zh-CN" b="1" dirty="0" err="1">
                <a:latin typeface="Times New Roman" pitchFamily="18" charset="0"/>
                <a:cs typeface="Times New Roman" pitchFamily="18" charset="0"/>
              </a:rPr>
              <a:t>i</a:t>
            </a:r>
            <a:r>
              <a:rPr lang="en-US" altLang="zh-CN" b="1" dirty="0" err="1">
                <a:latin typeface="Times New Roman" pitchFamily="18" charset="0"/>
                <a:cs typeface="Times New Roman" pitchFamily="18" charset="0"/>
                <a:sym typeface="Wingdings" pitchFamily="2" charset="2"/>
              </a:rPr>
              <a:t>j</a:t>
            </a:r>
            <a:r>
              <a:rPr lang="zh-CN" altLang="en-US" b="1" dirty="0">
                <a:latin typeface="Times New Roman" pitchFamily="18" charset="0"/>
                <a:cs typeface="Times New Roman" pitchFamily="18" charset="0"/>
                <a:sym typeface="Wingdings" pitchFamily="2" charset="2"/>
              </a:rPr>
              <a:t>只属于一个面</a:t>
            </a:r>
            <a:endParaRPr lang="en-US" altLang="zh-CN" b="1" dirty="0">
              <a:latin typeface="Times New Roman" pitchFamily="18" charset="0"/>
              <a:cs typeface="Times New Roman" pitchFamily="18" charset="0"/>
              <a:sym typeface="Wingdings" pitchFamily="2" charset="2"/>
            </a:endParaRPr>
          </a:p>
          <a:p>
            <a:r>
              <a:rPr lang="en-US" altLang="zh-CN" b="1" dirty="0" err="1">
                <a:latin typeface="Times New Roman" pitchFamily="18" charset="0"/>
                <a:cs typeface="Times New Roman" pitchFamily="18" charset="0"/>
                <a:sym typeface="Wingdings" pitchFamily="2" charset="2"/>
              </a:rPr>
              <a:t>ijk</a:t>
            </a:r>
            <a:r>
              <a:rPr lang="zh-CN" altLang="en-US" b="1" dirty="0">
                <a:latin typeface="Times New Roman" pitchFamily="18" charset="0"/>
                <a:cs typeface="Times New Roman" pitchFamily="18" charset="0"/>
                <a:sym typeface="Wingdings" pitchFamily="2" charset="2"/>
              </a:rPr>
              <a:t>根据右手定则确定的法线指向多面体外部</a:t>
            </a:r>
            <a:endParaRPr lang="zh-CN" altLang="en-US" b="1" dirty="0">
              <a:latin typeface="Times New Roman" pitchFamily="18" charset="0"/>
              <a:cs typeface="Times New Roman"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增量法</a:t>
            </a:r>
          </a:p>
        </p:txBody>
      </p:sp>
      <p:sp>
        <p:nvSpPr>
          <p:cNvPr id="3" name="内容占位符 2"/>
          <p:cNvSpPr>
            <a:spLocks noGrp="1"/>
          </p:cNvSpPr>
          <p:nvPr>
            <p:ph idx="1"/>
          </p:nvPr>
        </p:nvSpPr>
        <p:spPr/>
        <p:txBody>
          <a:bodyPr>
            <a:normAutofit/>
          </a:bodyPr>
          <a:lstStyle/>
          <a:p>
            <a:pPr>
              <a:lnSpc>
                <a:spcPct val="90000"/>
              </a:lnSpc>
            </a:pPr>
            <a:r>
              <a:rPr lang="zh-CN" altLang="en-US" dirty="0">
                <a:ea typeface="宋体" pitchFamily="2" charset="-122"/>
              </a:rPr>
              <a:t>用一些点构造一个初始凸包</a:t>
            </a:r>
            <a:endParaRPr lang="en-US" altLang="zh-CN" dirty="0">
              <a:ea typeface="宋体" pitchFamily="2" charset="-122"/>
            </a:endParaRPr>
          </a:p>
          <a:p>
            <a:pPr lvl="1">
              <a:lnSpc>
                <a:spcPct val="90000"/>
              </a:lnSpc>
            </a:pPr>
            <a:r>
              <a:rPr lang="zh-CN" altLang="en-US" dirty="0">
                <a:ea typeface="宋体" pitchFamily="2" charset="-122"/>
              </a:rPr>
              <a:t>随机选两个点</a:t>
            </a:r>
            <a:r>
              <a:rPr lang="en-US" altLang="zh-CN" dirty="0">
                <a:ea typeface="宋体" pitchFamily="2" charset="-122"/>
              </a:rPr>
              <a:t>p</a:t>
            </a:r>
            <a:r>
              <a:rPr lang="en-US" altLang="zh-CN" baseline="-25000" dirty="0">
                <a:ea typeface="宋体" pitchFamily="2" charset="-122"/>
              </a:rPr>
              <a:t>1</a:t>
            </a:r>
            <a:r>
              <a:rPr lang="zh-CN" altLang="en-US" dirty="0">
                <a:ea typeface="宋体" pitchFamily="2" charset="-122"/>
              </a:rPr>
              <a:t>和</a:t>
            </a:r>
            <a:r>
              <a:rPr lang="en-US" altLang="zh-CN" dirty="0">
                <a:ea typeface="宋体" pitchFamily="2" charset="-122"/>
              </a:rPr>
              <a:t>p</a:t>
            </a:r>
            <a:r>
              <a:rPr lang="en-US" altLang="zh-CN" baseline="-25000" dirty="0">
                <a:ea typeface="宋体" pitchFamily="2" charset="-122"/>
              </a:rPr>
              <a:t>2</a:t>
            </a:r>
          </a:p>
          <a:p>
            <a:pPr lvl="1">
              <a:lnSpc>
                <a:spcPct val="90000"/>
              </a:lnSpc>
            </a:pPr>
            <a:r>
              <a:rPr lang="zh-CN" altLang="en-US" dirty="0">
                <a:ea typeface="宋体" pitchFamily="2" charset="-122"/>
              </a:rPr>
              <a:t>找一个不在直线</a:t>
            </a:r>
            <a:r>
              <a:rPr lang="en-US" altLang="zh-CN" dirty="0">
                <a:ea typeface="宋体" pitchFamily="2" charset="-122"/>
              </a:rPr>
              <a:t>p</a:t>
            </a:r>
            <a:r>
              <a:rPr lang="en-US" altLang="zh-CN" baseline="-25000" dirty="0">
                <a:ea typeface="宋体" pitchFamily="2" charset="-122"/>
              </a:rPr>
              <a:t>1</a:t>
            </a:r>
            <a:r>
              <a:rPr lang="en-US" altLang="zh-CN" dirty="0">
                <a:ea typeface="宋体" pitchFamily="2" charset="-122"/>
              </a:rPr>
              <a:t>p</a:t>
            </a:r>
            <a:r>
              <a:rPr lang="en-US" altLang="zh-CN" baseline="-25000" dirty="0">
                <a:ea typeface="宋体" pitchFamily="2" charset="-122"/>
              </a:rPr>
              <a:t>2</a:t>
            </a:r>
            <a:r>
              <a:rPr lang="zh-CN" altLang="en-US" dirty="0">
                <a:ea typeface="宋体" pitchFamily="2" charset="-122"/>
              </a:rPr>
              <a:t>上的点</a:t>
            </a:r>
            <a:r>
              <a:rPr lang="en-US" altLang="zh-CN" dirty="0">
                <a:ea typeface="宋体" pitchFamily="2" charset="-122"/>
              </a:rPr>
              <a:t>p</a:t>
            </a:r>
            <a:r>
              <a:rPr lang="en-US" altLang="zh-CN" baseline="-25000" dirty="0">
                <a:ea typeface="宋体" pitchFamily="2" charset="-122"/>
              </a:rPr>
              <a:t>3</a:t>
            </a:r>
          </a:p>
          <a:p>
            <a:pPr lvl="1">
              <a:lnSpc>
                <a:spcPct val="90000"/>
              </a:lnSpc>
            </a:pPr>
            <a:r>
              <a:rPr lang="zh-CN" altLang="en-US" dirty="0">
                <a:ea typeface="宋体" pitchFamily="2" charset="-122"/>
              </a:rPr>
              <a:t>找一个不在平面</a:t>
            </a:r>
            <a:r>
              <a:rPr lang="en-US" altLang="zh-CN" dirty="0">
                <a:ea typeface="宋体" pitchFamily="2" charset="-122"/>
              </a:rPr>
              <a:t>p</a:t>
            </a:r>
            <a:r>
              <a:rPr lang="en-US" altLang="zh-CN" baseline="-25000" dirty="0">
                <a:ea typeface="宋体" pitchFamily="2" charset="-122"/>
              </a:rPr>
              <a:t>1</a:t>
            </a:r>
            <a:r>
              <a:rPr lang="en-US" altLang="zh-CN" dirty="0">
                <a:ea typeface="宋体" pitchFamily="2" charset="-122"/>
              </a:rPr>
              <a:t>p</a:t>
            </a:r>
            <a:r>
              <a:rPr lang="en-US" altLang="zh-CN" baseline="-25000" dirty="0">
                <a:ea typeface="宋体" pitchFamily="2" charset="-122"/>
              </a:rPr>
              <a:t>2</a:t>
            </a:r>
            <a:r>
              <a:rPr lang="en-US" altLang="zh-CN" dirty="0">
                <a:ea typeface="宋体" pitchFamily="2" charset="-122"/>
              </a:rPr>
              <a:t>p</a:t>
            </a:r>
            <a:r>
              <a:rPr lang="en-US" altLang="zh-CN" baseline="-25000" dirty="0">
                <a:ea typeface="宋体" pitchFamily="2" charset="-122"/>
              </a:rPr>
              <a:t>3</a:t>
            </a:r>
            <a:r>
              <a:rPr lang="zh-CN" altLang="en-US" dirty="0">
                <a:ea typeface="宋体" pitchFamily="2" charset="-122"/>
              </a:rPr>
              <a:t>上的点</a:t>
            </a:r>
            <a:r>
              <a:rPr lang="en-US" altLang="zh-CN" dirty="0">
                <a:ea typeface="宋体" pitchFamily="2" charset="-122"/>
              </a:rPr>
              <a:t>p</a:t>
            </a:r>
            <a:r>
              <a:rPr lang="en-US" altLang="zh-CN" baseline="-25000" dirty="0">
                <a:ea typeface="宋体" pitchFamily="2" charset="-122"/>
              </a:rPr>
              <a:t>4</a:t>
            </a:r>
          </a:p>
          <a:p>
            <a:pPr>
              <a:lnSpc>
                <a:spcPct val="90000"/>
              </a:lnSpc>
            </a:pPr>
            <a:r>
              <a:rPr lang="zh-CN" altLang="en-US" dirty="0">
                <a:ea typeface="宋体" pitchFamily="2" charset="-122"/>
              </a:rPr>
              <a:t>依次加入其它点，更新凸包</a:t>
            </a:r>
            <a:endParaRPr lang="en-US" altLang="zh-CN" dirty="0">
              <a:ea typeface="宋体" pitchFamily="2" charset="-122"/>
            </a:endParaRPr>
          </a:p>
          <a:p>
            <a:pPr>
              <a:lnSpc>
                <a:spcPct val="90000"/>
              </a:lnSpc>
            </a:pPr>
            <a:r>
              <a:rPr lang="zh-CN" altLang="en-US" dirty="0">
                <a:ea typeface="宋体" pitchFamily="2" charset="-122"/>
              </a:rPr>
              <a:t>每次需要</a:t>
            </a:r>
            <a:r>
              <a:rPr lang="en-US" altLang="zh-CN" dirty="0">
                <a:ea typeface="宋体" pitchFamily="2" charset="-122"/>
              </a:rPr>
              <a:t>O(n)</a:t>
            </a:r>
            <a:r>
              <a:rPr lang="zh-CN" altLang="en-US" dirty="0">
                <a:ea typeface="宋体" pitchFamily="2" charset="-122"/>
              </a:rPr>
              <a:t>时间，总</a:t>
            </a:r>
            <a:r>
              <a:rPr lang="en-US" altLang="zh-CN" dirty="0">
                <a:ea typeface="宋体" pitchFamily="2" charset="-122"/>
              </a:rPr>
              <a:t>O(n</a:t>
            </a:r>
            <a:r>
              <a:rPr lang="en-US" altLang="zh-CN" baseline="30000" dirty="0">
                <a:ea typeface="宋体" pitchFamily="2" charset="-122"/>
              </a:rPr>
              <a:t>2</a:t>
            </a:r>
            <a:r>
              <a:rPr lang="en-US" altLang="zh-CN" dirty="0">
                <a:ea typeface="宋体" pitchFamily="2" charset="-122"/>
              </a:rPr>
              <a:t>)</a:t>
            </a:r>
          </a:p>
          <a:p>
            <a:pPr>
              <a:lnSpc>
                <a:spcPct val="90000"/>
              </a:lnSpc>
            </a:pPr>
            <a:r>
              <a:rPr lang="zh-CN" altLang="en-US" dirty="0">
                <a:ea typeface="宋体" pitchFamily="2" charset="-122"/>
              </a:rPr>
              <a:t>变种</a:t>
            </a:r>
            <a:endParaRPr lang="en-US" altLang="zh-CN" dirty="0">
              <a:ea typeface="宋体" pitchFamily="2" charset="-122"/>
            </a:endParaRPr>
          </a:p>
          <a:p>
            <a:pPr lvl="1">
              <a:lnSpc>
                <a:spcPct val="90000"/>
              </a:lnSpc>
            </a:pPr>
            <a:r>
              <a:rPr lang="zh-CN" altLang="en-US" dirty="0">
                <a:ea typeface="宋体" pitchFamily="2" charset="-122"/>
              </a:rPr>
              <a:t>随机增量，则期望运行时间为</a:t>
            </a:r>
            <a:r>
              <a:rPr lang="en-US" altLang="zh-CN" dirty="0">
                <a:ea typeface="宋体" pitchFamily="2" charset="-122"/>
              </a:rPr>
              <a:t>O(</a:t>
            </a:r>
            <a:r>
              <a:rPr lang="en-US" altLang="zh-CN" dirty="0" err="1">
                <a:ea typeface="宋体" pitchFamily="2" charset="-122"/>
              </a:rPr>
              <a:t>nlogn</a:t>
            </a:r>
            <a:r>
              <a:rPr lang="en-US" altLang="zh-CN" dirty="0">
                <a:ea typeface="宋体" pitchFamily="2" charset="-122"/>
              </a:rPr>
              <a:t>)</a:t>
            </a:r>
          </a:p>
          <a:p>
            <a:pPr lvl="1">
              <a:lnSpc>
                <a:spcPct val="90000"/>
              </a:lnSpc>
            </a:pPr>
            <a:r>
              <a:rPr lang="zh-CN" altLang="en-US" dirty="0">
                <a:ea typeface="宋体" pitchFamily="2" charset="-122"/>
              </a:rPr>
              <a:t>快速凸包，理论最坏</a:t>
            </a:r>
            <a:r>
              <a:rPr lang="en-US" altLang="zh-CN" dirty="0">
                <a:ea typeface="宋体" pitchFamily="2" charset="-122"/>
              </a:rPr>
              <a:t>O(n</a:t>
            </a:r>
            <a:r>
              <a:rPr lang="en-US" altLang="zh-CN" baseline="30000" dirty="0">
                <a:ea typeface="宋体" pitchFamily="2" charset="-122"/>
              </a:rPr>
              <a:t>2</a:t>
            </a:r>
            <a:r>
              <a:rPr lang="en-US" altLang="zh-CN" dirty="0">
                <a:ea typeface="宋体" pitchFamily="2" charset="-122"/>
              </a:rPr>
              <a:t>)</a:t>
            </a:r>
            <a:r>
              <a:rPr lang="zh-CN" altLang="en-US" dirty="0">
                <a:ea typeface="宋体" pitchFamily="2" charset="-122"/>
              </a:rPr>
              <a:t>，但实践效果不错</a:t>
            </a:r>
            <a:endParaRPr lang="en-US" altLang="zh-CN" dirty="0">
              <a:ea typeface="宋体"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往凸包里添加一个点</a:t>
            </a:r>
          </a:p>
        </p:txBody>
      </p:sp>
      <p:sp>
        <p:nvSpPr>
          <p:cNvPr id="3" name="内容占位符 2"/>
          <p:cNvSpPr>
            <a:spLocks noGrp="1"/>
          </p:cNvSpPr>
          <p:nvPr>
            <p:ph idx="1"/>
          </p:nvPr>
        </p:nvSpPr>
        <p:spPr/>
        <p:txBody>
          <a:bodyPr/>
          <a:lstStyle/>
          <a:p>
            <a:r>
              <a:rPr lang="zh-CN" altLang="en-US" dirty="0"/>
              <a:t>如果新点在当前凸包内（或边界上），则凸包不变；否则</a:t>
            </a:r>
            <a:r>
              <a:rPr lang="en-US" altLang="zh-CN" dirty="0"/>
              <a:t>…</a:t>
            </a:r>
          </a:p>
          <a:p>
            <a:r>
              <a:rPr lang="zh-CN" altLang="en-US" b="1" dirty="0">
                <a:solidFill>
                  <a:srgbClr val="FF0000"/>
                </a:solidFill>
              </a:rPr>
              <a:t>步骤一：</a:t>
            </a:r>
            <a:r>
              <a:rPr lang="zh-CN" altLang="en-US" dirty="0"/>
              <a:t>计算点</a:t>
            </a:r>
            <a:r>
              <a:rPr lang="en-US" altLang="zh-CN" dirty="0"/>
              <a:t>p</a:t>
            </a:r>
            <a:r>
              <a:rPr lang="en-US" altLang="zh-CN" baseline="-25000" dirty="0"/>
              <a:t>r</a:t>
            </a:r>
            <a:r>
              <a:rPr lang="zh-CN" altLang="en-US" dirty="0"/>
              <a:t>能“看到”的区域的边界，称为阴影边界</a:t>
            </a:r>
            <a:r>
              <a:rPr lang="en-US" altLang="zh-CN" dirty="0"/>
              <a:t>(shadow boundary)</a:t>
            </a:r>
            <a:r>
              <a:rPr lang="zh-CN" altLang="en-US" dirty="0"/>
              <a:t>，然后</a:t>
            </a:r>
            <a:r>
              <a:rPr lang="en-US" altLang="zh-CN" dirty="0"/>
              <a:t>…</a:t>
            </a:r>
            <a:endParaRPr lang="zh-CN" altLang="en-US" dirty="0"/>
          </a:p>
        </p:txBody>
      </p:sp>
      <p:pic>
        <p:nvPicPr>
          <p:cNvPr id="5" name="Picture 4" descr="Z:\6.838\239a.bmp"/>
          <p:cNvPicPr>
            <a:picLocks noChangeAspect="1" noChangeArrowheads="1"/>
          </p:cNvPicPr>
          <p:nvPr/>
        </p:nvPicPr>
        <p:blipFill>
          <a:blip r:embed="rId2" cstate="print"/>
          <a:srcRect l="5748" t="2879" r="59120" b="51060"/>
          <a:stretch>
            <a:fillRect/>
          </a:stretch>
        </p:blipFill>
        <p:spPr bwMode="auto">
          <a:xfrm>
            <a:off x="2133600" y="3741758"/>
            <a:ext cx="4495800" cy="2616200"/>
          </a:xfrm>
          <a:prstGeom prst="rect">
            <a:avLst/>
          </a:prstGeom>
          <a:noFill/>
        </p:spPr>
      </p:pic>
      <p:sp>
        <p:nvSpPr>
          <p:cNvPr id="6" name="Line 6"/>
          <p:cNvSpPr>
            <a:spLocks noChangeShapeType="1"/>
          </p:cNvSpPr>
          <p:nvPr/>
        </p:nvSpPr>
        <p:spPr bwMode="auto">
          <a:xfrm flipH="1" flipV="1">
            <a:off x="3200400" y="5334000"/>
            <a:ext cx="381000" cy="228600"/>
          </a:xfrm>
          <a:prstGeom prst="line">
            <a:avLst/>
          </a:prstGeom>
          <a:noFill/>
          <a:ln w="76200">
            <a:solidFill>
              <a:srgbClr val="FF0000"/>
            </a:solidFill>
            <a:round/>
            <a:headEnd/>
            <a:tailEnd/>
          </a:ln>
          <a:effectLst/>
        </p:spPr>
        <p:txBody>
          <a:bodyPr/>
          <a:lstStyle/>
          <a:p>
            <a:endParaRPr lang="zh-CN" altLang="en-US"/>
          </a:p>
        </p:txBody>
      </p:sp>
      <p:sp>
        <p:nvSpPr>
          <p:cNvPr id="7" name="Line 7"/>
          <p:cNvSpPr>
            <a:spLocks noChangeShapeType="1"/>
          </p:cNvSpPr>
          <p:nvPr/>
        </p:nvSpPr>
        <p:spPr bwMode="auto">
          <a:xfrm flipH="1" flipV="1">
            <a:off x="2895600" y="4953000"/>
            <a:ext cx="304800" cy="381000"/>
          </a:xfrm>
          <a:prstGeom prst="line">
            <a:avLst/>
          </a:prstGeom>
          <a:noFill/>
          <a:ln w="76200">
            <a:solidFill>
              <a:srgbClr val="FF0000"/>
            </a:solidFill>
            <a:round/>
            <a:headEnd/>
            <a:tailEnd/>
          </a:ln>
          <a:effectLst/>
        </p:spPr>
        <p:txBody>
          <a:bodyPr/>
          <a:lstStyle/>
          <a:p>
            <a:endParaRPr lang="zh-CN" altLang="en-US"/>
          </a:p>
        </p:txBody>
      </p:sp>
      <p:sp>
        <p:nvSpPr>
          <p:cNvPr id="8" name="Line 8"/>
          <p:cNvSpPr>
            <a:spLocks noChangeShapeType="1"/>
          </p:cNvSpPr>
          <p:nvPr/>
        </p:nvSpPr>
        <p:spPr bwMode="auto">
          <a:xfrm flipH="1">
            <a:off x="2895600" y="4114800"/>
            <a:ext cx="152400" cy="838200"/>
          </a:xfrm>
          <a:prstGeom prst="line">
            <a:avLst/>
          </a:prstGeom>
          <a:noFill/>
          <a:ln w="76200">
            <a:solidFill>
              <a:srgbClr val="FF0000"/>
            </a:solidFill>
            <a:round/>
            <a:headEnd/>
            <a:tailEnd/>
          </a:ln>
          <a:effectLst/>
        </p:spPr>
        <p:txBody>
          <a:bodyPr/>
          <a:lstStyle/>
          <a:p>
            <a:endParaRPr lang="zh-CN" altLang="en-US"/>
          </a:p>
        </p:txBody>
      </p:sp>
      <p:sp>
        <p:nvSpPr>
          <p:cNvPr id="9" name="Line 9"/>
          <p:cNvSpPr>
            <a:spLocks noChangeShapeType="1"/>
          </p:cNvSpPr>
          <p:nvPr/>
        </p:nvSpPr>
        <p:spPr bwMode="auto">
          <a:xfrm flipV="1">
            <a:off x="3048000" y="3962400"/>
            <a:ext cx="609600" cy="152400"/>
          </a:xfrm>
          <a:prstGeom prst="line">
            <a:avLst/>
          </a:prstGeom>
          <a:noFill/>
          <a:ln w="76200">
            <a:solidFill>
              <a:srgbClr val="FF0000"/>
            </a:solidFill>
            <a:round/>
            <a:headEnd/>
            <a:tailEnd/>
          </a:ln>
          <a:effectLst/>
        </p:spPr>
        <p:txBody>
          <a:bodyPr/>
          <a:lstStyle/>
          <a:p>
            <a:endParaRPr lang="zh-CN" altLang="en-US"/>
          </a:p>
        </p:txBody>
      </p:sp>
      <p:sp>
        <p:nvSpPr>
          <p:cNvPr id="10" name="Line 10"/>
          <p:cNvSpPr>
            <a:spLocks noChangeShapeType="1"/>
          </p:cNvSpPr>
          <p:nvPr/>
        </p:nvSpPr>
        <p:spPr bwMode="auto">
          <a:xfrm flipV="1">
            <a:off x="3581400" y="5257800"/>
            <a:ext cx="533400" cy="304800"/>
          </a:xfrm>
          <a:prstGeom prst="line">
            <a:avLst/>
          </a:prstGeom>
          <a:noFill/>
          <a:ln w="38100">
            <a:solidFill>
              <a:srgbClr val="FF0000"/>
            </a:solidFill>
            <a:round/>
            <a:headEnd/>
            <a:tailEnd/>
          </a:ln>
          <a:effectLst/>
        </p:spPr>
        <p:txBody>
          <a:bodyPr/>
          <a:lstStyle/>
          <a:p>
            <a:endParaRPr lang="zh-CN" altLang="en-US"/>
          </a:p>
        </p:txBody>
      </p:sp>
      <p:sp>
        <p:nvSpPr>
          <p:cNvPr id="11" name="Line 11"/>
          <p:cNvSpPr>
            <a:spLocks noChangeShapeType="1"/>
          </p:cNvSpPr>
          <p:nvPr/>
        </p:nvSpPr>
        <p:spPr bwMode="auto">
          <a:xfrm flipH="1">
            <a:off x="4071938" y="4953000"/>
            <a:ext cx="0" cy="152400"/>
          </a:xfrm>
          <a:prstGeom prst="line">
            <a:avLst/>
          </a:prstGeom>
          <a:noFill/>
          <a:ln w="38100">
            <a:solidFill>
              <a:srgbClr val="FF0000"/>
            </a:solidFill>
            <a:round/>
            <a:headEnd/>
            <a:tailEnd/>
          </a:ln>
          <a:effectLst/>
        </p:spPr>
        <p:txBody>
          <a:bodyPr/>
          <a:lstStyle/>
          <a:p>
            <a:endParaRPr lang="zh-CN" altLang="en-US"/>
          </a:p>
        </p:txBody>
      </p:sp>
      <p:sp>
        <p:nvSpPr>
          <p:cNvPr id="12" name="Line 12"/>
          <p:cNvSpPr>
            <a:spLocks noChangeShapeType="1"/>
          </p:cNvSpPr>
          <p:nvPr/>
        </p:nvSpPr>
        <p:spPr bwMode="auto">
          <a:xfrm flipV="1">
            <a:off x="4060825" y="4495800"/>
            <a:ext cx="0" cy="304800"/>
          </a:xfrm>
          <a:prstGeom prst="line">
            <a:avLst/>
          </a:prstGeom>
          <a:noFill/>
          <a:ln w="38100">
            <a:solidFill>
              <a:srgbClr val="FF0000"/>
            </a:solidFill>
            <a:round/>
            <a:headEnd/>
            <a:tailEnd/>
          </a:ln>
          <a:effectLst/>
        </p:spPr>
        <p:txBody>
          <a:bodyPr/>
          <a:lstStyle/>
          <a:p>
            <a:endParaRPr lang="zh-CN" altLang="en-US"/>
          </a:p>
        </p:txBody>
      </p:sp>
      <p:sp>
        <p:nvSpPr>
          <p:cNvPr id="13" name="Line 13"/>
          <p:cNvSpPr>
            <a:spLocks noChangeShapeType="1"/>
          </p:cNvSpPr>
          <p:nvPr/>
        </p:nvSpPr>
        <p:spPr bwMode="auto">
          <a:xfrm flipH="1" flipV="1">
            <a:off x="3886200" y="4267200"/>
            <a:ext cx="152400" cy="228600"/>
          </a:xfrm>
          <a:prstGeom prst="line">
            <a:avLst/>
          </a:prstGeom>
          <a:noFill/>
          <a:ln w="38100">
            <a:solidFill>
              <a:srgbClr val="FF0000"/>
            </a:solidFill>
            <a:round/>
            <a:headEnd/>
            <a:tailEnd/>
          </a:ln>
          <a:effectLst/>
        </p:spPr>
        <p:txBody>
          <a:bodyPr/>
          <a:lstStyle/>
          <a:p>
            <a:endParaRPr lang="zh-CN" altLang="en-US"/>
          </a:p>
        </p:txBody>
      </p:sp>
      <p:sp>
        <p:nvSpPr>
          <p:cNvPr id="14" name="Line 14"/>
          <p:cNvSpPr>
            <a:spLocks noChangeShapeType="1"/>
          </p:cNvSpPr>
          <p:nvPr/>
        </p:nvSpPr>
        <p:spPr bwMode="auto">
          <a:xfrm>
            <a:off x="3657600" y="3962400"/>
            <a:ext cx="152400" cy="228600"/>
          </a:xfrm>
          <a:prstGeom prst="line">
            <a:avLst/>
          </a:prstGeom>
          <a:noFill/>
          <a:ln w="38100">
            <a:solidFill>
              <a:srgbClr val="FF0000"/>
            </a:solidFill>
            <a:round/>
            <a:headEnd/>
            <a:tailEnd/>
          </a:ln>
          <a:effectLst/>
        </p:spPr>
        <p:txBody>
          <a:bodyPr/>
          <a:lstStyle/>
          <a:p>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5" descr="Z:\6.838\239a.bmp"/>
          <p:cNvPicPr>
            <a:picLocks noChangeAspect="1" noChangeArrowheads="1"/>
          </p:cNvPicPr>
          <p:nvPr/>
        </p:nvPicPr>
        <p:blipFill>
          <a:blip r:embed="rId2" cstate="print"/>
          <a:srcRect l="58243" t="44807" r="6424" b="6937"/>
          <a:stretch>
            <a:fillRect/>
          </a:stretch>
        </p:blipFill>
        <p:spPr bwMode="auto">
          <a:xfrm>
            <a:off x="4747866" y="3212976"/>
            <a:ext cx="4072606" cy="2467411"/>
          </a:xfrm>
          <a:prstGeom prst="rect">
            <a:avLst/>
          </a:prstGeom>
          <a:noFill/>
        </p:spPr>
      </p:pic>
      <p:sp>
        <p:nvSpPr>
          <p:cNvPr id="17411" name="Rectangle 3"/>
          <p:cNvSpPr>
            <a:spLocks noGrp="1" noChangeArrowheads="1"/>
          </p:cNvSpPr>
          <p:nvPr>
            <p:ph type="body" idx="1"/>
          </p:nvPr>
        </p:nvSpPr>
        <p:spPr>
          <a:xfrm>
            <a:off x="457200" y="116632"/>
            <a:ext cx="8229600" cy="4525963"/>
          </a:xfrm>
        </p:spPr>
        <p:txBody>
          <a:bodyPr/>
          <a:lstStyle/>
          <a:p>
            <a:r>
              <a:rPr lang="zh-CN" altLang="en-US" b="1" dirty="0">
                <a:solidFill>
                  <a:srgbClr val="FF0000"/>
                </a:solidFill>
                <a:ea typeface="宋体" pitchFamily="2" charset="-122"/>
              </a:rPr>
              <a:t>步骤二：</a:t>
            </a:r>
            <a:r>
              <a:rPr lang="zh-CN" altLang="en-US" dirty="0">
                <a:ea typeface="宋体" pitchFamily="2" charset="-122"/>
              </a:rPr>
              <a:t>然后删除可见的面，并且把阴影边界上的所有边都和</a:t>
            </a:r>
            <a:r>
              <a:rPr lang="en-US" altLang="zh-CN" dirty="0">
                <a:ea typeface="宋体" pitchFamily="2" charset="-122"/>
              </a:rPr>
              <a:t>p</a:t>
            </a:r>
            <a:r>
              <a:rPr lang="en-US" altLang="zh-CN" baseline="-25000" dirty="0">
                <a:ea typeface="宋体" pitchFamily="2" charset="-122"/>
              </a:rPr>
              <a:t>r</a:t>
            </a:r>
            <a:r>
              <a:rPr lang="zh-CN" altLang="en-US" dirty="0">
                <a:ea typeface="宋体" pitchFamily="2" charset="-122"/>
              </a:rPr>
              <a:t>连接起来，其中每条边和</a:t>
            </a:r>
            <a:r>
              <a:rPr lang="en-US" altLang="zh-CN" dirty="0">
                <a:ea typeface="宋体" pitchFamily="2" charset="-122"/>
              </a:rPr>
              <a:t>p</a:t>
            </a:r>
            <a:r>
              <a:rPr lang="en-US" altLang="zh-CN" baseline="-25000" dirty="0">
                <a:ea typeface="宋体" pitchFamily="2" charset="-122"/>
              </a:rPr>
              <a:t>r</a:t>
            </a:r>
            <a:r>
              <a:rPr lang="zh-CN" altLang="en-US" dirty="0">
                <a:ea typeface="宋体" pitchFamily="2" charset="-122"/>
              </a:rPr>
              <a:t>一起构成一个三角形。</a:t>
            </a:r>
            <a:endParaRPr lang="en-US" altLang="zh-CN" dirty="0">
              <a:ea typeface="宋体" pitchFamily="2" charset="-122"/>
            </a:endParaRPr>
          </a:p>
          <a:p>
            <a:r>
              <a:rPr lang="zh-CN" altLang="en-US" dirty="0">
                <a:ea typeface="宋体" pitchFamily="2" charset="-122"/>
              </a:rPr>
              <a:t>简单实现：首先遍历每个面，判断是否可见，然后遍历每条边，判断是否为边界（两侧恰好有一个可见面）</a:t>
            </a:r>
            <a:endParaRPr lang="en-US" altLang="zh-CN" dirty="0">
              <a:ea typeface="宋体" pitchFamily="2" charset="-122"/>
            </a:endParaRPr>
          </a:p>
        </p:txBody>
      </p:sp>
      <p:pic>
        <p:nvPicPr>
          <p:cNvPr id="17412" name="Picture 4" descr="Z:\6.838\239a.bmp"/>
          <p:cNvPicPr>
            <a:picLocks noChangeAspect="1" noChangeArrowheads="1"/>
          </p:cNvPicPr>
          <p:nvPr/>
        </p:nvPicPr>
        <p:blipFill>
          <a:blip r:embed="rId2" cstate="print"/>
          <a:srcRect l="5441" t="2452" r="58646" b="47752"/>
          <a:stretch>
            <a:fillRect/>
          </a:stretch>
        </p:blipFill>
        <p:spPr bwMode="auto">
          <a:xfrm>
            <a:off x="245308" y="3212977"/>
            <a:ext cx="4182676" cy="2575191"/>
          </a:xfrm>
          <a:prstGeom prst="rect">
            <a:avLst/>
          </a:prstGeom>
          <a:noFill/>
        </p:spPr>
      </p:pic>
      <p:sp>
        <p:nvSpPr>
          <p:cNvPr id="17414" name="Line 6"/>
          <p:cNvSpPr>
            <a:spLocks noChangeShapeType="1"/>
          </p:cNvSpPr>
          <p:nvPr/>
        </p:nvSpPr>
        <p:spPr bwMode="auto">
          <a:xfrm>
            <a:off x="4283968" y="4149080"/>
            <a:ext cx="636806" cy="0"/>
          </a:xfrm>
          <a:prstGeom prst="line">
            <a:avLst/>
          </a:prstGeom>
          <a:noFill/>
          <a:ln w="69850">
            <a:solidFill>
              <a:schemeClr val="tx1"/>
            </a:solidFill>
            <a:round/>
            <a:headEnd/>
            <a:tailEnd type="triangle" w="med" len="med"/>
          </a:ln>
          <a:effectLst/>
        </p:spPr>
        <p:txBody>
          <a:bodyPr/>
          <a:lstStyle/>
          <a:p>
            <a:endParaRPr lang="zh-CN" altLang="en-US"/>
          </a:p>
        </p:txBody>
      </p:sp>
      <p:sp>
        <p:nvSpPr>
          <p:cNvPr id="8" name="TextBox 7"/>
          <p:cNvSpPr txBox="1"/>
          <p:nvPr/>
        </p:nvSpPr>
        <p:spPr>
          <a:xfrm>
            <a:off x="1043608" y="5733256"/>
            <a:ext cx="7037504" cy="954107"/>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800" b="1" dirty="0"/>
              <a:t>是否可以更快的找到可见面和阴影边界？</a:t>
            </a:r>
            <a:r>
              <a:rPr lang="en-US" altLang="zh-CN" sz="2800" b="1" dirty="0"/>
              <a:t> </a:t>
            </a:r>
          </a:p>
          <a:p>
            <a:r>
              <a:rPr lang="zh-CN" altLang="en-US" sz="2800" b="1" dirty="0"/>
              <a:t>需要什么数据结构（如何表示凸多面体）？</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参考实现</a:t>
            </a:r>
          </a:p>
        </p:txBody>
      </p:sp>
      <p:sp>
        <p:nvSpPr>
          <p:cNvPr id="3" name="内容占位符 2"/>
          <p:cNvSpPr>
            <a:spLocks noGrp="1"/>
          </p:cNvSpPr>
          <p:nvPr>
            <p:ph idx="1"/>
          </p:nvPr>
        </p:nvSpPr>
        <p:spPr>
          <a:xfrm>
            <a:off x="457200" y="1600200"/>
            <a:ext cx="8229600" cy="5114948"/>
          </a:xfrm>
        </p:spPr>
        <p:txBody>
          <a:bodyPr/>
          <a:lstStyle/>
          <a:p>
            <a:r>
              <a:rPr lang="zh-CN" altLang="en-US" dirty="0"/>
              <a:t>用两个数组</a:t>
            </a:r>
            <a:r>
              <a:rPr lang="en-US" altLang="zh-CN" dirty="0"/>
              <a:t>P</a:t>
            </a:r>
            <a:r>
              <a:rPr lang="zh-CN" altLang="en-US" dirty="0"/>
              <a:t>和</a:t>
            </a:r>
            <a:r>
              <a:rPr lang="en-US" altLang="zh-CN" dirty="0"/>
              <a:t>F</a:t>
            </a:r>
            <a:r>
              <a:rPr lang="zh-CN" altLang="en-US" dirty="0"/>
              <a:t>保存点和面，其中面的</a:t>
            </a:r>
            <a:r>
              <a:rPr lang="en-US" altLang="zh-CN" dirty="0"/>
              <a:t>exist</a:t>
            </a:r>
            <a:r>
              <a:rPr lang="zh-CN" altLang="en-US" dirty="0"/>
              <a:t>标志表示是否被删除。</a:t>
            </a:r>
            <a:r>
              <a:rPr lang="en-US" altLang="zh-CN" dirty="0" err="1"/>
              <a:t>LeftFace</a:t>
            </a:r>
            <a:r>
              <a:rPr lang="en-US" altLang="zh-CN" dirty="0"/>
              <a:t>[a][b]</a:t>
            </a:r>
            <a:r>
              <a:rPr lang="zh-CN" altLang="en-US" dirty="0"/>
              <a:t>表示向量</a:t>
            </a:r>
            <a:r>
              <a:rPr lang="en-US" altLang="zh-CN" dirty="0" err="1"/>
              <a:t>a</a:t>
            </a:r>
            <a:r>
              <a:rPr lang="en-US" altLang="zh-CN" dirty="0" err="1">
                <a:sym typeface="Wingdings" pitchFamily="2" charset="2"/>
              </a:rPr>
              <a:t>b</a:t>
            </a:r>
            <a:r>
              <a:rPr lang="zh-CN" altLang="en-US" dirty="0">
                <a:sym typeface="Wingdings" pitchFamily="2" charset="2"/>
              </a:rPr>
              <a:t>左侧的面编号。</a:t>
            </a:r>
            <a:endParaRPr lang="en-US" altLang="zh-CN" dirty="0">
              <a:sym typeface="Wingdings" pitchFamily="2" charset="2"/>
            </a:endParaRPr>
          </a:p>
          <a:p>
            <a:r>
              <a:rPr lang="zh-CN" altLang="en-US" dirty="0">
                <a:sym typeface="Wingdings" pitchFamily="2" charset="2"/>
              </a:rPr>
              <a:t>点数为</a:t>
            </a:r>
            <a:r>
              <a:rPr lang="en-US" altLang="zh-CN" dirty="0">
                <a:sym typeface="Wingdings" pitchFamily="2" charset="2"/>
              </a:rPr>
              <a:t>n</a:t>
            </a:r>
            <a:r>
              <a:rPr lang="zh-CN" altLang="en-US" dirty="0">
                <a:sym typeface="Wingdings" pitchFamily="2" charset="2"/>
              </a:rPr>
              <a:t>，当前面数（包括被删除的）为</a:t>
            </a:r>
            <a:r>
              <a:rPr lang="en-US" altLang="zh-CN" dirty="0">
                <a:sym typeface="Wingdings" pitchFamily="2" charset="2"/>
              </a:rPr>
              <a:t>m</a:t>
            </a:r>
          </a:p>
          <a:p>
            <a:endParaRPr lang="en-US" altLang="zh-CN" dirty="0">
              <a:sym typeface="Wingdings" pitchFamily="2" charset="2"/>
            </a:endParaRPr>
          </a:p>
          <a:p>
            <a:endParaRPr lang="en-US" altLang="zh-CN" dirty="0">
              <a:sym typeface="Wingdings" pitchFamily="2" charset="2"/>
            </a:endParaRPr>
          </a:p>
          <a:p>
            <a:endParaRPr lang="en-US" altLang="zh-CN" dirty="0">
              <a:sym typeface="Wingdings" pitchFamily="2" charset="2"/>
            </a:endParaRPr>
          </a:p>
          <a:p>
            <a:endParaRPr lang="en-US" altLang="zh-CN" dirty="0">
              <a:sym typeface="Wingdings" pitchFamily="2" charset="2"/>
            </a:endParaRPr>
          </a:p>
          <a:p>
            <a:r>
              <a:rPr lang="zh-CN" altLang="en-US" dirty="0">
                <a:sym typeface="Wingdings" pitchFamily="2" charset="2"/>
              </a:rPr>
              <a:t>时空复杂度均为</a:t>
            </a:r>
            <a:r>
              <a:rPr lang="en-US" altLang="zh-CN" dirty="0">
                <a:sym typeface="Wingdings" pitchFamily="2" charset="2"/>
              </a:rPr>
              <a:t>O(n</a:t>
            </a:r>
            <a:r>
              <a:rPr lang="en-US" altLang="zh-CN" baseline="30000" dirty="0">
                <a:sym typeface="Wingdings" pitchFamily="2" charset="2"/>
              </a:rPr>
              <a:t>2</a:t>
            </a:r>
            <a:r>
              <a:rPr lang="en-US" altLang="zh-CN" dirty="0">
                <a:sym typeface="Wingdings" pitchFamily="2" charset="2"/>
              </a:rPr>
              <a:t>)</a:t>
            </a:r>
            <a:r>
              <a:rPr lang="zh-CN" altLang="en-US" dirty="0">
                <a:sym typeface="Wingdings" pitchFamily="2" charset="2"/>
              </a:rPr>
              <a:t>。</a:t>
            </a:r>
            <a:endParaRPr lang="zh-CN" altLang="en-US" dirty="0"/>
          </a:p>
        </p:txBody>
      </p:sp>
      <p:sp>
        <p:nvSpPr>
          <p:cNvPr id="4" name="TextBox 3"/>
          <p:cNvSpPr txBox="1"/>
          <p:nvPr/>
        </p:nvSpPr>
        <p:spPr>
          <a:xfrm>
            <a:off x="841429" y="3825437"/>
            <a:ext cx="7659661" cy="2246769"/>
          </a:xfrm>
          <a:prstGeom prst="rect">
            <a:avLst/>
          </a:prstGeom>
          <a:noFill/>
        </p:spPr>
        <p:txBody>
          <a:bodyPr wrap="none" rtlCol="0">
            <a:spAutoFit/>
          </a:bodyPr>
          <a:lstStyle/>
          <a:p>
            <a:r>
              <a:rPr lang="en-US" altLang="zh-CN" sz="2800" dirty="0"/>
              <a:t>void </a:t>
            </a:r>
            <a:r>
              <a:rPr lang="en-US" altLang="zh-CN" sz="2800" dirty="0" err="1"/>
              <a:t>AddFace</a:t>
            </a:r>
            <a:r>
              <a:rPr lang="en-US" altLang="zh-CN" sz="2800" dirty="0"/>
              <a:t>(</a:t>
            </a:r>
            <a:r>
              <a:rPr lang="en-US" altLang="zh-CN" sz="2800" dirty="0" err="1"/>
              <a:t>int</a:t>
            </a:r>
            <a:r>
              <a:rPr lang="en-US" altLang="zh-CN" sz="2800" dirty="0"/>
              <a:t> a, </a:t>
            </a:r>
            <a:r>
              <a:rPr lang="en-US" altLang="zh-CN" sz="2800" dirty="0" err="1"/>
              <a:t>int</a:t>
            </a:r>
            <a:r>
              <a:rPr lang="en-US" altLang="zh-CN" sz="2800" dirty="0"/>
              <a:t> b, </a:t>
            </a:r>
            <a:r>
              <a:rPr lang="en-US" altLang="zh-CN" sz="2800" dirty="0" err="1"/>
              <a:t>int</a:t>
            </a:r>
            <a:r>
              <a:rPr lang="en-US" altLang="zh-CN" sz="2800" dirty="0"/>
              <a:t> c) {</a:t>
            </a:r>
          </a:p>
          <a:p>
            <a:r>
              <a:rPr lang="en-US" altLang="zh-CN" sz="2800" dirty="0"/>
              <a:t>  Face f; </a:t>
            </a:r>
            <a:r>
              <a:rPr lang="en-US" altLang="zh-CN" sz="2800" dirty="0" err="1"/>
              <a:t>f.a</a:t>
            </a:r>
            <a:r>
              <a:rPr lang="en-US" altLang="zh-CN" sz="2800" dirty="0"/>
              <a:t> = a; </a:t>
            </a:r>
            <a:r>
              <a:rPr lang="en-US" altLang="zh-CN" sz="2800" dirty="0" err="1"/>
              <a:t>f.b</a:t>
            </a:r>
            <a:r>
              <a:rPr lang="en-US" altLang="zh-CN" sz="2800" dirty="0"/>
              <a:t> = b; </a:t>
            </a:r>
            <a:r>
              <a:rPr lang="en-US" altLang="zh-CN" sz="2800" dirty="0" err="1"/>
              <a:t>f.c</a:t>
            </a:r>
            <a:r>
              <a:rPr lang="en-US" altLang="zh-CN" sz="2800" dirty="0"/>
              <a:t> = c; </a:t>
            </a:r>
            <a:r>
              <a:rPr lang="en-US" altLang="zh-CN" sz="2800" dirty="0" err="1"/>
              <a:t>f.exist</a:t>
            </a:r>
            <a:r>
              <a:rPr lang="en-US" altLang="zh-CN" sz="2800" dirty="0"/>
              <a:t> = 1;</a:t>
            </a:r>
            <a:endParaRPr lang="zh-CN" altLang="en-US" sz="2800" dirty="0"/>
          </a:p>
          <a:p>
            <a:r>
              <a:rPr lang="en-US" altLang="zh-CN" sz="2800" dirty="0"/>
              <a:t>  </a:t>
            </a:r>
            <a:r>
              <a:rPr lang="en-US" altLang="zh-CN" sz="2800" dirty="0" err="1"/>
              <a:t>LeftFace</a:t>
            </a:r>
            <a:r>
              <a:rPr lang="en-US" altLang="zh-CN" sz="2800" dirty="0"/>
              <a:t>[p][b] = </a:t>
            </a:r>
            <a:r>
              <a:rPr lang="en-US" altLang="zh-CN" sz="2800" dirty="0" err="1"/>
              <a:t>LeftFace</a:t>
            </a:r>
            <a:r>
              <a:rPr lang="en-US" altLang="zh-CN" sz="2800" dirty="0"/>
              <a:t>[a][p] = </a:t>
            </a:r>
            <a:r>
              <a:rPr lang="en-US" altLang="zh-CN" sz="2800" dirty="0" err="1"/>
              <a:t>LeftFace</a:t>
            </a:r>
            <a:r>
              <a:rPr lang="en-US" altLang="zh-CN" sz="2800" dirty="0"/>
              <a:t>[b][a]=m;</a:t>
            </a:r>
            <a:endParaRPr lang="zh-CN" altLang="en-US" sz="2800" dirty="0"/>
          </a:p>
          <a:p>
            <a:r>
              <a:rPr lang="en-US" altLang="zh-CN" sz="2800" dirty="0"/>
              <a:t>  F[m++] = f;</a:t>
            </a:r>
          </a:p>
          <a:p>
            <a:r>
              <a:rPr lang="en-US" altLang="zh-CN" sz="2800" dirty="0"/>
              <a:t>}</a:t>
            </a:r>
            <a:endParaRPr lang="zh-CN" altLang="en-US" sz="2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14876" y="976387"/>
            <a:ext cx="4165243" cy="5262979"/>
          </a:xfrm>
          <a:prstGeom prst="rect">
            <a:avLst/>
          </a:prstGeom>
          <a:noFill/>
        </p:spPr>
        <p:txBody>
          <a:bodyPr wrap="none" rtlCol="0">
            <a:spAutoFit/>
          </a:bodyPr>
          <a:lstStyle/>
          <a:p>
            <a:r>
              <a:rPr lang="en-US" altLang="zh-CN" sz="2400" dirty="0"/>
              <a:t>void ConvexHull3D() {</a:t>
            </a:r>
          </a:p>
          <a:p>
            <a:r>
              <a:rPr lang="en-US" altLang="zh-CN" sz="2400" dirty="0"/>
              <a:t>  // </a:t>
            </a:r>
            <a:r>
              <a:rPr lang="zh-CN" altLang="en-US" sz="2400" dirty="0"/>
              <a:t>初始化四面体</a:t>
            </a:r>
            <a:endParaRPr lang="en-US" altLang="zh-CN" sz="2400" dirty="0"/>
          </a:p>
          <a:p>
            <a:r>
              <a:rPr lang="en-US" altLang="zh-CN" sz="2400" dirty="0"/>
              <a:t>  ...</a:t>
            </a:r>
          </a:p>
          <a:p>
            <a:endParaRPr lang="en-US" altLang="zh-CN" sz="2400" dirty="0"/>
          </a:p>
          <a:p>
            <a:r>
              <a:rPr lang="en-US" altLang="zh-CN" sz="2400" dirty="0"/>
              <a:t>  // </a:t>
            </a:r>
            <a:r>
              <a:rPr lang="zh-CN" altLang="en-US" sz="2400" dirty="0"/>
              <a:t>增量过程</a:t>
            </a:r>
            <a:endParaRPr lang="en-US" altLang="zh-CN" sz="2400" dirty="0"/>
          </a:p>
          <a:p>
            <a:r>
              <a:rPr lang="en-US" altLang="zh-CN" sz="2400" dirty="0"/>
              <a:t>  for(</a:t>
            </a:r>
            <a:r>
              <a:rPr lang="en-US" altLang="zh-CN" sz="2400" dirty="0" err="1"/>
              <a:t>int</a:t>
            </a:r>
            <a:r>
              <a:rPr lang="en-US" altLang="zh-CN" sz="2400" dirty="0"/>
              <a:t> p = 4; p &lt; n; p++) {</a:t>
            </a:r>
            <a:endParaRPr lang="zh-CN" altLang="en-US" sz="2400" dirty="0"/>
          </a:p>
          <a:p>
            <a:r>
              <a:rPr lang="zh-CN" altLang="en-US" sz="2400" dirty="0"/>
              <a:t>      </a:t>
            </a:r>
            <a:r>
              <a:rPr lang="en-US" altLang="zh-CN" sz="2400" dirty="0"/>
              <a:t>for(</a:t>
            </a:r>
            <a:r>
              <a:rPr lang="en-US" altLang="zh-CN" sz="2400" dirty="0" err="1"/>
              <a:t>int</a:t>
            </a:r>
            <a:r>
              <a:rPr lang="en-US" altLang="zh-CN" sz="2400" dirty="0"/>
              <a:t> f = 0; f &lt; m; f++)</a:t>
            </a:r>
            <a:endParaRPr lang="zh-CN" altLang="en-US" sz="2400" dirty="0"/>
          </a:p>
          <a:p>
            <a:r>
              <a:rPr lang="zh-CN" altLang="en-US" sz="2400" dirty="0"/>
              <a:t>        </a:t>
            </a:r>
            <a:r>
              <a:rPr lang="en-US" altLang="zh-CN" sz="2400" dirty="0"/>
              <a:t>if(Face[f].exist &amp;&amp; </a:t>
            </a:r>
          </a:p>
          <a:p>
            <a:r>
              <a:rPr lang="en-US" altLang="zh-CN" sz="2400" dirty="0"/>
              <a:t>            visible(Point[p],Face[f])) {</a:t>
            </a:r>
            <a:endParaRPr lang="zh-CN" altLang="en-US" sz="2400" dirty="0"/>
          </a:p>
          <a:p>
            <a:r>
              <a:rPr lang="zh-CN" altLang="en-US" sz="2400" dirty="0"/>
              <a:t>          </a:t>
            </a:r>
            <a:r>
              <a:rPr lang="en-US" altLang="zh-CN" sz="2400" dirty="0" err="1"/>
              <a:t>dfs</a:t>
            </a:r>
            <a:r>
              <a:rPr lang="en-US" altLang="zh-CN" sz="2400" dirty="0"/>
              <a:t>(</a:t>
            </a:r>
            <a:r>
              <a:rPr lang="en-US" altLang="zh-CN" sz="2400" dirty="0" err="1"/>
              <a:t>p,f</a:t>
            </a:r>
            <a:r>
              <a:rPr lang="en-US" altLang="zh-CN" sz="2400" dirty="0"/>
              <a:t>);</a:t>
            </a:r>
            <a:endParaRPr lang="zh-CN" altLang="en-US" sz="2400" dirty="0"/>
          </a:p>
          <a:p>
            <a:r>
              <a:rPr lang="zh-CN" altLang="en-US" sz="2400" dirty="0"/>
              <a:t>          </a:t>
            </a:r>
            <a:r>
              <a:rPr lang="en-US" altLang="zh-CN" sz="2400" dirty="0"/>
              <a:t>break;    </a:t>
            </a:r>
            <a:endParaRPr lang="zh-CN" altLang="en-US" sz="2400" dirty="0"/>
          </a:p>
          <a:p>
            <a:r>
              <a:rPr lang="zh-CN" altLang="en-US" sz="2400" dirty="0"/>
              <a:t>        </a:t>
            </a:r>
            <a:r>
              <a:rPr lang="en-US" altLang="zh-CN" sz="2400" dirty="0"/>
              <a:t>}</a:t>
            </a:r>
            <a:endParaRPr lang="zh-CN" altLang="en-US" sz="2400" dirty="0"/>
          </a:p>
          <a:p>
            <a:r>
              <a:rPr lang="zh-CN" altLang="en-US" sz="2400" dirty="0"/>
              <a:t>    </a:t>
            </a:r>
            <a:r>
              <a:rPr lang="en-US" altLang="zh-CN" sz="2400" dirty="0"/>
              <a:t>}</a:t>
            </a:r>
          </a:p>
          <a:p>
            <a:r>
              <a:rPr lang="en-US" altLang="zh-CN" sz="2400" dirty="0"/>
              <a:t>}</a:t>
            </a:r>
            <a:endParaRPr lang="zh-CN" altLang="en-US" sz="2400" dirty="0"/>
          </a:p>
        </p:txBody>
      </p:sp>
      <p:sp>
        <p:nvSpPr>
          <p:cNvPr id="5" name="TextBox 4"/>
          <p:cNvSpPr txBox="1"/>
          <p:nvPr/>
        </p:nvSpPr>
        <p:spPr>
          <a:xfrm>
            <a:off x="214282" y="142852"/>
            <a:ext cx="3981026" cy="6370975"/>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dirty="0"/>
              <a:t>// </a:t>
            </a:r>
            <a:r>
              <a:rPr lang="zh-CN" altLang="en-US" sz="2400" dirty="0"/>
              <a:t>处理向量</a:t>
            </a:r>
            <a:r>
              <a:rPr lang="en-US" altLang="zh-CN" sz="2400" dirty="0" err="1"/>
              <a:t>a</a:t>
            </a:r>
            <a:r>
              <a:rPr lang="en-US" altLang="zh-CN" sz="2400" dirty="0" err="1">
                <a:sym typeface="Wingdings" pitchFamily="2" charset="2"/>
              </a:rPr>
              <a:t>b</a:t>
            </a:r>
            <a:r>
              <a:rPr lang="zh-CN" altLang="en-US" sz="2400" dirty="0">
                <a:sym typeface="Wingdings" pitchFamily="2" charset="2"/>
              </a:rPr>
              <a:t>左侧的面</a:t>
            </a:r>
            <a:endParaRPr lang="en-US" altLang="zh-CN" sz="2400" dirty="0"/>
          </a:p>
          <a:p>
            <a:r>
              <a:rPr lang="en-US" altLang="zh-CN" sz="2400" dirty="0"/>
              <a:t>void dfs2(</a:t>
            </a:r>
            <a:r>
              <a:rPr lang="en-US" altLang="zh-CN" sz="2400" dirty="0" err="1"/>
              <a:t>int</a:t>
            </a:r>
            <a:r>
              <a:rPr lang="en-US" altLang="zh-CN" sz="2400" dirty="0"/>
              <a:t> p, </a:t>
            </a:r>
            <a:r>
              <a:rPr lang="en-US" altLang="zh-CN" sz="2400" dirty="0" err="1"/>
              <a:t>int</a:t>
            </a:r>
            <a:r>
              <a:rPr lang="en-US" altLang="zh-CN" sz="2400" dirty="0"/>
              <a:t> a, </a:t>
            </a:r>
            <a:r>
              <a:rPr lang="en-US" altLang="zh-CN" sz="2400" dirty="0" err="1"/>
              <a:t>int</a:t>
            </a:r>
            <a:r>
              <a:rPr lang="en-US" altLang="zh-CN" sz="2400" dirty="0"/>
              <a:t> b)</a:t>
            </a:r>
            <a:endParaRPr lang="zh-CN" altLang="en-US" sz="2400" dirty="0"/>
          </a:p>
          <a:p>
            <a:r>
              <a:rPr lang="en-US" altLang="zh-CN" sz="2400" dirty="0"/>
              <a:t>{</a:t>
            </a:r>
            <a:endParaRPr lang="zh-CN" altLang="en-US" sz="2400" dirty="0"/>
          </a:p>
          <a:p>
            <a:r>
              <a:rPr lang="zh-CN" altLang="en-US" sz="2400" dirty="0"/>
              <a:t>    </a:t>
            </a:r>
            <a:r>
              <a:rPr lang="en-US" altLang="zh-CN" sz="2400" dirty="0" err="1"/>
              <a:t>int</a:t>
            </a:r>
            <a:r>
              <a:rPr lang="en-US" altLang="zh-CN" sz="2400" dirty="0"/>
              <a:t> f = </a:t>
            </a:r>
            <a:r>
              <a:rPr lang="en-US" altLang="zh-CN" sz="2400" dirty="0" err="1"/>
              <a:t>LeftFace</a:t>
            </a:r>
            <a:r>
              <a:rPr lang="en-US" altLang="zh-CN" sz="2400" dirty="0"/>
              <a:t>[a][b];</a:t>
            </a:r>
            <a:endParaRPr lang="zh-CN" altLang="en-US" sz="2400" dirty="0"/>
          </a:p>
          <a:p>
            <a:r>
              <a:rPr lang="zh-CN" altLang="en-US" sz="2400" dirty="0"/>
              <a:t>    </a:t>
            </a:r>
            <a:r>
              <a:rPr lang="en-US" altLang="zh-CN" sz="2400" dirty="0"/>
              <a:t>if(F[f].exist) {</a:t>
            </a:r>
            <a:endParaRPr lang="zh-CN" altLang="en-US" sz="2400" dirty="0"/>
          </a:p>
          <a:p>
            <a:r>
              <a:rPr lang="zh-CN" altLang="en-US" sz="2400" dirty="0"/>
              <a:t>      </a:t>
            </a:r>
            <a:r>
              <a:rPr lang="en-US" altLang="zh-CN" sz="2400" dirty="0"/>
              <a:t>if(visible(P[p],F[f])) </a:t>
            </a:r>
            <a:r>
              <a:rPr lang="en-US" altLang="zh-CN" sz="2400" dirty="0" err="1"/>
              <a:t>dfs</a:t>
            </a:r>
            <a:r>
              <a:rPr lang="en-US" altLang="zh-CN" sz="2400" dirty="0"/>
              <a:t>(</a:t>
            </a:r>
            <a:r>
              <a:rPr lang="en-US" altLang="zh-CN" sz="2400" dirty="0" err="1"/>
              <a:t>p,f</a:t>
            </a:r>
            <a:r>
              <a:rPr lang="en-US" altLang="zh-CN" sz="2400" dirty="0"/>
              <a:t>);</a:t>
            </a:r>
            <a:endParaRPr lang="zh-CN" altLang="en-US" sz="2400" dirty="0"/>
          </a:p>
          <a:p>
            <a:r>
              <a:rPr lang="zh-CN" altLang="en-US" sz="2400" dirty="0"/>
              <a:t>      </a:t>
            </a:r>
            <a:r>
              <a:rPr lang="en-US" altLang="zh-CN" sz="2400" dirty="0"/>
              <a:t>else </a:t>
            </a:r>
            <a:r>
              <a:rPr lang="en-US" altLang="zh-CN" sz="2400" dirty="0" err="1"/>
              <a:t>AddFace</a:t>
            </a:r>
            <a:r>
              <a:rPr lang="en-US" altLang="zh-CN" sz="2400" dirty="0"/>
              <a:t>(b, a, p);</a:t>
            </a:r>
            <a:endParaRPr lang="zh-CN" altLang="en-US" sz="2400" dirty="0"/>
          </a:p>
          <a:p>
            <a:r>
              <a:rPr lang="en-US" altLang="zh-CN" sz="2400" dirty="0"/>
              <a:t>}</a:t>
            </a:r>
            <a:endParaRPr lang="zh-CN" altLang="en-US" sz="2400" dirty="0"/>
          </a:p>
          <a:p>
            <a:endParaRPr lang="en-US" altLang="zh-CN" sz="2400" dirty="0"/>
          </a:p>
          <a:p>
            <a:r>
              <a:rPr lang="en-US" altLang="zh-CN" sz="2400" dirty="0"/>
              <a:t>// </a:t>
            </a:r>
            <a:r>
              <a:rPr lang="zh-CN" altLang="en-US" sz="2400" dirty="0"/>
              <a:t>已知点</a:t>
            </a:r>
            <a:r>
              <a:rPr lang="en-US" altLang="zh-CN" sz="2400" dirty="0"/>
              <a:t>p</a:t>
            </a:r>
            <a:r>
              <a:rPr lang="zh-CN" altLang="en-US" sz="2400" dirty="0"/>
              <a:t>可以看见面</a:t>
            </a:r>
            <a:r>
              <a:rPr lang="en-US" altLang="zh-CN" sz="2400" dirty="0"/>
              <a:t>f</a:t>
            </a:r>
            <a:endParaRPr lang="zh-CN" altLang="en-US" sz="2400" dirty="0"/>
          </a:p>
          <a:p>
            <a:r>
              <a:rPr lang="en-US" altLang="zh-CN" sz="2400" dirty="0"/>
              <a:t>void </a:t>
            </a:r>
            <a:r>
              <a:rPr lang="en-US" altLang="zh-CN" sz="2400" dirty="0" err="1"/>
              <a:t>dfs</a:t>
            </a:r>
            <a:r>
              <a:rPr lang="en-US" altLang="zh-CN" sz="2400" dirty="0"/>
              <a:t>(</a:t>
            </a:r>
            <a:r>
              <a:rPr lang="en-US" altLang="zh-CN" sz="2400" dirty="0" err="1"/>
              <a:t>int</a:t>
            </a:r>
            <a:r>
              <a:rPr lang="en-US" altLang="zh-CN" sz="2400" dirty="0"/>
              <a:t> </a:t>
            </a:r>
            <a:r>
              <a:rPr lang="en-US" altLang="zh-CN" sz="2400" dirty="0" err="1"/>
              <a:t>p,int</a:t>
            </a:r>
            <a:r>
              <a:rPr lang="en-US" altLang="zh-CN" sz="2400" dirty="0"/>
              <a:t> f)</a:t>
            </a:r>
            <a:endParaRPr lang="zh-CN" altLang="en-US" sz="2400" dirty="0"/>
          </a:p>
          <a:p>
            <a:r>
              <a:rPr lang="en-US" altLang="zh-CN" sz="2400" dirty="0"/>
              <a:t>{</a:t>
            </a:r>
            <a:endParaRPr lang="zh-CN" altLang="en-US" sz="2400" dirty="0"/>
          </a:p>
          <a:p>
            <a:r>
              <a:rPr lang="zh-CN" altLang="en-US" sz="2400" dirty="0"/>
              <a:t>    </a:t>
            </a:r>
            <a:r>
              <a:rPr lang="en-US" altLang="zh-CN" sz="2400" dirty="0"/>
              <a:t>F[f].exist = 0; // </a:t>
            </a:r>
            <a:r>
              <a:rPr lang="zh-CN" altLang="en-US" sz="2400" dirty="0"/>
              <a:t>删除可见面</a:t>
            </a:r>
          </a:p>
          <a:p>
            <a:r>
              <a:rPr lang="zh-CN" altLang="en-US" sz="2400" dirty="0"/>
              <a:t>    </a:t>
            </a:r>
            <a:r>
              <a:rPr lang="en-US" altLang="zh-CN" sz="2400" dirty="0"/>
              <a:t>dfs2(</a:t>
            </a:r>
            <a:r>
              <a:rPr lang="en-US" altLang="zh-CN" sz="2400" dirty="0" err="1"/>
              <a:t>p,F</a:t>
            </a:r>
            <a:r>
              <a:rPr lang="en-US" altLang="zh-CN" sz="2400" dirty="0"/>
              <a:t>[f].</a:t>
            </a:r>
            <a:r>
              <a:rPr lang="en-US" altLang="zh-CN" sz="2400" dirty="0" err="1"/>
              <a:t>b,F</a:t>
            </a:r>
            <a:r>
              <a:rPr lang="en-US" altLang="zh-CN" sz="2400" dirty="0"/>
              <a:t>[f].a);</a:t>
            </a:r>
            <a:endParaRPr lang="zh-CN" altLang="en-US" sz="2400" dirty="0"/>
          </a:p>
          <a:p>
            <a:r>
              <a:rPr lang="zh-CN" altLang="en-US" sz="2400" dirty="0"/>
              <a:t>    </a:t>
            </a:r>
            <a:r>
              <a:rPr lang="en-US" altLang="zh-CN" sz="2400" dirty="0"/>
              <a:t>dfs2(</a:t>
            </a:r>
            <a:r>
              <a:rPr lang="en-US" altLang="zh-CN" sz="2400" dirty="0" err="1"/>
              <a:t>p,F</a:t>
            </a:r>
            <a:r>
              <a:rPr lang="en-US" altLang="zh-CN" sz="2400" dirty="0"/>
              <a:t>[f].</a:t>
            </a:r>
            <a:r>
              <a:rPr lang="en-US" altLang="zh-CN" sz="2400" dirty="0" err="1"/>
              <a:t>c,F</a:t>
            </a:r>
            <a:r>
              <a:rPr lang="en-US" altLang="zh-CN" sz="2400" dirty="0"/>
              <a:t>[f].b);</a:t>
            </a:r>
            <a:endParaRPr lang="zh-CN" altLang="en-US" sz="2400" dirty="0"/>
          </a:p>
          <a:p>
            <a:r>
              <a:rPr lang="zh-CN" altLang="en-US" sz="2400" dirty="0"/>
              <a:t>    </a:t>
            </a:r>
            <a:r>
              <a:rPr lang="en-US" altLang="zh-CN" sz="2400" dirty="0"/>
              <a:t>dfs2(</a:t>
            </a:r>
            <a:r>
              <a:rPr lang="en-US" altLang="zh-CN" sz="2400" dirty="0" err="1"/>
              <a:t>p,F</a:t>
            </a:r>
            <a:r>
              <a:rPr lang="en-US" altLang="zh-CN" sz="2400" dirty="0"/>
              <a:t>[f].</a:t>
            </a:r>
            <a:r>
              <a:rPr lang="en-US" altLang="zh-CN" sz="2400" dirty="0" err="1"/>
              <a:t>a,F</a:t>
            </a:r>
            <a:r>
              <a:rPr lang="en-US" altLang="zh-CN" sz="2400" dirty="0"/>
              <a:t>[f].c);</a:t>
            </a:r>
            <a:endParaRPr lang="zh-CN" altLang="en-US" sz="2400" dirty="0"/>
          </a:p>
          <a:p>
            <a:r>
              <a:rPr lang="en-US" altLang="zh-CN" sz="2400" dirty="0"/>
              <a:t>}</a:t>
            </a:r>
            <a:endParaRPr lang="zh-CN" alt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dirty="0">
                <a:ea typeface="宋体" pitchFamily="2" charset="-122"/>
              </a:rPr>
              <a:t>随机增量算法</a:t>
            </a:r>
            <a:r>
              <a:rPr lang="en-US" altLang="zh-CN" dirty="0">
                <a:ea typeface="宋体" pitchFamily="2" charset="-122"/>
              </a:rPr>
              <a:t>(</a:t>
            </a:r>
            <a:r>
              <a:rPr lang="zh-CN" altLang="en-US" dirty="0">
                <a:ea typeface="宋体" pitchFamily="2" charset="-122"/>
              </a:rPr>
              <a:t>概述</a:t>
            </a:r>
            <a:r>
              <a:rPr lang="en-US" altLang="zh-CN" dirty="0">
                <a:ea typeface="宋体" pitchFamily="2" charset="-122"/>
              </a:rPr>
              <a:t>)</a:t>
            </a:r>
          </a:p>
        </p:txBody>
      </p:sp>
      <p:sp>
        <p:nvSpPr>
          <p:cNvPr id="19459" name="Rectangle 3"/>
          <p:cNvSpPr>
            <a:spLocks noGrp="1" noChangeArrowheads="1"/>
          </p:cNvSpPr>
          <p:nvPr>
            <p:ph type="body" idx="1"/>
          </p:nvPr>
        </p:nvSpPr>
        <p:spPr>
          <a:xfrm>
            <a:off x="323528" y="1196752"/>
            <a:ext cx="4546848" cy="5517232"/>
          </a:xfrm>
        </p:spPr>
        <p:txBody>
          <a:bodyPr>
            <a:normAutofit/>
          </a:bodyPr>
          <a:lstStyle/>
          <a:p>
            <a:r>
              <a:rPr lang="zh-CN" altLang="en-US" dirty="0">
                <a:ea typeface="宋体" pitchFamily="2" charset="-122"/>
              </a:rPr>
              <a:t>普通增量法每次需要依次判断每个面是否对</a:t>
            </a:r>
            <a:r>
              <a:rPr lang="en-US" altLang="zh-CN" dirty="0">
                <a:ea typeface="宋体" pitchFamily="2" charset="-122"/>
              </a:rPr>
              <a:t>p</a:t>
            </a:r>
            <a:r>
              <a:rPr lang="en-US" altLang="zh-CN" baseline="-25000" dirty="0">
                <a:ea typeface="宋体" pitchFamily="2" charset="-122"/>
              </a:rPr>
              <a:t>r</a:t>
            </a:r>
            <a:r>
              <a:rPr lang="zh-CN" altLang="en-US" dirty="0">
                <a:ea typeface="宋体" pitchFamily="2" charset="-122"/>
              </a:rPr>
              <a:t>可见，总时间复杂度为</a:t>
            </a:r>
            <a:r>
              <a:rPr lang="en-US" altLang="zh-CN" dirty="0">
                <a:ea typeface="宋体" pitchFamily="2" charset="-122"/>
              </a:rPr>
              <a:t>O(n</a:t>
            </a:r>
            <a:r>
              <a:rPr lang="en-US" altLang="zh-CN" baseline="30000" dirty="0">
                <a:ea typeface="宋体" pitchFamily="2" charset="-122"/>
              </a:rPr>
              <a:t>2</a:t>
            </a:r>
            <a:r>
              <a:rPr lang="en-US" altLang="zh-CN" dirty="0">
                <a:ea typeface="宋体" pitchFamily="2" charset="-122"/>
              </a:rPr>
              <a:t>)</a:t>
            </a:r>
          </a:p>
          <a:p>
            <a:r>
              <a:rPr lang="zh-CN" altLang="en-US" dirty="0">
                <a:ea typeface="宋体" pitchFamily="2" charset="-122"/>
              </a:rPr>
              <a:t>随机增量算法的期望时间复杂度为</a:t>
            </a:r>
            <a:r>
              <a:rPr lang="en-US" altLang="zh-CN" dirty="0">
                <a:ea typeface="宋体" pitchFamily="2" charset="-122"/>
              </a:rPr>
              <a:t>O(</a:t>
            </a:r>
            <a:r>
              <a:rPr lang="en-US" altLang="zh-CN" dirty="0" err="1">
                <a:ea typeface="宋体" pitchFamily="2" charset="-122"/>
              </a:rPr>
              <a:t>nlogn</a:t>
            </a:r>
            <a:r>
              <a:rPr lang="en-US" altLang="zh-CN" dirty="0">
                <a:ea typeface="宋体" pitchFamily="2" charset="-122"/>
              </a:rPr>
              <a:t>)</a:t>
            </a:r>
          </a:p>
          <a:p>
            <a:pPr lvl="1"/>
            <a:r>
              <a:rPr lang="zh-CN" altLang="en-US" dirty="0">
                <a:ea typeface="宋体" pitchFamily="2" charset="-122"/>
              </a:rPr>
              <a:t>除了前四个点外其它点采用随机排列</a:t>
            </a:r>
            <a:endParaRPr lang="en-US" altLang="zh-CN" dirty="0">
              <a:ea typeface="宋体" pitchFamily="2" charset="-122"/>
            </a:endParaRPr>
          </a:p>
          <a:p>
            <a:pPr lvl="1"/>
            <a:r>
              <a:rPr lang="zh-CN" altLang="en-US" dirty="0">
                <a:ea typeface="宋体" pitchFamily="2" charset="-122"/>
              </a:rPr>
              <a:t>维护附加信息</a:t>
            </a:r>
            <a:r>
              <a:rPr lang="en-US" altLang="zh-CN" dirty="0">
                <a:ea typeface="宋体" pitchFamily="2" charset="-122"/>
              </a:rPr>
              <a:t>(conflict graph)</a:t>
            </a:r>
            <a:r>
              <a:rPr lang="zh-CN" altLang="en-US" dirty="0">
                <a:ea typeface="宋体" pitchFamily="2" charset="-122"/>
              </a:rPr>
              <a:t>以加快“可见面”的寻找</a:t>
            </a:r>
            <a:endParaRPr lang="en-US" altLang="zh-CN" dirty="0">
              <a:ea typeface="宋体" pitchFamily="2" charset="-122"/>
            </a:endParaRPr>
          </a:p>
        </p:txBody>
      </p:sp>
      <p:graphicFrame>
        <p:nvGraphicFramePr>
          <p:cNvPr id="109569" name="Object 1"/>
          <p:cNvGraphicFramePr>
            <a:graphicFrameLocks noChangeAspect="1"/>
          </p:cNvGraphicFramePr>
          <p:nvPr/>
        </p:nvGraphicFramePr>
        <p:xfrm>
          <a:off x="5292080" y="1916832"/>
          <a:ext cx="3225800" cy="4114800"/>
        </p:xfrm>
        <a:graphic>
          <a:graphicData uri="http://schemas.openxmlformats.org/presentationml/2006/ole">
            <mc:AlternateContent xmlns:mc="http://schemas.openxmlformats.org/markup-compatibility/2006">
              <mc:Choice xmlns:v="urn:schemas-microsoft-com:vml" Requires="v">
                <p:oleObj spid="_x0000_s109570" name="Bitmap Image" r:id="rId3" imgW="3315163" imgH="4229690" progId="PBrush">
                  <p:embed/>
                </p:oleObj>
              </mc:Choice>
              <mc:Fallback>
                <p:oleObj name="Bitmap Image" r:id="rId3" imgW="3315163" imgH="4229690" progId="PBrush">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l="11494" t="5405" r="5746" b="6306"/>
                      <a:stretch>
                        <a:fillRect/>
                      </a:stretch>
                    </p:blipFill>
                    <p:spPr bwMode="auto">
                      <a:xfrm>
                        <a:off x="5292080" y="1916832"/>
                        <a:ext cx="322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类似快速排序的快速凸包</a:t>
            </a:r>
            <a:r>
              <a:rPr lang="en-US" altLang="zh-CN" dirty="0"/>
              <a:t>(2D)</a:t>
            </a:r>
            <a:endParaRPr lang="zh-CN" altLang="en-US" dirty="0"/>
          </a:p>
        </p:txBody>
      </p:sp>
      <p:pic>
        <p:nvPicPr>
          <p:cNvPr id="124930" name="Picture 2"/>
          <p:cNvPicPr>
            <a:picLocks noChangeAspect="1" noChangeArrowheads="1"/>
          </p:cNvPicPr>
          <p:nvPr/>
        </p:nvPicPr>
        <p:blipFill>
          <a:blip r:embed="rId2" cstate="print"/>
          <a:srcRect/>
          <a:stretch>
            <a:fillRect/>
          </a:stretch>
        </p:blipFill>
        <p:spPr bwMode="auto">
          <a:xfrm>
            <a:off x="1131715" y="1268760"/>
            <a:ext cx="6536629" cy="5400600"/>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4525963"/>
          </a:xfrm>
        </p:spPr>
        <p:txBody>
          <a:bodyPr/>
          <a:lstStyle/>
          <a:p>
            <a:r>
              <a:rPr lang="zh-CN" altLang="en-US" dirty="0"/>
              <a:t>先找最左和最右点</a:t>
            </a:r>
            <a:r>
              <a:rPr lang="en-US" altLang="zh-CN" dirty="0"/>
              <a:t>x</a:t>
            </a:r>
            <a:r>
              <a:rPr lang="zh-CN" altLang="en-US" dirty="0"/>
              <a:t>和</a:t>
            </a:r>
            <a:r>
              <a:rPr lang="en-US" altLang="zh-CN" dirty="0"/>
              <a:t>y</a:t>
            </a:r>
            <a:r>
              <a:rPr lang="zh-CN" altLang="en-US" dirty="0"/>
              <a:t>，则最终结果为：</a:t>
            </a:r>
            <a:endParaRPr lang="en-US" altLang="zh-CN" dirty="0"/>
          </a:p>
          <a:p>
            <a:pPr algn="ctr">
              <a:buNone/>
            </a:pPr>
            <a:r>
              <a:rPr lang="en-US" altLang="zh-CN" dirty="0"/>
              <a:t>(x)+</a:t>
            </a:r>
            <a:r>
              <a:rPr lang="en-US" altLang="zh-CN" dirty="0" err="1"/>
              <a:t>QuickHull</a:t>
            </a:r>
            <a:r>
              <a:rPr lang="en-US" altLang="zh-CN" dirty="0"/>
              <a:t>(x,y,S</a:t>
            </a:r>
            <a:r>
              <a:rPr lang="en-US" altLang="zh-CN" baseline="-25000" dirty="0"/>
              <a:t>1</a:t>
            </a:r>
            <a:r>
              <a:rPr lang="en-US" altLang="zh-CN" dirty="0"/>
              <a:t>)+(y)+</a:t>
            </a:r>
            <a:r>
              <a:rPr lang="en-US" altLang="zh-CN" dirty="0" err="1"/>
              <a:t>QuickHull</a:t>
            </a:r>
            <a:r>
              <a:rPr lang="en-US" altLang="zh-CN" dirty="0"/>
              <a:t>(y,x,S</a:t>
            </a:r>
            <a:r>
              <a:rPr lang="en-US" altLang="zh-CN" baseline="-25000" dirty="0"/>
              <a:t>2</a:t>
            </a:r>
            <a:r>
              <a:rPr lang="en-US" altLang="zh-CN" dirty="0"/>
              <a:t>)</a:t>
            </a:r>
          </a:p>
          <a:p>
            <a:r>
              <a:rPr lang="zh-CN" altLang="en-US" dirty="0"/>
              <a:t>其中</a:t>
            </a:r>
            <a:r>
              <a:rPr lang="en-US" altLang="zh-CN" dirty="0"/>
              <a:t>S</a:t>
            </a:r>
            <a:r>
              <a:rPr lang="en-US" altLang="zh-CN" baseline="-25000" dirty="0"/>
              <a:t>1</a:t>
            </a:r>
            <a:r>
              <a:rPr lang="zh-CN" altLang="en-US" dirty="0"/>
              <a:t>和</a:t>
            </a:r>
            <a:r>
              <a:rPr lang="en-US" altLang="zh-CN" dirty="0"/>
              <a:t>S</a:t>
            </a:r>
            <a:r>
              <a:rPr lang="en-US" altLang="zh-CN" baseline="-25000" dirty="0"/>
              <a:t>2</a:t>
            </a:r>
            <a:r>
              <a:rPr lang="zh-CN" altLang="en-US" dirty="0"/>
              <a:t>是严格在直线</a:t>
            </a:r>
            <a:r>
              <a:rPr lang="en-US" altLang="zh-CN" dirty="0" err="1"/>
              <a:t>xy</a:t>
            </a:r>
            <a:r>
              <a:rPr lang="zh-CN" altLang="en-US" dirty="0"/>
              <a:t>的上方和下方的点集</a:t>
            </a:r>
          </a:p>
        </p:txBody>
      </p:sp>
      <p:pic>
        <p:nvPicPr>
          <p:cNvPr id="4" name="Picture 3"/>
          <p:cNvPicPr>
            <a:picLocks noChangeAspect="1" noChangeArrowheads="1"/>
          </p:cNvPicPr>
          <p:nvPr/>
        </p:nvPicPr>
        <p:blipFill>
          <a:blip r:embed="rId2" cstate="print"/>
          <a:srcRect/>
          <a:stretch>
            <a:fillRect/>
          </a:stretch>
        </p:blipFill>
        <p:spPr bwMode="auto">
          <a:xfrm>
            <a:off x="395536" y="3429000"/>
            <a:ext cx="8060324" cy="3096344"/>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4355976" y="1988840"/>
            <a:ext cx="3528392" cy="2915177"/>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
            </a:r>
            <a:r>
              <a:rPr lang="zh-CN" altLang="en-US" dirty="0"/>
              <a:t>维情形：基本概念</a:t>
            </a:r>
          </a:p>
        </p:txBody>
      </p:sp>
      <p:sp>
        <p:nvSpPr>
          <p:cNvPr id="3" name="内容占位符 2"/>
          <p:cNvSpPr>
            <a:spLocks noGrp="1"/>
          </p:cNvSpPr>
          <p:nvPr>
            <p:ph idx="1"/>
          </p:nvPr>
        </p:nvSpPr>
        <p:spPr>
          <a:xfrm>
            <a:off x="457200" y="1600200"/>
            <a:ext cx="8229600" cy="4925144"/>
          </a:xfrm>
        </p:spPr>
        <p:txBody>
          <a:bodyPr>
            <a:normAutofit/>
          </a:bodyPr>
          <a:lstStyle/>
          <a:p>
            <a:r>
              <a:rPr lang="zh-CN" altLang="en-US" dirty="0"/>
              <a:t>后文均假定没有</a:t>
            </a:r>
            <a:r>
              <a:rPr lang="en-US" altLang="zh-CN" dirty="0"/>
              <a:t>d+1</a:t>
            </a:r>
            <a:r>
              <a:rPr lang="zh-CN" altLang="en-US" dirty="0"/>
              <a:t>个点共</a:t>
            </a:r>
            <a:r>
              <a:rPr lang="en-US" altLang="zh-CN" dirty="0"/>
              <a:t>(d-1)</a:t>
            </a:r>
            <a:r>
              <a:rPr lang="zh-CN" altLang="en-US" dirty="0"/>
              <a:t>维平面，则凸包可以表示为顶点和一些</a:t>
            </a:r>
            <a:r>
              <a:rPr lang="en-US" altLang="zh-CN" dirty="0"/>
              <a:t>(d-1)</a:t>
            </a:r>
            <a:r>
              <a:rPr lang="zh-CN" altLang="en-US" dirty="0"/>
              <a:t>维面，称为</a:t>
            </a:r>
            <a:r>
              <a:rPr lang="en-US" altLang="zh-CN" dirty="0"/>
              <a:t>facet</a:t>
            </a:r>
            <a:r>
              <a:rPr lang="zh-CN" altLang="en-US" dirty="0"/>
              <a:t>。</a:t>
            </a:r>
            <a:endParaRPr lang="en-US" altLang="zh-CN" dirty="0"/>
          </a:p>
          <a:p>
            <a:r>
              <a:rPr lang="zh-CN" altLang="en-US" dirty="0"/>
              <a:t>凸包顶点称为极点</a:t>
            </a:r>
            <a:r>
              <a:rPr lang="en-US" altLang="zh-CN" dirty="0"/>
              <a:t>(extreme)</a:t>
            </a:r>
          </a:p>
          <a:p>
            <a:r>
              <a:rPr lang="en-US" altLang="zh-CN" dirty="0"/>
              <a:t>Facet</a:t>
            </a:r>
            <a:r>
              <a:rPr lang="zh-CN" altLang="en-US" dirty="0"/>
              <a:t>用一个顶点集、相邻</a:t>
            </a:r>
            <a:r>
              <a:rPr lang="en-US" altLang="zh-CN" dirty="0"/>
              <a:t>facet</a:t>
            </a:r>
            <a:r>
              <a:rPr lang="zh-CN" altLang="en-US" dirty="0"/>
              <a:t>集和超平面方程来表示</a:t>
            </a:r>
            <a:endParaRPr lang="en-US" altLang="zh-CN" dirty="0"/>
          </a:p>
          <a:p>
            <a:r>
              <a:rPr lang="en-US" altLang="zh-CN" dirty="0"/>
              <a:t>d-2</a:t>
            </a:r>
            <a:r>
              <a:rPr lang="zh-CN" altLang="en-US" dirty="0"/>
              <a:t>维面称为凸包的</a:t>
            </a:r>
            <a:r>
              <a:rPr lang="en-US" altLang="zh-CN" dirty="0"/>
              <a:t>ridge</a:t>
            </a:r>
            <a:r>
              <a:rPr lang="zh-CN" altLang="en-US" dirty="0"/>
              <a:t>，它是两个相邻</a:t>
            </a:r>
            <a:r>
              <a:rPr lang="en-US" altLang="zh-CN" dirty="0"/>
              <a:t>facet</a:t>
            </a:r>
            <a:r>
              <a:rPr lang="zh-CN" altLang="en-US" dirty="0"/>
              <a:t>的公共顶点集</a:t>
            </a:r>
            <a:endParaRPr lang="en-US" altLang="zh-C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超平面</a:t>
            </a:r>
            <a:r>
              <a:rPr lang="en-US" altLang="zh-CN" dirty="0"/>
              <a:t>(</a:t>
            </a:r>
            <a:r>
              <a:rPr lang="en-US" altLang="zh-CN" dirty="0" err="1"/>
              <a:t>hyperplane</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a:t>超平面的表示：指向外的单位法线</a:t>
            </a:r>
            <a:r>
              <a:rPr lang="en-US" altLang="zh-CN" dirty="0"/>
              <a:t>N</a:t>
            </a:r>
            <a:r>
              <a:rPr lang="zh-CN" altLang="en-US" dirty="0"/>
              <a:t>和到原点的偏移</a:t>
            </a:r>
            <a:r>
              <a:rPr lang="en-US" altLang="zh-CN" dirty="0"/>
              <a:t>offset</a:t>
            </a:r>
            <a:endParaRPr lang="zh-CN" altLang="en-US" dirty="0"/>
          </a:p>
          <a:p>
            <a:r>
              <a:rPr lang="zh-CN" altLang="en-US" dirty="0"/>
              <a:t>点到超平面的带符号距离</a:t>
            </a:r>
            <a:r>
              <a:rPr lang="en-US" altLang="zh-CN" dirty="0"/>
              <a:t>(signed distance)</a:t>
            </a:r>
            <a:r>
              <a:rPr lang="zh-CN" altLang="en-US" dirty="0"/>
              <a:t>为点</a:t>
            </a:r>
            <a:r>
              <a:rPr lang="en-US" altLang="zh-CN" dirty="0"/>
              <a:t>P</a:t>
            </a:r>
            <a:r>
              <a:rPr lang="zh-CN" altLang="en-US" dirty="0"/>
              <a:t>和法线</a:t>
            </a:r>
            <a:r>
              <a:rPr lang="en-US" altLang="zh-CN" dirty="0"/>
              <a:t>N</a:t>
            </a:r>
            <a:r>
              <a:rPr lang="zh-CN" altLang="en-US" dirty="0"/>
              <a:t>的点积，加上偏移</a:t>
            </a:r>
            <a:r>
              <a:rPr lang="en-US" altLang="zh-CN" dirty="0"/>
              <a:t>offset</a:t>
            </a:r>
          </a:p>
          <a:p>
            <a:r>
              <a:rPr lang="zh-CN" altLang="en-US" dirty="0"/>
              <a:t>超平面定义了一个半空间</a:t>
            </a:r>
            <a:r>
              <a:rPr lang="en-US" altLang="zh-CN" dirty="0"/>
              <a:t>(</a:t>
            </a:r>
            <a:r>
              <a:rPr lang="en-US" altLang="zh-CN" dirty="0" err="1"/>
              <a:t>halfspace</a:t>
            </a:r>
            <a:r>
              <a:rPr lang="en-US" altLang="zh-CN" dirty="0"/>
              <a:t>)</a:t>
            </a:r>
            <a:r>
              <a:rPr lang="zh-CN" altLang="en-US" dirty="0"/>
              <a:t>，即到该超平面的距离为负的点集。我们说那些距离为正的点在超平面的上方</a:t>
            </a:r>
            <a:r>
              <a:rPr lang="en-US" altLang="zh-CN" dirty="0"/>
              <a:t>(above)</a:t>
            </a:r>
            <a:r>
              <a:rPr lang="zh-CN" altLang="en-US" dirty="0"/>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简化的</a:t>
            </a:r>
            <a:r>
              <a:rPr lang="en-US" altLang="zh-CN" dirty="0"/>
              <a:t>Beneath-Beyond</a:t>
            </a:r>
            <a:r>
              <a:rPr lang="zh-CN" altLang="en-US" dirty="0"/>
              <a:t>定理</a:t>
            </a:r>
          </a:p>
        </p:txBody>
      </p:sp>
      <p:sp>
        <p:nvSpPr>
          <p:cNvPr id="3" name="内容占位符 2"/>
          <p:cNvSpPr>
            <a:spLocks noGrp="1"/>
          </p:cNvSpPr>
          <p:nvPr>
            <p:ph idx="1"/>
          </p:nvPr>
        </p:nvSpPr>
        <p:spPr/>
        <p:txBody>
          <a:bodyPr/>
          <a:lstStyle/>
          <a:p>
            <a:r>
              <a:rPr lang="zh-CN" altLang="en-US" dirty="0"/>
              <a:t>设</a:t>
            </a:r>
            <a:r>
              <a:rPr lang="en-US" altLang="zh-CN" dirty="0"/>
              <a:t>H</a:t>
            </a:r>
            <a:r>
              <a:rPr lang="zh-CN" altLang="en-US" dirty="0"/>
              <a:t>是</a:t>
            </a:r>
            <a:r>
              <a:rPr lang="en-US" altLang="zh-CN" dirty="0"/>
              <a:t>Rd</a:t>
            </a:r>
            <a:r>
              <a:rPr lang="zh-CN" altLang="en-US" dirty="0"/>
              <a:t>上的一个凸包，在加入一个新点</a:t>
            </a:r>
            <a:r>
              <a:rPr lang="en-US" altLang="zh-CN" dirty="0"/>
              <a:t>p</a:t>
            </a:r>
            <a:r>
              <a:rPr lang="zh-CN" altLang="en-US" dirty="0"/>
              <a:t>之后，</a:t>
            </a:r>
            <a:r>
              <a:rPr lang="en-US" altLang="zh-CN" dirty="0"/>
              <a:t>F</a:t>
            </a:r>
            <a:r>
              <a:rPr lang="zh-CN" altLang="en-US" dirty="0"/>
              <a:t>是新凸包上的</a:t>
            </a:r>
            <a:r>
              <a:rPr lang="en-US" altLang="zh-CN" dirty="0"/>
              <a:t>facet</a:t>
            </a:r>
            <a:r>
              <a:rPr lang="zh-CN" altLang="en-US" dirty="0"/>
              <a:t>当且仅当</a:t>
            </a:r>
            <a:endParaRPr lang="en-US" altLang="zh-CN" dirty="0"/>
          </a:p>
          <a:p>
            <a:pPr lvl="1"/>
            <a:r>
              <a:rPr lang="en-US" altLang="zh-CN" dirty="0"/>
              <a:t>F</a:t>
            </a:r>
            <a:r>
              <a:rPr lang="zh-CN" altLang="en-US" dirty="0"/>
              <a:t>是</a:t>
            </a:r>
            <a:r>
              <a:rPr lang="en-US" altLang="zh-CN" dirty="0"/>
              <a:t>H</a:t>
            </a:r>
            <a:r>
              <a:rPr lang="zh-CN" altLang="en-US" dirty="0"/>
              <a:t>的</a:t>
            </a:r>
            <a:r>
              <a:rPr lang="en-US" altLang="zh-CN" dirty="0"/>
              <a:t>facet</a:t>
            </a:r>
            <a:r>
              <a:rPr lang="zh-CN" altLang="en-US" dirty="0"/>
              <a:t>，且</a:t>
            </a:r>
            <a:r>
              <a:rPr lang="en-US" altLang="zh-CN" dirty="0"/>
              <a:t>p</a:t>
            </a:r>
            <a:r>
              <a:rPr lang="zh-CN" altLang="en-US" dirty="0"/>
              <a:t>在</a:t>
            </a:r>
            <a:r>
              <a:rPr lang="en-US" altLang="zh-CN" dirty="0"/>
              <a:t>F</a:t>
            </a:r>
            <a:r>
              <a:rPr lang="zh-CN" altLang="en-US" dirty="0"/>
              <a:t>下方，或者</a:t>
            </a:r>
            <a:endParaRPr lang="en-US" altLang="zh-CN" dirty="0"/>
          </a:p>
          <a:p>
            <a:pPr lvl="1"/>
            <a:r>
              <a:rPr lang="en-US" altLang="zh-CN" dirty="0"/>
              <a:t>F</a:t>
            </a:r>
            <a:r>
              <a:rPr lang="zh-CN" altLang="en-US" dirty="0"/>
              <a:t>不是</a:t>
            </a:r>
            <a:r>
              <a:rPr lang="en-US" altLang="zh-CN" dirty="0"/>
              <a:t>H</a:t>
            </a:r>
            <a:r>
              <a:rPr lang="zh-CN" altLang="en-US" dirty="0"/>
              <a:t>的</a:t>
            </a:r>
            <a:r>
              <a:rPr lang="en-US" altLang="zh-CN" dirty="0"/>
              <a:t>facet</a:t>
            </a:r>
            <a:r>
              <a:rPr lang="zh-CN" altLang="en-US" dirty="0"/>
              <a:t>，且它的点集为</a:t>
            </a:r>
            <a:r>
              <a:rPr lang="en-US" altLang="zh-CN" dirty="0"/>
              <a:t>H</a:t>
            </a:r>
            <a:r>
              <a:rPr lang="zh-CN" altLang="en-US" dirty="0"/>
              <a:t>的某个</a:t>
            </a:r>
            <a:r>
              <a:rPr lang="en-US" altLang="zh-CN" dirty="0"/>
              <a:t>ridge</a:t>
            </a:r>
            <a:r>
              <a:rPr lang="zh-CN" altLang="en-US" dirty="0"/>
              <a:t>的点集加上</a:t>
            </a:r>
            <a:r>
              <a:rPr lang="en-US" altLang="zh-CN" dirty="0"/>
              <a:t>p</a:t>
            </a:r>
            <a:r>
              <a:rPr lang="zh-CN" altLang="en-US" dirty="0"/>
              <a:t>组成。这个</a:t>
            </a:r>
            <a:r>
              <a:rPr lang="en-US" altLang="zh-CN" dirty="0"/>
              <a:t>ridge</a:t>
            </a:r>
            <a:r>
              <a:rPr lang="zh-CN" altLang="en-US" dirty="0"/>
              <a:t>有一个关联</a:t>
            </a:r>
            <a:r>
              <a:rPr lang="en-US" altLang="zh-CN" dirty="0"/>
              <a:t>facet</a:t>
            </a:r>
            <a:r>
              <a:rPr lang="zh-CN" altLang="en-US" dirty="0"/>
              <a:t>在</a:t>
            </a:r>
            <a:r>
              <a:rPr lang="en-US" altLang="zh-CN" dirty="0"/>
              <a:t>p</a:t>
            </a:r>
            <a:r>
              <a:rPr lang="zh-CN" altLang="en-US" dirty="0"/>
              <a:t>下方，其余的关联</a:t>
            </a:r>
            <a:r>
              <a:rPr lang="en-US" altLang="zh-CN" dirty="0"/>
              <a:t>facet</a:t>
            </a:r>
            <a:r>
              <a:rPr lang="zh-CN" altLang="en-US" dirty="0"/>
              <a:t>在</a:t>
            </a:r>
            <a:r>
              <a:rPr lang="en-US" altLang="zh-CN" dirty="0"/>
              <a:t>p</a:t>
            </a:r>
            <a:r>
              <a:rPr lang="zh-CN" altLang="en-US" dirty="0"/>
              <a:t>上方</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p:cNvPicPr>
            <a:picLocks noChangeAspect="1" noChangeArrowheads="1"/>
          </p:cNvPicPr>
          <p:nvPr/>
        </p:nvPicPr>
        <p:blipFill>
          <a:blip r:embed="rId2" cstate="print"/>
          <a:srcRect/>
          <a:stretch>
            <a:fillRect/>
          </a:stretch>
        </p:blipFill>
        <p:spPr bwMode="auto">
          <a:xfrm>
            <a:off x="114647" y="140939"/>
            <a:ext cx="8273777" cy="6527725"/>
          </a:xfrm>
          <a:prstGeom prst="rect">
            <a:avLst/>
          </a:prstGeom>
          <a:noFill/>
          <a:ln w="9525">
            <a:noFill/>
            <a:miter lim="800000"/>
            <a:headEnd/>
            <a:tailEnd/>
          </a:ln>
        </p:spPr>
      </p:pic>
      <p:cxnSp>
        <p:nvCxnSpPr>
          <p:cNvPr id="6" name="直接连接符 5"/>
          <p:cNvCxnSpPr/>
          <p:nvPr/>
        </p:nvCxnSpPr>
        <p:spPr>
          <a:xfrm>
            <a:off x="0" y="1700808"/>
            <a:ext cx="8316416"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7" name="直接连接符 6"/>
          <p:cNvCxnSpPr/>
          <p:nvPr/>
        </p:nvCxnSpPr>
        <p:spPr>
          <a:xfrm>
            <a:off x="0" y="4005064"/>
            <a:ext cx="8316416"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sp>
        <p:nvSpPr>
          <p:cNvPr id="8" name="TextBox 7"/>
          <p:cNvSpPr txBox="1"/>
          <p:nvPr/>
        </p:nvSpPr>
        <p:spPr>
          <a:xfrm>
            <a:off x="6062732" y="2546901"/>
            <a:ext cx="2901756" cy="954107"/>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800" dirty="0"/>
              <a:t>计算可见面集合</a:t>
            </a:r>
            <a:r>
              <a:rPr lang="en-US" altLang="zh-CN" sz="2800" dirty="0"/>
              <a:t>V</a:t>
            </a:r>
          </a:p>
          <a:p>
            <a:r>
              <a:rPr lang="zh-CN" altLang="en-US" sz="2800" dirty="0"/>
              <a:t>和阴影边界</a:t>
            </a:r>
            <a:r>
              <a:rPr lang="en-US" altLang="zh-CN" sz="2800" dirty="0"/>
              <a:t>H</a:t>
            </a:r>
            <a:endParaRPr lang="zh-CN" altLang="en-US" sz="2800" dirty="0"/>
          </a:p>
        </p:txBody>
      </p:sp>
      <p:cxnSp>
        <p:nvCxnSpPr>
          <p:cNvPr id="9" name="直接连接符 8"/>
          <p:cNvCxnSpPr/>
          <p:nvPr/>
        </p:nvCxnSpPr>
        <p:spPr>
          <a:xfrm>
            <a:off x="0" y="5013176"/>
            <a:ext cx="8316416"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sp>
        <p:nvSpPr>
          <p:cNvPr id="10" name="TextBox 9"/>
          <p:cNvSpPr txBox="1"/>
          <p:nvPr/>
        </p:nvSpPr>
        <p:spPr>
          <a:xfrm>
            <a:off x="7308304" y="4293096"/>
            <a:ext cx="1620957" cy="52322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800" dirty="0"/>
              <a:t>创建新面</a:t>
            </a:r>
            <a:endParaRPr lang="en-US" altLang="zh-CN" sz="2800" dirty="0"/>
          </a:p>
        </p:txBody>
      </p:sp>
      <p:sp>
        <p:nvSpPr>
          <p:cNvPr id="11" name="TextBox 10"/>
          <p:cNvSpPr txBox="1"/>
          <p:nvPr/>
        </p:nvSpPr>
        <p:spPr>
          <a:xfrm>
            <a:off x="6216620" y="5733256"/>
            <a:ext cx="2747868" cy="52322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800" dirty="0"/>
              <a:t>重划分</a:t>
            </a:r>
            <a:r>
              <a:rPr lang="en-US" altLang="zh-CN" sz="2800" dirty="0"/>
              <a:t>(partition)</a:t>
            </a:r>
          </a:p>
        </p:txBody>
      </p:sp>
      <p:cxnSp>
        <p:nvCxnSpPr>
          <p:cNvPr id="12" name="直接连接符 11"/>
          <p:cNvCxnSpPr/>
          <p:nvPr/>
        </p:nvCxnSpPr>
        <p:spPr>
          <a:xfrm>
            <a:off x="0" y="6381328"/>
            <a:ext cx="8316416"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3" name="直接连接符 12"/>
          <p:cNvCxnSpPr/>
          <p:nvPr/>
        </p:nvCxnSpPr>
        <p:spPr>
          <a:xfrm>
            <a:off x="0" y="404664"/>
            <a:ext cx="8316416"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sp>
        <p:nvSpPr>
          <p:cNvPr id="16" name="TextBox 15"/>
          <p:cNvSpPr txBox="1"/>
          <p:nvPr/>
        </p:nvSpPr>
        <p:spPr>
          <a:xfrm>
            <a:off x="7271523" y="836712"/>
            <a:ext cx="1620957" cy="523220"/>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800" dirty="0"/>
              <a:t>创建新面</a:t>
            </a:r>
            <a:endParaRPr lang="en-US" altLang="zh-CN" sz="2800" dirty="0"/>
          </a:p>
        </p:txBody>
      </p:sp>
      <p:cxnSp>
        <p:nvCxnSpPr>
          <p:cNvPr id="19" name="直接连接符 18"/>
          <p:cNvCxnSpPr/>
          <p:nvPr/>
        </p:nvCxnSpPr>
        <p:spPr>
          <a:xfrm>
            <a:off x="1907704" y="2348880"/>
            <a:ext cx="1584176" cy="0"/>
          </a:xfrm>
          <a:prstGeom prst="line">
            <a:avLst/>
          </a:prstGeom>
        </p:spPr>
        <p:style>
          <a:lnRef idx="3">
            <a:schemeClr val="accent3"/>
          </a:lnRef>
          <a:fillRef idx="0">
            <a:schemeClr val="accent3"/>
          </a:fillRef>
          <a:effectRef idx="2">
            <a:schemeClr val="accent3"/>
          </a:effectRef>
          <a:fontRef idx="minor">
            <a:schemeClr val="tx1"/>
          </a:fontRef>
        </p:style>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4525963"/>
          </a:xfrm>
        </p:spPr>
        <p:txBody>
          <a:bodyPr/>
          <a:lstStyle/>
          <a:p>
            <a:r>
              <a:rPr lang="zh-CN" altLang="en-US" b="1" dirty="0">
                <a:solidFill>
                  <a:srgbClr val="FF0000"/>
                </a:solidFill>
              </a:rPr>
              <a:t>正确性：</a:t>
            </a:r>
            <a:r>
              <a:rPr lang="zh-CN" altLang="en-US" dirty="0"/>
              <a:t>在</a:t>
            </a:r>
            <a:r>
              <a:rPr lang="en-US" altLang="zh-CN" dirty="0"/>
              <a:t>partition</a:t>
            </a:r>
            <a:r>
              <a:rPr lang="zh-CN" altLang="en-US" dirty="0"/>
              <a:t>步骤里，如果一个点可以被分到两个或多个面的</a:t>
            </a:r>
            <a:r>
              <a:rPr lang="en-US" altLang="zh-CN" dirty="0"/>
              <a:t>outside set</a:t>
            </a:r>
            <a:r>
              <a:rPr lang="zh-CN" altLang="en-US" dirty="0"/>
              <a:t>里，不管怎么分，极点一定会出现在凸包里，</a:t>
            </a:r>
            <a:r>
              <a:rPr lang="en-US" altLang="zh-CN" dirty="0"/>
              <a:t>facet</a:t>
            </a:r>
            <a:r>
              <a:rPr lang="zh-CN" altLang="en-US" dirty="0"/>
              <a:t>也是正确的</a:t>
            </a:r>
            <a:endParaRPr lang="en-US" altLang="zh-CN" dirty="0"/>
          </a:p>
          <a:p>
            <a:r>
              <a:rPr lang="zh-CN" altLang="en-US" b="1" dirty="0">
                <a:solidFill>
                  <a:srgbClr val="FF0000"/>
                </a:solidFill>
              </a:rPr>
              <a:t>效率：</a:t>
            </a:r>
            <a:r>
              <a:rPr lang="zh-CN" altLang="en-US" dirty="0"/>
              <a:t>如果平衡条件满足，</a:t>
            </a:r>
            <a:r>
              <a:rPr lang="en-US" altLang="zh-CN" dirty="0"/>
              <a:t>d=3</a:t>
            </a:r>
            <a:r>
              <a:rPr lang="zh-CN" altLang="en-US" dirty="0"/>
              <a:t>时时间为</a:t>
            </a:r>
            <a:r>
              <a:rPr lang="en-US" altLang="zh-CN" dirty="0"/>
              <a:t>O(</a:t>
            </a:r>
            <a:r>
              <a:rPr lang="en-US" altLang="zh-CN" dirty="0" err="1"/>
              <a:t>nlogr</a:t>
            </a:r>
            <a:r>
              <a:rPr lang="en-US" altLang="zh-CN" dirty="0"/>
              <a:t>)</a:t>
            </a:r>
            <a:r>
              <a:rPr lang="zh-CN" altLang="en-US" dirty="0"/>
              <a:t>，</a:t>
            </a:r>
            <a:r>
              <a:rPr lang="en-US" altLang="zh-CN" dirty="0"/>
              <a:t>d&gt;=4</a:t>
            </a:r>
            <a:r>
              <a:rPr lang="zh-CN" altLang="en-US" dirty="0"/>
              <a:t>为</a:t>
            </a:r>
            <a:r>
              <a:rPr lang="en-US" altLang="zh-CN" dirty="0"/>
              <a:t>O(</a:t>
            </a:r>
            <a:r>
              <a:rPr lang="en-US" altLang="zh-CN" dirty="0" err="1"/>
              <a:t>nf</a:t>
            </a:r>
            <a:r>
              <a:rPr lang="en-US" altLang="zh-CN" baseline="-25000" dirty="0" err="1"/>
              <a:t>r</a:t>
            </a:r>
            <a:r>
              <a:rPr lang="en-US" altLang="zh-CN" dirty="0"/>
              <a:t>/r)</a:t>
            </a:r>
            <a:r>
              <a:rPr lang="zh-CN" altLang="en-US" dirty="0"/>
              <a:t>，</a:t>
            </a:r>
            <a:r>
              <a:rPr lang="en-US" altLang="zh-CN" dirty="0"/>
              <a:t>r</a:t>
            </a:r>
            <a:r>
              <a:rPr lang="zh-CN" altLang="en-US" dirty="0"/>
              <a:t>为处理的点数，</a:t>
            </a:r>
            <a:r>
              <a:rPr lang="en-US" altLang="zh-CN" dirty="0" err="1"/>
              <a:t>fr</a:t>
            </a:r>
            <a:r>
              <a:rPr lang="zh-CN" altLang="en-US" dirty="0"/>
              <a:t>为</a:t>
            </a:r>
            <a:r>
              <a:rPr lang="en-US" altLang="zh-CN" dirty="0"/>
              <a:t>d</a:t>
            </a:r>
            <a:r>
              <a:rPr lang="zh-CN" altLang="en-US" dirty="0"/>
              <a:t>维空间中</a:t>
            </a:r>
            <a:r>
              <a:rPr lang="en-US" altLang="zh-CN" dirty="0"/>
              <a:t>r</a:t>
            </a:r>
            <a:r>
              <a:rPr lang="zh-CN" altLang="en-US" dirty="0"/>
              <a:t>个点组成的最大面数</a:t>
            </a:r>
          </a:p>
        </p:txBody>
      </p:sp>
      <p:pic>
        <p:nvPicPr>
          <p:cNvPr id="126978" name="Picture 2"/>
          <p:cNvPicPr>
            <a:picLocks noChangeAspect="1" noChangeArrowheads="1"/>
          </p:cNvPicPr>
          <p:nvPr/>
        </p:nvPicPr>
        <p:blipFill>
          <a:blip r:embed="rId2" cstate="print"/>
          <a:srcRect/>
          <a:stretch>
            <a:fillRect/>
          </a:stretch>
        </p:blipFill>
        <p:spPr bwMode="auto">
          <a:xfrm>
            <a:off x="1403648" y="4010359"/>
            <a:ext cx="4032448" cy="2586993"/>
          </a:xfrm>
          <a:prstGeom prst="rect">
            <a:avLst/>
          </a:prstGeom>
          <a:noFill/>
          <a:ln w="9525">
            <a:noFill/>
            <a:miter lim="800000"/>
            <a:headEnd/>
            <a:tailEnd/>
          </a:ln>
        </p:spPr>
      </p:pic>
      <p:pic>
        <p:nvPicPr>
          <p:cNvPr id="126979" name="Picture 3"/>
          <p:cNvPicPr>
            <a:picLocks noChangeAspect="1" noChangeArrowheads="1"/>
          </p:cNvPicPr>
          <p:nvPr/>
        </p:nvPicPr>
        <p:blipFill>
          <a:blip r:embed="rId3" cstate="print"/>
          <a:srcRect t="14285"/>
          <a:stretch>
            <a:fillRect/>
          </a:stretch>
        </p:blipFill>
        <p:spPr bwMode="auto">
          <a:xfrm>
            <a:off x="5868144" y="4005064"/>
            <a:ext cx="2681578" cy="432048"/>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和</a:t>
            </a:r>
            <a:r>
              <a:rPr lang="en-US" altLang="zh-CN" dirty="0"/>
              <a:t>Delaunay</a:t>
            </a:r>
            <a:r>
              <a:rPr lang="zh-CN" altLang="en-US" dirty="0"/>
              <a:t>三角剖分的关系</a:t>
            </a:r>
            <a:r>
              <a:rPr lang="en-US" altLang="zh-CN" dirty="0"/>
              <a:t>(d</a:t>
            </a:r>
            <a:r>
              <a:rPr lang="zh-CN" altLang="en-US" dirty="0"/>
              <a:t>维</a:t>
            </a:r>
            <a:r>
              <a:rPr lang="en-US" altLang="zh-CN" dirty="0"/>
              <a:t>)</a:t>
            </a:r>
            <a:endParaRPr lang="zh-CN" altLang="en-US" dirty="0"/>
          </a:p>
        </p:txBody>
      </p:sp>
      <p:pic>
        <p:nvPicPr>
          <p:cNvPr id="159746" name="Picture 2"/>
          <p:cNvPicPr>
            <a:picLocks noChangeAspect="1" noChangeArrowheads="1"/>
          </p:cNvPicPr>
          <p:nvPr/>
        </p:nvPicPr>
        <p:blipFill>
          <a:blip r:embed="rId2"/>
          <a:srcRect/>
          <a:stretch>
            <a:fillRect/>
          </a:stretch>
        </p:blipFill>
        <p:spPr bwMode="auto">
          <a:xfrm>
            <a:off x="500034" y="1371601"/>
            <a:ext cx="2992437" cy="2200275"/>
          </a:xfrm>
          <a:prstGeom prst="rect">
            <a:avLst/>
          </a:prstGeom>
          <a:noFill/>
          <a:ln w="9525">
            <a:noFill/>
            <a:miter lim="800000"/>
            <a:headEnd/>
            <a:tailEnd/>
          </a:ln>
          <a:effectLst/>
        </p:spPr>
      </p:pic>
      <p:pic>
        <p:nvPicPr>
          <p:cNvPr id="159747" name="Picture 3"/>
          <p:cNvPicPr>
            <a:picLocks noChangeAspect="1" noChangeArrowheads="1"/>
          </p:cNvPicPr>
          <p:nvPr/>
        </p:nvPicPr>
        <p:blipFill>
          <a:blip r:embed="rId3"/>
          <a:srcRect/>
          <a:stretch>
            <a:fillRect/>
          </a:stretch>
        </p:blipFill>
        <p:spPr bwMode="auto">
          <a:xfrm>
            <a:off x="571472" y="4000504"/>
            <a:ext cx="2243137" cy="2051050"/>
          </a:xfrm>
          <a:prstGeom prst="rect">
            <a:avLst/>
          </a:prstGeom>
          <a:noFill/>
          <a:ln w="9525">
            <a:noFill/>
            <a:miter lim="800000"/>
            <a:headEnd/>
            <a:tailEnd/>
          </a:ln>
          <a:effectLst/>
        </p:spPr>
      </p:pic>
      <p:pic>
        <p:nvPicPr>
          <p:cNvPr id="159748" name="Picture 4"/>
          <p:cNvPicPr>
            <a:picLocks noChangeAspect="1" noChangeArrowheads="1"/>
          </p:cNvPicPr>
          <p:nvPr/>
        </p:nvPicPr>
        <p:blipFill>
          <a:blip r:embed="rId4"/>
          <a:srcRect/>
          <a:stretch>
            <a:fillRect/>
          </a:stretch>
        </p:blipFill>
        <p:spPr bwMode="auto">
          <a:xfrm>
            <a:off x="4000496" y="1285860"/>
            <a:ext cx="4572032" cy="4559224"/>
          </a:xfrm>
          <a:prstGeom prst="rect">
            <a:avLst/>
          </a:prstGeom>
          <a:noFill/>
          <a:ln w="9525">
            <a:noFill/>
            <a:miter lim="800000"/>
            <a:headEnd/>
            <a:tailEnd/>
          </a:ln>
          <a:effectLst/>
        </p:spPr>
      </p:pic>
      <p:sp>
        <p:nvSpPr>
          <p:cNvPr id="7" name="TextBox 6"/>
          <p:cNvSpPr txBox="1"/>
          <p:nvPr/>
        </p:nvSpPr>
        <p:spPr>
          <a:xfrm>
            <a:off x="1323201" y="6143644"/>
            <a:ext cx="6433749" cy="461665"/>
          </a:xfrm>
          <a:prstGeom prst="rect">
            <a:avLst/>
          </a:prstGeom>
          <a:noFill/>
        </p:spPr>
        <p:txBody>
          <a:bodyPr wrap="none" rtlCol="0">
            <a:spAutoFit/>
          </a:bodyPr>
          <a:lstStyle/>
          <a:p>
            <a:r>
              <a:rPr lang="en-US" altLang="zh-CN" sz="2400" b="1" dirty="0"/>
              <a:t>(</a:t>
            </a:r>
            <a:r>
              <a:rPr lang="en-US" altLang="zh-CN" sz="2400" b="1" dirty="0" err="1"/>
              <a:t>x,y</a:t>
            </a:r>
            <a:r>
              <a:rPr lang="en-US" altLang="zh-CN" sz="2400" b="1" dirty="0"/>
              <a:t>)</a:t>
            </a:r>
            <a:r>
              <a:rPr lang="en-US" altLang="zh-CN" sz="2400" b="1" dirty="0">
                <a:sym typeface="Wingdings" pitchFamily="2" charset="2"/>
              </a:rPr>
              <a:t>(x,y,x</a:t>
            </a:r>
            <a:r>
              <a:rPr lang="en-US" altLang="zh-CN" sz="2400" b="1" baseline="30000" dirty="0">
                <a:sym typeface="Wingdings" pitchFamily="2" charset="2"/>
              </a:rPr>
              <a:t>2</a:t>
            </a:r>
            <a:r>
              <a:rPr lang="en-US" altLang="zh-CN" sz="2400" b="1" dirty="0">
                <a:sym typeface="Wingdings" pitchFamily="2" charset="2"/>
              </a:rPr>
              <a:t>+y</a:t>
            </a:r>
            <a:r>
              <a:rPr lang="en-US" altLang="zh-CN" sz="2400" b="1" baseline="30000" dirty="0">
                <a:sym typeface="Wingdings" pitchFamily="2" charset="2"/>
              </a:rPr>
              <a:t>2</a:t>
            </a:r>
            <a:r>
              <a:rPr lang="en-US" altLang="zh-CN" sz="2400" b="1" dirty="0">
                <a:sym typeface="Wingdings" pitchFamily="2" charset="2"/>
              </a:rPr>
              <a:t>)</a:t>
            </a:r>
            <a:r>
              <a:rPr lang="zh-CN" altLang="en-US" sz="2400" b="1" dirty="0"/>
              <a:t> ，求下凸包后投影回二维平面</a:t>
            </a:r>
            <a:endParaRPr lang="en-US" altLang="zh-CN" sz="2400" b="1"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Fairies’ </a:t>
            </a:r>
            <a:r>
              <a:rPr lang="en-US" altLang="zh-CN" dirty="0" err="1"/>
              <a:t>Defence</a:t>
            </a:r>
            <a:r>
              <a:rPr lang="en-US" altLang="zh-CN" dirty="0"/>
              <a:t> (Xi’an 2006, LA 3786)</a:t>
            </a:r>
            <a:endParaRPr lang="zh-CN" altLang="en-US" dirty="0"/>
          </a:p>
        </p:txBody>
      </p:sp>
      <p:sp>
        <p:nvSpPr>
          <p:cNvPr id="3" name="内容占位符 2"/>
          <p:cNvSpPr>
            <a:spLocks noGrp="1"/>
          </p:cNvSpPr>
          <p:nvPr>
            <p:ph idx="1"/>
          </p:nvPr>
        </p:nvSpPr>
        <p:spPr/>
        <p:txBody>
          <a:bodyPr/>
          <a:lstStyle/>
          <a:p>
            <a:r>
              <a:rPr lang="zh-CN" altLang="en-US" dirty="0"/>
              <a:t>在长方体</a:t>
            </a:r>
            <a:r>
              <a:rPr lang="en-US" altLang="zh-CN" dirty="0"/>
              <a:t>(0,0,0)-(</a:t>
            </a:r>
            <a:r>
              <a:rPr lang="en-US" altLang="zh-CN" dirty="0" err="1"/>
              <a:t>a,b,c</a:t>
            </a:r>
            <a:r>
              <a:rPr lang="en-US" altLang="zh-CN" dirty="0"/>
              <a:t>)</a:t>
            </a:r>
            <a:r>
              <a:rPr lang="zh-CN" altLang="en-US" dirty="0"/>
              <a:t>内有</a:t>
            </a:r>
            <a:r>
              <a:rPr lang="en-US" altLang="zh-CN" dirty="0"/>
              <a:t>n(&lt;=20)</a:t>
            </a:r>
            <a:r>
              <a:rPr lang="zh-CN" altLang="en-US" dirty="0"/>
              <a:t>只天使。一只魔鬼会在该长方体内随机出现（概率密度在长方体内处处相等），并攻击最近的一只天使。求每只天使被攻击到的概率。</a:t>
            </a:r>
            <a:endParaRPr lang="en-US" altLang="zh-CN" dirty="0"/>
          </a:p>
          <a:p>
            <a:r>
              <a:rPr lang="en-US" altLang="zh-CN" dirty="0"/>
              <a:t>1&lt;=</a:t>
            </a:r>
            <a:r>
              <a:rPr lang="en-US" altLang="zh-CN" dirty="0" err="1"/>
              <a:t>a,b,c</a:t>
            </a:r>
            <a:r>
              <a:rPr lang="en-US" altLang="zh-CN" dirty="0"/>
              <a:t>&lt;=1000, </a:t>
            </a:r>
            <a:r>
              <a:rPr lang="zh-CN" altLang="en-US" dirty="0"/>
              <a:t>保留小数点后三位</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分治算法</a:t>
            </a:r>
          </a:p>
        </p:txBody>
      </p:sp>
      <p:pic>
        <p:nvPicPr>
          <p:cNvPr id="118786" name="Picture 2"/>
          <p:cNvPicPr>
            <a:picLocks noChangeAspect="1" noChangeArrowheads="1"/>
          </p:cNvPicPr>
          <p:nvPr/>
        </p:nvPicPr>
        <p:blipFill>
          <a:blip r:embed="rId2" cstate="print"/>
          <a:srcRect/>
          <a:stretch>
            <a:fillRect/>
          </a:stretch>
        </p:blipFill>
        <p:spPr bwMode="auto">
          <a:xfrm>
            <a:off x="375373" y="1700808"/>
            <a:ext cx="8373091" cy="2592288"/>
          </a:xfrm>
          <a:prstGeom prst="rect">
            <a:avLst/>
          </a:prstGeom>
          <a:noFill/>
          <a:ln w="9525">
            <a:noFill/>
            <a:miter lim="800000"/>
            <a:headEnd/>
            <a:tailEnd/>
          </a:ln>
        </p:spPr>
      </p:pic>
      <p:sp>
        <p:nvSpPr>
          <p:cNvPr id="7" name="TextBox 6"/>
          <p:cNvSpPr txBox="1"/>
          <p:nvPr/>
        </p:nvSpPr>
        <p:spPr>
          <a:xfrm>
            <a:off x="681276" y="4797152"/>
            <a:ext cx="7366119" cy="1384995"/>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pPr algn="ctr"/>
            <a:r>
              <a:rPr lang="zh-CN" altLang="en-US" sz="2800" dirty="0"/>
              <a:t>新增面组成一条和圆柱侧面拓扑相同的“带”</a:t>
            </a:r>
            <a:endParaRPr lang="en-US" altLang="zh-CN" sz="2800" dirty="0"/>
          </a:p>
          <a:p>
            <a:pPr algn="ctr"/>
            <a:r>
              <a:rPr lang="zh-CN" altLang="en-US" sz="2800" dirty="0"/>
              <a:t>每条面最多使用两个凸多面体中各一条边</a:t>
            </a:r>
            <a:endParaRPr lang="en-US" altLang="zh-CN" sz="2800" dirty="0"/>
          </a:p>
          <a:p>
            <a:pPr algn="ctr"/>
            <a:r>
              <a:rPr lang="zh-CN" altLang="en-US" sz="2800" dirty="0"/>
              <a:t>新增面为</a:t>
            </a:r>
            <a:r>
              <a:rPr lang="en-US" altLang="zh-CN" sz="2800" dirty="0"/>
              <a:t>O(n)</a:t>
            </a:r>
            <a:r>
              <a:rPr lang="zh-CN" altLang="en-US" sz="2800" dirty="0"/>
              <a:t>，因此有希望总时间</a:t>
            </a:r>
            <a:r>
              <a:rPr lang="en-US" altLang="zh-CN" sz="2800" dirty="0"/>
              <a:t>O(</a:t>
            </a:r>
            <a:r>
              <a:rPr lang="en-US" altLang="zh-CN" sz="2800" dirty="0" err="1"/>
              <a:t>nlogn</a:t>
            </a:r>
            <a:r>
              <a:rPr lang="en-US" altLang="zh-CN" sz="2800" dirty="0"/>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4525963"/>
          </a:xfrm>
        </p:spPr>
        <p:txBody>
          <a:bodyPr/>
          <a:lstStyle/>
          <a:p>
            <a:r>
              <a:rPr lang="zh-CN" altLang="en-US" dirty="0"/>
              <a:t>设一个平面</a:t>
            </a:r>
            <a:r>
              <a:rPr lang="el-GR" altLang="zh-CN" dirty="0"/>
              <a:t>π</a:t>
            </a:r>
            <a:r>
              <a:rPr lang="zh-CN" altLang="en-US" dirty="0"/>
              <a:t>从下面和凸多面体</a:t>
            </a:r>
            <a:r>
              <a:rPr lang="en-US" altLang="zh-CN" dirty="0"/>
              <a:t>A</a:t>
            </a:r>
            <a:r>
              <a:rPr lang="zh-CN" altLang="en-US" dirty="0"/>
              <a:t>与</a:t>
            </a:r>
            <a:r>
              <a:rPr lang="en-US" altLang="zh-CN" dirty="0"/>
              <a:t>B</a:t>
            </a:r>
            <a:r>
              <a:rPr lang="zh-CN" altLang="en-US" dirty="0"/>
              <a:t>相切在点</a:t>
            </a:r>
            <a:r>
              <a:rPr lang="en-US" altLang="zh-CN" dirty="0"/>
              <a:t>a</a:t>
            </a:r>
            <a:r>
              <a:rPr lang="zh-CN" altLang="en-US" dirty="0"/>
              <a:t>和点</a:t>
            </a:r>
            <a:r>
              <a:rPr lang="en-US" altLang="zh-CN" dirty="0"/>
              <a:t>b</a:t>
            </a:r>
            <a:r>
              <a:rPr lang="zh-CN" altLang="en-US" dirty="0"/>
              <a:t>，二者连线记为</a:t>
            </a:r>
            <a:r>
              <a:rPr lang="en-US" altLang="zh-CN" dirty="0"/>
              <a:t>L</a:t>
            </a:r>
          </a:p>
          <a:p>
            <a:r>
              <a:rPr lang="zh-CN" altLang="en-US" dirty="0"/>
              <a:t>以</a:t>
            </a:r>
            <a:r>
              <a:rPr lang="en-US" altLang="zh-CN" dirty="0"/>
              <a:t>L</a:t>
            </a:r>
            <a:r>
              <a:rPr lang="zh-CN" altLang="en-US" dirty="0"/>
              <a:t>为轴旋转</a:t>
            </a:r>
            <a:r>
              <a:rPr lang="el-GR" altLang="zh-CN" dirty="0"/>
              <a:t>π </a:t>
            </a:r>
            <a:r>
              <a:rPr lang="zh-CN" altLang="en-US" dirty="0"/>
              <a:t>，第一次碰到的点</a:t>
            </a:r>
            <a:r>
              <a:rPr lang="en-US" altLang="zh-CN" dirty="0"/>
              <a:t>c</a:t>
            </a:r>
            <a:r>
              <a:rPr lang="zh-CN" altLang="en-US" dirty="0"/>
              <a:t>一定和</a:t>
            </a:r>
            <a:r>
              <a:rPr lang="en-US" altLang="zh-CN" dirty="0"/>
              <a:t>a</a:t>
            </a:r>
            <a:r>
              <a:rPr lang="zh-CN" altLang="en-US" dirty="0"/>
              <a:t>或者</a:t>
            </a:r>
            <a:r>
              <a:rPr lang="en-US" altLang="zh-CN" dirty="0"/>
              <a:t>b</a:t>
            </a:r>
            <a:r>
              <a:rPr lang="zh-CN" altLang="en-US" dirty="0"/>
              <a:t>相邻，则</a:t>
            </a:r>
            <a:r>
              <a:rPr lang="en-US" altLang="zh-CN" dirty="0" err="1"/>
              <a:t>abc</a:t>
            </a:r>
            <a:r>
              <a:rPr lang="zh-CN" altLang="en-US" dirty="0"/>
              <a:t>是一个新增面，下次绕</a:t>
            </a:r>
            <a:r>
              <a:rPr lang="en-US" altLang="zh-CN" dirty="0" err="1"/>
              <a:t>cb</a:t>
            </a:r>
            <a:r>
              <a:rPr lang="zh-CN" altLang="en-US" dirty="0"/>
              <a:t>旋转（假定</a:t>
            </a:r>
            <a:r>
              <a:rPr lang="en-US" altLang="zh-CN" dirty="0"/>
              <a:t>c</a:t>
            </a:r>
            <a:r>
              <a:rPr lang="zh-CN" altLang="en-US" dirty="0"/>
              <a:t>在</a:t>
            </a:r>
            <a:r>
              <a:rPr lang="en-US" altLang="zh-CN" dirty="0"/>
              <a:t>A</a:t>
            </a:r>
            <a:r>
              <a:rPr lang="zh-CN" altLang="en-US" dirty="0"/>
              <a:t>中）</a:t>
            </a:r>
            <a:endParaRPr lang="en-US" altLang="zh-CN" dirty="0"/>
          </a:p>
        </p:txBody>
      </p:sp>
      <p:pic>
        <p:nvPicPr>
          <p:cNvPr id="4" name="Picture 3"/>
          <p:cNvPicPr>
            <a:picLocks noChangeAspect="1" noChangeArrowheads="1"/>
          </p:cNvPicPr>
          <p:nvPr/>
        </p:nvPicPr>
        <p:blipFill>
          <a:blip r:embed="rId2" cstate="print"/>
          <a:srcRect/>
          <a:stretch>
            <a:fillRect/>
          </a:stretch>
        </p:blipFill>
        <p:spPr bwMode="auto">
          <a:xfrm>
            <a:off x="2483768" y="2780928"/>
            <a:ext cx="3960440" cy="2977789"/>
          </a:xfrm>
          <a:prstGeom prst="rect">
            <a:avLst/>
          </a:prstGeom>
          <a:noFill/>
          <a:ln w="9525">
            <a:noFill/>
            <a:miter lim="800000"/>
            <a:headEnd/>
            <a:tailEnd/>
          </a:ln>
        </p:spPr>
      </p:pic>
      <p:sp>
        <p:nvSpPr>
          <p:cNvPr id="6" name="TextBox 5"/>
          <p:cNvSpPr txBox="1"/>
          <p:nvPr/>
        </p:nvSpPr>
        <p:spPr>
          <a:xfrm>
            <a:off x="85007" y="5664150"/>
            <a:ext cx="8701421" cy="954107"/>
          </a:xfrm>
          <a:prstGeom prst="rect">
            <a:avLst/>
          </a:prstGeom>
          <a:noFill/>
        </p:spPr>
        <p:txBody>
          <a:bodyPr wrap="none" rtlCol="0">
            <a:spAutoFit/>
          </a:bodyPr>
          <a:lstStyle/>
          <a:p>
            <a:r>
              <a:rPr lang="zh-CN" altLang="en-US" sz="2800" b="1" dirty="0">
                <a:solidFill>
                  <a:srgbClr val="FF0000"/>
                </a:solidFill>
              </a:rPr>
              <a:t>问题</a:t>
            </a:r>
            <a:r>
              <a:rPr lang="en-US" altLang="zh-CN" sz="2800" b="1" dirty="0">
                <a:solidFill>
                  <a:srgbClr val="FF0000"/>
                </a:solidFill>
              </a:rPr>
              <a:t>1</a:t>
            </a:r>
            <a:r>
              <a:rPr lang="zh-CN" altLang="en-US" sz="2800" b="1" dirty="0">
                <a:solidFill>
                  <a:srgbClr val="FF0000"/>
                </a:solidFill>
              </a:rPr>
              <a:t>：</a:t>
            </a:r>
            <a:r>
              <a:rPr lang="zh-CN" altLang="en-US" sz="2800" dirty="0"/>
              <a:t>找</a:t>
            </a:r>
            <a:r>
              <a:rPr lang="en-US" altLang="zh-CN" sz="2800" dirty="0"/>
              <a:t>A-winner</a:t>
            </a:r>
            <a:r>
              <a:rPr lang="zh-CN" altLang="en-US" sz="2800" dirty="0"/>
              <a:t>和</a:t>
            </a:r>
            <a:r>
              <a:rPr lang="en-US" altLang="zh-CN" sz="2800" dirty="0"/>
              <a:t>B-winner</a:t>
            </a:r>
            <a:r>
              <a:rPr lang="zh-CN" altLang="en-US" sz="2800" dirty="0"/>
              <a:t>需要线性时间？平摊</a:t>
            </a:r>
            <a:r>
              <a:rPr lang="en-US" altLang="zh-CN" sz="2800" dirty="0"/>
              <a:t>O(1)</a:t>
            </a:r>
          </a:p>
          <a:p>
            <a:r>
              <a:rPr lang="zh-CN" altLang="en-US" sz="2800" b="1" dirty="0">
                <a:solidFill>
                  <a:srgbClr val="FF0000"/>
                </a:solidFill>
              </a:rPr>
              <a:t>问题</a:t>
            </a:r>
            <a:r>
              <a:rPr lang="en-US" altLang="zh-CN" sz="2800" b="1" dirty="0">
                <a:solidFill>
                  <a:srgbClr val="FF0000"/>
                </a:solidFill>
              </a:rPr>
              <a:t>2</a:t>
            </a:r>
            <a:r>
              <a:rPr lang="zh-CN" altLang="en-US" sz="2800" b="1" dirty="0">
                <a:solidFill>
                  <a:srgbClr val="FF0000"/>
                </a:solidFill>
              </a:rPr>
              <a:t>：</a:t>
            </a:r>
            <a:r>
              <a:rPr lang="zh-CN" altLang="en-US" sz="2800" dirty="0"/>
              <a:t>旋转轴改变以后要重算</a:t>
            </a:r>
            <a:r>
              <a:rPr lang="en-US" altLang="zh-CN" sz="2800" dirty="0"/>
              <a:t>winner</a:t>
            </a:r>
            <a:r>
              <a:rPr lang="zh-CN" altLang="en-US" sz="2800" dirty="0"/>
              <a:t>么？单调性</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消除隐藏面</a:t>
            </a:r>
          </a:p>
        </p:txBody>
      </p:sp>
      <p:sp>
        <p:nvSpPr>
          <p:cNvPr id="3" name="内容占位符 2"/>
          <p:cNvSpPr>
            <a:spLocks noGrp="1"/>
          </p:cNvSpPr>
          <p:nvPr>
            <p:ph idx="1"/>
          </p:nvPr>
        </p:nvSpPr>
        <p:spPr/>
        <p:txBody>
          <a:bodyPr/>
          <a:lstStyle/>
          <a:p>
            <a:r>
              <a:rPr lang="zh-CN" altLang="en-US" dirty="0"/>
              <a:t>上述算法虽然不会直接找到隐藏面，但会找到“阴影边界”</a:t>
            </a:r>
            <a:r>
              <a:rPr lang="en-US" altLang="zh-CN" dirty="0"/>
              <a:t>(shadow boundary)</a:t>
            </a:r>
            <a:r>
              <a:rPr lang="zh-CN" altLang="en-US" dirty="0"/>
              <a:t>，而隐藏面（可见面）就是包含边界上的某条边的面</a:t>
            </a:r>
          </a:p>
        </p:txBody>
      </p:sp>
      <p:pic>
        <p:nvPicPr>
          <p:cNvPr id="120834" name="Picture 2"/>
          <p:cNvPicPr>
            <a:picLocks noChangeAspect="1" noChangeArrowheads="1"/>
          </p:cNvPicPr>
          <p:nvPr/>
        </p:nvPicPr>
        <p:blipFill>
          <a:blip r:embed="rId2" cstate="print"/>
          <a:srcRect/>
          <a:stretch>
            <a:fillRect/>
          </a:stretch>
        </p:blipFill>
        <p:spPr bwMode="auto">
          <a:xfrm>
            <a:off x="2339752" y="3308362"/>
            <a:ext cx="4896544" cy="3216982"/>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练习：找出边界</a:t>
            </a:r>
          </a:p>
        </p:txBody>
      </p:sp>
      <p:pic>
        <p:nvPicPr>
          <p:cNvPr id="121858" name="Picture 2"/>
          <p:cNvPicPr>
            <a:picLocks noChangeAspect="1" noChangeArrowheads="1"/>
          </p:cNvPicPr>
          <p:nvPr/>
        </p:nvPicPr>
        <p:blipFill>
          <a:blip r:embed="rId2" cstate="print"/>
          <a:srcRect/>
          <a:stretch>
            <a:fillRect/>
          </a:stretch>
        </p:blipFill>
        <p:spPr bwMode="auto">
          <a:xfrm>
            <a:off x="1619672" y="1268760"/>
            <a:ext cx="5904656" cy="5217259"/>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答案</a:t>
            </a:r>
          </a:p>
        </p:txBody>
      </p:sp>
      <p:pic>
        <p:nvPicPr>
          <p:cNvPr id="122882" name="Picture 2"/>
          <p:cNvPicPr>
            <a:picLocks noChangeAspect="1" noChangeArrowheads="1"/>
          </p:cNvPicPr>
          <p:nvPr/>
        </p:nvPicPr>
        <p:blipFill>
          <a:blip r:embed="rId2" cstate="print"/>
          <a:srcRect/>
          <a:stretch>
            <a:fillRect/>
          </a:stretch>
        </p:blipFill>
        <p:spPr bwMode="auto">
          <a:xfrm>
            <a:off x="683568" y="1340768"/>
            <a:ext cx="7272808" cy="4934506"/>
          </a:xfrm>
          <a:prstGeom prst="rect">
            <a:avLst/>
          </a:prstGeom>
          <a:noFill/>
          <a:ln w="9525">
            <a:noFill/>
            <a:miter lim="800000"/>
            <a:headEnd/>
            <a:tailEnd/>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问题：边界不一定是一个圈</a:t>
            </a:r>
          </a:p>
        </p:txBody>
      </p:sp>
      <p:pic>
        <p:nvPicPr>
          <p:cNvPr id="119810" name="Picture 2"/>
          <p:cNvPicPr>
            <a:picLocks noChangeAspect="1" noChangeArrowheads="1"/>
          </p:cNvPicPr>
          <p:nvPr/>
        </p:nvPicPr>
        <p:blipFill>
          <a:blip r:embed="rId2" cstate="print"/>
          <a:srcRect/>
          <a:stretch>
            <a:fillRect/>
          </a:stretch>
        </p:blipFill>
        <p:spPr bwMode="auto">
          <a:xfrm>
            <a:off x="539552" y="1628800"/>
            <a:ext cx="7975395" cy="4176464"/>
          </a:xfrm>
          <a:prstGeom prst="rect">
            <a:avLst/>
          </a:prstGeom>
          <a:noFill/>
          <a:ln w="9525">
            <a:noFill/>
            <a:miter lim="800000"/>
            <a:headEnd/>
            <a:tailEnd/>
          </a:ln>
        </p:spPr>
      </p:pic>
      <p:sp>
        <p:nvSpPr>
          <p:cNvPr id="6" name="TextBox 5"/>
          <p:cNvSpPr txBox="1"/>
          <p:nvPr/>
        </p:nvSpPr>
        <p:spPr>
          <a:xfrm>
            <a:off x="179512" y="5949280"/>
            <a:ext cx="8712968" cy="461665"/>
          </a:xfrm>
          <a:prstGeom prst="rect">
            <a:avLst/>
          </a:prstGeom>
          <a:noFill/>
        </p:spPr>
        <p:txBody>
          <a:bodyPr wrap="square" rtlCol="0">
            <a:spAutoFit/>
          </a:bodyPr>
          <a:lstStyle/>
          <a:p>
            <a:r>
              <a:rPr lang="zh-CN" altLang="en-US" sz="2400" b="1" dirty="0">
                <a:solidFill>
                  <a:srgbClr val="FF0000"/>
                </a:solidFill>
              </a:rPr>
              <a:t>解决方法：</a:t>
            </a:r>
            <a:r>
              <a:rPr lang="zh-CN" altLang="en-US" sz="2400" b="1" dirty="0"/>
              <a:t>隐藏面是连通的，可以从阴影边界的一条边开始</a:t>
            </a:r>
            <a:r>
              <a:rPr lang="en-US" altLang="zh-CN" sz="2400" b="1" dirty="0"/>
              <a:t>DFS</a:t>
            </a:r>
            <a:endParaRPr lang="zh-CN" altLang="en-US" sz="2400" b="1"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分治算法小结</a:t>
            </a:r>
          </a:p>
        </p:txBody>
      </p:sp>
      <p:sp>
        <p:nvSpPr>
          <p:cNvPr id="3" name="内容占位符 2"/>
          <p:cNvSpPr>
            <a:spLocks noGrp="1"/>
          </p:cNvSpPr>
          <p:nvPr>
            <p:ph idx="1"/>
          </p:nvPr>
        </p:nvSpPr>
        <p:spPr/>
        <p:txBody>
          <a:bodyPr/>
          <a:lstStyle/>
          <a:p>
            <a:r>
              <a:rPr lang="zh-CN" altLang="en-US" dirty="0"/>
              <a:t>按照</a:t>
            </a:r>
            <a:r>
              <a:rPr lang="en-US" altLang="zh-CN" dirty="0"/>
              <a:t>x</a:t>
            </a:r>
            <a:r>
              <a:rPr lang="zh-CN" altLang="en-US" dirty="0"/>
              <a:t>坐标二分</a:t>
            </a:r>
            <a:r>
              <a:rPr lang="en-US" altLang="zh-CN" dirty="0"/>
              <a:t>+</a:t>
            </a:r>
            <a:r>
              <a:rPr lang="zh-CN" altLang="en-US" dirty="0"/>
              <a:t>合并，时间复杂度</a:t>
            </a:r>
            <a:r>
              <a:rPr lang="en-US" altLang="zh-CN" dirty="0"/>
              <a:t>O(n)</a:t>
            </a:r>
          </a:p>
          <a:p>
            <a:r>
              <a:rPr lang="zh-CN" altLang="en-US" dirty="0"/>
              <a:t>合并过程</a:t>
            </a:r>
            <a:endParaRPr lang="en-US" altLang="zh-CN" dirty="0"/>
          </a:p>
          <a:p>
            <a:pPr lvl="1"/>
            <a:r>
              <a:rPr lang="zh-CN" altLang="en-US" dirty="0"/>
              <a:t>从最低平面</a:t>
            </a:r>
            <a:r>
              <a:rPr lang="el-GR" altLang="zh-CN" dirty="0"/>
              <a:t>π</a:t>
            </a:r>
            <a:r>
              <a:rPr lang="zh-CN" altLang="en-US" dirty="0"/>
              <a:t>开始“卷”</a:t>
            </a:r>
            <a:endParaRPr lang="en-US" altLang="zh-CN" dirty="0"/>
          </a:p>
          <a:p>
            <a:pPr lvl="1"/>
            <a:r>
              <a:rPr lang="zh-CN" altLang="en-US" dirty="0"/>
              <a:t>维护</a:t>
            </a:r>
            <a:r>
              <a:rPr lang="en-US" altLang="zh-CN" dirty="0"/>
              <a:t>A-winner</a:t>
            </a:r>
            <a:r>
              <a:rPr lang="zh-CN" altLang="en-US" dirty="0"/>
              <a:t>和</a:t>
            </a:r>
            <a:r>
              <a:rPr lang="en-US" altLang="zh-CN" dirty="0"/>
              <a:t>B-winner</a:t>
            </a:r>
            <a:r>
              <a:rPr lang="zh-CN" altLang="en-US" dirty="0"/>
              <a:t>，每次平摊</a:t>
            </a:r>
            <a:r>
              <a:rPr lang="en-US" altLang="zh-CN" dirty="0"/>
              <a:t>O(1)</a:t>
            </a:r>
            <a:r>
              <a:rPr lang="zh-CN" altLang="en-US" dirty="0"/>
              <a:t>时间</a:t>
            </a:r>
            <a:endParaRPr lang="en-US" altLang="zh-CN" dirty="0"/>
          </a:p>
          <a:p>
            <a:pPr lvl="1"/>
            <a:r>
              <a:rPr lang="zh-CN" altLang="en-US" dirty="0"/>
              <a:t>根据</a:t>
            </a:r>
            <a:r>
              <a:rPr lang="en-US" altLang="zh-CN" dirty="0"/>
              <a:t>A</a:t>
            </a:r>
            <a:r>
              <a:rPr lang="zh-CN" altLang="en-US" dirty="0"/>
              <a:t>和</a:t>
            </a:r>
            <a:r>
              <a:rPr lang="en-US" altLang="zh-CN" dirty="0"/>
              <a:t>B</a:t>
            </a:r>
            <a:r>
              <a:rPr lang="zh-CN" altLang="en-US" dirty="0"/>
              <a:t>上的阴影边界删除隐藏面</a:t>
            </a:r>
            <a:endParaRPr lang="en-US" altLang="zh-CN" dirty="0"/>
          </a:p>
          <a:p>
            <a:pPr lvl="1"/>
            <a:r>
              <a:rPr lang="zh-CN" altLang="en-US" dirty="0"/>
              <a:t>注意阴影边界不一定是一个圈</a:t>
            </a:r>
            <a:endParaRPr lang="en-US" altLang="zh-CN" dirty="0"/>
          </a:p>
          <a:p>
            <a:r>
              <a:rPr lang="zh-CN" altLang="en-US" dirty="0"/>
              <a:t>概念上简单，实现起来困难！</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a:t>
            </a:r>
            <a:r>
              <a:rPr lang="zh-CN" altLang="en-US" dirty="0"/>
              <a:t>算法：换一种描述</a:t>
            </a:r>
          </a:p>
        </p:txBody>
      </p:sp>
      <p:sp>
        <p:nvSpPr>
          <p:cNvPr id="3" name="内容占位符 2"/>
          <p:cNvSpPr>
            <a:spLocks noGrp="1"/>
          </p:cNvSpPr>
          <p:nvPr>
            <p:ph idx="1"/>
          </p:nvPr>
        </p:nvSpPr>
        <p:spPr/>
        <p:txBody>
          <a:bodyPr/>
          <a:lstStyle/>
          <a:p>
            <a:r>
              <a:rPr lang="zh-CN" altLang="en-US" dirty="0"/>
              <a:t>概念</a:t>
            </a:r>
            <a:endParaRPr lang="en-US" altLang="zh-CN" dirty="0"/>
          </a:p>
          <a:p>
            <a:pPr lvl="1"/>
            <a:r>
              <a:rPr lang="en-US" altLang="zh-CN" dirty="0"/>
              <a:t>0-face</a:t>
            </a:r>
            <a:r>
              <a:rPr lang="zh-CN" altLang="en-US" dirty="0"/>
              <a:t>：顶点</a:t>
            </a:r>
            <a:endParaRPr lang="en-US" altLang="zh-CN" dirty="0"/>
          </a:p>
          <a:p>
            <a:pPr lvl="1"/>
            <a:r>
              <a:rPr lang="en-US" altLang="zh-CN" dirty="0"/>
              <a:t>1-face</a:t>
            </a:r>
            <a:r>
              <a:rPr lang="zh-CN" altLang="en-US" dirty="0"/>
              <a:t>：边</a:t>
            </a:r>
            <a:endParaRPr lang="en-US" altLang="zh-CN" dirty="0"/>
          </a:p>
          <a:p>
            <a:pPr lvl="1"/>
            <a:r>
              <a:rPr lang="en-US" altLang="zh-CN" dirty="0"/>
              <a:t>2-face</a:t>
            </a:r>
            <a:r>
              <a:rPr lang="zh-CN" altLang="en-US" dirty="0"/>
              <a:t>：面</a:t>
            </a:r>
            <a:endParaRPr lang="en-US" altLang="zh-CN" dirty="0"/>
          </a:p>
          <a:p>
            <a:r>
              <a:rPr lang="zh-CN" altLang="en-US" dirty="0"/>
              <a:t>下凸包的</a:t>
            </a:r>
            <a:r>
              <a:rPr lang="en-US" altLang="zh-CN" dirty="0"/>
              <a:t>j-face</a:t>
            </a:r>
            <a:r>
              <a:rPr lang="zh-CN" altLang="en-US" dirty="0"/>
              <a:t>由输入点集</a:t>
            </a:r>
            <a:r>
              <a:rPr lang="en-US" altLang="zh-CN" dirty="0"/>
              <a:t>P</a:t>
            </a:r>
            <a:r>
              <a:rPr lang="zh-CN" altLang="en-US" dirty="0"/>
              <a:t>中的</a:t>
            </a:r>
            <a:r>
              <a:rPr lang="en-US" altLang="zh-CN" dirty="0"/>
              <a:t>j+1</a:t>
            </a:r>
            <a:r>
              <a:rPr lang="zh-CN" altLang="en-US" dirty="0"/>
              <a:t>个点组成。这些点在某个平面</a:t>
            </a:r>
            <a:r>
              <a:rPr lang="en-US" altLang="zh-CN" dirty="0"/>
              <a:t>z=</a:t>
            </a:r>
            <a:r>
              <a:rPr lang="en-US" altLang="zh-CN" dirty="0" err="1"/>
              <a:t>sx+ty+b</a:t>
            </a:r>
            <a:r>
              <a:rPr lang="zh-CN" altLang="en-US" dirty="0"/>
              <a:t>内，且</a:t>
            </a:r>
            <a:r>
              <a:rPr lang="en-US" altLang="zh-CN" dirty="0"/>
              <a:t>P</a:t>
            </a:r>
            <a:r>
              <a:rPr lang="zh-CN" altLang="en-US" dirty="0"/>
              <a:t>中的其他点都在平面上方的半空间中。</a:t>
            </a:r>
            <a:endParaRPr lang="en-US" altLang="zh-CN" dirty="0"/>
          </a:p>
          <a:p>
            <a:r>
              <a:rPr lang="zh-CN" altLang="en-US" dirty="0"/>
              <a:t>由对称性，上凸包也可以求出</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a:t>
            </a:r>
            <a:r>
              <a:rPr lang="zh-CN" altLang="en-US" dirty="0"/>
              <a:t>算法：转化为平面问题</a:t>
            </a:r>
          </a:p>
        </p:txBody>
      </p:sp>
      <p:sp>
        <p:nvSpPr>
          <p:cNvPr id="3" name="内容占位符 2"/>
          <p:cNvSpPr>
            <a:spLocks noGrp="1"/>
          </p:cNvSpPr>
          <p:nvPr>
            <p:ph idx="1"/>
          </p:nvPr>
        </p:nvSpPr>
        <p:spPr>
          <a:xfrm>
            <a:off x="457200" y="1600200"/>
            <a:ext cx="8229600" cy="5257800"/>
          </a:xfrm>
        </p:spPr>
        <p:txBody>
          <a:bodyPr>
            <a:normAutofit/>
          </a:bodyPr>
          <a:lstStyle/>
          <a:p>
            <a:r>
              <a:rPr lang="zh-CN" altLang="en-US" dirty="0"/>
              <a:t>定义平面动点</a:t>
            </a:r>
            <a:r>
              <a:rPr lang="en-US" altLang="zh-CN" dirty="0"/>
              <a:t>p</a:t>
            </a:r>
            <a:r>
              <a:rPr lang="en-US" altLang="zh-CN" baseline="-25000" dirty="0"/>
              <a:t>i</a:t>
            </a:r>
            <a:r>
              <a:rPr lang="en-US" altLang="zh-CN" dirty="0"/>
              <a:t>(t)=(</a:t>
            </a:r>
            <a:r>
              <a:rPr lang="en-US" altLang="zh-CN" dirty="0" err="1"/>
              <a:t>x</a:t>
            </a:r>
            <a:r>
              <a:rPr lang="en-US" altLang="zh-CN" baseline="-25000" dirty="0" err="1"/>
              <a:t>i</a:t>
            </a:r>
            <a:r>
              <a:rPr lang="en-US" altLang="zh-CN" dirty="0" err="1"/>
              <a:t>,z</a:t>
            </a:r>
            <a:r>
              <a:rPr lang="en-US" altLang="zh-CN" baseline="-25000" dirty="0" err="1"/>
              <a:t>i</a:t>
            </a:r>
            <a:r>
              <a:rPr lang="en-US" altLang="zh-CN" dirty="0" err="1"/>
              <a:t>-ty</a:t>
            </a:r>
            <a:r>
              <a:rPr lang="en-US" altLang="zh-CN" baseline="-25000" dirty="0" err="1"/>
              <a:t>i</a:t>
            </a:r>
            <a:r>
              <a:rPr lang="en-US" altLang="zh-CN" dirty="0"/>
              <a:t>)</a:t>
            </a:r>
            <a:r>
              <a:rPr lang="zh-CN" altLang="en-US" dirty="0"/>
              <a:t>，其中</a:t>
            </a:r>
            <a:r>
              <a:rPr lang="en-US" altLang="zh-CN" dirty="0"/>
              <a:t>t</a:t>
            </a:r>
            <a:r>
              <a:rPr lang="zh-CN" altLang="en-US" dirty="0"/>
              <a:t>是时间参数。设</a:t>
            </a:r>
            <a:r>
              <a:rPr lang="en-US" altLang="zh-CN" dirty="0"/>
              <a:t>y’=z-</a:t>
            </a:r>
            <a:r>
              <a:rPr lang="en-US" altLang="zh-CN" dirty="0" err="1"/>
              <a:t>ty</a:t>
            </a:r>
            <a:r>
              <a:rPr lang="zh-CN" altLang="en-US" dirty="0"/>
              <a:t>，代入</a:t>
            </a:r>
            <a:r>
              <a:rPr lang="en-US" altLang="zh-CN" dirty="0"/>
              <a:t>z=</a:t>
            </a:r>
            <a:r>
              <a:rPr lang="en-US" altLang="zh-CN" dirty="0" err="1"/>
              <a:t>sx+ty+b</a:t>
            </a:r>
            <a:r>
              <a:rPr lang="zh-CN" altLang="en-US" dirty="0"/>
              <a:t>可知：</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这样，问题转化为了：求</a:t>
            </a:r>
            <a:r>
              <a:rPr lang="en-US" altLang="zh-CN" dirty="0"/>
              <a:t>t</a:t>
            </a:r>
            <a:r>
              <a:rPr lang="zh-CN" altLang="en-US" dirty="0"/>
              <a:t>从负无穷增加到正无穷时，</a:t>
            </a:r>
            <a:r>
              <a:rPr lang="en-US" altLang="zh-CN" dirty="0"/>
              <a:t>P(t)</a:t>
            </a:r>
            <a:r>
              <a:rPr lang="zh-CN" altLang="en-US" dirty="0"/>
              <a:t>的凸包的“动画”。</a:t>
            </a:r>
          </a:p>
        </p:txBody>
      </p:sp>
      <p:sp>
        <p:nvSpPr>
          <p:cNvPr id="4" name="TextBox 3"/>
          <p:cNvSpPr txBox="1"/>
          <p:nvPr/>
        </p:nvSpPr>
        <p:spPr>
          <a:xfrm>
            <a:off x="214282" y="2751608"/>
            <a:ext cx="8786842" cy="2677656"/>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2800" b="1" dirty="0">
                <a:solidFill>
                  <a:srgbClr val="FF0000"/>
                </a:solidFill>
              </a:rPr>
              <a:t>p</a:t>
            </a:r>
            <a:r>
              <a:rPr lang="en-US" altLang="zh-CN" sz="2800" b="1" baseline="-25000" dirty="0">
                <a:solidFill>
                  <a:srgbClr val="FF0000"/>
                </a:solidFill>
              </a:rPr>
              <a:t>i</a:t>
            </a:r>
            <a:r>
              <a:rPr lang="zh-CN" altLang="en-US" sz="2800" b="1" dirty="0">
                <a:solidFill>
                  <a:srgbClr val="FF0000"/>
                </a:solidFill>
              </a:rPr>
              <a:t>是三维凸包的</a:t>
            </a:r>
            <a:r>
              <a:rPr lang="en-US" altLang="zh-CN" sz="2800" b="1" dirty="0">
                <a:solidFill>
                  <a:srgbClr val="FF0000"/>
                </a:solidFill>
              </a:rPr>
              <a:t>0-face</a:t>
            </a:r>
            <a:r>
              <a:rPr lang="zh-CN" altLang="en-US" sz="2800" dirty="0"/>
              <a:t>当且仅当存在某个</a:t>
            </a:r>
            <a:r>
              <a:rPr lang="en-US" altLang="zh-CN" sz="2800" dirty="0"/>
              <a:t>t</a:t>
            </a:r>
            <a:r>
              <a:rPr lang="zh-CN" altLang="en-US" sz="2800" dirty="0"/>
              <a:t>，使得</a:t>
            </a:r>
            <a:endParaRPr lang="en-US" altLang="zh-CN" sz="2800" dirty="0"/>
          </a:p>
          <a:p>
            <a:r>
              <a:rPr lang="en-US" altLang="zh-CN" sz="2800" dirty="0"/>
              <a:t>p</a:t>
            </a:r>
            <a:r>
              <a:rPr lang="en-US" altLang="zh-CN" sz="2800" baseline="-25000" dirty="0"/>
              <a:t>i</a:t>
            </a:r>
            <a:r>
              <a:rPr lang="en-US" altLang="zh-CN" sz="2800" dirty="0"/>
              <a:t>(t)</a:t>
            </a:r>
            <a:r>
              <a:rPr lang="zh-CN" altLang="en-US" sz="2800" dirty="0"/>
              <a:t>在直线</a:t>
            </a:r>
            <a:r>
              <a:rPr lang="en-US" altLang="zh-CN" sz="2800" dirty="0"/>
              <a:t>y’=</a:t>
            </a:r>
            <a:r>
              <a:rPr lang="en-US" altLang="zh-CN" sz="2800" dirty="0" err="1"/>
              <a:t>sx+b</a:t>
            </a:r>
            <a:r>
              <a:rPr lang="zh-CN" altLang="en-US" sz="2800" dirty="0"/>
              <a:t>上，其他点都在直线上方的半平面内，</a:t>
            </a:r>
            <a:endParaRPr lang="en-US" altLang="zh-CN" sz="2800" dirty="0"/>
          </a:p>
          <a:p>
            <a:r>
              <a:rPr lang="zh-CN" altLang="en-US" sz="2800" dirty="0"/>
              <a:t>即</a:t>
            </a:r>
            <a:r>
              <a:rPr lang="en-US" altLang="zh-CN" sz="2800" dirty="0"/>
              <a:t>p</a:t>
            </a:r>
            <a:r>
              <a:rPr lang="en-US" altLang="zh-CN" sz="2800" baseline="-25000" dirty="0"/>
              <a:t>i</a:t>
            </a:r>
            <a:r>
              <a:rPr lang="en-US" altLang="zh-CN" sz="2800" dirty="0"/>
              <a:t>(t)</a:t>
            </a:r>
            <a:r>
              <a:rPr lang="zh-CN" altLang="en-US" sz="2800" dirty="0"/>
              <a:t>是</a:t>
            </a:r>
            <a:r>
              <a:rPr lang="en-US" altLang="zh-CN" sz="2800" dirty="0"/>
              <a:t>P(t)</a:t>
            </a:r>
            <a:r>
              <a:rPr lang="zh-CN" altLang="en-US" sz="2800" dirty="0"/>
              <a:t>的凸包的顶点；</a:t>
            </a:r>
            <a:endParaRPr lang="en-US" altLang="zh-CN" sz="2800" dirty="0"/>
          </a:p>
          <a:p>
            <a:endParaRPr lang="en-US" altLang="zh-CN" sz="2800" dirty="0"/>
          </a:p>
          <a:p>
            <a:r>
              <a:rPr lang="en-US" altLang="zh-CN" sz="2800" b="1" dirty="0" err="1">
                <a:solidFill>
                  <a:srgbClr val="FF0000"/>
                </a:solidFill>
              </a:rPr>
              <a:t>p</a:t>
            </a:r>
            <a:r>
              <a:rPr lang="en-US" altLang="zh-CN" sz="2800" b="1" baseline="-25000" dirty="0" err="1">
                <a:solidFill>
                  <a:srgbClr val="FF0000"/>
                </a:solidFill>
              </a:rPr>
              <a:t>i</a:t>
            </a:r>
            <a:r>
              <a:rPr lang="en-US" altLang="zh-CN" sz="2800" b="1" dirty="0" err="1">
                <a:solidFill>
                  <a:srgbClr val="FF0000"/>
                </a:solidFill>
              </a:rPr>
              <a:t>p</a:t>
            </a:r>
            <a:r>
              <a:rPr lang="en-US" altLang="zh-CN" sz="2800" b="1" baseline="-25000" dirty="0" err="1">
                <a:solidFill>
                  <a:srgbClr val="FF0000"/>
                </a:solidFill>
              </a:rPr>
              <a:t>j</a:t>
            </a:r>
            <a:r>
              <a:rPr lang="zh-CN" altLang="en-US" sz="2800" b="1" dirty="0">
                <a:solidFill>
                  <a:srgbClr val="FF0000"/>
                </a:solidFill>
              </a:rPr>
              <a:t>是三维凸包的</a:t>
            </a:r>
            <a:r>
              <a:rPr lang="en-US" altLang="zh-CN" sz="2800" b="1" dirty="0">
                <a:solidFill>
                  <a:srgbClr val="FF0000"/>
                </a:solidFill>
              </a:rPr>
              <a:t>1-face</a:t>
            </a:r>
            <a:r>
              <a:rPr lang="zh-CN" altLang="en-US" sz="2800" dirty="0"/>
              <a:t>当且仅当存在某个</a:t>
            </a:r>
            <a:r>
              <a:rPr lang="en-US" altLang="zh-CN" sz="2800" dirty="0"/>
              <a:t>t</a:t>
            </a:r>
            <a:r>
              <a:rPr lang="zh-CN" altLang="en-US" sz="2800" dirty="0"/>
              <a:t>，使得</a:t>
            </a:r>
            <a:endParaRPr lang="en-US" altLang="zh-CN" sz="2800" dirty="0"/>
          </a:p>
          <a:p>
            <a:r>
              <a:rPr lang="en-US" altLang="zh-CN" sz="2800" dirty="0"/>
              <a:t>p</a:t>
            </a:r>
            <a:r>
              <a:rPr lang="en-US" altLang="zh-CN" sz="2800" baseline="-25000" dirty="0"/>
              <a:t>i</a:t>
            </a:r>
            <a:r>
              <a:rPr lang="en-US" altLang="zh-CN" sz="2800" dirty="0"/>
              <a:t>(t)</a:t>
            </a:r>
            <a:r>
              <a:rPr lang="en-US" altLang="zh-CN" sz="2800" dirty="0" err="1"/>
              <a:t>p</a:t>
            </a:r>
            <a:r>
              <a:rPr lang="en-US" altLang="zh-CN" sz="2800" baseline="-25000" dirty="0" err="1"/>
              <a:t>j</a:t>
            </a:r>
            <a:r>
              <a:rPr lang="en-US" altLang="zh-CN" sz="2800" dirty="0"/>
              <a:t>(t)</a:t>
            </a:r>
            <a:r>
              <a:rPr lang="zh-CN" altLang="en-US" sz="2800" dirty="0"/>
              <a:t>是</a:t>
            </a:r>
            <a:r>
              <a:rPr lang="en-US" altLang="zh-CN" sz="2800" dirty="0"/>
              <a:t>P(t)</a:t>
            </a:r>
            <a:r>
              <a:rPr lang="zh-CN" altLang="en-US" sz="2800" dirty="0"/>
              <a:t>的凸包的边</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a:t>
            </a:r>
            <a:r>
              <a:rPr lang="zh-CN" altLang="en-US" dirty="0"/>
              <a:t>算法：用事件序列表示动画</a:t>
            </a:r>
          </a:p>
        </p:txBody>
      </p:sp>
      <p:sp>
        <p:nvSpPr>
          <p:cNvPr id="3" name="内容占位符 2"/>
          <p:cNvSpPr>
            <a:spLocks noGrp="1"/>
          </p:cNvSpPr>
          <p:nvPr>
            <p:ph idx="1"/>
          </p:nvPr>
        </p:nvSpPr>
        <p:spPr/>
        <p:txBody>
          <a:bodyPr/>
          <a:lstStyle/>
          <a:p>
            <a:r>
              <a:rPr lang="zh-CN" altLang="en-US" dirty="0"/>
              <a:t>随着时间的流逝，动画中会出现各种事件</a:t>
            </a:r>
            <a:endParaRPr lang="en-US" altLang="zh-CN" dirty="0"/>
          </a:p>
          <a:p>
            <a:pPr lvl="1"/>
            <a:r>
              <a:rPr lang="zh-CN" altLang="en-US" dirty="0"/>
              <a:t>插入事件：</a:t>
            </a:r>
            <a:r>
              <a:rPr lang="en-US" altLang="zh-CN" dirty="0" err="1"/>
              <a:t>p</a:t>
            </a:r>
            <a:r>
              <a:rPr lang="en-US" altLang="zh-CN" baseline="-25000" dirty="0" err="1"/>
              <a:t>j</a:t>
            </a:r>
            <a:r>
              <a:rPr lang="zh-CN" altLang="en-US" dirty="0"/>
              <a:t>出现在二维凸包的</a:t>
            </a:r>
            <a:r>
              <a:rPr lang="en-US" altLang="zh-CN" dirty="0"/>
              <a:t>p</a:t>
            </a:r>
            <a:r>
              <a:rPr lang="en-US" altLang="zh-CN" baseline="-25000" dirty="0"/>
              <a:t>i</a:t>
            </a:r>
            <a:r>
              <a:rPr lang="zh-CN" altLang="en-US" dirty="0"/>
              <a:t>和</a:t>
            </a:r>
            <a:r>
              <a:rPr lang="en-US" altLang="zh-CN" dirty="0" err="1"/>
              <a:t>p</a:t>
            </a:r>
            <a:r>
              <a:rPr lang="en-US" altLang="zh-CN" baseline="-25000" dirty="0" err="1"/>
              <a:t>k</a:t>
            </a:r>
            <a:r>
              <a:rPr lang="zh-CN" altLang="en-US" dirty="0"/>
              <a:t>之间，建立两条新边</a:t>
            </a:r>
            <a:r>
              <a:rPr lang="en-US" altLang="zh-CN" dirty="0" err="1"/>
              <a:t>p</a:t>
            </a:r>
            <a:r>
              <a:rPr lang="en-US" altLang="zh-CN" baseline="-25000" dirty="0" err="1"/>
              <a:t>i</a:t>
            </a:r>
            <a:r>
              <a:rPr lang="en-US" altLang="zh-CN" dirty="0" err="1"/>
              <a:t>p</a:t>
            </a:r>
            <a:r>
              <a:rPr lang="en-US" altLang="zh-CN" baseline="-25000" dirty="0" err="1"/>
              <a:t>j</a:t>
            </a:r>
            <a:r>
              <a:rPr lang="en-US" altLang="zh-CN" dirty="0"/>
              <a:t>, </a:t>
            </a:r>
            <a:r>
              <a:rPr lang="en-US" altLang="zh-CN" dirty="0" err="1"/>
              <a:t>p</a:t>
            </a:r>
            <a:r>
              <a:rPr lang="en-US" altLang="zh-CN" baseline="-25000" dirty="0" err="1"/>
              <a:t>j</a:t>
            </a:r>
            <a:r>
              <a:rPr lang="en-US" altLang="zh-CN" dirty="0" err="1"/>
              <a:t>p</a:t>
            </a:r>
            <a:r>
              <a:rPr lang="en-US" altLang="zh-CN" baseline="-25000" dirty="0" err="1"/>
              <a:t>k</a:t>
            </a:r>
            <a:r>
              <a:rPr lang="zh-CN" altLang="en-US" dirty="0"/>
              <a:t>，删除旧边</a:t>
            </a:r>
            <a:r>
              <a:rPr lang="en-US" altLang="zh-CN" dirty="0" err="1"/>
              <a:t>p</a:t>
            </a:r>
            <a:r>
              <a:rPr lang="en-US" altLang="zh-CN" baseline="-25000" dirty="0" err="1"/>
              <a:t>i</a:t>
            </a:r>
            <a:r>
              <a:rPr lang="en-US" altLang="zh-CN" dirty="0" err="1"/>
              <a:t>p</a:t>
            </a:r>
            <a:r>
              <a:rPr lang="en-US" altLang="zh-CN" baseline="-25000" dirty="0" err="1"/>
              <a:t>k</a:t>
            </a:r>
            <a:endParaRPr lang="en-US" altLang="zh-CN" baseline="-25000" dirty="0"/>
          </a:p>
          <a:p>
            <a:pPr lvl="1"/>
            <a:r>
              <a:rPr lang="zh-CN" altLang="en-US" dirty="0"/>
              <a:t>删除事件：</a:t>
            </a:r>
            <a:r>
              <a:rPr lang="en-US" altLang="zh-CN" dirty="0" err="1"/>
              <a:t>p</a:t>
            </a:r>
            <a:r>
              <a:rPr lang="en-US" altLang="zh-CN" baseline="-25000" dirty="0" err="1"/>
              <a:t>j</a:t>
            </a:r>
            <a:r>
              <a:rPr lang="zh-CN" altLang="en-US" dirty="0"/>
              <a:t>从二维凸包中消失，删除旧边</a:t>
            </a:r>
            <a:r>
              <a:rPr lang="en-US" altLang="zh-CN" dirty="0" err="1"/>
              <a:t>p</a:t>
            </a:r>
            <a:r>
              <a:rPr lang="en-US" altLang="zh-CN" baseline="-25000" dirty="0" err="1"/>
              <a:t>i</a:t>
            </a:r>
            <a:r>
              <a:rPr lang="en-US" altLang="zh-CN" dirty="0" err="1"/>
              <a:t>p</a:t>
            </a:r>
            <a:r>
              <a:rPr lang="en-US" altLang="zh-CN" baseline="-25000" dirty="0" err="1"/>
              <a:t>j</a:t>
            </a:r>
            <a:r>
              <a:rPr lang="zh-CN" altLang="en-US" dirty="0"/>
              <a:t>和</a:t>
            </a:r>
            <a:r>
              <a:rPr lang="en-US" altLang="zh-CN" dirty="0" err="1"/>
              <a:t>p</a:t>
            </a:r>
            <a:r>
              <a:rPr lang="en-US" altLang="zh-CN" baseline="-25000" dirty="0" err="1"/>
              <a:t>j</a:t>
            </a:r>
            <a:r>
              <a:rPr lang="en-US" altLang="zh-CN" dirty="0" err="1"/>
              <a:t>p</a:t>
            </a:r>
            <a:r>
              <a:rPr lang="en-US" altLang="zh-CN" baseline="-25000" dirty="0" err="1"/>
              <a:t>k</a:t>
            </a:r>
            <a:r>
              <a:rPr lang="zh-CN" altLang="en-US" dirty="0"/>
              <a:t>，建立新边</a:t>
            </a:r>
            <a:r>
              <a:rPr lang="en-US" altLang="zh-CN" dirty="0" err="1"/>
              <a:t>p</a:t>
            </a:r>
            <a:r>
              <a:rPr lang="en-US" altLang="zh-CN" baseline="-25000" dirty="0" err="1"/>
              <a:t>i</a:t>
            </a:r>
            <a:r>
              <a:rPr lang="en-US" altLang="zh-CN" dirty="0" err="1"/>
              <a:t>p</a:t>
            </a:r>
            <a:r>
              <a:rPr lang="en-US" altLang="zh-CN" baseline="-25000" dirty="0" err="1"/>
              <a:t>k</a:t>
            </a:r>
            <a:endParaRPr lang="en-US" altLang="zh-CN" baseline="-25000" dirty="0"/>
          </a:p>
          <a:p>
            <a:r>
              <a:rPr lang="zh-CN" altLang="en-US" dirty="0"/>
              <a:t>两种情况下，</a:t>
            </a:r>
            <a:r>
              <a:rPr lang="en-US" altLang="zh-CN" dirty="0" err="1"/>
              <a:t>p</a:t>
            </a:r>
            <a:r>
              <a:rPr lang="en-US" altLang="zh-CN" baseline="-25000" dirty="0" err="1"/>
              <a:t>i</a:t>
            </a:r>
            <a:r>
              <a:rPr lang="en-US" altLang="zh-CN" dirty="0" err="1"/>
              <a:t>p</a:t>
            </a:r>
            <a:r>
              <a:rPr lang="en-US" altLang="zh-CN" baseline="-25000" dirty="0" err="1"/>
              <a:t>j</a:t>
            </a:r>
            <a:r>
              <a:rPr lang="en-US" altLang="zh-CN" dirty="0" err="1"/>
              <a:t>p</a:t>
            </a:r>
            <a:r>
              <a:rPr lang="en-US" altLang="zh-CN" baseline="-25000" dirty="0" err="1"/>
              <a:t>k</a:t>
            </a:r>
            <a:r>
              <a:rPr lang="zh-CN" altLang="en-US" dirty="0"/>
              <a:t>都是三维凸包中的点</a:t>
            </a:r>
            <a:endParaRPr lang="en-US" altLang="zh-CN" dirty="0"/>
          </a:p>
          <a:p>
            <a:r>
              <a:rPr lang="zh-CN" altLang="en-US" dirty="0"/>
              <a:t>每个点至多被插入一次和删除一次，因此事件总数（这也是新面的总数）不超过</a:t>
            </a:r>
            <a:r>
              <a:rPr lang="en-US" altLang="zh-CN" dirty="0"/>
              <a:t>2n</a:t>
            </a: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a:t>
            </a:r>
            <a:r>
              <a:rPr lang="zh-CN" altLang="en-US" dirty="0"/>
              <a:t>算法：合并步骤</a:t>
            </a:r>
          </a:p>
        </p:txBody>
      </p:sp>
      <p:sp>
        <p:nvSpPr>
          <p:cNvPr id="3" name="内容占位符 2"/>
          <p:cNvSpPr>
            <a:spLocks noGrp="1"/>
          </p:cNvSpPr>
          <p:nvPr>
            <p:ph idx="1"/>
          </p:nvPr>
        </p:nvSpPr>
        <p:spPr/>
        <p:txBody>
          <a:bodyPr/>
          <a:lstStyle/>
          <a:p>
            <a:r>
              <a:rPr lang="zh-CN" altLang="en-US" b="1" dirty="0">
                <a:solidFill>
                  <a:srgbClr val="FF0000"/>
                </a:solidFill>
              </a:rPr>
              <a:t>步骤一：</a:t>
            </a:r>
            <a:r>
              <a:rPr lang="zh-CN" altLang="en-US" dirty="0"/>
              <a:t>合并初始下凸包，即</a:t>
            </a:r>
            <a:r>
              <a:rPr lang="en-US" altLang="zh-CN" dirty="0"/>
              <a:t>t</a:t>
            </a:r>
            <a:r>
              <a:rPr lang="zh-CN" altLang="en-US" dirty="0"/>
              <a:t>为负无穷时的两个下凸包，线性扫描找切线，</a:t>
            </a:r>
            <a:r>
              <a:rPr lang="en-US" altLang="zh-CN" dirty="0"/>
              <a:t>O(n)</a:t>
            </a:r>
            <a:r>
              <a:rPr lang="zh-CN" altLang="en-US" dirty="0"/>
              <a:t>时间</a:t>
            </a:r>
            <a:endParaRPr lang="en-US" altLang="zh-CN" dirty="0"/>
          </a:p>
          <a:p>
            <a:pPr lvl="1"/>
            <a:r>
              <a:rPr lang="en-US" altLang="zh-CN" dirty="0"/>
              <a:t>u</a:t>
            </a:r>
            <a:r>
              <a:rPr lang="zh-CN" altLang="en-US" dirty="0"/>
              <a:t>初始在</a:t>
            </a:r>
            <a:r>
              <a:rPr lang="en-US" altLang="zh-CN" dirty="0"/>
              <a:t>L</a:t>
            </a:r>
            <a:r>
              <a:rPr lang="zh-CN" altLang="en-US" dirty="0"/>
              <a:t>的最右点，</a:t>
            </a:r>
            <a:r>
              <a:rPr lang="en-US" altLang="zh-CN" dirty="0"/>
              <a:t>v</a:t>
            </a:r>
            <a:r>
              <a:rPr lang="zh-CN" altLang="en-US" dirty="0"/>
              <a:t>在</a:t>
            </a:r>
            <a:r>
              <a:rPr lang="en-US" altLang="zh-CN" dirty="0"/>
              <a:t>R</a:t>
            </a:r>
            <a:r>
              <a:rPr lang="zh-CN" altLang="en-US" dirty="0"/>
              <a:t>的最左点</a:t>
            </a:r>
            <a:endParaRPr lang="en-US" altLang="zh-CN" dirty="0"/>
          </a:p>
          <a:p>
            <a:pPr lvl="1"/>
            <a:r>
              <a:rPr lang="en-US" altLang="zh-CN" dirty="0"/>
              <a:t>u</a:t>
            </a:r>
            <a:r>
              <a:rPr lang="zh-CN" altLang="en-US" dirty="0"/>
              <a:t>往左移动，</a:t>
            </a:r>
            <a:r>
              <a:rPr lang="en-US" altLang="zh-CN" dirty="0"/>
              <a:t>v</a:t>
            </a:r>
            <a:r>
              <a:rPr lang="zh-CN" altLang="en-US" dirty="0"/>
              <a:t>往右移动，直到</a:t>
            </a:r>
            <a:r>
              <a:rPr lang="en-US" altLang="zh-CN" dirty="0" err="1"/>
              <a:t>uv</a:t>
            </a:r>
            <a:r>
              <a:rPr lang="zh-CN" altLang="en-US" dirty="0"/>
              <a:t>是共切线</a:t>
            </a:r>
          </a:p>
        </p:txBody>
      </p:sp>
      <p:pic>
        <p:nvPicPr>
          <p:cNvPr id="128002" name="Picture 2"/>
          <p:cNvPicPr>
            <a:picLocks noChangeAspect="1" noChangeArrowheads="1"/>
          </p:cNvPicPr>
          <p:nvPr/>
        </p:nvPicPr>
        <p:blipFill>
          <a:blip r:embed="rId2" cstate="print"/>
          <a:srcRect/>
          <a:stretch>
            <a:fillRect/>
          </a:stretch>
        </p:blipFill>
        <p:spPr bwMode="auto">
          <a:xfrm>
            <a:off x="683568" y="3789040"/>
            <a:ext cx="7776864" cy="2742733"/>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4525963"/>
          </a:xfrm>
        </p:spPr>
        <p:txBody>
          <a:bodyPr/>
          <a:lstStyle/>
          <a:p>
            <a:r>
              <a:rPr lang="zh-CN" altLang="en-US" b="1" dirty="0">
                <a:solidFill>
                  <a:srgbClr val="FF0000"/>
                </a:solidFill>
              </a:rPr>
              <a:t>步骤二：</a:t>
            </a:r>
            <a:r>
              <a:rPr lang="zh-CN" altLang="en-US" dirty="0"/>
              <a:t>按时间顺序依次处理各个事件。合并后凸包</a:t>
            </a:r>
            <a:r>
              <a:rPr lang="en-US" altLang="zh-CN" dirty="0"/>
              <a:t>A</a:t>
            </a:r>
            <a:r>
              <a:rPr lang="zh-CN" altLang="en-US" dirty="0"/>
              <a:t>的变化如下：</a:t>
            </a:r>
            <a:endParaRPr lang="en-US" altLang="zh-CN" dirty="0"/>
          </a:p>
          <a:p>
            <a:pPr lvl="1"/>
            <a:r>
              <a:rPr lang="zh-CN" altLang="en-US" dirty="0"/>
              <a:t>如果</a:t>
            </a:r>
            <a:r>
              <a:rPr lang="en-US" altLang="zh-CN" dirty="0"/>
              <a:t>L</a:t>
            </a:r>
            <a:r>
              <a:rPr lang="zh-CN" altLang="en-US" dirty="0"/>
              <a:t>插入或删除了结点</a:t>
            </a:r>
            <a:r>
              <a:rPr lang="en-US" altLang="zh-CN" dirty="0"/>
              <a:t>w</a:t>
            </a:r>
            <a:r>
              <a:rPr lang="zh-CN" altLang="en-US" dirty="0"/>
              <a:t>，则当且仅当</a:t>
            </a:r>
            <a:r>
              <a:rPr lang="en-US" altLang="zh-CN" dirty="0"/>
              <a:t>w</a:t>
            </a:r>
            <a:r>
              <a:rPr lang="zh-CN" altLang="en-US" dirty="0"/>
              <a:t>在</a:t>
            </a:r>
            <a:r>
              <a:rPr lang="en-US" altLang="zh-CN" dirty="0"/>
              <a:t>u</a:t>
            </a:r>
            <a:r>
              <a:rPr lang="zh-CN" altLang="en-US" dirty="0"/>
              <a:t>的左侧时，</a:t>
            </a:r>
            <a:r>
              <a:rPr lang="en-US" altLang="zh-CN" dirty="0"/>
              <a:t>A</a:t>
            </a:r>
            <a:r>
              <a:rPr lang="zh-CN" altLang="en-US" dirty="0"/>
              <a:t>会有同样的变化</a:t>
            </a:r>
            <a:endParaRPr lang="en-US" altLang="zh-CN" dirty="0"/>
          </a:p>
          <a:p>
            <a:pPr lvl="1"/>
            <a:r>
              <a:rPr lang="zh-CN" altLang="en-US" dirty="0"/>
              <a:t>如果</a:t>
            </a:r>
            <a:r>
              <a:rPr lang="en-US" altLang="zh-CN" dirty="0"/>
              <a:t>R</a:t>
            </a:r>
            <a:r>
              <a:rPr lang="zh-CN" altLang="en-US" dirty="0"/>
              <a:t>插入或删除了结点</a:t>
            </a:r>
            <a:r>
              <a:rPr lang="en-US" altLang="zh-CN" dirty="0"/>
              <a:t>w</a:t>
            </a:r>
            <a:r>
              <a:rPr lang="zh-CN" altLang="en-US" dirty="0"/>
              <a:t>，则当且仅当</a:t>
            </a:r>
            <a:r>
              <a:rPr lang="en-US" altLang="zh-CN" dirty="0"/>
              <a:t>w</a:t>
            </a:r>
            <a:r>
              <a:rPr lang="zh-CN" altLang="en-US" dirty="0"/>
              <a:t>在</a:t>
            </a:r>
            <a:r>
              <a:rPr lang="en-US" altLang="zh-CN" dirty="0"/>
              <a:t>u</a:t>
            </a:r>
            <a:r>
              <a:rPr lang="zh-CN" altLang="en-US" dirty="0"/>
              <a:t>的右侧时，</a:t>
            </a:r>
            <a:r>
              <a:rPr lang="en-US" altLang="zh-CN" dirty="0"/>
              <a:t>A</a:t>
            </a:r>
            <a:r>
              <a:rPr lang="zh-CN" altLang="en-US" dirty="0"/>
              <a:t>会有同样的变化</a:t>
            </a:r>
            <a:endParaRPr lang="en-US" altLang="zh-CN" dirty="0"/>
          </a:p>
        </p:txBody>
      </p:sp>
      <p:pic>
        <p:nvPicPr>
          <p:cNvPr id="6" name="Picture 2"/>
          <p:cNvPicPr>
            <a:picLocks noChangeAspect="1" noChangeArrowheads="1"/>
          </p:cNvPicPr>
          <p:nvPr/>
        </p:nvPicPr>
        <p:blipFill>
          <a:blip r:embed="rId2" cstate="print"/>
          <a:srcRect/>
          <a:stretch>
            <a:fillRect/>
          </a:stretch>
        </p:blipFill>
        <p:spPr bwMode="auto">
          <a:xfrm>
            <a:off x="683568" y="3789040"/>
            <a:ext cx="7776864" cy="2742733"/>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3312368"/>
          </a:xfrm>
        </p:spPr>
        <p:txBody>
          <a:bodyPr>
            <a:normAutofit/>
          </a:bodyPr>
          <a:lstStyle/>
          <a:p>
            <a:r>
              <a:rPr lang="zh-CN" altLang="en-US" dirty="0"/>
              <a:t>切线变化比较复杂，有四种情况</a:t>
            </a:r>
            <a:endParaRPr lang="en-US" altLang="zh-CN" dirty="0"/>
          </a:p>
          <a:p>
            <a:pPr lvl="1"/>
            <a:r>
              <a:rPr lang="en-US" altLang="zh-CN" dirty="0"/>
              <a:t>u</a:t>
            </a:r>
            <a:r>
              <a:rPr lang="en-US" altLang="zh-CN" baseline="30000" dirty="0"/>
              <a:t>-</a:t>
            </a:r>
            <a:r>
              <a:rPr lang="en-US" altLang="zh-CN" dirty="0" err="1"/>
              <a:t>uv</a:t>
            </a:r>
            <a:r>
              <a:rPr lang="zh-CN" altLang="en-US" dirty="0"/>
              <a:t>顺时针</a:t>
            </a:r>
            <a:r>
              <a:rPr lang="en-US" altLang="zh-CN" dirty="0">
                <a:sym typeface="Wingdings" pitchFamily="2" charset="2"/>
              </a:rPr>
              <a:t></a:t>
            </a:r>
            <a:r>
              <a:rPr lang="en-US" altLang="zh-CN" dirty="0"/>
              <a:t>u</a:t>
            </a:r>
            <a:r>
              <a:rPr lang="en-US" altLang="zh-CN" baseline="30000" dirty="0"/>
              <a:t>-</a:t>
            </a:r>
            <a:r>
              <a:rPr lang="en-US" altLang="zh-CN" dirty="0"/>
              <a:t>v</a:t>
            </a:r>
            <a:r>
              <a:rPr lang="zh-CN" altLang="en-US" dirty="0"/>
              <a:t>变成切线，在</a:t>
            </a:r>
            <a:r>
              <a:rPr lang="en-US" altLang="zh-CN" dirty="0"/>
              <a:t>u</a:t>
            </a:r>
            <a:r>
              <a:rPr lang="en-US" altLang="zh-CN" baseline="30000" dirty="0"/>
              <a:t>-</a:t>
            </a:r>
            <a:r>
              <a:rPr lang="zh-CN" altLang="en-US" dirty="0"/>
              <a:t>和</a:t>
            </a:r>
            <a:r>
              <a:rPr lang="en-US" altLang="zh-CN" dirty="0"/>
              <a:t>v</a:t>
            </a:r>
            <a:r>
              <a:rPr lang="zh-CN" altLang="en-US" dirty="0"/>
              <a:t>之间删除</a:t>
            </a:r>
            <a:r>
              <a:rPr lang="en-US" altLang="zh-CN" dirty="0"/>
              <a:t>u</a:t>
            </a:r>
          </a:p>
          <a:p>
            <a:pPr lvl="1"/>
            <a:r>
              <a:rPr lang="en-US" altLang="zh-CN" dirty="0" err="1"/>
              <a:t>uu</a:t>
            </a:r>
            <a:r>
              <a:rPr lang="en-US" altLang="zh-CN" baseline="30000" dirty="0" err="1"/>
              <a:t>+</a:t>
            </a:r>
            <a:r>
              <a:rPr lang="en-US" altLang="zh-CN" dirty="0" err="1"/>
              <a:t>v</a:t>
            </a:r>
            <a:r>
              <a:rPr lang="zh-CN" altLang="en-US" dirty="0"/>
              <a:t>逆时针</a:t>
            </a:r>
            <a:r>
              <a:rPr lang="en-US" altLang="zh-CN" dirty="0">
                <a:sym typeface="Wingdings" pitchFamily="2" charset="2"/>
              </a:rPr>
              <a:t></a:t>
            </a:r>
            <a:r>
              <a:rPr lang="en-US" altLang="zh-CN" dirty="0" err="1"/>
              <a:t>u</a:t>
            </a:r>
            <a:r>
              <a:rPr lang="en-US" altLang="zh-CN" baseline="30000" dirty="0" err="1"/>
              <a:t>+</a:t>
            </a:r>
            <a:r>
              <a:rPr lang="en-US" altLang="zh-CN" dirty="0" err="1"/>
              <a:t>v</a:t>
            </a:r>
            <a:r>
              <a:rPr lang="zh-CN" altLang="en-US" dirty="0"/>
              <a:t>变成切线，在</a:t>
            </a:r>
            <a:r>
              <a:rPr lang="en-US" altLang="zh-CN" dirty="0"/>
              <a:t>u</a:t>
            </a:r>
            <a:r>
              <a:rPr lang="zh-CN" altLang="en-US" dirty="0"/>
              <a:t>和</a:t>
            </a:r>
            <a:r>
              <a:rPr lang="en-US" altLang="zh-CN" dirty="0"/>
              <a:t>v</a:t>
            </a:r>
            <a:r>
              <a:rPr lang="zh-CN" altLang="en-US" dirty="0"/>
              <a:t>之间插入</a:t>
            </a:r>
            <a:r>
              <a:rPr lang="en-US" altLang="zh-CN" dirty="0"/>
              <a:t>u</a:t>
            </a:r>
            <a:r>
              <a:rPr lang="en-US" altLang="zh-CN" baseline="30000" dirty="0"/>
              <a:t>+</a:t>
            </a:r>
          </a:p>
          <a:p>
            <a:pPr lvl="1"/>
            <a:r>
              <a:rPr lang="en-US" altLang="zh-CN" dirty="0" err="1"/>
              <a:t>uvv</a:t>
            </a:r>
            <a:r>
              <a:rPr lang="en-US" altLang="zh-CN" baseline="30000" dirty="0"/>
              <a:t>+</a:t>
            </a:r>
            <a:r>
              <a:rPr lang="zh-CN" altLang="en-US" dirty="0"/>
              <a:t>顺时针</a:t>
            </a:r>
            <a:r>
              <a:rPr lang="en-US" altLang="zh-CN" dirty="0">
                <a:sym typeface="Wingdings" pitchFamily="2" charset="2"/>
              </a:rPr>
              <a:t></a:t>
            </a:r>
            <a:r>
              <a:rPr lang="en-US" altLang="zh-CN" dirty="0" err="1"/>
              <a:t>uv</a:t>
            </a:r>
            <a:r>
              <a:rPr lang="en-US" altLang="zh-CN" baseline="30000" dirty="0"/>
              <a:t>+</a:t>
            </a:r>
            <a:r>
              <a:rPr lang="zh-CN" altLang="en-US" dirty="0"/>
              <a:t>变成切线，在</a:t>
            </a:r>
            <a:r>
              <a:rPr lang="en-US" altLang="zh-CN" dirty="0"/>
              <a:t>u</a:t>
            </a:r>
            <a:r>
              <a:rPr lang="zh-CN" altLang="en-US" dirty="0"/>
              <a:t>和</a:t>
            </a:r>
            <a:r>
              <a:rPr lang="en-US" altLang="zh-CN" dirty="0"/>
              <a:t>v</a:t>
            </a:r>
            <a:r>
              <a:rPr lang="en-US" altLang="zh-CN" baseline="30000" dirty="0"/>
              <a:t>+</a:t>
            </a:r>
            <a:r>
              <a:rPr lang="zh-CN" altLang="en-US" dirty="0"/>
              <a:t>之间删除</a:t>
            </a:r>
            <a:r>
              <a:rPr lang="en-US" altLang="zh-CN" dirty="0"/>
              <a:t>v</a:t>
            </a:r>
          </a:p>
          <a:p>
            <a:pPr lvl="1"/>
            <a:r>
              <a:rPr lang="en-US" altLang="zh-CN" dirty="0" err="1"/>
              <a:t>uv</a:t>
            </a:r>
            <a:r>
              <a:rPr lang="en-US" altLang="zh-CN" baseline="30000" dirty="0"/>
              <a:t>-</a:t>
            </a:r>
            <a:r>
              <a:rPr lang="en-US" altLang="zh-CN" dirty="0"/>
              <a:t>v</a:t>
            </a:r>
            <a:r>
              <a:rPr lang="zh-CN" altLang="en-US" dirty="0"/>
              <a:t>逆时针</a:t>
            </a:r>
            <a:r>
              <a:rPr lang="en-US" altLang="zh-CN" dirty="0">
                <a:sym typeface="Wingdings" pitchFamily="2" charset="2"/>
              </a:rPr>
              <a:t></a:t>
            </a:r>
            <a:r>
              <a:rPr lang="en-US" altLang="zh-CN" dirty="0" err="1"/>
              <a:t>uv</a:t>
            </a:r>
            <a:r>
              <a:rPr lang="en-US" altLang="zh-CN" baseline="30000" dirty="0"/>
              <a:t>-</a:t>
            </a:r>
            <a:r>
              <a:rPr lang="zh-CN" altLang="en-US" dirty="0"/>
              <a:t>变成切线，在</a:t>
            </a:r>
            <a:r>
              <a:rPr lang="en-US" altLang="zh-CN" dirty="0"/>
              <a:t>u</a:t>
            </a:r>
            <a:r>
              <a:rPr lang="zh-CN" altLang="en-US" dirty="0"/>
              <a:t>和</a:t>
            </a:r>
            <a:r>
              <a:rPr lang="en-US" altLang="zh-CN" dirty="0"/>
              <a:t>v</a:t>
            </a:r>
            <a:r>
              <a:rPr lang="zh-CN" altLang="en-US" dirty="0"/>
              <a:t>之间插入</a:t>
            </a:r>
            <a:r>
              <a:rPr lang="en-US" altLang="zh-CN" dirty="0"/>
              <a:t>v</a:t>
            </a:r>
            <a:r>
              <a:rPr lang="en-US" altLang="zh-CN" baseline="30000" dirty="0"/>
              <a:t>-</a:t>
            </a:r>
          </a:p>
          <a:p>
            <a:r>
              <a:rPr lang="zh-CN" altLang="en-US" dirty="0"/>
              <a:t>每次都找上述</a:t>
            </a:r>
            <a:r>
              <a:rPr lang="en-US" altLang="zh-CN" dirty="0"/>
              <a:t>6</a:t>
            </a:r>
            <a:r>
              <a:rPr lang="zh-CN" altLang="en-US" dirty="0"/>
              <a:t>个事件中最早出现的一个</a:t>
            </a:r>
            <a:endParaRPr lang="en-US" altLang="zh-CN" baseline="30000" dirty="0"/>
          </a:p>
        </p:txBody>
      </p:sp>
      <p:pic>
        <p:nvPicPr>
          <p:cNvPr id="4" name="Picture 2"/>
          <p:cNvPicPr>
            <a:picLocks noChangeAspect="1" noChangeArrowheads="1"/>
          </p:cNvPicPr>
          <p:nvPr/>
        </p:nvPicPr>
        <p:blipFill>
          <a:blip r:embed="rId2" cstate="print"/>
          <a:srcRect/>
          <a:stretch>
            <a:fillRect/>
          </a:stretch>
        </p:blipFill>
        <p:spPr bwMode="auto">
          <a:xfrm>
            <a:off x="683568" y="3789040"/>
            <a:ext cx="7776864" cy="2742733"/>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Chan</a:t>
            </a:r>
            <a:r>
              <a:rPr lang="zh-CN" altLang="en-US" dirty="0"/>
              <a:t>算法：程序细节</a:t>
            </a:r>
          </a:p>
        </p:txBody>
      </p:sp>
      <p:sp>
        <p:nvSpPr>
          <p:cNvPr id="3" name="内容占位符 2"/>
          <p:cNvSpPr>
            <a:spLocks noGrp="1"/>
          </p:cNvSpPr>
          <p:nvPr>
            <p:ph idx="1"/>
          </p:nvPr>
        </p:nvSpPr>
        <p:spPr/>
        <p:txBody>
          <a:bodyPr/>
          <a:lstStyle/>
          <a:p>
            <a:r>
              <a:rPr lang="en-US" altLang="zh-CN" dirty="0"/>
              <a:t>t</a:t>
            </a:r>
            <a:r>
              <a:rPr lang="zh-CN" altLang="en-US" dirty="0"/>
              <a:t>为负无穷时，</a:t>
            </a:r>
            <a:r>
              <a:rPr lang="en-US" altLang="zh-CN" dirty="0"/>
              <a:t> p</a:t>
            </a:r>
            <a:r>
              <a:rPr lang="en-US" altLang="zh-CN" baseline="-25000" dirty="0"/>
              <a:t>i</a:t>
            </a:r>
            <a:r>
              <a:rPr lang="en-US" altLang="zh-CN" dirty="0"/>
              <a:t>(t)=(</a:t>
            </a:r>
            <a:r>
              <a:rPr lang="en-US" altLang="zh-CN" dirty="0" err="1"/>
              <a:t>x</a:t>
            </a:r>
            <a:r>
              <a:rPr lang="en-US" altLang="zh-CN" baseline="-25000" dirty="0" err="1"/>
              <a:t>i</a:t>
            </a:r>
            <a:r>
              <a:rPr lang="en-US" altLang="zh-CN" dirty="0" err="1"/>
              <a:t>,z</a:t>
            </a:r>
            <a:r>
              <a:rPr lang="en-US" altLang="zh-CN" baseline="-25000" dirty="0" err="1"/>
              <a:t>i</a:t>
            </a:r>
            <a:r>
              <a:rPr lang="en-US" altLang="zh-CN" dirty="0" err="1"/>
              <a:t>-ty</a:t>
            </a:r>
            <a:r>
              <a:rPr lang="en-US" altLang="zh-CN" baseline="-25000" dirty="0" err="1"/>
              <a:t>i</a:t>
            </a:r>
            <a:r>
              <a:rPr lang="en-US" altLang="zh-CN" dirty="0"/>
              <a:t>)</a:t>
            </a:r>
            <a:r>
              <a:rPr lang="zh-CN" altLang="en-US" dirty="0"/>
              <a:t>之间的转向和</a:t>
            </a:r>
            <a:r>
              <a:rPr lang="en-US" altLang="zh-CN" dirty="0" err="1"/>
              <a:t>zi</a:t>
            </a:r>
            <a:r>
              <a:rPr lang="zh-CN" altLang="en-US" dirty="0"/>
              <a:t>无关，等价于</a:t>
            </a:r>
            <a:r>
              <a:rPr lang="en-US" altLang="zh-CN" dirty="0"/>
              <a:t>(</a:t>
            </a:r>
            <a:r>
              <a:rPr lang="en-US" altLang="zh-CN" dirty="0" err="1"/>
              <a:t>x</a:t>
            </a:r>
            <a:r>
              <a:rPr lang="en-US" altLang="zh-CN" baseline="-25000" dirty="0" err="1"/>
              <a:t>i</a:t>
            </a:r>
            <a:r>
              <a:rPr lang="en-US" altLang="zh-CN" dirty="0" err="1"/>
              <a:t>,y</a:t>
            </a:r>
            <a:r>
              <a:rPr lang="en-US" altLang="zh-CN" baseline="-25000" dirty="0" err="1"/>
              <a:t>i</a:t>
            </a:r>
            <a:r>
              <a:rPr lang="en-US" altLang="zh-CN" dirty="0"/>
              <a:t>)</a:t>
            </a:r>
            <a:r>
              <a:rPr lang="zh-CN" altLang="en-US" dirty="0"/>
              <a:t>之间的转向</a:t>
            </a:r>
            <a:endParaRPr lang="en-US" altLang="zh-CN" dirty="0"/>
          </a:p>
          <a:p>
            <a:r>
              <a:rPr lang="zh-CN" altLang="en-US" dirty="0"/>
              <a:t>转向变化的时间点为三点共线的时间。每三个点最多只有一次。解方程即可</a:t>
            </a:r>
          </a:p>
        </p:txBody>
      </p:sp>
      <p:sp>
        <p:nvSpPr>
          <p:cNvPr id="4" name="椭圆 3"/>
          <p:cNvSpPr/>
          <p:nvPr/>
        </p:nvSpPr>
        <p:spPr>
          <a:xfrm>
            <a:off x="1285852" y="5429264"/>
            <a:ext cx="214314" cy="2143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2643174" y="4714884"/>
            <a:ext cx="214314" cy="2143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857356" y="4000504"/>
            <a:ext cx="214314" cy="2143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rot="5400000">
            <a:off x="1179092" y="5893214"/>
            <a:ext cx="357984"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rot="5400000">
            <a:off x="2393141" y="5393545"/>
            <a:ext cx="643736" cy="79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p:nvPr/>
        </p:nvCxnSpPr>
        <p:spPr>
          <a:xfrm rot="5400000">
            <a:off x="1357687" y="4857363"/>
            <a:ext cx="1143008" cy="79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2" name="椭圆 21"/>
          <p:cNvSpPr/>
          <p:nvPr/>
        </p:nvSpPr>
        <p:spPr>
          <a:xfrm>
            <a:off x="5643570" y="5500702"/>
            <a:ext cx="214314" cy="2143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000892" y="4786322"/>
            <a:ext cx="214314" cy="2143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6215074" y="4071942"/>
            <a:ext cx="214314" cy="21431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p:cNvCxnSpPr/>
          <p:nvPr/>
        </p:nvCxnSpPr>
        <p:spPr>
          <a:xfrm rot="5400000">
            <a:off x="5894000" y="4750206"/>
            <a:ext cx="785818" cy="79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直接连接符 28"/>
          <p:cNvCxnSpPr>
            <a:stCxn id="22" idx="6"/>
            <a:endCxn id="23" idx="3"/>
          </p:cNvCxnSpPr>
          <p:nvPr/>
        </p:nvCxnSpPr>
        <p:spPr>
          <a:xfrm flipV="1">
            <a:off x="5857884" y="4969250"/>
            <a:ext cx="1174394" cy="638609"/>
          </a:xfrm>
          <a:prstGeom prst="line">
            <a:avLst/>
          </a:prstGeom>
          <a:ln>
            <a:prstDash val="dash"/>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46279"/>
            <a:ext cx="8865632" cy="6740307"/>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dirty="0" err="1"/>
              <a:t>struct</a:t>
            </a:r>
            <a:r>
              <a:rPr lang="en-US" altLang="zh-CN" sz="2400" dirty="0"/>
              <a:t> Point {</a:t>
            </a:r>
            <a:endParaRPr lang="zh-CN" altLang="en-US" sz="2400" dirty="0"/>
          </a:p>
          <a:p>
            <a:r>
              <a:rPr lang="zh-CN" altLang="en-US" sz="2400" dirty="0"/>
              <a:t>  </a:t>
            </a:r>
            <a:r>
              <a:rPr lang="en-US" altLang="zh-CN" sz="2400" dirty="0"/>
              <a:t>double x, y, z;</a:t>
            </a:r>
            <a:endParaRPr lang="zh-CN" altLang="en-US" sz="2400" dirty="0"/>
          </a:p>
          <a:p>
            <a:r>
              <a:rPr lang="zh-CN" altLang="en-US" sz="2400" dirty="0"/>
              <a:t>  </a:t>
            </a:r>
            <a:r>
              <a:rPr lang="en-US" altLang="zh-CN" sz="2400" dirty="0"/>
              <a:t>Point *</a:t>
            </a:r>
            <a:r>
              <a:rPr lang="en-US" altLang="zh-CN" sz="2400" dirty="0" err="1"/>
              <a:t>prev</a:t>
            </a:r>
            <a:r>
              <a:rPr lang="en-US" altLang="zh-CN" sz="2400" dirty="0"/>
              <a:t>, *next;</a:t>
            </a:r>
            <a:endParaRPr lang="zh-CN" altLang="en-US" sz="2400" dirty="0"/>
          </a:p>
          <a:p>
            <a:r>
              <a:rPr lang="zh-CN" altLang="en-US" sz="2400" dirty="0"/>
              <a:t>  </a:t>
            </a:r>
            <a:r>
              <a:rPr lang="en-US" altLang="zh-CN" sz="2400" dirty="0"/>
              <a:t>void act() {  </a:t>
            </a:r>
            <a:endParaRPr lang="zh-CN" altLang="en-US" sz="2400" dirty="0"/>
          </a:p>
          <a:p>
            <a:r>
              <a:rPr lang="zh-CN" altLang="en-US" sz="2400" dirty="0"/>
              <a:t>    </a:t>
            </a:r>
            <a:r>
              <a:rPr lang="en-US" altLang="zh-CN" sz="2400" dirty="0"/>
              <a:t>if (</a:t>
            </a:r>
            <a:r>
              <a:rPr lang="en-US" altLang="zh-CN" sz="2400" dirty="0" err="1"/>
              <a:t>prev</a:t>
            </a:r>
            <a:r>
              <a:rPr lang="en-US" altLang="zh-CN" sz="2400" dirty="0"/>
              <a:t>-&gt;next != this) </a:t>
            </a:r>
            <a:r>
              <a:rPr lang="en-US" altLang="zh-CN" sz="2400" dirty="0" err="1"/>
              <a:t>prev</a:t>
            </a:r>
            <a:r>
              <a:rPr lang="en-US" altLang="zh-CN" sz="2400" dirty="0"/>
              <a:t>-&gt;next = next-&gt;</a:t>
            </a:r>
            <a:r>
              <a:rPr lang="en-US" altLang="zh-CN" sz="2400" dirty="0" err="1"/>
              <a:t>prev</a:t>
            </a:r>
            <a:r>
              <a:rPr lang="en-US" altLang="zh-CN" sz="2400" dirty="0"/>
              <a:t> = this;  // insert</a:t>
            </a:r>
            <a:endParaRPr lang="zh-CN" altLang="en-US" sz="2400" dirty="0"/>
          </a:p>
          <a:p>
            <a:r>
              <a:rPr lang="zh-CN" altLang="en-US" sz="2400" dirty="0"/>
              <a:t>    </a:t>
            </a:r>
            <a:r>
              <a:rPr lang="en-US" altLang="zh-CN" sz="2400" dirty="0"/>
              <a:t>else { </a:t>
            </a:r>
            <a:r>
              <a:rPr lang="en-US" altLang="zh-CN" sz="2400" dirty="0" err="1"/>
              <a:t>prev</a:t>
            </a:r>
            <a:r>
              <a:rPr lang="en-US" altLang="zh-CN" sz="2400" dirty="0"/>
              <a:t>-&gt;next = next; next-&gt;</a:t>
            </a:r>
            <a:r>
              <a:rPr lang="en-US" altLang="zh-CN" sz="2400" dirty="0" err="1"/>
              <a:t>prev</a:t>
            </a:r>
            <a:r>
              <a:rPr lang="en-US" altLang="zh-CN" sz="2400" dirty="0"/>
              <a:t> = </a:t>
            </a:r>
            <a:r>
              <a:rPr lang="en-US" altLang="zh-CN" sz="2400" dirty="0" err="1"/>
              <a:t>prev</a:t>
            </a:r>
            <a:r>
              <a:rPr lang="en-US" altLang="zh-CN" sz="2400" dirty="0"/>
              <a:t>; }  // delete</a:t>
            </a:r>
            <a:endParaRPr lang="zh-CN" altLang="en-US" sz="2400" dirty="0"/>
          </a:p>
          <a:p>
            <a:r>
              <a:rPr lang="zh-CN" altLang="en-US" sz="2400" dirty="0"/>
              <a:t>  </a:t>
            </a:r>
            <a:r>
              <a:rPr lang="en-US" altLang="zh-CN" sz="2400" dirty="0"/>
              <a:t>}</a:t>
            </a:r>
            <a:endParaRPr lang="zh-CN" altLang="en-US" sz="2400" dirty="0"/>
          </a:p>
          <a:p>
            <a:r>
              <a:rPr lang="en-US" altLang="zh-CN" sz="2400" dirty="0"/>
              <a:t>};</a:t>
            </a:r>
          </a:p>
          <a:p>
            <a:endParaRPr lang="en-US" altLang="zh-CN" sz="2400" dirty="0"/>
          </a:p>
          <a:p>
            <a:r>
              <a:rPr lang="en-US" altLang="zh-CN" sz="2400" dirty="0"/>
              <a:t>inline double turn(Point *p, Point *q, Point *r) {  // &lt;0 </a:t>
            </a:r>
            <a:r>
              <a:rPr lang="en-US" altLang="zh-CN" sz="2400" dirty="0" err="1"/>
              <a:t>iff</a:t>
            </a:r>
            <a:r>
              <a:rPr lang="en-US" altLang="zh-CN" sz="2400" dirty="0"/>
              <a:t> </a:t>
            </a:r>
            <a:r>
              <a:rPr lang="en-US" altLang="zh-CN" sz="2400" dirty="0" err="1"/>
              <a:t>cw</a:t>
            </a:r>
            <a:endParaRPr lang="zh-CN" altLang="en-US" sz="2400" dirty="0"/>
          </a:p>
          <a:p>
            <a:r>
              <a:rPr lang="zh-CN" altLang="en-US" sz="2400" dirty="0"/>
              <a:t>  </a:t>
            </a:r>
            <a:r>
              <a:rPr lang="en-US" altLang="zh-CN" sz="2400" dirty="0"/>
              <a:t>if (p == NIL || q == NIL || r == NIL) return 1.0;</a:t>
            </a:r>
            <a:endParaRPr lang="zh-CN" altLang="en-US" sz="2400" dirty="0"/>
          </a:p>
          <a:p>
            <a:r>
              <a:rPr lang="zh-CN" altLang="en-US" sz="2400" dirty="0"/>
              <a:t>  </a:t>
            </a:r>
            <a:r>
              <a:rPr lang="es-ES" altLang="zh-CN" sz="2400" dirty="0"/>
              <a:t>return (q-&gt;x-p-&gt;x)*(r-&gt;y-p-&gt;y) - (r-&gt;x-p-&gt;x)*(q-&gt;y-p-&gt;y);</a:t>
            </a:r>
            <a:endParaRPr lang="zh-CN" altLang="en-US" sz="2400" dirty="0"/>
          </a:p>
          <a:p>
            <a:r>
              <a:rPr lang="en-US" altLang="zh-CN" sz="2400" dirty="0"/>
              <a:t>}</a:t>
            </a:r>
            <a:endParaRPr lang="zh-CN" altLang="en-US" sz="2400" dirty="0"/>
          </a:p>
          <a:p>
            <a:endParaRPr lang="zh-CN" altLang="en-US" sz="2400" dirty="0"/>
          </a:p>
          <a:p>
            <a:r>
              <a:rPr lang="en-US" altLang="zh-CN" sz="2400" dirty="0"/>
              <a:t>inline double time(Point *p, Point *q, Point *r) {  </a:t>
            </a:r>
            <a:endParaRPr lang="zh-CN" altLang="en-US" sz="2400" dirty="0"/>
          </a:p>
          <a:p>
            <a:r>
              <a:rPr lang="zh-CN" altLang="en-US" sz="2400" dirty="0"/>
              <a:t>  </a:t>
            </a:r>
            <a:r>
              <a:rPr lang="en-US" altLang="zh-CN" sz="2400" dirty="0"/>
              <a:t>if (p == NIL || q == NIL || r == NIL) return INF;</a:t>
            </a:r>
            <a:endParaRPr lang="zh-CN" altLang="en-US" sz="2400" dirty="0"/>
          </a:p>
          <a:p>
            <a:r>
              <a:rPr lang="zh-CN" altLang="en-US" sz="2400" dirty="0"/>
              <a:t>  </a:t>
            </a:r>
            <a:r>
              <a:rPr lang="pl-PL" altLang="zh-CN" sz="2400" dirty="0"/>
              <a:t>return ((q-&gt;x-p-&gt;x)*(r-&gt;z-p-&gt;z) - (r-&gt;x-p-&gt;x)*(q-&gt;z-p-&gt;z)) / turn(p,q,r);</a:t>
            </a:r>
            <a:endParaRPr lang="zh-CN" altLang="en-US" sz="2400" dirty="0"/>
          </a:p>
          <a:p>
            <a:r>
              <a:rPr lang="en-US" altLang="zh-CN" sz="2400" dirty="0"/>
              <a:t>}</a:t>
            </a:r>
            <a:endParaRPr lang="zh-CN" altLang="en-US" sz="2400" dirty="0"/>
          </a:p>
        </p:txBody>
      </p:sp>
      <p:sp>
        <p:nvSpPr>
          <p:cNvPr id="5" name="矩形 4"/>
          <p:cNvSpPr/>
          <p:nvPr/>
        </p:nvSpPr>
        <p:spPr>
          <a:xfrm>
            <a:off x="285720" y="1214422"/>
            <a:ext cx="7929618" cy="1500198"/>
          </a:xfrm>
          <a:prstGeom prst="rect">
            <a:avLst/>
          </a:prstGeom>
          <a:noFill/>
          <a:ln>
            <a:solidFill>
              <a:srgbClr val="FF00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06" y="46279"/>
            <a:ext cx="7052443" cy="6740307"/>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dirty="0"/>
              <a:t>void hull(Point *list, </a:t>
            </a:r>
            <a:r>
              <a:rPr lang="en-US" altLang="zh-CN" sz="2400" dirty="0" err="1"/>
              <a:t>int</a:t>
            </a:r>
            <a:r>
              <a:rPr lang="en-US" altLang="zh-CN" sz="2400" dirty="0"/>
              <a:t> n, Point **A, Point **B) { </a:t>
            </a:r>
            <a:endParaRPr lang="zh-CN" altLang="en-US" sz="2400" dirty="0"/>
          </a:p>
          <a:p>
            <a:r>
              <a:rPr lang="zh-CN" altLang="en-US" sz="2400" dirty="0"/>
              <a:t>  </a:t>
            </a:r>
            <a:r>
              <a:rPr lang="en-US" altLang="zh-CN" sz="2400" dirty="0"/>
              <a:t>Point *u, *v, *mid;  </a:t>
            </a:r>
            <a:endParaRPr lang="zh-CN" altLang="en-US" sz="2400" dirty="0"/>
          </a:p>
          <a:p>
            <a:r>
              <a:rPr lang="zh-CN" altLang="en-US" sz="2400" dirty="0"/>
              <a:t>  </a:t>
            </a:r>
            <a:r>
              <a:rPr lang="en-US" altLang="zh-CN" sz="2400" dirty="0"/>
              <a:t>double t[6], </a:t>
            </a:r>
            <a:r>
              <a:rPr lang="en-US" altLang="zh-CN" sz="2400" dirty="0" err="1"/>
              <a:t>oldt</a:t>
            </a:r>
            <a:r>
              <a:rPr lang="en-US" altLang="zh-CN" sz="2400" dirty="0"/>
              <a:t>, newt;  </a:t>
            </a:r>
            <a:endParaRPr lang="zh-CN" altLang="en-US" sz="2400" dirty="0"/>
          </a:p>
          <a:p>
            <a:r>
              <a:rPr lang="zh-CN" altLang="en-US" sz="2400" dirty="0"/>
              <a:t>  </a:t>
            </a:r>
            <a:r>
              <a:rPr lang="en-US" altLang="zh-CN" sz="2400" dirty="0" err="1"/>
              <a:t>int</a:t>
            </a:r>
            <a:r>
              <a:rPr lang="en-US" altLang="zh-CN" sz="2400" dirty="0"/>
              <a:t> </a:t>
            </a:r>
            <a:r>
              <a:rPr lang="en-US" altLang="zh-CN" sz="2400" dirty="0" err="1"/>
              <a:t>i</a:t>
            </a:r>
            <a:r>
              <a:rPr lang="en-US" altLang="zh-CN" sz="2400" dirty="0"/>
              <a:t>, j, k, l, </a:t>
            </a:r>
            <a:r>
              <a:rPr lang="en-US" altLang="zh-CN" sz="2400" dirty="0" err="1"/>
              <a:t>minl</a:t>
            </a:r>
            <a:r>
              <a:rPr lang="en-US" altLang="zh-CN" sz="2400" dirty="0"/>
              <a:t>;</a:t>
            </a:r>
            <a:endParaRPr lang="zh-CN" altLang="en-US" sz="2400" dirty="0"/>
          </a:p>
          <a:p>
            <a:r>
              <a:rPr lang="zh-CN" altLang="en-US" sz="2400" dirty="0"/>
              <a:t>  </a:t>
            </a:r>
            <a:r>
              <a:rPr lang="en-US" altLang="zh-CN" sz="2400" dirty="0"/>
              <a:t>if (n == 1) { A[0] = list-&gt;</a:t>
            </a:r>
            <a:r>
              <a:rPr lang="en-US" altLang="zh-CN" sz="2400" dirty="0" err="1"/>
              <a:t>prev</a:t>
            </a:r>
            <a:r>
              <a:rPr lang="en-US" altLang="zh-CN" sz="2400" dirty="0"/>
              <a:t> = list-&gt;next = NIL; return; }</a:t>
            </a:r>
            <a:endParaRPr lang="zh-CN" altLang="en-US" sz="2400" dirty="0"/>
          </a:p>
          <a:p>
            <a:endParaRPr lang="zh-CN" altLang="en-US" sz="2400" dirty="0"/>
          </a:p>
          <a:p>
            <a:r>
              <a:rPr lang="zh-CN" altLang="en-US" sz="2400" dirty="0"/>
              <a:t>  </a:t>
            </a:r>
            <a:r>
              <a:rPr lang="pl-PL" altLang="zh-CN" sz="2400" dirty="0"/>
              <a:t>for (u = list, i = 0; i &lt; n/2-1; u = u-&gt;next, i++) ;</a:t>
            </a:r>
            <a:endParaRPr lang="zh-CN" altLang="en-US" sz="2400" dirty="0"/>
          </a:p>
          <a:p>
            <a:r>
              <a:rPr lang="zh-CN" altLang="en-US" sz="2400" dirty="0"/>
              <a:t>  </a:t>
            </a:r>
            <a:r>
              <a:rPr lang="en-US" altLang="zh-CN" sz="2400" dirty="0"/>
              <a:t>mid = v = u-&gt;next;</a:t>
            </a:r>
            <a:endParaRPr lang="zh-CN" altLang="en-US" sz="2400" dirty="0"/>
          </a:p>
          <a:p>
            <a:r>
              <a:rPr lang="zh-CN" altLang="en-US" sz="2400" dirty="0"/>
              <a:t>  </a:t>
            </a:r>
            <a:r>
              <a:rPr lang="en-US" altLang="zh-CN" sz="2400" dirty="0"/>
              <a:t>hull(list, n/2, B, A);</a:t>
            </a:r>
            <a:endParaRPr lang="zh-CN" altLang="en-US" sz="2400" dirty="0"/>
          </a:p>
          <a:p>
            <a:r>
              <a:rPr lang="zh-CN" altLang="en-US" sz="2400" dirty="0"/>
              <a:t>  </a:t>
            </a:r>
            <a:r>
              <a:rPr lang="en-US" altLang="zh-CN" sz="2400" dirty="0"/>
              <a:t>hull(mid, n-n/2, </a:t>
            </a:r>
            <a:r>
              <a:rPr lang="en-US" altLang="zh-CN" sz="2400" dirty="0" err="1"/>
              <a:t>B+n</a:t>
            </a:r>
            <a:r>
              <a:rPr lang="en-US" altLang="zh-CN" sz="2400" dirty="0"/>
              <a:t>/2*2, </a:t>
            </a:r>
            <a:r>
              <a:rPr lang="en-US" altLang="zh-CN" sz="2400" dirty="0" err="1"/>
              <a:t>A+n</a:t>
            </a:r>
            <a:r>
              <a:rPr lang="en-US" altLang="zh-CN" sz="2400" dirty="0"/>
              <a:t>/2*2);</a:t>
            </a:r>
            <a:endParaRPr lang="zh-CN" altLang="en-US" sz="2400" dirty="0"/>
          </a:p>
          <a:p>
            <a:endParaRPr lang="zh-CN" altLang="en-US" sz="2400" dirty="0"/>
          </a:p>
          <a:p>
            <a:r>
              <a:rPr lang="zh-CN" altLang="en-US" sz="2400" dirty="0"/>
              <a:t>  </a:t>
            </a:r>
            <a:r>
              <a:rPr lang="en-US" altLang="zh-CN" sz="2400" dirty="0"/>
              <a:t>for ( ; ; )  // </a:t>
            </a:r>
            <a:r>
              <a:rPr lang="zh-CN" altLang="en-US" sz="2400" dirty="0"/>
              <a:t>求初始切线</a:t>
            </a:r>
            <a:r>
              <a:rPr lang="en-US" altLang="zh-CN" sz="2400" dirty="0" err="1"/>
              <a:t>uv</a:t>
            </a:r>
            <a:r>
              <a:rPr lang="zh-CN" altLang="en-US" sz="2400" dirty="0"/>
              <a:t>，即</a:t>
            </a:r>
            <a:r>
              <a:rPr lang="en-US" altLang="zh-CN" sz="2400" dirty="0"/>
              <a:t>t</a:t>
            </a:r>
            <a:r>
              <a:rPr lang="zh-CN" altLang="en-US" sz="2400" dirty="0"/>
              <a:t>为负无穷时的切线</a:t>
            </a:r>
          </a:p>
          <a:p>
            <a:r>
              <a:rPr lang="zh-CN" altLang="en-US" sz="2400" dirty="0"/>
              <a:t>    </a:t>
            </a:r>
            <a:r>
              <a:rPr lang="en-US" altLang="zh-CN" sz="2400" dirty="0"/>
              <a:t>if (turn(u, v, v-&gt;next) &lt; 0) v = v-&gt;next;</a:t>
            </a:r>
            <a:endParaRPr lang="zh-CN" altLang="en-US" sz="2400" dirty="0"/>
          </a:p>
          <a:p>
            <a:r>
              <a:rPr lang="zh-CN" altLang="en-US" sz="2400" dirty="0"/>
              <a:t>    </a:t>
            </a:r>
            <a:r>
              <a:rPr lang="pl-PL" altLang="zh-CN" sz="2400" dirty="0"/>
              <a:t>else if (turn(u-&gt;prev, u, v) &lt; 0) u = u-&gt;prev;  </a:t>
            </a:r>
            <a:endParaRPr lang="zh-CN" altLang="en-US" sz="2400" dirty="0"/>
          </a:p>
          <a:p>
            <a:r>
              <a:rPr lang="zh-CN" altLang="en-US" sz="2400" dirty="0"/>
              <a:t>    </a:t>
            </a:r>
            <a:r>
              <a:rPr lang="en-US" altLang="zh-CN" sz="2400" dirty="0"/>
              <a:t>else break;</a:t>
            </a:r>
            <a:endParaRPr lang="zh-CN" altLang="en-US" sz="2400" dirty="0"/>
          </a:p>
          <a:p>
            <a:endParaRPr lang="zh-CN" altLang="en-US" sz="2400" dirty="0"/>
          </a:p>
          <a:p>
            <a:r>
              <a:rPr lang="zh-CN" altLang="en-US" sz="2400" dirty="0"/>
              <a:t>  </a:t>
            </a:r>
            <a:r>
              <a:rPr lang="en-US" altLang="zh-CN" sz="2400" dirty="0"/>
              <a:t>// </a:t>
            </a:r>
            <a:r>
              <a:rPr lang="zh-CN" altLang="en-US" sz="2400" dirty="0"/>
              <a:t>按时间顺序处理事件并求出合并后的凸包动画</a:t>
            </a:r>
            <a:r>
              <a:rPr lang="en-US" altLang="zh-CN" sz="2400" dirty="0"/>
              <a:t>A</a:t>
            </a:r>
            <a:endParaRPr lang="zh-CN" altLang="en-US" sz="2400" dirty="0"/>
          </a:p>
          <a:p>
            <a:r>
              <a:rPr lang="en-US" altLang="zh-CN" sz="2400" dirty="0"/>
              <a:t>}</a:t>
            </a:r>
            <a:endParaRPr lang="zh-CN" altLang="en-US" sz="2400" dirty="0"/>
          </a:p>
        </p:txBody>
      </p:sp>
      <p:sp>
        <p:nvSpPr>
          <p:cNvPr id="5" name="矩形 4"/>
          <p:cNvSpPr/>
          <p:nvPr/>
        </p:nvSpPr>
        <p:spPr>
          <a:xfrm>
            <a:off x="214282" y="4143380"/>
            <a:ext cx="6572296" cy="1500198"/>
          </a:xfrm>
          <a:prstGeom prst="rect">
            <a:avLst/>
          </a:prstGeom>
          <a:noFill/>
          <a:ln>
            <a:solidFill>
              <a:srgbClr val="FF00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6" name="TextBox 5"/>
          <p:cNvSpPr txBox="1"/>
          <p:nvPr/>
        </p:nvSpPr>
        <p:spPr>
          <a:xfrm>
            <a:off x="3571868" y="928670"/>
            <a:ext cx="4825360" cy="461665"/>
          </a:xfrm>
          <a:prstGeom prst="rect">
            <a:avLst/>
          </a:prstGeom>
          <a:noFill/>
        </p:spPr>
        <p:txBody>
          <a:bodyPr wrap="none" rtlCol="0">
            <a:spAutoFit/>
          </a:bodyPr>
          <a:lstStyle/>
          <a:p>
            <a:r>
              <a:rPr lang="zh-CN" altLang="en-US" sz="2400" b="1" dirty="0"/>
              <a:t>计算结果（凸包动画）存放在这里</a:t>
            </a:r>
          </a:p>
        </p:txBody>
      </p:sp>
      <p:cxnSp>
        <p:nvCxnSpPr>
          <p:cNvPr id="8" name="直接箭头连接符 7"/>
          <p:cNvCxnSpPr/>
          <p:nvPr/>
        </p:nvCxnSpPr>
        <p:spPr>
          <a:xfrm rot="16200000" flipV="1">
            <a:off x="4179091" y="535761"/>
            <a:ext cx="571504" cy="3571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357554" y="428604"/>
            <a:ext cx="1214446" cy="1588"/>
          </a:xfrm>
          <a:prstGeom prst="line">
            <a:avLst/>
          </a:prstGeom>
        </p:spPr>
        <p:style>
          <a:lnRef idx="2">
            <a:schemeClr val="accent6"/>
          </a:lnRef>
          <a:fillRef idx="0">
            <a:schemeClr val="accent6"/>
          </a:fillRef>
          <a:effectRef idx="1">
            <a:schemeClr val="accent6"/>
          </a:effectRef>
          <a:fontRef idx="minor">
            <a:schemeClr val="tx1"/>
          </a:fontRef>
        </p:style>
      </p:cxnSp>
      <p:sp>
        <p:nvSpPr>
          <p:cNvPr id="11" name="TextBox 10"/>
          <p:cNvSpPr txBox="1"/>
          <p:nvPr/>
        </p:nvSpPr>
        <p:spPr>
          <a:xfrm>
            <a:off x="5000628" y="2928934"/>
            <a:ext cx="3587842" cy="830997"/>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b="1" dirty="0"/>
              <a:t>B</a:t>
            </a:r>
            <a:r>
              <a:rPr lang="zh-CN" altLang="en-US" sz="2400" b="1" dirty="0"/>
              <a:t>是辅助空间</a:t>
            </a:r>
            <a:endParaRPr lang="en-US" altLang="zh-CN" sz="2400" b="1" dirty="0"/>
          </a:p>
          <a:p>
            <a:r>
              <a:rPr lang="zh-CN" altLang="en-US" sz="2400" b="1" dirty="0"/>
              <a:t>用于存放左右子集的动画</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 y="-5393"/>
            <a:ext cx="7396192" cy="6863417"/>
          </a:xfrm>
          <a:prstGeom prst="rect">
            <a:avLst/>
          </a:prstGeom>
          <a:noFill/>
        </p:spPr>
        <p:txBody>
          <a:bodyPr wrap="none" rtlCol="0">
            <a:spAutoFit/>
          </a:bodyPr>
          <a:lstStyle/>
          <a:p>
            <a:r>
              <a:rPr lang="en-US" altLang="zh-CN" sz="2200" dirty="0"/>
              <a:t>for (</a:t>
            </a:r>
            <a:r>
              <a:rPr lang="en-US" altLang="zh-CN" sz="2200" dirty="0" err="1"/>
              <a:t>i</a:t>
            </a:r>
            <a:r>
              <a:rPr lang="en-US" altLang="zh-CN" sz="2200" dirty="0"/>
              <a:t> = k = 0, j = n/2*2, </a:t>
            </a:r>
            <a:r>
              <a:rPr lang="en-US" altLang="zh-CN" sz="2200" dirty="0" err="1"/>
              <a:t>oldt</a:t>
            </a:r>
            <a:r>
              <a:rPr lang="en-US" altLang="zh-CN" sz="2200" dirty="0"/>
              <a:t> = -INF; ; </a:t>
            </a:r>
            <a:r>
              <a:rPr lang="en-US" altLang="zh-CN" sz="2200" dirty="0" err="1"/>
              <a:t>oldt</a:t>
            </a:r>
            <a:r>
              <a:rPr lang="en-US" altLang="zh-CN" sz="2200" dirty="0"/>
              <a:t> = newt) {  </a:t>
            </a:r>
            <a:endParaRPr lang="zh-CN" altLang="en-US" sz="2200" dirty="0"/>
          </a:p>
          <a:p>
            <a:r>
              <a:rPr lang="zh-CN" altLang="en-US" sz="2200" dirty="0"/>
              <a:t>    </a:t>
            </a:r>
            <a:r>
              <a:rPr lang="en-US" altLang="zh-CN" sz="2200" dirty="0"/>
              <a:t>t[0] = time(B[</a:t>
            </a:r>
            <a:r>
              <a:rPr lang="en-US" altLang="zh-CN" sz="2200" dirty="0" err="1"/>
              <a:t>i</a:t>
            </a:r>
            <a:r>
              <a:rPr lang="en-US" altLang="zh-CN" sz="2200" dirty="0"/>
              <a:t>]-&gt;</a:t>
            </a:r>
            <a:r>
              <a:rPr lang="en-US" altLang="zh-CN" sz="2200" dirty="0" err="1"/>
              <a:t>prev</a:t>
            </a:r>
            <a:r>
              <a:rPr lang="en-US" altLang="zh-CN" sz="2200" dirty="0"/>
              <a:t>, B[</a:t>
            </a:r>
            <a:r>
              <a:rPr lang="en-US" altLang="zh-CN" sz="2200" dirty="0" err="1"/>
              <a:t>i</a:t>
            </a:r>
            <a:r>
              <a:rPr lang="en-US" altLang="zh-CN" sz="2200" dirty="0"/>
              <a:t>], B[</a:t>
            </a:r>
            <a:r>
              <a:rPr lang="en-US" altLang="zh-CN" sz="2200" dirty="0" err="1"/>
              <a:t>i</a:t>
            </a:r>
            <a:r>
              <a:rPr lang="en-US" altLang="zh-CN" sz="2200" dirty="0"/>
              <a:t>]-&gt;next);  </a:t>
            </a:r>
            <a:endParaRPr lang="zh-CN" altLang="en-US" sz="2200" dirty="0"/>
          </a:p>
          <a:p>
            <a:r>
              <a:rPr lang="zh-CN" altLang="en-US" sz="2200" dirty="0"/>
              <a:t>    </a:t>
            </a:r>
            <a:r>
              <a:rPr lang="en-US" altLang="zh-CN" sz="2200" dirty="0"/>
              <a:t>t[1] = time(B[j]-&gt;</a:t>
            </a:r>
            <a:r>
              <a:rPr lang="en-US" altLang="zh-CN" sz="2200" dirty="0" err="1"/>
              <a:t>prev</a:t>
            </a:r>
            <a:r>
              <a:rPr lang="en-US" altLang="zh-CN" sz="2200" dirty="0"/>
              <a:t>, B[j], B[j]-&gt;next);    </a:t>
            </a:r>
            <a:endParaRPr lang="zh-CN" altLang="en-US" sz="2200" dirty="0"/>
          </a:p>
          <a:p>
            <a:r>
              <a:rPr lang="zh-CN" altLang="en-US" sz="2200" dirty="0"/>
              <a:t>    </a:t>
            </a:r>
            <a:r>
              <a:rPr lang="en-US" altLang="zh-CN" sz="2200" dirty="0"/>
              <a:t>t[2] = time(u, u-&gt;next, v);  </a:t>
            </a:r>
            <a:endParaRPr lang="zh-CN" altLang="en-US" sz="2200" dirty="0"/>
          </a:p>
          <a:p>
            <a:r>
              <a:rPr lang="zh-CN" altLang="en-US" sz="2200" dirty="0"/>
              <a:t>    </a:t>
            </a:r>
            <a:r>
              <a:rPr lang="en-US" altLang="zh-CN" sz="2200" dirty="0"/>
              <a:t>t[3] = time(u-&gt;</a:t>
            </a:r>
            <a:r>
              <a:rPr lang="en-US" altLang="zh-CN" sz="2200" dirty="0" err="1"/>
              <a:t>prev</a:t>
            </a:r>
            <a:r>
              <a:rPr lang="en-US" altLang="zh-CN" sz="2200" dirty="0"/>
              <a:t>, u, v);</a:t>
            </a:r>
            <a:endParaRPr lang="zh-CN" altLang="en-US" sz="2200" dirty="0"/>
          </a:p>
          <a:p>
            <a:r>
              <a:rPr lang="zh-CN" altLang="en-US" sz="2200" dirty="0"/>
              <a:t>    </a:t>
            </a:r>
            <a:r>
              <a:rPr lang="en-US" altLang="zh-CN" sz="2200" dirty="0"/>
              <a:t>t[4] = time(u, v-&gt;</a:t>
            </a:r>
            <a:r>
              <a:rPr lang="en-US" altLang="zh-CN" sz="2200" dirty="0" err="1"/>
              <a:t>prev</a:t>
            </a:r>
            <a:r>
              <a:rPr lang="en-US" altLang="zh-CN" sz="2200" dirty="0"/>
              <a:t>, v); </a:t>
            </a:r>
            <a:endParaRPr lang="zh-CN" altLang="en-US" sz="2200" dirty="0"/>
          </a:p>
          <a:p>
            <a:r>
              <a:rPr lang="zh-CN" altLang="en-US" sz="2200" dirty="0"/>
              <a:t>    </a:t>
            </a:r>
            <a:r>
              <a:rPr lang="en-US" altLang="zh-CN" sz="2200" dirty="0"/>
              <a:t>t[5] = time(u, v, v-&gt;next);</a:t>
            </a:r>
            <a:endParaRPr lang="zh-CN" altLang="en-US" sz="2200" dirty="0"/>
          </a:p>
          <a:p>
            <a:r>
              <a:rPr lang="zh-CN" altLang="en-US" sz="2200" dirty="0"/>
              <a:t>    </a:t>
            </a:r>
            <a:r>
              <a:rPr lang="nn-NO" altLang="zh-CN" sz="2200" dirty="0"/>
              <a:t>for (newt = INF, l = 0; l &lt; 6; l++) </a:t>
            </a:r>
            <a:endParaRPr lang="zh-CN" altLang="en-US" sz="2200" dirty="0"/>
          </a:p>
          <a:p>
            <a:r>
              <a:rPr lang="zh-CN" altLang="en-US" sz="2200" dirty="0"/>
              <a:t>      </a:t>
            </a:r>
            <a:r>
              <a:rPr lang="en-US" altLang="zh-CN" sz="2200" dirty="0"/>
              <a:t>if (t[l] &gt; </a:t>
            </a:r>
            <a:r>
              <a:rPr lang="en-US" altLang="zh-CN" sz="2200" dirty="0" err="1"/>
              <a:t>oldt</a:t>
            </a:r>
            <a:r>
              <a:rPr lang="en-US" altLang="zh-CN" sz="2200" dirty="0"/>
              <a:t> &amp;&amp; t[l] &lt; newt) { </a:t>
            </a:r>
            <a:r>
              <a:rPr lang="en-US" altLang="zh-CN" sz="2200" dirty="0" err="1"/>
              <a:t>minl</a:t>
            </a:r>
            <a:r>
              <a:rPr lang="en-US" altLang="zh-CN" sz="2200" dirty="0"/>
              <a:t> = l; newt = t[l]; }</a:t>
            </a:r>
            <a:endParaRPr lang="zh-CN" altLang="en-US" sz="2200" dirty="0"/>
          </a:p>
          <a:p>
            <a:r>
              <a:rPr lang="zh-CN" altLang="en-US" sz="2200" dirty="0"/>
              <a:t>    </a:t>
            </a:r>
            <a:r>
              <a:rPr lang="en-US" altLang="zh-CN" sz="2200" dirty="0"/>
              <a:t>if (newt == INF) break;</a:t>
            </a:r>
            <a:endParaRPr lang="zh-CN" altLang="en-US" sz="2200" dirty="0"/>
          </a:p>
          <a:p>
            <a:r>
              <a:rPr lang="zh-CN" altLang="en-US" sz="2200" dirty="0"/>
              <a:t>    </a:t>
            </a:r>
            <a:r>
              <a:rPr lang="en-US" altLang="zh-CN" sz="2200" dirty="0"/>
              <a:t>switch (</a:t>
            </a:r>
            <a:r>
              <a:rPr lang="en-US" altLang="zh-CN" sz="2200" dirty="0" err="1"/>
              <a:t>minl</a:t>
            </a:r>
            <a:r>
              <a:rPr lang="en-US" altLang="zh-CN" sz="2200" dirty="0"/>
              <a:t>) {</a:t>
            </a:r>
            <a:endParaRPr lang="zh-CN" altLang="en-US" sz="2200" dirty="0"/>
          </a:p>
          <a:p>
            <a:r>
              <a:rPr lang="zh-CN" altLang="en-US" sz="2200" dirty="0"/>
              <a:t>      </a:t>
            </a:r>
            <a:r>
              <a:rPr lang="en-US" altLang="zh-CN" sz="2200" dirty="0"/>
              <a:t>case 0:  if (B[</a:t>
            </a:r>
            <a:r>
              <a:rPr lang="en-US" altLang="zh-CN" sz="2200" dirty="0" err="1"/>
              <a:t>i</a:t>
            </a:r>
            <a:r>
              <a:rPr lang="en-US" altLang="zh-CN" sz="2200" dirty="0"/>
              <a:t>]-&gt;x &lt; u-&gt;x) A[k++] = B[</a:t>
            </a:r>
            <a:r>
              <a:rPr lang="en-US" altLang="zh-CN" sz="2200" dirty="0" err="1"/>
              <a:t>i</a:t>
            </a:r>
            <a:r>
              <a:rPr lang="en-US" altLang="zh-CN" sz="2200" dirty="0"/>
              <a:t>];  B[</a:t>
            </a:r>
            <a:r>
              <a:rPr lang="en-US" altLang="zh-CN" sz="2200" dirty="0" err="1"/>
              <a:t>i</a:t>
            </a:r>
            <a:r>
              <a:rPr lang="en-US" altLang="zh-CN" sz="2200" dirty="0"/>
              <a:t>++]-&gt;act();  break;</a:t>
            </a:r>
            <a:endParaRPr lang="zh-CN" altLang="en-US" sz="2200" dirty="0"/>
          </a:p>
          <a:p>
            <a:r>
              <a:rPr lang="zh-CN" altLang="en-US" sz="2200" dirty="0"/>
              <a:t>      </a:t>
            </a:r>
            <a:r>
              <a:rPr lang="en-US" altLang="zh-CN" sz="2200" dirty="0"/>
              <a:t>case 1:  if (B[j]-&gt;x &gt; v-&gt;x) A[k++] = B[j];  B[j++]-&gt;act();  break;</a:t>
            </a:r>
            <a:endParaRPr lang="zh-CN" altLang="en-US" sz="2200" dirty="0"/>
          </a:p>
          <a:p>
            <a:r>
              <a:rPr lang="zh-CN" altLang="en-US" sz="2200" dirty="0"/>
              <a:t>      </a:t>
            </a:r>
            <a:r>
              <a:rPr lang="en-US" altLang="zh-CN" sz="2200" dirty="0"/>
              <a:t>case 2:  A[k++] = u = u-&gt;next;  break;</a:t>
            </a:r>
            <a:endParaRPr lang="zh-CN" altLang="en-US" sz="2200" dirty="0"/>
          </a:p>
          <a:p>
            <a:r>
              <a:rPr lang="zh-CN" altLang="en-US" sz="2200" dirty="0"/>
              <a:t>      </a:t>
            </a:r>
            <a:r>
              <a:rPr lang="pl-PL" altLang="zh-CN" sz="2200" dirty="0"/>
              <a:t>case 3:  A[k++] = u;  u = u-&gt;prev;  break;</a:t>
            </a:r>
            <a:endParaRPr lang="zh-CN" altLang="en-US" sz="2200" dirty="0"/>
          </a:p>
          <a:p>
            <a:r>
              <a:rPr lang="zh-CN" altLang="en-US" sz="2200" dirty="0"/>
              <a:t>      </a:t>
            </a:r>
            <a:r>
              <a:rPr lang="en-US" altLang="zh-CN" sz="2200" dirty="0"/>
              <a:t>case 4:  A[k++] = v = v-&gt;</a:t>
            </a:r>
            <a:r>
              <a:rPr lang="en-US" altLang="zh-CN" sz="2200" dirty="0" err="1"/>
              <a:t>prev</a:t>
            </a:r>
            <a:r>
              <a:rPr lang="en-US" altLang="zh-CN" sz="2200" dirty="0"/>
              <a:t>;  break;</a:t>
            </a:r>
            <a:endParaRPr lang="zh-CN" altLang="en-US" sz="2200" dirty="0"/>
          </a:p>
          <a:p>
            <a:r>
              <a:rPr lang="zh-CN" altLang="en-US" sz="2200" dirty="0"/>
              <a:t>      </a:t>
            </a:r>
            <a:r>
              <a:rPr lang="en-US" altLang="zh-CN" sz="2200" dirty="0"/>
              <a:t>case 5:  A[k++] = v;  v = v-&gt;next;  break;</a:t>
            </a:r>
            <a:endParaRPr lang="zh-CN" altLang="en-US" sz="2200" dirty="0"/>
          </a:p>
          <a:p>
            <a:r>
              <a:rPr lang="zh-CN" altLang="en-US" sz="2200" dirty="0"/>
              <a:t>    </a:t>
            </a:r>
            <a:r>
              <a:rPr lang="en-US" altLang="zh-CN" sz="2200" dirty="0"/>
              <a:t>}</a:t>
            </a:r>
            <a:endParaRPr lang="zh-CN" altLang="en-US" sz="2200" dirty="0"/>
          </a:p>
          <a:p>
            <a:r>
              <a:rPr lang="zh-CN" altLang="en-US" sz="2200" dirty="0"/>
              <a:t>  </a:t>
            </a:r>
            <a:r>
              <a:rPr lang="en-US" altLang="zh-CN" sz="2200" dirty="0"/>
              <a:t>}</a:t>
            </a:r>
            <a:endParaRPr lang="zh-CN" altLang="en-US" sz="2200" dirty="0"/>
          </a:p>
          <a:p>
            <a:r>
              <a:rPr lang="zh-CN" altLang="en-US" sz="2200" dirty="0"/>
              <a:t>  </a:t>
            </a:r>
            <a:r>
              <a:rPr lang="en-US" altLang="zh-CN" sz="2200" dirty="0"/>
              <a:t>A[k] = NIL;</a:t>
            </a:r>
            <a:endParaRPr lang="zh-CN" altLang="en-US" sz="2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时光倒流，恢复到初始时刻</a:t>
            </a:r>
          </a:p>
        </p:txBody>
      </p:sp>
      <p:sp>
        <p:nvSpPr>
          <p:cNvPr id="4" name="TextBox 3"/>
          <p:cNvSpPr txBox="1"/>
          <p:nvPr/>
        </p:nvSpPr>
        <p:spPr>
          <a:xfrm>
            <a:off x="512573" y="1428736"/>
            <a:ext cx="8131393" cy="3785652"/>
          </a:xfrm>
          <a:prstGeom prst="rect">
            <a:avLst/>
          </a:prstGeom>
          <a:noFill/>
        </p:spPr>
        <p:txBody>
          <a:bodyPr wrap="none" rtlCol="0">
            <a:spAutoFit/>
          </a:bodyPr>
          <a:lstStyle/>
          <a:p>
            <a:r>
              <a:rPr lang="en-US" altLang="zh-CN" sz="2400" dirty="0"/>
              <a:t>u-&gt;next = v;  v-&gt;</a:t>
            </a:r>
            <a:r>
              <a:rPr lang="en-US" altLang="zh-CN" sz="2400" dirty="0" err="1"/>
              <a:t>prev</a:t>
            </a:r>
            <a:r>
              <a:rPr lang="en-US" altLang="zh-CN" sz="2400" dirty="0"/>
              <a:t> = u;</a:t>
            </a:r>
            <a:endParaRPr lang="zh-CN" altLang="en-US" sz="2400" dirty="0"/>
          </a:p>
          <a:p>
            <a:r>
              <a:rPr lang="zh-CN" altLang="en-US" sz="2400" dirty="0"/>
              <a:t>  </a:t>
            </a:r>
            <a:r>
              <a:rPr lang="nn-NO" altLang="zh-CN" sz="2400" dirty="0"/>
              <a:t>for (k--; k &gt;= 0; k--) </a:t>
            </a:r>
            <a:endParaRPr lang="zh-CN" altLang="en-US" sz="2400" dirty="0"/>
          </a:p>
          <a:p>
            <a:r>
              <a:rPr lang="zh-CN" altLang="en-US" sz="2400" dirty="0"/>
              <a:t>    </a:t>
            </a:r>
            <a:r>
              <a:rPr lang="en-US" altLang="zh-CN" sz="2400" dirty="0"/>
              <a:t>if (A[k]-&gt;x &lt;= u-&gt;x || A[k]-&gt;x &gt;= v-&gt;x) {</a:t>
            </a:r>
            <a:endParaRPr lang="zh-CN" altLang="en-US" sz="2400" dirty="0"/>
          </a:p>
          <a:p>
            <a:r>
              <a:rPr lang="zh-CN" altLang="en-US" sz="2400" dirty="0"/>
              <a:t>      </a:t>
            </a:r>
            <a:r>
              <a:rPr lang="en-US" altLang="zh-CN" sz="2400" dirty="0"/>
              <a:t>A[k]-&gt;act();</a:t>
            </a:r>
            <a:endParaRPr lang="zh-CN" altLang="en-US" sz="2400" dirty="0"/>
          </a:p>
          <a:p>
            <a:r>
              <a:rPr lang="zh-CN" altLang="en-US" sz="2400" dirty="0"/>
              <a:t>      </a:t>
            </a:r>
            <a:r>
              <a:rPr lang="en-US" altLang="zh-CN" sz="2400" dirty="0"/>
              <a:t>if (A[k] == u) u = u-&gt;</a:t>
            </a:r>
            <a:r>
              <a:rPr lang="en-US" altLang="zh-CN" sz="2400" dirty="0" err="1"/>
              <a:t>prev</a:t>
            </a:r>
            <a:r>
              <a:rPr lang="en-US" altLang="zh-CN" sz="2400" dirty="0"/>
              <a:t>; else if (A[k] == v) v = v-&gt;next;</a:t>
            </a:r>
            <a:endParaRPr lang="zh-CN" altLang="en-US" sz="2400" dirty="0"/>
          </a:p>
          <a:p>
            <a:r>
              <a:rPr lang="zh-CN" altLang="en-US" sz="2400" dirty="0"/>
              <a:t>    </a:t>
            </a:r>
            <a:r>
              <a:rPr lang="en-US" altLang="zh-CN" sz="2400" dirty="0"/>
              <a:t>}</a:t>
            </a:r>
            <a:endParaRPr lang="zh-CN" altLang="en-US" sz="2400" dirty="0"/>
          </a:p>
          <a:p>
            <a:r>
              <a:rPr lang="zh-CN" altLang="en-US" sz="2400" dirty="0"/>
              <a:t>    </a:t>
            </a:r>
            <a:r>
              <a:rPr lang="en-US" altLang="zh-CN" sz="2400" dirty="0"/>
              <a:t>else { </a:t>
            </a:r>
            <a:endParaRPr lang="zh-CN" altLang="en-US" sz="2400" dirty="0"/>
          </a:p>
          <a:p>
            <a:r>
              <a:rPr lang="zh-CN" altLang="en-US" sz="2400" dirty="0"/>
              <a:t>      </a:t>
            </a:r>
            <a:r>
              <a:rPr lang="en-US" altLang="zh-CN" sz="2400" dirty="0"/>
              <a:t>u-&gt;next = A[k]; A[k]-&gt;</a:t>
            </a:r>
            <a:r>
              <a:rPr lang="en-US" altLang="zh-CN" sz="2400" dirty="0" err="1"/>
              <a:t>prev</a:t>
            </a:r>
            <a:r>
              <a:rPr lang="en-US" altLang="zh-CN" sz="2400" dirty="0"/>
              <a:t> = u; v-&gt;</a:t>
            </a:r>
            <a:r>
              <a:rPr lang="en-US" altLang="zh-CN" sz="2400" dirty="0" err="1"/>
              <a:t>prev</a:t>
            </a:r>
            <a:r>
              <a:rPr lang="en-US" altLang="zh-CN" sz="2400" dirty="0"/>
              <a:t> = A[k]; A[k]-&gt;next = v;</a:t>
            </a:r>
            <a:endParaRPr lang="zh-CN" altLang="en-US" sz="2400" dirty="0"/>
          </a:p>
          <a:p>
            <a:r>
              <a:rPr lang="zh-CN" altLang="en-US" sz="2400" dirty="0"/>
              <a:t>      </a:t>
            </a:r>
            <a:r>
              <a:rPr lang="en-US" altLang="zh-CN" sz="2400" dirty="0"/>
              <a:t>if (A[k]-&gt;x &lt; mid-&gt;x) u = A[k]; else v = A[k];</a:t>
            </a:r>
            <a:endParaRPr lang="zh-CN" altLang="en-US" sz="2400" dirty="0"/>
          </a:p>
          <a:p>
            <a:r>
              <a:rPr lang="zh-CN" altLang="en-US" sz="2400" dirty="0"/>
              <a:t>    </a:t>
            </a:r>
            <a:r>
              <a:rPr lang="en-US" altLang="zh-CN" sz="2400" dirty="0"/>
              <a:t>}</a:t>
            </a:r>
            <a:endParaRPr lang="zh-CN" altLang="en-US" sz="2400" dirty="0"/>
          </a:p>
        </p:txBody>
      </p:sp>
      <p:sp>
        <p:nvSpPr>
          <p:cNvPr id="5" name="TextBox 4"/>
          <p:cNvSpPr txBox="1"/>
          <p:nvPr/>
        </p:nvSpPr>
        <p:spPr>
          <a:xfrm>
            <a:off x="71406" y="5500702"/>
            <a:ext cx="8924559" cy="1200329"/>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400" dirty="0"/>
              <a:t>注意每个点只有一个副本，因此给定一个事件序列</a:t>
            </a:r>
            <a:r>
              <a:rPr lang="en-US" altLang="zh-CN" sz="2400" dirty="0"/>
              <a:t>A</a:t>
            </a:r>
          </a:p>
          <a:p>
            <a:r>
              <a:rPr lang="zh-CN" altLang="en-US" sz="2400" dirty="0"/>
              <a:t>不能直接取出</a:t>
            </a:r>
            <a:r>
              <a:rPr lang="en-US" altLang="zh-CN" sz="2400" dirty="0"/>
              <a:t>A</a:t>
            </a:r>
            <a:r>
              <a:rPr lang="zh-CN" altLang="en-US" sz="2400" dirty="0"/>
              <a:t>中第</a:t>
            </a:r>
            <a:r>
              <a:rPr lang="en-US" altLang="zh-CN" sz="2400" dirty="0" err="1"/>
              <a:t>i</a:t>
            </a:r>
            <a:r>
              <a:rPr lang="zh-CN" altLang="en-US" sz="2400" dirty="0"/>
              <a:t>个事件（</a:t>
            </a:r>
            <a:r>
              <a:rPr lang="en-US" altLang="zh-CN" sz="2400" dirty="0" err="1"/>
              <a:t>prev</a:t>
            </a:r>
            <a:r>
              <a:rPr lang="zh-CN" altLang="en-US" sz="2400" dirty="0"/>
              <a:t>和</a:t>
            </a:r>
            <a:r>
              <a:rPr lang="en-US" altLang="zh-CN" sz="2400" dirty="0"/>
              <a:t>next</a:t>
            </a:r>
            <a:r>
              <a:rPr lang="zh-CN" altLang="en-US" sz="2400" dirty="0"/>
              <a:t>可能错），只能按顺序取</a:t>
            </a:r>
            <a:endParaRPr lang="en-US" altLang="zh-CN" sz="2400" dirty="0"/>
          </a:p>
          <a:p>
            <a:r>
              <a:rPr lang="zh-CN" altLang="en-US" sz="2400" dirty="0"/>
              <a:t>幸运的是，事件是可逆的，所以可以“时光倒流”</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三维凸包总结</a:t>
            </a:r>
          </a:p>
        </p:txBody>
      </p:sp>
      <p:sp>
        <p:nvSpPr>
          <p:cNvPr id="3" name="内容占位符 2"/>
          <p:cNvSpPr>
            <a:spLocks noGrp="1"/>
          </p:cNvSpPr>
          <p:nvPr>
            <p:ph idx="1"/>
          </p:nvPr>
        </p:nvSpPr>
        <p:spPr>
          <a:xfrm>
            <a:off x="457200" y="1600200"/>
            <a:ext cx="8229600" cy="4686320"/>
          </a:xfrm>
        </p:spPr>
        <p:txBody>
          <a:bodyPr/>
          <a:lstStyle/>
          <a:p>
            <a:r>
              <a:rPr lang="zh-CN" altLang="en-US" dirty="0"/>
              <a:t>必须掌握：暴力法、卷包裹</a:t>
            </a:r>
            <a:endParaRPr lang="en-US" altLang="zh-CN" dirty="0"/>
          </a:p>
          <a:p>
            <a:r>
              <a:rPr lang="zh-CN" altLang="en-US" dirty="0"/>
              <a:t>增量法：重点是快速凸包。凸包的表示方法值得研究，兼顾编程复杂度和时间效率</a:t>
            </a:r>
            <a:endParaRPr lang="en-US" altLang="zh-CN" dirty="0"/>
          </a:p>
          <a:p>
            <a:r>
              <a:rPr lang="zh-CN" altLang="en-US" dirty="0"/>
              <a:t>分治算法：重点是</a:t>
            </a:r>
            <a:r>
              <a:rPr lang="en-US" altLang="zh-CN" dirty="0"/>
              <a:t>Chan</a:t>
            </a:r>
            <a:r>
              <a:rPr lang="zh-CN" altLang="en-US" dirty="0"/>
              <a:t>的平面动点算法，程序实现非常精巧，优点是空间省，程序短，缺点是时间效率（常数）有待提高</a:t>
            </a:r>
            <a:endParaRPr lang="en-US" altLang="zh-CN" dirty="0"/>
          </a:p>
          <a:p>
            <a:r>
              <a:rPr lang="zh-CN" altLang="en-US" dirty="0"/>
              <a:t>共同问题：凸包上多点共面的情况；数值问题。思路：抖动、后期检查</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六、题目讨论</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Everybody may get lost in space (CERC 2009, LA 4623)</a:t>
            </a:r>
            <a:endParaRPr lang="zh-CN" altLang="en-US" dirty="0"/>
          </a:p>
        </p:txBody>
      </p:sp>
      <p:sp>
        <p:nvSpPr>
          <p:cNvPr id="3" name="内容占位符 2"/>
          <p:cNvSpPr>
            <a:spLocks noGrp="1"/>
          </p:cNvSpPr>
          <p:nvPr>
            <p:ph idx="1"/>
          </p:nvPr>
        </p:nvSpPr>
        <p:spPr>
          <a:xfrm>
            <a:off x="457200" y="1484784"/>
            <a:ext cx="8229600" cy="5184576"/>
          </a:xfrm>
        </p:spPr>
        <p:txBody>
          <a:bodyPr>
            <a:normAutofit fontScale="92500"/>
          </a:bodyPr>
          <a:lstStyle/>
          <a:p>
            <a:r>
              <a:rPr lang="zh-CN" altLang="en-US" dirty="0"/>
              <a:t>航天飞机的坐标能从三个独立源头获得。这三个源头同时提供</a:t>
            </a:r>
            <a:r>
              <a:rPr lang="en-US" altLang="zh-CN" dirty="0"/>
              <a:t>x</a:t>
            </a:r>
            <a:r>
              <a:rPr lang="zh-CN" altLang="en-US" dirty="0"/>
              <a:t>，</a:t>
            </a:r>
            <a:r>
              <a:rPr lang="en-US" altLang="zh-CN" dirty="0"/>
              <a:t>y</a:t>
            </a:r>
            <a:r>
              <a:rPr lang="zh-CN" altLang="en-US" dirty="0"/>
              <a:t>，</a:t>
            </a:r>
            <a:r>
              <a:rPr lang="en-US" altLang="zh-CN" dirty="0"/>
              <a:t>z</a:t>
            </a:r>
            <a:r>
              <a:rPr lang="zh-CN" altLang="en-US" dirty="0"/>
              <a:t>坐标和观察误差，即任何满足</a:t>
            </a:r>
            <a:endParaRPr lang="en-US" altLang="zh-CN" dirty="0"/>
          </a:p>
          <a:p>
            <a:endParaRPr lang="en-US" altLang="zh-CN" dirty="0"/>
          </a:p>
          <a:p>
            <a:endParaRPr lang="en-US" altLang="zh-CN" dirty="0"/>
          </a:p>
          <a:p>
            <a:r>
              <a:rPr lang="zh-CN" altLang="en-US" dirty="0"/>
              <a:t>的点</a:t>
            </a:r>
            <a:r>
              <a:rPr lang="en-US" altLang="zh-CN" dirty="0"/>
              <a:t>(</a:t>
            </a:r>
            <a:r>
              <a:rPr lang="en-US" altLang="zh-CN" dirty="0" err="1"/>
              <a:t>x’,y’,z</a:t>
            </a:r>
            <a:r>
              <a:rPr lang="en-US" altLang="zh-CN" dirty="0"/>
              <a:t>’)</a:t>
            </a:r>
            <a:r>
              <a:rPr lang="zh-CN" altLang="en-US" dirty="0"/>
              <a:t>都是合法位置。可是，即使给出三套测量值，得到航天飞机的具体位置也不是容易的事。你的任务是计算航天飞机可能存在的空间体积，这片空间中的点至少被一个测量的球体覆盖到（即上述三个球体的并集）。</a:t>
            </a:r>
          </a:p>
        </p:txBody>
      </p:sp>
      <p:graphicFrame>
        <p:nvGraphicFramePr>
          <p:cNvPr id="53251" name="Object 3"/>
          <p:cNvGraphicFramePr>
            <a:graphicFrameLocks noChangeAspect="1"/>
          </p:cNvGraphicFramePr>
          <p:nvPr/>
        </p:nvGraphicFramePr>
        <p:xfrm>
          <a:off x="1763688" y="3140968"/>
          <a:ext cx="5746750" cy="730250"/>
        </p:xfrm>
        <a:graphic>
          <a:graphicData uri="http://schemas.openxmlformats.org/presentationml/2006/ole">
            <mc:AlternateContent xmlns:mc="http://schemas.openxmlformats.org/markup-compatibility/2006">
              <mc:Choice xmlns:v="urn:schemas-microsoft-com:vml" Requires="v">
                <p:oleObj spid="_x0000_s167939" name="公式" r:id="rId3" imgW="2197080" imgH="279360" progId="Equation.3">
                  <p:embed/>
                </p:oleObj>
              </mc:Choice>
              <mc:Fallback>
                <p:oleObj name="公式" r:id="rId3" imgW="2197080" imgH="2793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140968"/>
                        <a:ext cx="5746750" cy="73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分析</a:t>
            </a:r>
          </a:p>
        </p:txBody>
      </p:sp>
      <p:sp>
        <p:nvSpPr>
          <p:cNvPr id="3" name="内容占位符 2"/>
          <p:cNvSpPr>
            <a:spLocks noGrp="1"/>
          </p:cNvSpPr>
          <p:nvPr>
            <p:ph idx="1"/>
          </p:nvPr>
        </p:nvSpPr>
        <p:spPr/>
        <p:txBody>
          <a:bodyPr/>
          <a:lstStyle/>
          <a:p>
            <a:r>
              <a:rPr lang="zh-CN" altLang="en-US" dirty="0"/>
              <a:t>得到解析解非常困难，考虑数值解法</a:t>
            </a:r>
            <a:endParaRPr lang="en-US" altLang="zh-CN" dirty="0"/>
          </a:p>
          <a:p>
            <a:r>
              <a:rPr lang="zh-CN" altLang="en-US" dirty="0"/>
              <a:t>对于一个空间实心物体，设它的最小和最大</a:t>
            </a:r>
            <a:r>
              <a:rPr lang="en-US" altLang="zh-CN" dirty="0"/>
              <a:t>z</a:t>
            </a:r>
            <a:r>
              <a:rPr lang="zh-CN" altLang="en-US" dirty="0"/>
              <a:t>坐标分别为</a:t>
            </a:r>
            <a:r>
              <a:rPr lang="en-US" altLang="zh-CN" dirty="0"/>
              <a:t>a</a:t>
            </a:r>
            <a:r>
              <a:rPr lang="zh-CN" altLang="en-US" dirty="0"/>
              <a:t>和</a:t>
            </a:r>
            <a:r>
              <a:rPr lang="en-US" altLang="zh-CN" dirty="0"/>
              <a:t>b</a:t>
            </a:r>
            <a:r>
              <a:rPr lang="zh-CN" altLang="en-US" dirty="0"/>
              <a:t>，被平面</a:t>
            </a:r>
            <a:r>
              <a:rPr lang="en-US" altLang="zh-CN" dirty="0"/>
              <a:t>z=z</a:t>
            </a:r>
            <a:r>
              <a:rPr lang="en-US" altLang="zh-CN" baseline="-25000" dirty="0"/>
              <a:t>0</a:t>
            </a:r>
            <a:r>
              <a:rPr lang="zh-CN" altLang="en-US" dirty="0"/>
              <a:t>截得的面积为关于</a:t>
            </a:r>
            <a:r>
              <a:rPr lang="en-US" altLang="zh-CN" dirty="0"/>
              <a:t>z</a:t>
            </a:r>
            <a:r>
              <a:rPr lang="en-US" altLang="zh-CN" baseline="-25000" dirty="0"/>
              <a:t>0</a:t>
            </a:r>
            <a:r>
              <a:rPr lang="zh-CN" altLang="en-US" dirty="0"/>
              <a:t>的函数</a:t>
            </a:r>
            <a:r>
              <a:rPr lang="en-US" altLang="zh-CN" dirty="0"/>
              <a:t>f(z</a:t>
            </a:r>
            <a:r>
              <a:rPr lang="en-US" altLang="zh-CN" baseline="-25000" dirty="0"/>
              <a:t>0</a:t>
            </a:r>
            <a:r>
              <a:rPr lang="en-US" altLang="zh-CN" dirty="0"/>
              <a:t>)</a:t>
            </a:r>
            <a:r>
              <a:rPr lang="zh-CN" altLang="en-US" dirty="0"/>
              <a:t>，则体积为：</a:t>
            </a:r>
            <a:endParaRPr lang="en-US" altLang="zh-CN" dirty="0"/>
          </a:p>
          <a:p>
            <a:endParaRPr lang="en-US" altLang="zh-CN" dirty="0"/>
          </a:p>
          <a:p>
            <a:endParaRPr lang="en-US" altLang="zh-CN" dirty="0"/>
          </a:p>
          <a:p>
            <a:r>
              <a:rPr lang="zh-CN" altLang="en-US" dirty="0"/>
              <a:t>如何把</a:t>
            </a:r>
            <a:r>
              <a:rPr lang="en-US" altLang="zh-CN" dirty="0"/>
              <a:t>f(x)</a:t>
            </a:r>
            <a:r>
              <a:rPr lang="zh-CN" altLang="en-US" dirty="0"/>
              <a:t>画到平面直角坐标系下，则答案为曲线</a:t>
            </a:r>
            <a:r>
              <a:rPr lang="en-US" altLang="zh-CN" dirty="0"/>
              <a:t>f(x)</a:t>
            </a:r>
            <a:r>
              <a:rPr lang="zh-CN" altLang="en-US" dirty="0"/>
              <a:t>下方的</a:t>
            </a:r>
            <a:r>
              <a:rPr lang="zh-CN" altLang="en-US" b="1" dirty="0">
                <a:solidFill>
                  <a:srgbClr val="FF0000"/>
                </a:solidFill>
              </a:rPr>
              <a:t>面积</a:t>
            </a:r>
            <a:r>
              <a:rPr lang="zh-CN" altLang="en-US" dirty="0"/>
              <a:t>。</a:t>
            </a:r>
          </a:p>
        </p:txBody>
      </p:sp>
      <p:graphicFrame>
        <p:nvGraphicFramePr>
          <p:cNvPr id="162818" name="Object 2"/>
          <p:cNvGraphicFramePr>
            <a:graphicFrameLocks noChangeAspect="1"/>
          </p:cNvGraphicFramePr>
          <p:nvPr/>
        </p:nvGraphicFramePr>
        <p:xfrm>
          <a:off x="2655888" y="3933825"/>
          <a:ext cx="2292350" cy="863600"/>
        </p:xfrm>
        <a:graphic>
          <a:graphicData uri="http://schemas.openxmlformats.org/presentationml/2006/ole">
            <mc:AlternateContent xmlns:mc="http://schemas.openxmlformats.org/markup-compatibility/2006">
              <mc:Choice xmlns:v="urn:schemas-microsoft-com:vml" Requires="v">
                <p:oleObj spid="_x0000_s168963" name="公式" r:id="rId3" imgW="876240" imgH="330120" progId="Equation.3">
                  <p:embed/>
                </p:oleObj>
              </mc:Choice>
              <mc:Fallback>
                <p:oleObj name="公式" r:id="rId3" imgW="876240" imgH="3301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5888" y="3933825"/>
                        <a:ext cx="229235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14290"/>
            <a:ext cx="8229600" cy="4525963"/>
          </a:xfrm>
        </p:spPr>
        <p:txBody>
          <a:bodyPr/>
          <a:lstStyle/>
          <a:p>
            <a:r>
              <a:rPr lang="zh-CN" altLang="en-US" dirty="0"/>
              <a:t>有很多种办法可以近似求出曲线下方的面积，其中一种又容易理解又容易实现的方法是利用辛普森公式：</a:t>
            </a:r>
          </a:p>
        </p:txBody>
      </p:sp>
      <p:pic>
        <p:nvPicPr>
          <p:cNvPr id="163842" name="Picture 2"/>
          <p:cNvPicPr>
            <a:picLocks noChangeAspect="1" noChangeArrowheads="1"/>
          </p:cNvPicPr>
          <p:nvPr/>
        </p:nvPicPr>
        <p:blipFill>
          <a:blip r:embed="rId2"/>
          <a:srcRect/>
          <a:stretch>
            <a:fillRect/>
          </a:stretch>
        </p:blipFill>
        <p:spPr bwMode="auto">
          <a:xfrm>
            <a:off x="357158" y="1928802"/>
            <a:ext cx="7867650" cy="3762375"/>
          </a:xfrm>
          <a:prstGeom prst="rect">
            <a:avLst/>
          </a:prstGeom>
          <a:noFill/>
          <a:ln w="9525">
            <a:noFill/>
            <a:miter lim="800000"/>
            <a:headEnd/>
            <a:tailEnd/>
          </a:ln>
          <a:effectLst/>
        </p:spPr>
      </p:pic>
      <p:pic>
        <p:nvPicPr>
          <p:cNvPr id="163843" name="Picture 3"/>
          <p:cNvPicPr>
            <a:picLocks noChangeAspect="1" noChangeArrowheads="1"/>
          </p:cNvPicPr>
          <p:nvPr/>
        </p:nvPicPr>
        <p:blipFill>
          <a:blip r:embed="rId3"/>
          <a:srcRect/>
          <a:stretch>
            <a:fillRect/>
          </a:stretch>
        </p:blipFill>
        <p:spPr bwMode="auto">
          <a:xfrm>
            <a:off x="-32" y="5857892"/>
            <a:ext cx="9144032" cy="784793"/>
          </a:xfrm>
          <a:prstGeom prst="rect">
            <a:avLst/>
          </a:prstGeom>
          <a:noFill/>
          <a:ln w="9525">
            <a:noFill/>
            <a:miter lim="800000"/>
            <a:headEnd/>
            <a:tailEnd/>
          </a:ln>
          <a:effectLst/>
        </p:spPr>
      </p:pic>
      <p:sp>
        <p:nvSpPr>
          <p:cNvPr id="7" name="TextBox 6"/>
          <p:cNvSpPr txBox="1"/>
          <p:nvPr/>
        </p:nvSpPr>
        <p:spPr>
          <a:xfrm>
            <a:off x="1142976" y="1785926"/>
            <a:ext cx="7939994" cy="461665"/>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zh-CN" altLang="en-US" sz="2400" b="1" dirty="0"/>
              <a:t>均匀分成</a:t>
            </a:r>
            <a:r>
              <a:rPr lang="en-US" altLang="zh-CN" sz="2400" b="1" dirty="0"/>
              <a:t>n</a:t>
            </a:r>
            <a:r>
              <a:rPr lang="zh-CN" altLang="en-US" sz="2400" b="1" dirty="0"/>
              <a:t>段，其中</a:t>
            </a:r>
            <a:r>
              <a:rPr lang="en-US" altLang="zh-CN" sz="2400" b="1" dirty="0"/>
              <a:t>n</a:t>
            </a:r>
            <a:r>
              <a:rPr lang="zh-CN" altLang="en-US" sz="2400" b="1" dirty="0"/>
              <a:t>为偶数。每连续两段用二次曲线逼近</a:t>
            </a:r>
          </a:p>
        </p:txBody>
      </p:sp>
      <p:sp>
        <p:nvSpPr>
          <p:cNvPr id="8" name="矩形 7"/>
          <p:cNvSpPr/>
          <p:nvPr/>
        </p:nvSpPr>
        <p:spPr>
          <a:xfrm>
            <a:off x="1428728" y="5857892"/>
            <a:ext cx="2071702" cy="714380"/>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10" name="矩形 9"/>
          <p:cNvSpPr/>
          <p:nvPr/>
        </p:nvSpPr>
        <p:spPr>
          <a:xfrm>
            <a:off x="1285852" y="3286124"/>
            <a:ext cx="1071570" cy="2143140"/>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cxnSp>
        <p:nvCxnSpPr>
          <p:cNvPr id="12" name="直接箭头连接符 11"/>
          <p:cNvCxnSpPr>
            <a:stCxn id="8" idx="0"/>
          </p:cNvCxnSpPr>
          <p:nvPr/>
        </p:nvCxnSpPr>
        <p:spPr>
          <a:xfrm rot="16200000" flipV="1">
            <a:off x="2089530" y="5482842"/>
            <a:ext cx="428628" cy="321471"/>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自适应</a:t>
            </a:r>
            <a:r>
              <a:rPr lang="en-US" altLang="zh-CN" dirty="0"/>
              <a:t>Simpson</a:t>
            </a:r>
            <a:endParaRPr lang="zh-CN" altLang="en-US" dirty="0"/>
          </a:p>
        </p:txBody>
      </p:sp>
      <p:sp>
        <p:nvSpPr>
          <p:cNvPr id="3" name="内容占位符 2"/>
          <p:cNvSpPr>
            <a:spLocks noGrp="1"/>
          </p:cNvSpPr>
          <p:nvPr>
            <p:ph idx="1"/>
          </p:nvPr>
        </p:nvSpPr>
        <p:spPr>
          <a:xfrm>
            <a:off x="457200" y="1428736"/>
            <a:ext cx="8229600" cy="5143536"/>
          </a:xfrm>
        </p:spPr>
        <p:txBody>
          <a:bodyPr>
            <a:normAutofit/>
          </a:bodyPr>
          <a:lstStyle/>
          <a:p>
            <a:r>
              <a:rPr lang="zh-CN" altLang="en-US" dirty="0"/>
              <a:t>实践中常常用自适应</a:t>
            </a:r>
            <a:r>
              <a:rPr lang="en-US" altLang="zh-CN" dirty="0" err="1"/>
              <a:t>simpson</a:t>
            </a:r>
            <a:r>
              <a:rPr lang="zh-CN" altLang="en-US" dirty="0"/>
              <a:t>公式来解决“不知道该分几份”的问题：设区间</a:t>
            </a:r>
            <a:r>
              <a:rPr lang="en-US" altLang="zh-CN" dirty="0"/>
              <a:t>[</a:t>
            </a:r>
            <a:r>
              <a:rPr lang="en-US" altLang="zh-CN" dirty="0" err="1"/>
              <a:t>a,b</a:t>
            </a:r>
            <a:r>
              <a:rPr lang="en-US" altLang="zh-CN" dirty="0"/>
              <a:t>]</a:t>
            </a:r>
            <a:r>
              <a:rPr lang="zh-CN" altLang="en-US" dirty="0"/>
              <a:t>中点为</a:t>
            </a:r>
            <a:r>
              <a:rPr lang="en-US" altLang="zh-CN" dirty="0"/>
              <a:t>c</a:t>
            </a:r>
            <a:r>
              <a:rPr lang="zh-CN" altLang="en-US" dirty="0"/>
              <a:t>，则当且仅当</a:t>
            </a:r>
            <a:endParaRPr lang="en-US" altLang="zh-CN" dirty="0"/>
          </a:p>
          <a:p>
            <a:endParaRPr lang="en-US" altLang="zh-CN" dirty="0"/>
          </a:p>
          <a:p>
            <a:endParaRPr lang="en-US" altLang="zh-CN" dirty="0"/>
          </a:p>
          <a:p>
            <a:r>
              <a:rPr lang="zh-CN" altLang="en-US" dirty="0"/>
              <a:t>时返回结果，否则递归调用</a:t>
            </a:r>
            <a:endParaRPr lang="en-US" altLang="zh-CN" dirty="0"/>
          </a:p>
          <a:p>
            <a:r>
              <a:rPr lang="en-US" altLang="zh-CN" dirty="0"/>
              <a:t>LA</a:t>
            </a:r>
            <a:r>
              <a:rPr lang="zh-CN" altLang="en-US" dirty="0"/>
              <a:t>上此题运行时间最短的两个程序均采用此法。正式比赛中没有队伍做出此题</a:t>
            </a:r>
            <a:endParaRPr lang="en-US" altLang="zh-CN" dirty="0"/>
          </a:p>
          <a:p>
            <a:r>
              <a:rPr lang="zh-CN" altLang="en-US" dirty="0"/>
              <a:t>讨论：</a:t>
            </a:r>
            <a:r>
              <a:rPr lang="en-US" altLang="zh-CN" dirty="0"/>
              <a:t>f(x)</a:t>
            </a:r>
            <a:r>
              <a:rPr lang="zh-CN" altLang="en-US" dirty="0"/>
              <a:t>如何求？</a:t>
            </a:r>
          </a:p>
          <a:p>
            <a:endParaRPr lang="zh-CN" altLang="en-US" dirty="0"/>
          </a:p>
        </p:txBody>
      </p:sp>
      <p:graphicFrame>
        <p:nvGraphicFramePr>
          <p:cNvPr id="165890" name="Object 2"/>
          <p:cNvGraphicFramePr>
            <a:graphicFrameLocks noChangeAspect="1"/>
          </p:cNvGraphicFramePr>
          <p:nvPr/>
        </p:nvGraphicFramePr>
        <p:xfrm>
          <a:off x="507190" y="3214686"/>
          <a:ext cx="7993900" cy="1000132"/>
        </p:xfrm>
        <a:graphic>
          <a:graphicData uri="http://schemas.openxmlformats.org/presentationml/2006/ole">
            <mc:AlternateContent xmlns:mc="http://schemas.openxmlformats.org/markup-compatibility/2006">
              <mc:Choice xmlns:v="urn:schemas-microsoft-com:vml" Requires="v">
                <p:oleObj spid="_x0000_s169987" name="公式" r:id="rId3" imgW="2031840" imgH="253800" progId="Equation.3">
                  <p:embed/>
                </p:oleObj>
              </mc:Choice>
              <mc:Fallback>
                <p:oleObj name="公式" r:id="rId3" imgW="2031840" imgH="25380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190" y="3214686"/>
                        <a:ext cx="7993900" cy="10001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Tetrahedrons and Spheres (</a:t>
            </a:r>
            <a:r>
              <a:rPr lang="en-US" altLang="zh-CN" dirty="0" err="1"/>
              <a:t>UVa</a:t>
            </a:r>
            <a:r>
              <a:rPr lang="en-US" altLang="zh-CN" dirty="0"/>
              <a:t> 11887)</a:t>
            </a:r>
            <a:endParaRPr lang="zh-CN" altLang="en-US" dirty="0"/>
          </a:p>
        </p:txBody>
      </p:sp>
      <p:sp>
        <p:nvSpPr>
          <p:cNvPr id="3" name="内容占位符 2"/>
          <p:cNvSpPr>
            <a:spLocks noGrp="1"/>
          </p:cNvSpPr>
          <p:nvPr>
            <p:ph idx="1"/>
          </p:nvPr>
        </p:nvSpPr>
        <p:spPr/>
        <p:txBody>
          <a:bodyPr/>
          <a:lstStyle/>
          <a:p>
            <a:r>
              <a:rPr lang="zh-CN" altLang="en-US" dirty="0"/>
              <a:t>给</a:t>
            </a:r>
            <a:r>
              <a:rPr lang="en-US" altLang="zh-CN" dirty="0"/>
              <a:t>a</a:t>
            </a:r>
            <a:r>
              <a:rPr lang="zh-CN" altLang="en-US" dirty="0"/>
              <a:t>和四面体和</a:t>
            </a:r>
            <a:r>
              <a:rPr lang="en-US" altLang="zh-CN" dirty="0"/>
              <a:t>b</a:t>
            </a:r>
            <a:r>
              <a:rPr lang="zh-CN" altLang="en-US" dirty="0"/>
              <a:t>个球体，求并的体积。坐标为绝对值不超过</a:t>
            </a:r>
            <a:r>
              <a:rPr lang="en-US" altLang="zh-CN" dirty="0"/>
              <a:t>5</a:t>
            </a:r>
            <a:r>
              <a:rPr lang="zh-CN" altLang="en-US" dirty="0"/>
              <a:t>的整数，球的半径为不超过</a:t>
            </a:r>
            <a:r>
              <a:rPr lang="en-US" altLang="zh-CN" dirty="0"/>
              <a:t>3</a:t>
            </a:r>
            <a:r>
              <a:rPr lang="zh-CN" altLang="en-US" dirty="0"/>
              <a:t>的正整数。</a:t>
            </a:r>
            <a:r>
              <a:rPr lang="en-US" altLang="zh-CN" dirty="0"/>
              <a:t>1&lt;=</a:t>
            </a:r>
            <a:r>
              <a:rPr lang="en-US" altLang="zh-CN" dirty="0" err="1"/>
              <a:t>a,b</a:t>
            </a:r>
            <a:r>
              <a:rPr lang="en-US" altLang="zh-CN" dirty="0"/>
              <a:t>&lt;=5</a:t>
            </a:r>
            <a:r>
              <a:rPr lang="zh-CN" altLang="en-US" dirty="0"/>
              <a:t>，结果保留三位小数。</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The Return of Carl (WF 2009, LA 4447)</a:t>
            </a:r>
            <a:endParaRPr lang="zh-CN" altLang="en-US" dirty="0"/>
          </a:p>
        </p:txBody>
      </p:sp>
      <p:sp>
        <p:nvSpPr>
          <p:cNvPr id="3" name="内容占位符 2"/>
          <p:cNvSpPr>
            <a:spLocks noGrp="1"/>
          </p:cNvSpPr>
          <p:nvPr>
            <p:ph idx="1"/>
          </p:nvPr>
        </p:nvSpPr>
        <p:spPr/>
        <p:txBody>
          <a:bodyPr/>
          <a:lstStyle/>
          <a:p>
            <a:r>
              <a:rPr lang="zh-CN" altLang="en-US" dirty="0"/>
              <a:t>给出起点和终点的经度和纬度，求最短路径长度</a:t>
            </a:r>
          </a:p>
        </p:txBody>
      </p:sp>
      <p:pic>
        <p:nvPicPr>
          <p:cNvPr id="54274" name="Picture 2"/>
          <p:cNvPicPr>
            <a:picLocks noChangeAspect="1" noChangeArrowheads="1"/>
          </p:cNvPicPr>
          <p:nvPr/>
        </p:nvPicPr>
        <p:blipFill>
          <a:blip r:embed="rId2" cstate="print"/>
          <a:srcRect/>
          <a:stretch>
            <a:fillRect/>
          </a:stretch>
        </p:blipFill>
        <p:spPr bwMode="auto">
          <a:xfrm>
            <a:off x="2128614" y="2190328"/>
            <a:ext cx="4819650" cy="4191000"/>
          </a:xfrm>
          <a:prstGeom prst="rect">
            <a:avLst/>
          </a:prstGeom>
          <a:noFill/>
          <a:ln w="9525">
            <a:no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Raising the Roof (WF 2007, LA 3809) </a:t>
            </a:r>
            <a:endParaRPr lang="zh-CN" altLang="en-US" dirty="0"/>
          </a:p>
        </p:txBody>
      </p:sp>
      <p:sp>
        <p:nvSpPr>
          <p:cNvPr id="3" name="内容占位符 2"/>
          <p:cNvSpPr>
            <a:spLocks noGrp="1"/>
          </p:cNvSpPr>
          <p:nvPr>
            <p:ph idx="1"/>
          </p:nvPr>
        </p:nvSpPr>
        <p:spPr/>
        <p:txBody>
          <a:bodyPr/>
          <a:lstStyle/>
          <a:p>
            <a:r>
              <a:rPr lang="zh-CN" altLang="en-US" dirty="0"/>
              <a:t>给一些三角形的屋顶，你的任务是计算出暴露在阳光下的总面积，即从天空向地面俯视时能看到的总面积。注意，被遮挡的部分不应该被算到总面积中。</a:t>
            </a:r>
            <a:r>
              <a:rPr lang="en-US" altLang="zh-CN" dirty="0" err="1"/>
              <a:t>xy</a:t>
            </a:r>
            <a:r>
              <a:rPr lang="zh-CN" altLang="en-US" dirty="0"/>
              <a:t>平面是地面，</a:t>
            </a:r>
            <a:r>
              <a:rPr lang="en-US" altLang="zh-CN" dirty="0"/>
              <a:t>z</a:t>
            </a:r>
            <a:r>
              <a:rPr lang="zh-CN" altLang="en-US" dirty="0"/>
              <a:t>轴竖直向上。</a:t>
            </a:r>
            <a:endParaRPr lang="en-US" altLang="zh-CN" dirty="0"/>
          </a:p>
          <a:p>
            <a:r>
              <a:rPr lang="zh-CN" altLang="en-US" dirty="0"/>
              <a:t>三角形的总顶点数</a:t>
            </a:r>
            <a:r>
              <a:rPr lang="en-US" altLang="zh-CN" dirty="0"/>
              <a:t>V&lt;=300, </a:t>
            </a:r>
            <a:r>
              <a:rPr lang="zh-CN" altLang="en-US" dirty="0"/>
              <a:t> 三角形个数</a:t>
            </a:r>
            <a:r>
              <a:rPr lang="en-US" altLang="zh-CN" dirty="0"/>
              <a:t>T&lt;=1000</a:t>
            </a:r>
            <a:r>
              <a:rPr lang="zh-CN" altLang="en-US" dirty="0"/>
              <a:t>。三角形均不退化，且内部互不相交。</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Ghost Busters (NEERC 2002, LA 2693)</a:t>
            </a:r>
            <a:endParaRPr lang="zh-CN" altLang="en-US" dirty="0"/>
          </a:p>
        </p:txBody>
      </p:sp>
      <p:sp>
        <p:nvSpPr>
          <p:cNvPr id="3" name="内容占位符 2"/>
          <p:cNvSpPr>
            <a:spLocks noGrp="1"/>
          </p:cNvSpPr>
          <p:nvPr>
            <p:ph idx="1"/>
          </p:nvPr>
        </p:nvSpPr>
        <p:spPr/>
        <p:txBody>
          <a:bodyPr/>
          <a:lstStyle/>
          <a:p>
            <a:r>
              <a:rPr lang="zh-CN" altLang="en-US" dirty="0"/>
              <a:t>在空间中，</a:t>
            </a:r>
            <a:r>
              <a:rPr lang="en-US" altLang="zh-CN" dirty="0"/>
              <a:t>xyz</a:t>
            </a:r>
            <a:r>
              <a:rPr lang="zh-CN" altLang="en-US" dirty="0"/>
              <a:t>坐标均大于</a:t>
            </a:r>
            <a:r>
              <a:rPr lang="en-US" altLang="zh-CN" dirty="0"/>
              <a:t>0</a:t>
            </a:r>
            <a:r>
              <a:rPr lang="zh-CN" altLang="en-US" dirty="0"/>
              <a:t>的部分，有</a:t>
            </a:r>
            <a:r>
              <a:rPr lang="en-US" altLang="zh-CN" dirty="0"/>
              <a:t>n</a:t>
            </a:r>
            <a:r>
              <a:rPr lang="zh-CN" altLang="en-US" dirty="0"/>
              <a:t>个球。你的任务是找一条</a:t>
            </a:r>
            <a:r>
              <a:rPr lang="en-US" altLang="zh-CN" dirty="0"/>
              <a:t>(0,0,0)</a:t>
            </a:r>
            <a:r>
              <a:rPr lang="zh-CN" altLang="en-US" dirty="0"/>
              <a:t>点出发的射线，和尽量多的球相交。这些球可以重叠或者相交</a:t>
            </a:r>
          </a:p>
        </p:txBody>
      </p:sp>
      <p:pic>
        <p:nvPicPr>
          <p:cNvPr id="56324" name="Picture 4"/>
          <p:cNvPicPr>
            <a:picLocks noChangeAspect="1" noChangeArrowheads="1"/>
          </p:cNvPicPr>
          <p:nvPr/>
        </p:nvPicPr>
        <p:blipFill>
          <a:blip r:embed="rId2" cstate="print"/>
          <a:srcRect/>
          <a:stretch>
            <a:fillRect/>
          </a:stretch>
        </p:blipFill>
        <p:spPr bwMode="auto">
          <a:xfrm>
            <a:off x="2843808" y="3284984"/>
            <a:ext cx="3240360" cy="3323234"/>
          </a:xfrm>
          <a:prstGeom prst="rect">
            <a:avLst/>
          </a:prstGeom>
          <a:noFill/>
          <a:ln w="9525">
            <a:noFill/>
            <a:miter lim="800000"/>
            <a:headEnd/>
            <a:tailEnd/>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Dumb </a:t>
            </a:r>
            <a:r>
              <a:rPr lang="en-US" altLang="zh-CN" dirty="0" err="1"/>
              <a:t>Eucelics</a:t>
            </a:r>
            <a:r>
              <a:rPr lang="en-US" altLang="zh-CN" dirty="0"/>
              <a:t>’ Pyramid Walk (</a:t>
            </a:r>
            <a:r>
              <a:rPr lang="en-US" altLang="zh-CN" dirty="0" err="1"/>
              <a:t>Uva</a:t>
            </a:r>
            <a:r>
              <a:rPr lang="en-US" altLang="zh-CN" dirty="0"/>
              <a:t> 11807)</a:t>
            </a:r>
            <a:endParaRPr lang="zh-CN" altLang="en-US" dirty="0"/>
          </a:p>
        </p:txBody>
      </p:sp>
      <p:sp>
        <p:nvSpPr>
          <p:cNvPr id="3" name="内容占位符 2"/>
          <p:cNvSpPr>
            <a:spLocks noGrp="1"/>
          </p:cNvSpPr>
          <p:nvPr>
            <p:ph idx="1"/>
          </p:nvPr>
        </p:nvSpPr>
        <p:spPr/>
        <p:txBody>
          <a:bodyPr/>
          <a:lstStyle/>
          <a:p>
            <a:r>
              <a:rPr lang="zh-CN" altLang="en-US" dirty="0"/>
              <a:t>你需要从</a:t>
            </a:r>
            <a:r>
              <a:rPr lang="en-US" altLang="zh-CN" dirty="0"/>
              <a:t>(</a:t>
            </a:r>
            <a:r>
              <a:rPr lang="en-US" altLang="zh-CN" dirty="0" err="1"/>
              <a:t>Ax,Ay</a:t>
            </a:r>
            <a:r>
              <a:rPr lang="en-US" altLang="zh-CN" dirty="0"/>
              <a:t>)</a:t>
            </a:r>
            <a:r>
              <a:rPr lang="zh-CN" altLang="en-US" dirty="0"/>
              <a:t>沿着平面走到</a:t>
            </a:r>
            <a:r>
              <a:rPr lang="en-US" altLang="zh-CN" dirty="0"/>
              <a:t>(</a:t>
            </a:r>
            <a:r>
              <a:rPr lang="en-US" altLang="zh-CN" dirty="0" err="1"/>
              <a:t>Bx,By</a:t>
            </a:r>
            <a:r>
              <a:rPr lang="en-US" altLang="zh-CN" dirty="0"/>
              <a:t>)</a:t>
            </a:r>
            <a:r>
              <a:rPr lang="zh-CN" altLang="en-US" dirty="0"/>
              <a:t>，但有一个正四棱锥形状的金字塔障碍，底面为</a:t>
            </a:r>
            <a:r>
              <a:rPr lang="en-US" altLang="zh-CN" dirty="0"/>
              <a:t>(-10,-10)-(10,10)</a:t>
            </a:r>
            <a:r>
              <a:rPr lang="zh-CN" altLang="en-US" dirty="0"/>
              <a:t>的正方形，高度为</a:t>
            </a:r>
            <a:r>
              <a:rPr lang="en-US" altLang="zh-CN" dirty="0"/>
              <a:t>h</a:t>
            </a:r>
            <a:r>
              <a:rPr lang="zh-CN" altLang="en-US" dirty="0"/>
              <a:t>。你可以沿着金字塔的表面行走</a:t>
            </a:r>
            <a:endParaRPr lang="en-US" altLang="zh-CN" dirty="0"/>
          </a:p>
          <a:p>
            <a:r>
              <a:rPr lang="en-US" altLang="zh-CN" dirty="0"/>
              <a:t>|</a:t>
            </a:r>
            <a:r>
              <a:rPr lang="en-US" altLang="zh-CN" dirty="0" err="1"/>
              <a:t>Ax|,|Ay|,|Bx|,|By</a:t>
            </a:r>
            <a:r>
              <a:rPr lang="en-US" altLang="zh-CN" dirty="0"/>
              <a:t>|&lt;=25, 0&lt;=h&lt;=150</a:t>
            </a:r>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857504"/>
            <a:ext cx="8229600" cy="1143000"/>
          </a:xfrm>
        </p:spPr>
        <p:txBody>
          <a:bodyPr/>
          <a:lstStyle/>
          <a:p>
            <a:r>
              <a:rPr lang="zh-CN" altLang="en-US" dirty="0"/>
              <a:t>七、其他话题</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日期占位符 4"/>
          <p:cNvSpPr>
            <a:spLocks noGrp="1"/>
          </p:cNvSpPr>
          <p:nvPr>
            <p:ph type="dt" sz="half" idx="10"/>
          </p:nvPr>
        </p:nvSpPr>
        <p:spPr/>
        <p:txBody>
          <a:bodyPr/>
          <a:lstStyle/>
          <a:p>
            <a:r>
              <a:rPr lang="en-US" altLang="zh-CN"/>
              <a:t>28 Jan 2004</a:t>
            </a:r>
          </a:p>
        </p:txBody>
      </p:sp>
      <p:sp>
        <p:nvSpPr>
          <p:cNvPr id="47" name="页脚占位符 5"/>
          <p:cNvSpPr>
            <a:spLocks noGrp="1"/>
          </p:cNvSpPr>
          <p:nvPr>
            <p:ph type="ftr" sz="quarter" idx="11"/>
          </p:nvPr>
        </p:nvSpPr>
        <p:spPr/>
        <p:txBody>
          <a:bodyPr/>
          <a:lstStyle/>
          <a:p>
            <a:r>
              <a:rPr lang="en-US" altLang="zh-CN"/>
              <a:t>CS 481/681</a:t>
            </a:r>
          </a:p>
        </p:txBody>
      </p:sp>
      <p:sp>
        <p:nvSpPr>
          <p:cNvPr id="48" name="灯片编号占位符 6"/>
          <p:cNvSpPr>
            <a:spLocks noGrp="1"/>
          </p:cNvSpPr>
          <p:nvPr>
            <p:ph type="sldNum" sz="quarter" idx="12"/>
          </p:nvPr>
        </p:nvSpPr>
        <p:spPr/>
        <p:txBody>
          <a:bodyPr/>
          <a:lstStyle/>
          <a:p>
            <a:fld id="{38F642AE-A7A6-46AC-97EC-56DC484A3A12}" type="slidenum">
              <a:rPr lang="en-US" altLang="zh-CN"/>
              <a:pPr/>
              <a:t>117</a:t>
            </a:fld>
            <a:endParaRPr lang="en-US" altLang="zh-CN"/>
          </a:p>
        </p:txBody>
      </p:sp>
      <p:sp>
        <p:nvSpPr>
          <p:cNvPr id="547842" name="Rectangle 2"/>
          <p:cNvSpPr>
            <a:spLocks noGrp="1" noChangeArrowheads="1"/>
          </p:cNvSpPr>
          <p:nvPr>
            <p:ph type="title"/>
          </p:nvPr>
        </p:nvSpPr>
        <p:spPr/>
        <p:txBody>
          <a:bodyPr>
            <a:normAutofit/>
          </a:bodyPr>
          <a:lstStyle/>
          <a:p>
            <a:r>
              <a:rPr lang="zh-CN" altLang="en-US" dirty="0">
                <a:ea typeface="宋体" pitchFamily="2" charset="-122"/>
              </a:rPr>
              <a:t>八叉树</a:t>
            </a:r>
            <a:r>
              <a:rPr lang="en-US" altLang="zh-CN" dirty="0">
                <a:ea typeface="宋体" pitchFamily="2" charset="-122"/>
              </a:rPr>
              <a:t>(</a:t>
            </a:r>
            <a:r>
              <a:rPr lang="en-US" altLang="zh-CN" dirty="0" err="1">
                <a:ea typeface="宋体" pitchFamily="2" charset="-122"/>
              </a:rPr>
              <a:t>Octrees</a:t>
            </a:r>
            <a:r>
              <a:rPr lang="en-US" altLang="zh-CN" dirty="0">
                <a:ea typeface="宋体" pitchFamily="2" charset="-122"/>
              </a:rPr>
              <a:t>)</a:t>
            </a:r>
          </a:p>
        </p:txBody>
      </p:sp>
      <p:sp>
        <p:nvSpPr>
          <p:cNvPr id="547847" name="Oval 7"/>
          <p:cNvSpPr>
            <a:spLocks noChangeArrowheads="1"/>
          </p:cNvSpPr>
          <p:nvPr/>
        </p:nvSpPr>
        <p:spPr bwMode="blackGray">
          <a:xfrm>
            <a:off x="1262010" y="1357298"/>
            <a:ext cx="304800" cy="304800"/>
          </a:xfrm>
          <a:prstGeom prst="ellipse">
            <a:avLst/>
          </a:prstGeom>
          <a:solidFill>
            <a:srgbClr val="FF99CC"/>
          </a:solidFill>
          <a:ln w="19050">
            <a:solidFill>
              <a:schemeClr val="tx1"/>
            </a:solidFill>
            <a:round/>
            <a:headEnd/>
            <a:tailEnd/>
          </a:ln>
          <a:effectLst/>
        </p:spPr>
        <p:txBody>
          <a:bodyPr wrap="none" anchor="ctr"/>
          <a:lstStyle/>
          <a:p>
            <a:r>
              <a:rPr lang="en-US" altLang="zh-CN" sz="1400">
                <a:ea typeface="宋体" pitchFamily="2" charset="-122"/>
              </a:rPr>
              <a:t>A</a:t>
            </a:r>
          </a:p>
        </p:txBody>
      </p:sp>
      <p:sp>
        <p:nvSpPr>
          <p:cNvPr id="547859" name="Line 19"/>
          <p:cNvSpPr>
            <a:spLocks noChangeShapeType="1"/>
          </p:cNvSpPr>
          <p:nvPr/>
        </p:nvSpPr>
        <p:spPr bwMode="blackGray">
          <a:xfrm flipH="1">
            <a:off x="728610" y="3033698"/>
            <a:ext cx="6858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60" name="Line 20"/>
          <p:cNvSpPr>
            <a:spLocks noChangeShapeType="1"/>
          </p:cNvSpPr>
          <p:nvPr/>
        </p:nvSpPr>
        <p:spPr bwMode="blackGray">
          <a:xfrm flipH="1">
            <a:off x="1185810" y="3033698"/>
            <a:ext cx="2286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61" name="Line 21"/>
          <p:cNvSpPr>
            <a:spLocks noChangeShapeType="1"/>
          </p:cNvSpPr>
          <p:nvPr/>
        </p:nvSpPr>
        <p:spPr bwMode="blackGray">
          <a:xfrm>
            <a:off x="1414410" y="3033698"/>
            <a:ext cx="2286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62" name="Line 22"/>
          <p:cNvSpPr>
            <a:spLocks noChangeShapeType="1"/>
          </p:cNvSpPr>
          <p:nvPr/>
        </p:nvSpPr>
        <p:spPr bwMode="blackGray">
          <a:xfrm>
            <a:off x="1414410" y="3033698"/>
            <a:ext cx="6858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49" name="Oval 9"/>
          <p:cNvSpPr>
            <a:spLocks noChangeArrowheads="1"/>
          </p:cNvSpPr>
          <p:nvPr/>
        </p:nvSpPr>
        <p:spPr bwMode="blackGray">
          <a:xfrm>
            <a:off x="1262010" y="2881298"/>
            <a:ext cx="304800" cy="304800"/>
          </a:xfrm>
          <a:prstGeom prst="ellipse">
            <a:avLst/>
          </a:prstGeom>
          <a:solidFill>
            <a:srgbClr val="FF99CC"/>
          </a:solidFill>
          <a:ln w="19050">
            <a:solidFill>
              <a:schemeClr val="tx1"/>
            </a:solidFill>
            <a:round/>
            <a:headEnd/>
            <a:tailEnd/>
          </a:ln>
          <a:effectLst/>
        </p:spPr>
        <p:txBody>
          <a:bodyPr wrap="none" anchor="ctr"/>
          <a:lstStyle/>
          <a:p>
            <a:r>
              <a:rPr lang="en-US" altLang="zh-CN" sz="1400">
                <a:ea typeface="宋体" pitchFamily="2" charset="-122"/>
              </a:rPr>
              <a:t>A</a:t>
            </a:r>
          </a:p>
        </p:txBody>
      </p:sp>
      <p:sp>
        <p:nvSpPr>
          <p:cNvPr id="547855" name="Oval 15"/>
          <p:cNvSpPr>
            <a:spLocks noChangeArrowheads="1"/>
          </p:cNvSpPr>
          <p:nvPr/>
        </p:nvSpPr>
        <p:spPr bwMode="blackGray">
          <a:xfrm>
            <a:off x="1033410" y="3338498"/>
            <a:ext cx="304800" cy="304800"/>
          </a:xfrm>
          <a:prstGeom prst="ellipse">
            <a:avLst/>
          </a:prstGeom>
          <a:solidFill>
            <a:srgbClr val="FFFF99"/>
          </a:solidFill>
          <a:ln w="19050">
            <a:solidFill>
              <a:schemeClr val="tx1"/>
            </a:solidFill>
            <a:round/>
            <a:headEnd/>
            <a:tailEnd/>
          </a:ln>
          <a:effectLst/>
        </p:spPr>
        <p:txBody>
          <a:bodyPr wrap="none" anchor="ctr"/>
          <a:lstStyle/>
          <a:p>
            <a:r>
              <a:rPr lang="en-US" altLang="zh-CN" sz="1400">
                <a:ea typeface="宋体" pitchFamily="2" charset="-122"/>
              </a:rPr>
              <a:t>C</a:t>
            </a:r>
          </a:p>
        </p:txBody>
      </p:sp>
      <p:sp>
        <p:nvSpPr>
          <p:cNvPr id="547856" name="Oval 16"/>
          <p:cNvSpPr>
            <a:spLocks noChangeArrowheads="1"/>
          </p:cNvSpPr>
          <p:nvPr/>
        </p:nvSpPr>
        <p:spPr bwMode="blackGray">
          <a:xfrm>
            <a:off x="576210" y="3338498"/>
            <a:ext cx="304800" cy="304800"/>
          </a:xfrm>
          <a:prstGeom prst="ellipse">
            <a:avLst/>
          </a:prstGeom>
          <a:solidFill>
            <a:srgbClr val="FF9900"/>
          </a:solidFill>
          <a:ln w="19050">
            <a:solidFill>
              <a:schemeClr val="tx1"/>
            </a:solidFill>
            <a:round/>
            <a:headEnd/>
            <a:tailEnd/>
          </a:ln>
          <a:effectLst/>
        </p:spPr>
        <p:txBody>
          <a:bodyPr wrap="none" anchor="ctr"/>
          <a:lstStyle/>
          <a:p>
            <a:r>
              <a:rPr lang="en-US" altLang="zh-CN" sz="1400">
                <a:ea typeface="宋体" pitchFamily="2" charset="-122"/>
              </a:rPr>
              <a:t>B</a:t>
            </a:r>
          </a:p>
        </p:txBody>
      </p:sp>
      <p:sp>
        <p:nvSpPr>
          <p:cNvPr id="547857" name="Oval 17"/>
          <p:cNvSpPr>
            <a:spLocks noChangeArrowheads="1"/>
          </p:cNvSpPr>
          <p:nvPr/>
        </p:nvSpPr>
        <p:spPr bwMode="blackGray">
          <a:xfrm>
            <a:off x="1490610" y="3338498"/>
            <a:ext cx="304800" cy="304800"/>
          </a:xfrm>
          <a:prstGeom prst="ellipse">
            <a:avLst/>
          </a:prstGeom>
          <a:solidFill>
            <a:srgbClr val="00FF00"/>
          </a:solidFill>
          <a:ln w="19050">
            <a:solidFill>
              <a:schemeClr val="tx1"/>
            </a:solidFill>
            <a:round/>
            <a:headEnd/>
            <a:tailEnd/>
          </a:ln>
          <a:effectLst/>
        </p:spPr>
        <p:txBody>
          <a:bodyPr wrap="none" anchor="ctr"/>
          <a:lstStyle/>
          <a:p>
            <a:r>
              <a:rPr lang="en-US" altLang="zh-CN" sz="1400">
                <a:ea typeface="宋体" pitchFamily="2" charset="-122"/>
              </a:rPr>
              <a:t>D</a:t>
            </a:r>
          </a:p>
        </p:txBody>
      </p:sp>
      <p:sp>
        <p:nvSpPr>
          <p:cNvPr id="547858" name="Oval 18"/>
          <p:cNvSpPr>
            <a:spLocks noChangeArrowheads="1"/>
          </p:cNvSpPr>
          <p:nvPr/>
        </p:nvSpPr>
        <p:spPr bwMode="blackGray">
          <a:xfrm>
            <a:off x="1947810" y="3338498"/>
            <a:ext cx="304800" cy="304800"/>
          </a:xfrm>
          <a:prstGeom prst="ellipse">
            <a:avLst/>
          </a:prstGeom>
          <a:solidFill>
            <a:srgbClr val="3366FF"/>
          </a:solidFill>
          <a:ln w="19050">
            <a:solidFill>
              <a:schemeClr val="tx1"/>
            </a:solidFill>
            <a:round/>
            <a:headEnd/>
            <a:tailEnd/>
          </a:ln>
          <a:effectLst/>
        </p:spPr>
        <p:txBody>
          <a:bodyPr wrap="none" anchor="ctr"/>
          <a:lstStyle/>
          <a:p>
            <a:r>
              <a:rPr lang="en-US" altLang="zh-CN" sz="1200">
                <a:ea typeface="宋体" pitchFamily="2" charset="-122"/>
              </a:rPr>
              <a:t>E</a:t>
            </a:r>
          </a:p>
        </p:txBody>
      </p:sp>
      <p:sp>
        <p:nvSpPr>
          <p:cNvPr id="547896" name="Line 56"/>
          <p:cNvSpPr>
            <a:spLocks noChangeShapeType="1"/>
          </p:cNvSpPr>
          <p:nvPr/>
        </p:nvSpPr>
        <p:spPr bwMode="blackGray">
          <a:xfrm flipH="1">
            <a:off x="723872" y="4557698"/>
            <a:ext cx="6858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97" name="Line 57"/>
          <p:cNvSpPr>
            <a:spLocks noChangeShapeType="1"/>
          </p:cNvSpPr>
          <p:nvPr/>
        </p:nvSpPr>
        <p:spPr bwMode="blackGray">
          <a:xfrm flipH="1">
            <a:off x="1181072" y="4557698"/>
            <a:ext cx="2286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98" name="Line 58"/>
          <p:cNvSpPr>
            <a:spLocks noChangeShapeType="1"/>
          </p:cNvSpPr>
          <p:nvPr/>
        </p:nvSpPr>
        <p:spPr bwMode="blackGray">
          <a:xfrm>
            <a:off x="1409672" y="4557698"/>
            <a:ext cx="228600" cy="457200"/>
          </a:xfrm>
          <a:prstGeom prst="line">
            <a:avLst/>
          </a:prstGeom>
          <a:noFill/>
          <a:ln w="19050">
            <a:solidFill>
              <a:schemeClr val="tx1"/>
            </a:solidFill>
            <a:round/>
            <a:headEnd/>
            <a:tailEnd/>
          </a:ln>
          <a:effectLst/>
        </p:spPr>
        <p:txBody>
          <a:bodyPr wrap="none" anchor="ctr"/>
          <a:lstStyle/>
          <a:p>
            <a:endParaRPr lang="zh-CN" altLang="en-US"/>
          </a:p>
        </p:txBody>
      </p:sp>
      <p:sp>
        <p:nvSpPr>
          <p:cNvPr id="547899" name="Line 59"/>
          <p:cNvSpPr>
            <a:spLocks noChangeShapeType="1"/>
          </p:cNvSpPr>
          <p:nvPr/>
        </p:nvSpPr>
        <p:spPr bwMode="blackGray">
          <a:xfrm>
            <a:off x="1409672" y="4557698"/>
            <a:ext cx="685800" cy="457200"/>
          </a:xfrm>
          <a:prstGeom prst="line">
            <a:avLst/>
          </a:prstGeom>
          <a:noFill/>
          <a:ln w="19050">
            <a:solidFill>
              <a:schemeClr val="tx1"/>
            </a:solidFill>
            <a:round/>
            <a:headEnd/>
            <a:tailEnd/>
          </a:ln>
          <a:effectLst/>
        </p:spPr>
        <p:txBody>
          <a:bodyPr wrap="none" anchor="ctr"/>
          <a:lstStyle/>
          <a:p>
            <a:endParaRPr lang="zh-CN" altLang="en-US"/>
          </a:p>
        </p:txBody>
      </p:sp>
      <p:sp>
        <p:nvSpPr>
          <p:cNvPr id="547900" name="Oval 60"/>
          <p:cNvSpPr>
            <a:spLocks noChangeArrowheads="1"/>
          </p:cNvSpPr>
          <p:nvPr/>
        </p:nvSpPr>
        <p:spPr bwMode="blackGray">
          <a:xfrm>
            <a:off x="1257272" y="4405298"/>
            <a:ext cx="304800" cy="304800"/>
          </a:xfrm>
          <a:prstGeom prst="ellipse">
            <a:avLst/>
          </a:prstGeom>
          <a:solidFill>
            <a:srgbClr val="FF99CC"/>
          </a:solidFill>
          <a:ln w="19050">
            <a:solidFill>
              <a:schemeClr val="tx1"/>
            </a:solidFill>
            <a:round/>
            <a:headEnd/>
            <a:tailEnd/>
          </a:ln>
          <a:effectLst/>
        </p:spPr>
        <p:txBody>
          <a:bodyPr wrap="none" anchor="ctr"/>
          <a:lstStyle/>
          <a:p>
            <a:r>
              <a:rPr lang="en-US" altLang="zh-CN" sz="1400">
                <a:ea typeface="宋体" pitchFamily="2" charset="-122"/>
              </a:rPr>
              <a:t>A</a:t>
            </a:r>
          </a:p>
        </p:txBody>
      </p:sp>
      <p:sp>
        <p:nvSpPr>
          <p:cNvPr id="547901" name="Oval 61"/>
          <p:cNvSpPr>
            <a:spLocks noChangeArrowheads="1"/>
          </p:cNvSpPr>
          <p:nvPr/>
        </p:nvSpPr>
        <p:spPr bwMode="blackGray">
          <a:xfrm>
            <a:off x="1028672" y="4862498"/>
            <a:ext cx="304800" cy="304800"/>
          </a:xfrm>
          <a:prstGeom prst="ellipse">
            <a:avLst/>
          </a:prstGeom>
          <a:solidFill>
            <a:srgbClr val="FFFF99"/>
          </a:solidFill>
          <a:ln w="19050">
            <a:solidFill>
              <a:schemeClr val="tx1"/>
            </a:solidFill>
            <a:round/>
            <a:headEnd/>
            <a:tailEnd/>
          </a:ln>
          <a:effectLst/>
        </p:spPr>
        <p:txBody>
          <a:bodyPr wrap="none" anchor="ctr"/>
          <a:lstStyle/>
          <a:p>
            <a:r>
              <a:rPr lang="en-US" altLang="zh-CN" sz="1400">
                <a:ea typeface="宋体" pitchFamily="2" charset="-122"/>
              </a:rPr>
              <a:t>C</a:t>
            </a:r>
          </a:p>
        </p:txBody>
      </p:sp>
      <p:sp>
        <p:nvSpPr>
          <p:cNvPr id="547902" name="Oval 62"/>
          <p:cNvSpPr>
            <a:spLocks noChangeArrowheads="1"/>
          </p:cNvSpPr>
          <p:nvPr/>
        </p:nvSpPr>
        <p:spPr bwMode="blackGray">
          <a:xfrm>
            <a:off x="571472" y="4862498"/>
            <a:ext cx="304800" cy="304800"/>
          </a:xfrm>
          <a:prstGeom prst="ellipse">
            <a:avLst/>
          </a:prstGeom>
          <a:solidFill>
            <a:srgbClr val="FF9900"/>
          </a:solidFill>
          <a:ln w="19050">
            <a:solidFill>
              <a:schemeClr val="tx1"/>
            </a:solidFill>
            <a:round/>
            <a:headEnd/>
            <a:tailEnd/>
          </a:ln>
          <a:effectLst/>
        </p:spPr>
        <p:txBody>
          <a:bodyPr wrap="none" anchor="ctr"/>
          <a:lstStyle/>
          <a:p>
            <a:r>
              <a:rPr lang="en-US" altLang="zh-CN" sz="1400">
                <a:ea typeface="宋体" pitchFamily="2" charset="-122"/>
              </a:rPr>
              <a:t>B</a:t>
            </a:r>
          </a:p>
        </p:txBody>
      </p:sp>
      <p:sp>
        <p:nvSpPr>
          <p:cNvPr id="547904" name="Oval 64"/>
          <p:cNvSpPr>
            <a:spLocks noChangeArrowheads="1"/>
          </p:cNvSpPr>
          <p:nvPr/>
        </p:nvSpPr>
        <p:spPr bwMode="blackGray">
          <a:xfrm>
            <a:off x="1943072" y="4862498"/>
            <a:ext cx="304800" cy="304800"/>
          </a:xfrm>
          <a:prstGeom prst="ellipse">
            <a:avLst/>
          </a:prstGeom>
          <a:solidFill>
            <a:srgbClr val="3366FF"/>
          </a:solidFill>
          <a:ln w="19050">
            <a:solidFill>
              <a:schemeClr val="tx1"/>
            </a:solidFill>
            <a:round/>
            <a:headEnd/>
            <a:tailEnd/>
          </a:ln>
          <a:effectLst/>
        </p:spPr>
        <p:txBody>
          <a:bodyPr wrap="none" anchor="ctr"/>
          <a:lstStyle/>
          <a:p>
            <a:r>
              <a:rPr lang="en-US" altLang="zh-CN" sz="1200">
                <a:ea typeface="宋体" pitchFamily="2" charset="-122"/>
              </a:rPr>
              <a:t>E</a:t>
            </a:r>
          </a:p>
        </p:txBody>
      </p:sp>
      <p:sp>
        <p:nvSpPr>
          <p:cNvPr id="547905" name="Line 65"/>
          <p:cNvSpPr>
            <a:spLocks noChangeShapeType="1"/>
          </p:cNvSpPr>
          <p:nvPr/>
        </p:nvSpPr>
        <p:spPr bwMode="blackGray">
          <a:xfrm flipH="1">
            <a:off x="952472" y="5014898"/>
            <a:ext cx="685800" cy="457200"/>
          </a:xfrm>
          <a:prstGeom prst="line">
            <a:avLst/>
          </a:prstGeom>
          <a:noFill/>
          <a:ln w="19050">
            <a:solidFill>
              <a:schemeClr val="tx1"/>
            </a:solidFill>
            <a:round/>
            <a:headEnd/>
            <a:tailEnd/>
          </a:ln>
          <a:effectLst/>
        </p:spPr>
        <p:txBody>
          <a:bodyPr wrap="none" anchor="ctr"/>
          <a:lstStyle/>
          <a:p>
            <a:endParaRPr lang="zh-CN" altLang="en-US"/>
          </a:p>
        </p:txBody>
      </p:sp>
      <p:sp>
        <p:nvSpPr>
          <p:cNvPr id="547906" name="Line 66"/>
          <p:cNvSpPr>
            <a:spLocks noChangeShapeType="1"/>
          </p:cNvSpPr>
          <p:nvPr/>
        </p:nvSpPr>
        <p:spPr bwMode="blackGray">
          <a:xfrm flipH="1">
            <a:off x="1409672" y="5014898"/>
            <a:ext cx="228600" cy="457200"/>
          </a:xfrm>
          <a:prstGeom prst="line">
            <a:avLst/>
          </a:prstGeom>
          <a:noFill/>
          <a:ln w="19050">
            <a:solidFill>
              <a:schemeClr val="tx1"/>
            </a:solidFill>
            <a:round/>
            <a:headEnd/>
            <a:tailEnd/>
          </a:ln>
          <a:effectLst/>
        </p:spPr>
        <p:txBody>
          <a:bodyPr wrap="none" anchor="ctr"/>
          <a:lstStyle/>
          <a:p>
            <a:endParaRPr lang="zh-CN" altLang="en-US"/>
          </a:p>
        </p:txBody>
      </p:sp>
      <p:sp>
        <p:nvSpPr>
          <p:cNvPr id="547907" name="Line 67"/>
          <p:cNvSpPr>
            <a:spLocks noChangeShapeType="1"/>
          </p:cNvSpPr>
          <p:nvPr/>
        </p:nvSpPr>
        <p:spPr bwMode="blackGray">
          <a:xfrm>
            <a:off x="1638272" y="5014898"/>
            <a:ext cx="228600" cy="457200"/>
          </a:xfrm>
          <a:prstGeom prst="line">
            <a:avLst/>
          </a:prstGeom>
          <a:noFill/>
          <a:ln w="19050">
            <a:solidFill>
              <a:schemeClr val="tx1"/>
            </a:solidFill>
            <a:round/>
            <a:headEnd/>
            <a:tailEnd/>
          </a:ln>
          <a:effectLst/>
        </p:spPr>
        <p:txBody>
          <a:bodyPr wrap="none" anchor="ctr"/>
          <a:lstStyle/>
          <a:p>
            <a:endParaRPr lang="zh-CN" altLang="en-US"/>
          </a:p>
        </p:txBody>
      </p:sp>
      <p:sp>
        <p:nvSpPr>
          <p:cNvPr id="547908" name="Line 68"/>
          <p:cNvSpPr>
            <a:spLocks noChangeShapeType="1"/>
          </p:cNvSpPr>
          <p:nvPr/>
        </p:nvSpPr>
        <p:spPr bwMode="blackGray">
          <a:xfrm>
            <a:off x="1638272" y="5014898"/>
            <a:ext cx="685800" cy="457200"/>
          </a:xfrm>
          <a:prstGeom prst="line">
            <a:avLst/>
          </a:prstGeom>
          <a:noFill/>
          <a:ln w="19050">
            <a:solidFill>
              <a:schemeClr val="tx1"/>
            </a:solidFill>
            <a:round/>
            <a:headEnd/>
            <a:tailEnd/>
          </a:ln>
          <a:effectLst/>
        </p:spPr>
        <p:txBody>
          <a:bodyPr wrap="none" anchor="ctr"/>
          <a:lstStyle/>
          <a:p>
            <a:endParaRPr lang="zh-CN" altLang="en-US"/>
          </a:p>
        </p:txBody>
      </p:sp>
      <p:sp>
        <p:nvSpPr>
          <p:cNvPr id="547910" name="Oval 70"/>
          <p:cNvSpPr>
            <a:spLocks noChangeArrowheads="1"/>
          </p:cNvSpPr>
          <p:nvPr/>
        </p:nvSpPr>
        <p:spPr bwMode="blackGray">
          <a:xfrm>
            <a:off x="1257272" y="5319698"/>
            <a:ext cx="304800" cy="304800"/>
          </a:xfrm>
          <a:prstGeom prst="ellipse">
            <a:avLst/>
          </a:prstGeom>
          <a:solidFill>
            <a:srgbClr val="969696"/>
          </a:solidFill>
          <a:ln w="19050">
            <a:solidFill>
              <a:schemeClr val="tx1"/>
            </a:solidFill>
            <a:round/>
            <a:headEnd/>
            <a:tailEnd/>
          </a:ln>
          <a:effectLst/>
        </p:spPr>
        <p:txBody>
          <a:bodyPr wrap="none" anchor="ctr"/>
          <a:lstStyle/>
          <a:p>
            <a:r>
              <a:rPr lang="en-US" altLang="zh-CN" sz="1400">
                <a:ea typeface="宋体" pitchFamily="2" charset="-122"/>
              </a:rPr>
              <a:t>G</a:t>
            </a:r>
          </a:p>
        </p:txBody>
      </p:sp>
      <p:sp>
        <p:nvSpPr>
          <p:cNvPr id="547911" name="Oval 71"/>
          <p:cNvSpPr>
            <a:spLocks noChangeArrowheads="1"/>
          </p:cNvSpPr>
          <p:nvPr/>
        </p:nvSpPr>
        <p:spPr bwMode="blackGray">
          <a:xfrm>
            <a:off x="800072" y="5319698"/>
            <a:ext cx="304800" cy="304800"/>
          </a:xfrm>
          <a:prstGeom prst="ellipse">
            <a:avLst/>
          </a:prstGeom>
          <a:solidFill>
            <a:srgbClr val="666699"/>
          </a:solidFill>
          <a:ln w="19050">
            <a:solidFill>
              <a:schemeClr val="tx1"/>
            </a:solidFill>
            <a:round/>
            <a:headEnd/>
            <a:tailEnd/>
          </a:ln>
          <a:effectLst/>
        </p:spPr>
        <p:txBody>
          <a:bodyPr wrap="none" anchor="ctr"/>
          <a:lstStyle/>
          <a:p>
            <a:r>
              <a:rPr lang="en-US" altLang="zh-CN" sz="1400">
                <a:ea typeface="宋体" pitchFamily="2" charset="-122"/>
              </a:rPr>
              <a:t>F</a:t>
            </a:r>
          </a:p>
        </p:txBody>
      </p:sp>
      <p:sp>
        <p:nvSpPr>
          <p:cNvPr id="547912" name="Oval 72"/>
          <p:cNvSpPr>
            <a:spLocks noChangeArrowheads="1"/>
          </p:cNvSpPr>
          <p:nvPr/>
        </p:nvSpPr>
        <p:spPr bwMode="blackGray">
          <a:xfrm>
            <a:off x="1714472" y="5319698"/>
            <a:ext cx="304800" cy="304800"/>
          </a:xfrm>
          <a:prstGeom prst="ellipse">
            <a:avLst/>
          </a:prstGeom>
          <a:solidFill>
            <a:srgbClr val="C0C0C0"/>
          </a:solidFill>
          <a:ln w="19050">
            <a:solidFill>
              <a:schemeClr val="tx1"/>
            </a:solidFill>
            <a:round/>
            <a:headEnd/>
            <a:tailEnd/>
          </a:ln>
          <a:effectLst/>
        </p:spPr>
        <p:txBody>
          <a:bodyPr wrap="none" anchor="ctr"/>
          <a:lstStyle/>
          <a:p>
            <a:r>
              <a:rPr lang="en-US" altLang="zh-CN" sz="1400">
                <a:ea typeface="宋体" pitchFamily="2" charset="-122"/>
              </a:rPr>
              <a:t>H</a:t>
            </a:r>
          </a:p>
        </p:txBody>
      </p:sp>
      <p:sp>
        <p:nvSpPr>
          <p:cNvPr id="547913" name="Oval 73"/>
          <p:cNvSpPr>
            <a:spLocks noChangeArrowheads="1"/>
          </p:cNvSpPr>
          <p:nvPr/>
        </p:nvSpPr>
        <p:spPr bwMode="blackGray">
          <a:xfrm>
            <a:off x="2171672" y="5319698"/>
            <a:ext cx="304800" cy="304800"/>
          </a:xfrm>
          <a:prstGeom prst="ellipse">
            <a:avLst/>
          </a:prstGeom>
          <a:solidFill>
            <a:srgbClr val="FFFFFF"/>
          </a:solidFill>
          <a:ln w="19050">
            <a:solidFill>
              <a:schemeClr val="tx1"/>
            </a:solidFill>
            <a:round/>
            <a:headEnd/>
            <a:tailEnd/>
          </a:ln>
          <a:effectLst/>
        </p:spPr>
        <p:txBody>
          <a:bodyPr wrap="none" anchor="ctr"/>
          <a:lstStyle/>
          <a:p>
            <a:r>
              <a:rPr lang="en-US" altLang="zh-CN" sz="1200">
                <a:ea typeface="宋体" pitchFamily="2" charset="-122"/>
              </a:rPr>
              <a:t>I</a:t>
            </a:r>
          </a:p>
        </p:txBody>
      </p:sp>
      <p:sp>
        <p:nvSpPr>
          <p:cNvPr id="547903" name="Oval 63"/>
          <p:cNvSpPr>
            <a:spLocks noChangeArrowheads="1"/>
          </p:cNvSpPr>
          <p:nvPr/>
        </p:nvSpPr>
        <p:spPr bwMode="blackGray">
          <a:xfrm>
            <a:off x="1485872" y="4862498"/>
            <a:ext cx="304800" cy="304800"/>
          </a:xfrm>
          <a:prstGeom prst="ellipse">
            <a:avLst/>
          </a:prstGeom>
          <a:solidFill>
            <a:srgbClr val="00FF00"/>
          </a:solidFill>
          <a:ln w="19050">
            <a:solidFill>
              <a:schemeClr val="tx1"/>
            </a:solidFill>
            <a:round/>
            <a:headEnd/>
            <a:tailEnd/>
          </a:ln>
          <a:effectLst/>
        </p:spPr>
        <p:txBody>
          <a:bodyPr wrap="none" anchor="ctr"/>
          <a:lstStyle/>
          <a:p>
            <a:r>
              <a:rPr lang="en-US" altLang="zh-CN" sz="1400">
                <a:ea typeface="宋体" pitchFamily="2" charset="-122"/>
              </a:rPr>
              <a:t>D</a:t>
            </a:r>
          </a:p>
        </p:txBody>
      </p:sp>
      <p:sp>
        <p:nvSpPr>
          <p:cNvPr id="547917" name="Rectangle 77"/>
          <p:cNvSpPr>
            <a:spLocks noChangeArrowheads="1"/>
          </p:cNvSpPr>
          <p:nvPr/>
        </p:nvSpPr>
        <p:spPr bwMode="blackGray">
          <a:xfrm>
            <a:off x="2705072" y="4405298"/>
            <a:ext cx="1371600" cy="1371600"/>
          </a:xfrm>
          <a:prstGeom prst="rect">
            <a:avLst/>
          </a:prstGeom>
          <a:solidFill>
            <a:srgbClr val="FF99CC"/>
          </a:solidFill>
          <a:ln w="9525">
            <a:noFill/>
            <a:miter lim="800000"/>
            <a:headEnd/>
            <a:tailEnd/>
          </a:ln>
          <a:effectLst/>
        </p:spPr>
        <p:txBody>
          <a:bodyPr wrap="none" anchor="ctr"/>
          <a:lstStyle/>
          <a:p>
            <a:r>
              <a:rPr lang="en-US" altLang="zh-CN" sz="1400">
                <a:ea typeface="宋体" pitchFamily="2" charset="-122"/>
              </a:rPr>
              <a:t>A</a:t>
            </a:r>
          </a:p>
        </p:txBody>
      </p:sp>
      <p:sp>
        <p:nvSpPr>
          <p:cNvPr id="547918" name="Rectangle 78"/>
          <p:cNvSpPr>
            <a:spLocks noChangeArrowheads="1"/>
          </p:cNvSpPr>
          <p:nvPr/>
        </p:nvSpPr>
        <p:spPr bwMode="blackGray">
          <a:xfrm>
            <a:off x="2781272" y="4481498"/>
            <a:ext cx="609600" cy="609600"/>
          </a:xfrm>
          <a:prstGeom prst="rect">
            <a:avLst/>
          </a:prstGeom>
          <a:solidFill>
            <a:srgbClr val="FF9900"/>
          </a:solidFill>
          <a:ln w="19050">
            <a:noFill/>
            <a:miter lim="800000"/>
            <a:headEnd/>
            <a:tailEnd/>
          </a:ln>
          <a:effectLst/>
        </p:spPr>
        <p:txBody>
          <a:bodyPr wrap="none" anchor="ctr"/>
          <a:lstStyle/>
          <a:p>
            <a:r>
              <a:rPr lang="en-US" altLang="zh-CN" sz="1400">
                <a:ea typeface="宋体" pitchFamily="2" charset="-122"/>
              </a:rPr>
              <a:t>B</a:t>
            </a:r>
          </a:p>
        </p:txBody>
      </p:sp>
      <p:sp>
        <p:nvSpPr>
          <p:cNvPr id="547919" name="Rectangle 79"/>
          <p:cNvSpPr>
            <a:spLocks noChangeArrowheads="1"/>
          </p:cNvSpPr>
          <p:nvPr/>
        </p:nvSpPr>
        <p:spPr bwMode="blackGray">
          <a:xfrm>
            <a:off x="3390872" y="4481498"/>
            <a:ext cx="609600" cy="609600"/>
          </a:xfrm>
          <a:prstGeom prst="rect">
            <a:avLst/>
          </a:prstGeom>
          <a:solidFill>
            <a:srgbClr val="FFFF99"/>
          </a:solidFill>
          <a:ln w="19050">
            <a:noFill/>
            <a:miter lim="800000"/>
            <a:headEnd/>
            <a:tailEnd/>
          </a:ln>
          <a:effectLst/>
        </p:spPr>
        <p:txBody>
          <a:bodyPr wrap="none" anchor="ctr"/>
          <a:lstStyle/>
          <a:p>
            <a:r>
              <a:rPr lang="en-US" altLang="zh-CN" sz="1400">
                <a:ea typeface="宋体" pitchFamily="2" charset="-122"/>
              </a:rPr>
              <a:t>C</a:t>
            </a:r>
          </a:p>
        </p:txBody>
      </p:sp>
      <p:sp>
        <p:nvSpPr>
          <p:cNvPr id="547920" name="Rectangle 80"/>
          <p:cNvSpPr>
            <a:spLocks noChangeArrowheads="1"/>
          </p:cNvSpPr>
          <p:nvPr/>
        </p:nvSpPr>
        <p:spPr bwMode="blackGray">
          <a:xfrm>
            <a:off x="2781272" y="5091098"/>
            <a:ext cx="609600" cy="609600"/>
          </a:xfrm>
          <a:prstGeom prst="rect">
            <a:avLst/>
          </a:prstGeom>
          <a:solidFill>
            <a:srgbClr val="00FF00"/>
          </a:solidFill>
          <a:ln w="19050">
            <a:noFill/>
            <a:miter lim="800000"/>
            <a:headEnd/>
            <a:tailEnd/>
          </a:ln>
          <a:effectLst/>
        </p:spPr>
        <p:txBody>
          <a:bodyPr wrap="none" anchor="ctr"/>
          <a:lstStyle/>
          <a:p>
            <a:r>
              <a:rPr lang="en-US" altLang="zh-CN" sz="1400">
                <a:ea typeface="宋体" pitchFamily="2" charset="-122"/>
              </a:rPr>
              <a:t>D</a:t>
            </a:r>
          </a:p>
        </p:txBody>
      </p:sp>
      <p:sp>
        <p:nvSpPr>
          <p:cNvPr id="547921" name="Rectangle 81"/>
          <p:cNvSpPr>
            <a:spLocks noChangeArrowheads="1"/>
          </p:cNvSpPr>
          <p:nvPr/>
        </p:nvSpPr>
        <p:spPr bwMode="blackGray">
          <a:xfrm>
            <a:off x="3390872" y="5091098"/>
            <a:ext cx="609600" cy="609600"/>
          </a:xfrm>
          <a:prstGeom prst="rect">
            <a:avLst/>
          </a:prstGeom>
          <a:solidFill>
            <a:srgbClr val="3366FF"/>
          </a:solidFill>
          <a:ln w="19050">
            <a:noFill/>
            <a:miter lim="800000"/>
            <a:headEnd/>
            <a:tailEnd/>
          </a:ln>
          <a:effectLst/>
        </p:spPr>
        <p:txBody>
          <a:bodyPr wrap="none" anchor="ctr"/>
          <a:lstStyle/>
          <a:p>
            <a:r>
              <a:rPr lang="en-US" altLang="zh-CN" sz="1400">
                <a:ea typeface="宋体" pitchFamily="2" charset="-122"/>
              </a:rPr>
              <a:t>E</a:t>
            </a:r>
          </a:p>
        </p:txBody>
      </p:sp>
      <p:sp>
        <p:nvSpPr>
          <p:cNvPr id="547922" name="Rectangle 82"/>
          <p:cNvSpPr>
            <a:spLocks noChangeArrowheads="1"/>
          </p:cNvSpPr>
          <p:nvPr/>
        </p:nvSpPr>
        <p:spPr bwMode="blackGray">
          <a:xfrm>
            <a:off x="2857472" y="5167298"/>
            <a:ext cx="228600" cy="228600"/>
          </a:xfrm>
          <a:prstGeom prst="rect">
            <a:avLst/>
          </a:prstGeom>
          <a:solidFill>
            <a:srgbClr val="666699"/>
          </a:solidFill>
          <a:ln w="9525">
            <a:noFill/>
            <a:miter lim="800000"/>
            <a:headEnd/>
            <a:tailEnd/>
          </a:ln>
          <a:effectLst/>
        </p:spPr>
        <p:txBody>
          <a:bodyPr wrap="none" anchor="ctr"/>
          <a:lstStyle/>
          <a:p>
            <a:r>
              <a:rPr lang="en-US" altLang="zh-CN" sz="1400">
                <a:ea typeface="宋体" pitchFamily="2" charset="-122"/>
              </a:rPr>
              <a:t>F</a:t>
            </a:r>
          </a:p>
        </p:txBody>
      </p:sp>
      <p:sp>
        <p:nvSpPr>
          <p:cNvPr id="547923" name="Rectangle 83"/>
          <p:cNvSpPr>
            <a:spLocks noChangeArrowheads="1"/>
          </p:cNvSpPr>
          <p:nvPr/>
        </p:nvSpPr>
        <p:spPr bwMode="blackGray">
          <a:xfrm>
            <a:off x="3086072" y="5167298"/>
            <a:ext cx="228600" cy="228600"/>
          </a:xfrm>
          <a:prstGeom prst="rect">
            <a:avLst/>
          </a:prstGeom>
          <a:solidFill>
            <a:srgbClr val="969696"/>
          </a:solidFill>
          <a:ln w="9525">
            <a:noFill/>
            <a:miter lim="800000"/>
            <a:headEnd/>
            <a:tailEnd/>
          </a:ln>
          <a:effectLst/>
        </p:spPr>
        <p:txBody>
          <a:bodyPr wrap="none" anchor="ctr"/>
          <a:lstStyle/>
          <a:p>
            <a:r>
              <a:rPr lang="en-US" altLang="zh-CN" sz="1400">
                <a:ea typeface="宋体" pitchFamily="2" charset="-122"/>
              </a:rPr>
              <a:t>G</a:t>
            </a:r>
          </a:p>
        </p:txBody>
      </p:sp>
      <p:sp>
        <p:nvSpPr>
          <p:cNvPr id="547924" name="Rectangle 84"/>
          <p:cNvSpPr>
            <a:spLocks noChangeArrowheads="1"/>
          </p:cNvSpPr>
          <p:nvPr/>
        </p:nvSpPr>
        <p:spPr bwMode="blackGray">
          <a:xfrm>
            <a:off x="2857472" y="5395898"/>
            <a:ext cx="228600" cy="228600"/>
          </a:xfrm>
          <a:prstGeom prst="rect">
            <a:avLst/>
          </a:prstGeom>
          <a:solidFill>
            <a:srgbClr val="C0C0C0"/>
          </a:solidFill>
          <a:ln w="9525">
            <a:noFill/>
            <a:miter lim="800000"/>
            <a:headEnd/>
            <a:tailEnd/>
          </a:ln>
          <a:effectLst/>
        </p:spPr>
        <p:txBody>
          <a:bodyPr wrap="none" anchor="ctr"/>
          <a:lstStyle/>
          <a:p>
            <a:r>
              <a:rPr lang="en-US" altLang="zh-CN" sz="1400">
                <a:ea typeface="宋体" pitchFamily="2" charset="-122"/>
              </a:rPr>
              <a:t>H</a:t>
            </a:r>
          </a:p>
        </p:txBody>
      </p:sp>
      <p:sp>
        <p:nvSpPr>
          <p:cNvPr id="547925" name="Rectangle 85"/>
          <p:cNvSpPr>
            <a:spLocks noChangeArrowheads="1"/>
          </p:cNvSpPr>
          <p:nvPr/>
        </p:nvSpPr>
        <p:spPr bwMode="blackGray">
          <a:xfrm>
            <a:off x="3086072" y="5395898"/>
            <a:ext cx="228600" cy="228600"/>
          </a:xfrm>
          <a:prstGeom prst="rect">
            <a:avLst/>
          </a:prstGeom>
          <a:solidFill>
            <a:srgbClr val="FFFFFF"/>
          </a:solidFill>
          <a:ln w="9525">
            <a:noFill/>
            <a:miter lim="800000"/>
            <a:headEnd/>
            <a:tailEnd/>
          </a:ln>
          <a:effectLst/>
        </p:spPr>
        <p:txBody>
          <a:bodyPr wrap="none" anchor="ctr"/>
          <a:lstStyle/>
          <a:p>
            <a:r>
              <a:rPr lang="en-US" altLang="zh-CN" sz="1400">
                <a:ea typeface="宋体" pitchFamily="2" charset="-122"/>
              </a:rPr>
              <a:t>I</a:t>
            </a:r>
          </a:p>
        </p:txBody>
      </p:sp>
      <p:sp>
        <p:nvSpPr>
          <p:cNvPr id="547926" name="Rectangle 86"/>
          <p:cNvSpPr>
            <a:spLocks noChangeArrowheads="1"/>
          </p:cNvSpPr>
          <p:nvPr/>
        </p:nvSpPr>
        <p:spPr bwMode="blackGray">
          <a:xfrm>
            <a:off x="2709810" y="1357298"/>
            <a:ext cx="1371600" cy="1371600"/>
          </a:xfrm>
          <a:prstGeom prst="rect">
            <a:avLst/>
          </a:prstGeom>
          <a:solidFill>
            <a:srgbClr val="FF99CC"/>
          </a:solidFill>
          <a:ln w="9525">
            <a:noFill/>
            <a:miter lim="800000"/>
            <a:headEnd/>
            <a:tailEnd/>
          </a:ln>
          <a:effectLst/>
        </p:spPr>
        <p:txBody>
          <a:bodyPr wrap="none" anchor="ctr"/>
          <a:lstStyle/>
          <a:p>
            <a:r>
              <a:rPr lang="en-US" altLang="zh-CN" sz="1400">
                <a:ea typeface="宋体" pitchFamily="2" charset="-122"/>
              </a:rPr>
              <a:t>A</a:t>
            </a:r>
          </a:p>
        </p:txBody>
      </p:sp>
      <p:sp>
        <p:nvSpPr>
          <p:cNvPr id="547935" name="Rectangle 95"/>
          <p:cNvSpPr>
            <a:spLocks noChangeArrowheads="1"/>
          </p:cNvSpPr>
          <p:nvPr/>
        </p:nvSpPr>
        <p:spPr bwMode="blackGray">
          <a:xfrm>
            <a:off x="2709810" y="2881298"/>
            <a:ext cx="1371600" cy="1371600"/>
          </a:xfrm>
          <a:prstGeom prst="rect">
            <a:avLst/>
          </a:prstGeom>
          <a:solidFill>
            <a:srgbClr val="FF99CC"/>
          </a:solidFill>
          <a:ln w="9525">
            <a:noFill/>
            <a:miter lim="800000"/>
            <a:headEnd/>
            <a:tailEnd/>
          </a:ln>
          <a:effectLst/>
        </p:spPr>
        <p:txBody>
          <a:bodyPr wrap="none" anchor="ctr"/>
          <a:lstStyle/>
          <a:p>
            <a:r>
              <a:rPr lang="en-US" altLang="zh-CN" sz="1400">
                <a:ea typeface="宋体" pitchFamily="2" charset="-122"/>
              </a:rPr>
              <a:t>A</a:t>
            </a:r>
          </a:p>
        </p:txBody>
      </p:sp>
      <p:sp>
        <p:nvSpPr>
          <p:cNvPr id="547936" name="Rectangle 96"/>
          <p:cNvSpPr>
            <a:spLocks noChangeArrowheads="1"/>
          </p:cNvSpPr>
          <p:nvPr/>
        </p:nvSpPr>
        <p:spPr bwMode="blackGray">
          <a:xfrm>
            <a:off x="2786010" y="2957498"/>
            <a:ext cx="609600" cy="609600"/>
          </a:xfrm>
          <a:prstGeom prst="rect">
            <a:avLst/>
          </a:prstGeom>
          <a:solidFill>
            <a:srgbClr val="FF9900"/>
          </a:solidFill>
          <a:ln w="19050">
            <a:noFill/>
            <a:miter lim="800000"/>
            <a:headEnd/>
            <a:tailEnd/>
          </a:ln>
          <a:effectLst/>
        </p:spPr>
        <p:txBody>
          <a:bodyPr wrap="none" anchor="ctr"/>
          <a:lstStyle/>
          <a:p>
            <a:r>
              <a:rPr lang="en-US" altLang="zh-CN" sz="1400">
                <a:ea typeface="宋体" pitchFamily="2" charset="-122"/>
              </a:rPr>
              <a:t>B</a:t>
            </a:r>
          </a:p>
        </p:txBody>
      </p:sp>
      <p:sp>
        <p:nvSpPr>
          <p:cNvPr id="547937" name="Rectangle 97"/>
          <p:cNvSpPr>
            <a:spLocks noChangeArrowheads="1"/>
          </p:cNvSpPr>
          <p:nvPr/>
        </p:nvSpPr>
        <p:spPr bwMode="blackGray">
          <a:xfrm>
            <a:off x="3395610" y="2957498"/>
            <a:ext cx="609600" cy="609600"/>
          </a:xfrm>
          <a:prstGeom prst="rect">
            <a:avLst/>
          </a:prstGeom>
          <a:solidFill>
            <a:srgbClr val="FFFF99"/>
          </a:solidFill>
          <a:ln w="19050">
            <a:noFill/>
            <a:miter lim="800000"/>
            <a:headEnd/>
            <a:tailEnd/>
          </a:ln>
          <a:effectLst/>
        </p:spPr>
        <p:txBody>
          <a:bodyPr wrap="none" anchor="ctr"/>
          <a:lstStyle/>
          <a:p>
            <a:r>
              <a:rPr lang="en-US" altLang="zh-CN" sz="1400">
                <a:ea typeface="宋体" pitchFamily="2" charset="-122"/>
              </a:rPr>
              <a:t>C</a:t>
            </a:r>
          </a:p>
        </p:txBody>
      </p:sp>
      <p:sp>
        <p:nvSpPr>
          <p:cNvPr id="547938" name="Rectangle 98"/>
          <p:cNvSpPr>
            <a:spLocks noChangeArrowheads="1"/>
          </p:cNvSpPr>
          <p:nvPr/>
        </p:nvSpPr>
        <p:spPr bwMode="blackGray">
          <a:xfrm>
            <a:off x="2786010" y="3567098"/>
            <a:ext cx="609600" cy="609600"/>
          </a:xfrm>
          <a:prstGeom prst="rect">
            <a:avLst/>
          </a:prstGeom>
          <a:solidFill>
            <a:srgbClr val="00FF00"/>
          </a:solidFill>
          <a:ln w="19050">
            <a:noFill/>
            <a:miter lim="800000"/>
            <a:headEnd/>
            <a:tailEnd/>
          </a:ln>
          <a:effectLst/>
        </p:spPr>
        <p:txBody>
          <a:bodyPr wrap="none" anchor="ctr"/>
          <a:lstStyle/>
          <a:p>
            <a:r>
              <a:rPr lang="en-US" altLang="zh-CN" sz="1400">
                <a:ea typeface="宋体" pitchFamily="2" charset="-122"/>
              </a:rPr>
              <a:t>D</a:t>
            </a:r>
          </a:p>
        </p:txBody>
      </p:sp>
      <p:sp>
        <p:nvSpPr>
          <p:cNvPr id="547939" name="Rectangle 99"/>
          <p:cNvSpPr>
            <a:spLocks noChangeArrowheads="1"/>
          </p:cNvSpPr>
          <p:nvPr/>
        </p:nvSpPr>
        <p:spPr bwMode="blackGray">
          <a:xfrm>
            <a:off x="3395610" y="3567098"/>
            <a:ext cx="609600" cy="609600"/>
          </a:xfrm>
          <a:prstGeom prst="rect">
            <a:avLst/>
          </a:prstGeom>
          <a:solidFill>
            <a:srgbClr val="3366FF"/>
          </a:solidFill>
          <a:ln w="19050">
            <a:noFill/>
            <a:miter lim="800000"/>
            <a:headEnd/>
            <a:tailEnd/>
          </a:ln>
          <a:effectLst/>
        </p:spPr>
        <p:txBody>
          <a:bodyPr wrap="none" anchor="ctr"/>
          <a:lstStyle/>
          <a:p>
            <a:r>
              <a:rPr lang="en-US" altLang="zh-CN" sz="1400">
                <a:ea typeface="宋体" pitchFamily="2" charset="-122"/>
              </a:rPr>
              <a:t>E</a:t>
            </a:r>
          </a:p>
        </p:txBody>
      </p:sp>
      <p:sp>
        <p:nvSpPr>
          <p:cNvPr id="49" name="TextBox 48"/>
          <p:cNvSpPr txBox="1"/>
          <p:nvPr/>
        </p:nvSpPr>
        <p:spPr>
          <a:xfrm>
            <a:off x="1428254" y="5987497"/>
            <a:ext cx="5929828" cy="584775"/>
          </a:xfrm>
          <a:prstGeom prst="rect">
            <a:avLst/>
          </a:prstGeom>
          <a:noFill/>
        </p:spPr>
        <p:txBody>
          <a:bodyPr wrap="none" rtlCol="0">
            <a:spAutoFit/>
          </a:bodyPr>
          <a:lstStyle/>
          <a:p>
            <a:r>
              <a:rPr lang="zh-CN" altLang="en-US" sz="3200" dirty="0">
                <a:ea typeface="宋体" pitchFamily="2" charset="-122"/>
              </a:rPr>
              <a:t>根结点是整个“感兴趣的区域”</a:t>
            </a:r>
            <a:endParaRPr lang="zh-CN" altLang="en-US" sz="3200" dirty="0"/>
          </a:p>
        </p:txBody>
      </p:sp>
      <p:pic>
        <p:nvPicPr>
          <p:cNvPr id="30722" name="Picture 2"/>
          <p:cNvPicPr>
            <a:picLocks noChangeAspect="1" noChangeArrowheads="1"/>
          </p:cNvPicPr>
          <p:nvPr/>
        </p:nvPicPr>
        <p:blipFill>
          <a:blip r:embed="rId2" cstate="print"/>
          <a:srcRect/>
          <a:stretch>
            <a:fillRect/>
          </a:stretch>
        </p:blipFill>
        <p:spPr bwMode="auto">
          <a:xfrm>
            <a:off x="4929190" y="1643050"/>
            <a:ext cx="3571900" cy="3869558"/>
          </a:xfrm>
          <a:prstGeom prst="rect">
            <a:avLst/>
          </a:prstGeom>
          <a:noFill/>
          <a:ln w="9525">
            <a:noFill/>
            <a:miter lim="800000"/>
            <a:headEnd/>
            <a:tailEnd/>
          </a:ln>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画家算法</a:t>
            </a:r>
          </a:p>
        </p:txBody>
      </p:sp>
      <p:sp>
        <p:nvSpPr>
          <p:cNvPr id="3" name="内容占位符 2"/>
          <p:cNvSpPr>
            <a:spLocks noGrp="1"/>
          </p:cNvSpPr>
          <p:nvPr>
            <p:ph idx="1"/>
          </p:nvPr>
        </p:nvSpPr>
        <p:spPr/>
        <p:txBody>
          <a:bodyPr/>
          <a:lstStyle/>
          <a:p>
            <a:r>
              <a:rPr lang="zh-CN" altLang="en-US" dirty="0"/>
              <a:t>三维坐标经过（透视</a:t>
            </a:r>
            <a:r>
              <a:rPr lang="en-US" altLang="zh-CN" dirty="0"/>
              <a:t>/</a:t>
            </a:r>
            <a:r>
              <a:rPr lang="zh-CN" altLang="en-US" dirty="0"/>
              <a:t>平行）投影到观察者空间</a:t>
            </a:r>
            <a:r>
              <a:rPr lang="en-US" altLang="zh-CN" dirty="0"/>
              <a:t>(</a:t>
            </a:r>
            <a:r>
              <a:rPr lang="en-US" altLang="zh-CN" dirty="0" err="1"/>
              <a:t>screenX</a:t>
            </a:r>
            <a:r>
              <a:rPr lang="en-US" altLang="zh-CN" dirty="0"/>
              <a:t>, </a:t>
            </a:r>
            <a:r>
              <a:rPr lang="en-US" altLang="zh-CN" dirty="0" err="1"/>
              <a:t>screenY</a:t>
            </a:r>
            <a:r>
              <a:rPr lang="en-US" altLang="zh-CN" dirty="0"/>
              <a:t>, </a:t>
            </a:r>
            <a:r>
              <a:rPr lang="en-US" altLang="zh-CN" dirty="0" err="1"/>
              <a:t>screenZ</a:t>
            </a:r>
            <a:r>
              <a:rPr lang="en-US" altLang="zh-CN" dirty="0"/>
              <a:t>)</a:t>
            </a:r>
          </a:p>
          <a:p>
            <a:r>
              <a:rPr lang="zh-CN" altLang="en-US" dirty="0"/>
              <a:t>直观算法：按照深度排序，从远到近绘制，后画的覆盖先画的</a:t>
            </a:r>
            <a:endParaRPr lang="en-US" altLang="zh-CN" dirty="0"/>
          </a:p>
          <a:p>
            <a:r>
              <a:rPr lang="zh-CN" altLang="en-US" dirty="0"/>
              <a:t>问题：顺序总是存在的么？</a:t>
            </a:r>
          </a:p>
        </p:txBody>
      </p:sp>
      <p:pic>
        <p:nvPicPr>
          <p:cNvPr id="71682" name="Picture 2"/>
          <p:cNvPicPr>
            <a:picLocks noChangeAspect="1" noChangeArrowheads="1"/>
          </p:cNvPicPr>
          <p:nvPr/>
        </p:nvPicPr>
        <p:blipFill>
          <a:blip r:embed="rId2" cstate="print"/>
          <a:srcRect/>
          <a:stretch>
            <a:fillRect/>
          </a:stretch>
        </p:blipFill>
        <p:spPr bwMode="auto">
          <a:xfrm>
            <a:off x="5940152" y="3861048"/>
            <a:ext cx="2808312" cy="2644046"/>
          </a:xfrm>
          <a:prstGeom prst="rect">
            <a:avLst/>
          </a:prstGeom>
          <a:noFill/>
          <a:ln w="9525">
            <a:no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BSP</a:t>
            </a:r>
            <a:r>
              <a:rPr lang="zh-CN" altLang="en-US" dirty="0"/>
              <a:t>树</a:t>
            </a:r>
          </a:p>
        </p:txBody>
      </p:sp>
      <p:pic>
        <p:nvPicPr>
          <p:cNvPr id="60417" name="Picture 1"/>
          <p:cNvPicPr>
            <a:picLocks noChangeAspect="1" noChangeArrowheads="1"/>
          </p:cNvPicPr>
          <p:nvPr/>
        </p:nvPicPr>
        <p:blipFill>
          <a:blip r:embed="rId2" cstate="print"/>
          <a:srcRect/>
          <a:stretch>
            <a:fillRect/>
          </a:stretch>
        </p:blipFill>
        <p:spPr bwMode="auto">
          <a:xfrm>
            <a:off x="424963" y="2132856"/>
            <a:ext cx="8467517" cy="2952328"/>
          </a:xfrm>
          <a:prstGeom prst="rect">
            <a:avLst/>
          </a:prstGeom>
          <a:noFill/>
          <a:ln w="9525">
            <a:noFill/>
            <a:miter lim="800000"/>
            <a:headEnd/>
            <a:tailEnd/>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ea typeface="宋体" pitchFamily="2" charset="-122"/>
              </a:rPr>
              <a:t>用</a:t>
            </a:r>
            <a:r>
              <a:rPr lang="en-US" altLang="zh-CN" dirty="0">
                <a:ea typeface="宋体" pitchFamily="2" charset="-122"/>
              </a:rPr>
              <a:t>BSP</a:t>
            </a:r>
            <a:r>
              <a:rPr lang="zh-CN" altLang="en-US" dirty="0">
                <a:ea typeface="宋体" pitchFamily="2" charset="-122"/>
              </a:rPr>
              <a:t>表示空间层次划分</a:t>
            </a:r>
            <a:endParaRPr lang="en-US" altLang="zh-CN" dirty="0">
              <a:ea typeface="宋体" pitchFamily="2" charset="-122"/>
            </a:endParaRPr>
          </a:p>
        </p:txBody>
      </p:sp>
      <p:sp>
        <p:nvSpPr>
          <p:cNvPr id="18435" name="Rectangle 3"/>
          <p:cNvSpPr>
            <a:spLocks noGrp="1" noChangeArrowheads="1"/>
          </p:cNvSpPr>
          <p:nvPr>
            <p:ph type="body" sz="half" idx="2"/>
          </p:nvPr>
        </p:nvSpPr>
        <p:spPr>
          <a:xfrm>
            <a:off x="4714876" y="4714884"/>
            <a:ext cx="4214842" cy="1319212"/>
          </a:xfrm>
        </p:spPr>
        <p:txBody>
          <a:bodyPr>
            <a:normAutofit/>
          </a:bodyPr>
          <a:lstStyle/>
          <a:p>
            <a:pPr>
              <a:buClr>
                <a:schemeClr val="accent1"/>
              </a:buClr>
            </a:pPr>
            <a:r>
              <a:rPr lang="zh-CN" altLang="en-US" sz="2400" dirty="0">
                <a:ea typeface="宋体" pitchFamily="2" charset="-122"/>
              </a:rPr>
              <a:t>每个结点表示一个空间区域</a:t>
            </a:r>
            <a:endParaRPr lang="en-US" altLang="zh-CN" sz="2400" dirty="0">
              <a:ea typeface="宋体" pitchFamily="2" charset="-122"/>
            </a:endParaRPr>
          </a:p>
          <a:p>
            <a:pPr lvl="1">
              <a:buClr>
                <a:schemeClr val="accent1"/>
              </a:buClr>
            </a:pPr>
            <a:r>
              <a:rPr lang="zh-CN" altLang="en-US" sz="2000" dirty="0">
                <a:ea typeface="宋体" pitchFamily="2" charset="-122"/>
              </a:rPr>
              <a:t>根是整个</a:t>
            </a:r>
            <a:r>
              <a:rPr lang="en-US" altLang="zh-CN" sz="2000" dirty="0" err="1">
                <a:ea typeface="宋体" pitchFamily="2" charset="-122"/>
              </a:rPr>
              <a:t>R</a:t>
            </a:r>
            <a:r>
              <a:rPr lang="en-US" altLang="zh-CN" sz="2000" baseline="30000" dirty="0" err="1">
                <a:ea typeface="宋体" pitchFamily="2" charset="-122"/>
              </a:rPr>
              <a:t>n</a:t>
            </a:r>
            <a:endParaRPr lang="en-US" altLang="zh-CN" sz="2000" baseline="30000" dirty="0">
              <a:ea typeface="宋体" pitchFamily="2" charset="-122"/>
            </a:endParaRPr>
          </a:p>
          <a:p>
            <a:pPr lvl="1">
              <a:buClr>
                <a:schemeClr val="accent1"/>
              </a:buClr>
            </a:pPr>
            <a:r>
              <a:rPr lang="zh-CN" altLang="en-US" sz="2000" dirty="0">
                <a:ea typeface="宋体" pitchFamily="2" charset="-122"/>
              </a:rPr>
              <a:t>叶结点是一些同质区域</a:t>
            </a:r>
            <a:endParaRPr lang="en-US" altLang="zh-CN" sz="2000" dirty="0">
              <a:ea typeface="宋体" pitchFamily="2" charset="-122"/>
            </a:endParaRPr>
          </a:p>
        </p:txBody>
      </p:sp>
      <p:pic>
        <p:nvPicPr>
          <p:cNvPr id="18440" name="Picture 8" descr="A:\JPG\build2a.jpg"/>
          <p:cNvPicPr>
            <a:picLocks noChangeAspect="1" noChangeArrowheads="1"/>
          </p:cNvPicPr>
          <p:nvPr/>
        </p:nvPicPr>
        <p:blipFill>
          <a:blip r:embed="rId2" cstate="print"/>
          <a:srcRect/>
          <a:stretch>
            <a:fillRect/>
          </a:stretch>
        </p:blipFill>
        <p:spPr bwMode="auto">
          <a:xfrm>
            <a:off x="4865510" y="1785926"/>
            <a:ext cx="3992770" cy="2286016"/>
          </a:xfrm>
          <a:prstGeom prst="rect">
            <a:avLst/>
          </a:prstGeom>
          <a:noFill/>
        </p:spPr>
      </p:pic>
      <p:pic>
        <p:nvPicPr>
          <p:cNvPr id="18441" name="Picture 9" descr="A:\JPG\build2.jpg"/>
          <p:cNvPicPr>
            <a:picLocks noChangeAspect="1" noChangeArrowheads="1"/>
          </p:cNvPicPr>
          <p:nvPr/>
        </p:nvPicPr>
        <p:blipFill>
          <a:blip r:embed="rId3" cstate="print"/>
          <a:srcRect/>
          <a:stretch>
            <a:fillRect/>
          </a:stretch>
        </p:blipFill>
        <p:spPr bwMode="auto">
          <a:xfrm>
            <a:off x="285720" y="1785926"/>
            <a:ext cx="4429124" cy="4322654"/>
          </a:xfrm>
          <a:prstGeom prst="rect">
            <a:avLst/>
          </a:prstGeom>
          <a:noFill/>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p:txBody>
          <a:bodyPr/>
          <a:lstStyle/>
          <a:p>
            <a:r>
              <a:rPr lang="zh-CN" altLang="en-US" dirty="0">
                <a:ea typeface="宋体" pitchFamily="2" charset="-122"/>
              </a:rPr>
              <a:t>用</a:t>
            </a:r>
            <a:r>
              <a:rPr lang="en-US" altLang="zh-CN" dirty="0">
                <a:ea typeface="宋体" pitchFamily="2" charset="-122"/>
              </a:rPr>
              <a:t>BSP</a:t>
            </a:r>
            <a:r>
              <a:rPr lang="zh-CN" altLang="en-US" dirty="0">
                <a:ea typeface="宋体" pitchFamily="2" charset="-122"/>
              </a:rPr>
              <a:t>表示多边形</a:t>
            </a:r>
            <a:endParaRPr lang="en-US" altLang="zh-CN" dirty="0">
              <a:ea typeface="宋体" pitchFamily="2" charset="-122"/>
            </a:endParaRPr>
          </a:p>
        </p:txBody>
      </p:sp>
      <p:pic>
        <p:nvPicPr>
          <p:cNvPr id="19462" name="Picture 1030" descr="D:\yiorgos\eg99_tutorial\JPG\polyhedron2.jpg"/>
          <p:cNvPicPr>
            <a:picLocks noChangeAspect="1" noChangeArrowheads="1"/>
          </p:cNvPicPr>
          <p:nvPr/>
        </p:nvPicPr>
        <p:blipFill>
          <a:blip r:embed="rId2" cstate="print"/>
          <a:srcRect/>
          <a:stretch>
            <a:fillRect/>
          </a:stretch>
        </p:blipFill>
        <p:spPr bwMode="auto">
          <a:xfrm>
            <a:off x="611560" y="1556792"/>
            <a:ext cx="7910512" cy="3325812"/>
          </a:xfrm>
          <a:prstGeom prst="rect">
            <a:avLst/>
          </a:prstGeom>
          <a:noFill/>
        </p:spPr>
      </p:pic>
      <p:sp>
        <p:nvSpPr>
          <p:cNvPr id="4" name="TextBox 3"/>
          <p:cNvSpPr txBox="1"/>
          <p:nvPr/>
        </p:nvSpPr>
        <p:spPr>
          <a:xfrm>
            <a:off x="2411760" y="5229200"/>
            <a:ext cx="4698722" cy="584775"/>
          </a:xfrm>
          <a:prstGeom prst="rect">
            <a:avLst/>
          </a:prstGeom>
          <a:noFill/>
        </p:spPr>
        <p:txBody>
          <a:bodyPr wrap="none" rtlCol="0">
            <a:spAutoFit/>
          </a:bodyPr>
          <a:lstStyle/>
          <a:p>
            <a:r>
              <a:rPr lang="zh-CN" altLang="en-US" sz="3200" b="1" dirty="0"/>
              <a:t>多边形被分成了两部分！</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zh-CN" altLang="en-US" dirty="0">
                <a:ea typeface="宋体" pitchFamily="2" charset="-122"/>
              </a:rPr>
              <a:t>用</a:t>
            </a:r>
            <a:r>
              <a:rPr lang="en-US" altLang="zh-CN" dirty="0">
                <a:ea typeface="宋体" pitchFamily="2" charset="-122"/>
              </a:rPr>
              <a:t>BSP</a:t>
            </a:r>
            <a:r>
              <a:rPr lang="zh-CN" altLang="en-US" dirty="0">
                <a:ea typeface="宋体" pitchFamily="2" charset="-122"/>
              </a:rPr>
              <a:t>表示多面体</a:t>
            </a:r>
            <a:endParaRPr lang="en-US" altLang="zh-CN" dirty="0">
              <a:ea typeface="宋体" pitchFamily="2" charset="-122"/>
            </a:endParaRPr>
          </a:p>
        </p:txBody>
      </p:sp>
      <p:pic>
        <p:nvPicPr>
          <p:cNvPr id="1028" name="Picture 4" descr="D:\yiorgos\eg99_tutorial\JPG\imageWC.jpg"/>
          <p:cNvPicPr>
            <a:picLocks noChangeAspect="1" noChangeArrowheads="1"/>
          </p:cNvPicPr>
          <p:nvPr/>
        </p:nvPicPr>
        <p:blipFill>
          <a:blip r:embed="rId2" cstate="print"/>
          <a:srcRect/>
          <a:stretch>
            <a:fillRect/>
          </a:stretch>
        </p:blipFill>
        <p:spPr bwMode="auto">
          <a:xfrm>
            <a:off x="179512" y="1772815"/>
            <a:ext cx="5472608" cy="4066903"/>
          </a:xfrm>
          <a:prstGeom prst="rect">
            <a:avLst/>
          </a:prstGeom>
          <a:noFill/>
        </p:spPr>
      </p:pic>
      <p:pic>
        <p:nvPicPr>
          <p:cNvPr id="1029" name="Picture 5" descr="D:\yiorgos\eg99_tutorial\JPG\imagetree.jpg"/>
          <p:cNvPicPr>
            <a:picLocks noChangeAspect="1" noChangeArrowheads="1"/>
          </p:cNvPicPr>
          <p:nvPr/>
        </p:nvPicPr>
        <p:blipFill>
          <a:blip r:embed="rId3" cstate="print"/>
          <a:srcRect/>
          <a:stretch>
            <a:fillRect/>
          </a:stretch>
        </p:blipFill>
        <p:spPr bwMode="auto">
          <a:xfrm>
            <a:off x="5508104" y="2060848"/>
            <a:ext cx="3441598" cy="3600400"/>
          </a:xfrm>
          <a:prstGeom prst="rect">
            <a:avLst/>
          </a:prstGeom>
          <a:noFill/>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a:t>
            </a:r>
            <a:r>
              <a:rPr lang="en-US" altLang="zh-CN" dirty="0"/>
              <a:t>BSP</a:t>
            </a:r>
            <a:r>
              <a:rPr lang="zh-CN" altLang="en-US" dirty="0"/>
              <a:t>实现画家算法</a:t>
            </a:r>
          </a:p>
        </p:txBody>
      </p:sp>
      <p:pic>
        <p:nvPicPr>
          <p:cNvPr id="72706" name="Picture 2"/>
          <p:cNvPicPr>
            <a:picLocks noChangeAspect="1" noChangeArrowheads="1"/>
          </p:cNvPicPr>
          <p:nvPr/>
        </p:nvPicPr>
        <p:blipFill>
          <a:blip r:embed="rId2" cstate="print"/>
          <a:srcRect/>
          <a:stretch>
            <a:fillRect/>
          </a:stretch>
        </p:blipFill>
        <p:spPr bwMode="auto">
          <a:xfrm>
            <a:off x="107504" y="1196752"/>
            <a:ext cx="8432516" cy="5400600"/>
          </a:xfrm>
          <a:prstGeom prst="rect">
            <a:avLst/>
          </a:prstGeom>
          <a:noFill/>
          <a:ln w="9525">
            <a:noFill/>
            <a:miter lim="800000"/>
            <a:headEnd/>
            <a:tailEnd/>
          </a:ln>
        </p:spPr>
      </p:pic>
      <p:pic>
        <p:nvPicPr>
          <p:cNvPr id="72707" name="Picture 3"/>
          <p:cNvPicPr>
            <a:picLocks noChangeAspect="1" noChangeArrowheads="1"/>
          </p:cNvPicPr>
          <p:nvPr/>
        </p:nvPicPr>
        <p:blipFill>
          <a:blip r:embed="rId3" cstate="print"/>
          <a:srcRect/>
          <a:stretch>
            <a:fillRect/>
          </a:stretch>
        </p:blipFill>
        <p:spPr bwMode="auto">
          <a:xfrm>
            <a:off x="6624736" y="1052735"/>
            <a:ext cx="2519264" cy="2074687"/>
          </a:xfrm>
          <a:prstGeom prst="rect">
            <a:avLst/>
          </a:prstGeom>
          <a:noFill/>
          <a:ln w="9525">
            <a:noFill/>
            <a:miter lim="800000"/>
            <a:headEnd/>
            <a:tailEnd/>
          </a:ln>
        </p:spPr>
      </p:pic>
      <p:sp>
        <p:nvSpPr>
          <p:cNvPr id="5" name="矩形 4"/>
          <p:cNvSpPr/>
          <p:nvPr/>
        </p:nvSpPr>
        <p:spPr>
          <a:xfrm>
            <a:off x="1691680" y="2348880"/>
            <a:ext cx="5040560"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555776" y="3429000"/>
            <a:ext cx="5040560"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3419872" y="4797152"/>
            <a:ext cx="5040560" cy="357190"/>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2708" name="Picture 4"/>
          <p:cNvPicPr>
            <a:picLocks noChangeAspect="1" noChangeArrowheads="1"/>
          </p:cNvPicPr>
          <p:nvPr/>
        </p:nvPicPr>
        <p:blipFill>
          <a:blip r:embed="rId4" cstate="print"/>
          <a:srcRect/>
          <a:stretch>
            <a:fillRect/>
          </a:stretch>
        </p:blipFill>
        <p:spPr bwMode="auto">
          <a:xfrm>
            <a:off x="827584" y="4437112"/>
            <a:ext cx="1748965" cy="2279128"/>
          </a:xfrm>
          <a:prstGeom prst="rect">
            <a:avLst/>
          </a:prstGeom>
          <a:noFill/>
          <a:ln w="9525">
            <a:noFill/>
            <a:miter lim="800000"/>
            <a:headEnd/>
            <a:tailEnd/>
          </a:ln>
        </p:spPr>
      </p:pic>
      <p:cxnSp>
        <p:nvCxnSpPr>
          <p:cNvPr id="12" name="直接箭头连接符 11"/>
          <p:cNvCxnSpPr/>
          <p:nvPr/>
        </p:nvCxnSpPr>
        <p:spPr>
          <a:xfrm rot="10800000">
            <a:off x="1979712" y="5661248"/>
            <a:ext cx="792088" cy="1588"/>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构造二维</a:t>
            </a:r>
            <a:r>
              <a:rPr lang="en-US" altLang="zh-CN" dirty="0"/>
              <a:t>BSP</a:t>
            </a:r>
            <a:r>
              <a:rPr lang="zh-CN" altLang="en-US" dirty="0"/>
              <a:t>（平面上画线段）</a:t>
            </a:r>
          </a:p>
        </p:txBody>
      </p:sp>
      <p:pic>
        <p:nvPicPr>
          <p:cNvPr id="73730" name="Picture 2"/>
          <p:cNvPicPr>
            <a:picLocks noChangeAspect="1" noChangeArrowheads="1"/>
          </p:cNvPicPr>
          <p:nvPr/>
        </p:nvPicPr>
        <p:blipFill>
          <a:blip r:embed="rId2" cstate="print"/>
          <a:srcRect/>
          <a:stretch>
            <a:fillRect/>
          </a:stretch>
        </p:blipFill>
        <p:spPr bwMode="auto">
          <a:xfrm>
            <a:off x="502574" y="1332184"/>
            <a:ext cx="8245890" cy="4041032"/>
          </a:xfrm>
          <a:prstGeom prst="rect">
            <a:avLst/>
          </a:prstGeom>
          <a:noFill/>
          <a:ln w="9525">
            <a:noFill/>
            <a:miter lim="800000"/>
            <a:headEnd/>
            <a:tailEnd/>
          </a:ln>
        </p:spPr>
      </p:pic>
      <p:sp>
        <p:nvSpPr>
          <p:cNvPr id="4" name="矩形 3"/>
          <p:cNvSpPr/>
          <p:nvPr/>
        </p:nvSpPr>
        <p:spPr>
          <a:xfrm>
            <a:off x="1835696" y="3501008"/>
            <a:ext cx="3816424" cy="28803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336933" y="5373216"/>
            <a:ext cx="8555547" cy="1384995"/>
          </a:xfrm>
          <a:prstGeom prst="rect">
            <a:avLst/>
          </a:prstGeom>
          <a:noFill/>
        </p:spPr>
        <p:txBody>
          <a:bodyPr wrap="none" rtlCol="0">
            <a:spAutoFit/>
          </a:bodyPr>
          <a:lstStyle/>
          <a:p>
            <a:pPr algn="ctr"/>
            <a:r>
              <a:rPr lang="zh-CN" altLang="en-US" sz="2800" b="1" dirty="0"/>
              <a:t>随机选择一个</a:t>
            </a:r>
            <a:r>
              <a:rPr lang="en-US" altLang="zh-CN" sz="2800" b="1" dirty="0" err="1"/>
              <a:t>s</a:t>
            </a:r>
            <a:r>
              <a:rPr lang="en-US" altLang="zh-CN" sz="2800" b="1" baseline="-25000" dirty="0" err="1"/>
              <a:t>i</a:t>
            </a:r>
            <a:r>
              <a:rPr lang="zh-CN" altLang="en-US" sz="2800" b="1" dirty="0"/>
              <a:t>作为</a:t>
            </a:r>
            <a:r>
              <a:rPr lang="en-US" altLang="zh-CN" sz="2800" b="1" dirty="0"/>
              <a:t>splitting line</a:t>
            </a:r>
          </a:p>
          <a:p>
            <a:pPr algn="ctr"/>
            <a:r>
              <a:rPr lang="zh-CN" altLang="en-US" sz="2800" b="1" dirty="0"/>
              <a:t>总结点数的期望为</a:t>
            </a:r>
            <a:r>
              <a:rPr lang="en-US" altLang="zh-CN" sz="2800" b="1" dirty="0"/>
              <a:t>O(</a:t>
            </a:r>
            <a:r>
              <a:rPr lang="en-US" altLang="zh-CN" sz="2800" b="1" dirty="0" err="1"/>
              <a:t>nlogn</a:t>
            </a:r>
            <a:r>
              <a:rPr lang="en-US" altLang="zh-CN" sz="2800" b="1" dirty="0"/>
              <a:t>), </a:t>
            </a:r>
            <a:r>
              <a:rPr lang="zh-CN" altLang="en-US" sz="2800" b="1" dirty="0"/>
              <a:t>构造算法总时间</a:t>
            </a:r>
            <a:r>
              <a:rPr lang="en-US" altLang="zh-CN" sz="2800" b="1" dirty="0"/>
              <a:t>O(n</a:t>
            </a:r>
            <a:r>
              <a:rPr lang="en-US" altLang="zh-CN" sz="2800" b="1" baseline="30000" dirty="0"/>
              <a:t>2</a:t>
            </a:r>
            <a:r>
              <a:rPr lang="en-US" altLang="zh-CN" sz="2800" b="1" dirty="0"/>
              <a:t>logn)</a:t>
            </a:r>
          </a:p>
          <a:p>
            <a:pPr algn="ctr"/>
            <a:r>
              <a:rPr lang="zh-CN" altLang="en-US" sz="2800" b="1" dirty="0"/>
              <a:t>总是选择输入线段：</a:t>
            </a:r>
            <a:r>
              <a:rPr lang="en-US" altLang="zh-CN" sz="2800" b="1" dirty="0"/>
              <a:t>auto-partition</a:t>
            </a:r>
            <a:endParaRPr lang="zh-CN" altLang="en-US" sz="2800" b="1"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全景图算法</a:t>
            </a:r>
          </a:p>
        </p:txBody>
      </p:sp>
      <p:pic>
        <p:nvPicPr>
          <p:cNvPr id="176130" name="Picture 2"/>
          <p:cNvPicPr>
            <a:picLocks noChangeAspect="1" noChangeArrowheads="1"/>
          </p:cNvPicPr>
          <p:nvPr/>
        </p:nvPicPr>
        <p:blipFill>
          <a:blip r:embed="rId2"/>
          <a:srcRect/>
          <a:stretch>
            <a:fillRect/>
          </a:stretch>
        </p:blipFill>
        <p:spPr bwMode="auto">
          <a:xfrm>
            <a:off x="436683" y="2285992"/>
            <a:ext cx="3849565" cy="3643338"/>
          </a:xfrm>
          <a:prstGeom prst="rect">
            <a:avLst/>
          </a:prstGeom>
          <a:noFill/>
          <a:ln w="9525">
            <a:noFill/>
            <a:miter lim="800000"/>
            <a:headEnd/>
            <a:tailEnd/>
          </a:ln>
          <a:effectLst/>
        </p:spPr>
      </p:pic>
      <p:pic>
        <p:nvPicPr>
          <p:cNvPr id="176131" name="Picture 3"/>
          <p:cNvPicPr>
            <a:picLocks noChangeAspect="1" noChangeArrowheads="1"/>
          </p:cNvPicPr>
          <p:nvPr/>
        </p:nvPicPr>
        <p:blipFill>
          <a:blip r:embed="rId3"/>
          <a:srcRect/>
          <a:stretch>
            <a:fillRect/>
          </a:stretch>
        </p:blipFill>
        <p:spPr bwMode="auto">
          <a:xfrm>
            <a:off x="4795868" y="1643050"/>
            <a:ext cx="4133850" cy="1333500"/>
          </a:xfrm>
          <a:prstGeom prst="rect">
            <a:avLst/>
          </a:prstGeom>
          <a:noFill/>
          <a:ln w="9525">
            <a:noFill/>
            <a:miter lim="800000"/>
            <a:headEnd/>
            <a:tailEnd/>
          </a:ln>
          <a:effectLst/>
        </p:spPr>
      </p:pic>
      <p:pic>
        <p:nvPicPr>
          <p:cNvPr id="176132" name="Picture 4"/>
          <p:cNvPicPr>
            <a:picLocks noChangeAspect="1" noChangeArrowheads="1"/>
          </p:cNvPicPr>
          <p:nvPr/>
        </p:nvPicPr>
        <p:blipFill>
          <a:blip r:embed="rId4"/>
          <a:srcRect/>
          <a:stretch>
            <a:fillRect/>
          </a:stretch>
        </p:blipFill>
        <p:spPr bwMode="auto">
          <a:xfrm>
            <a:off x="4748243" y="3286124"/>
            <a:ext cx="4181475" cy="1371600"/>
          </a:xfrm>
          <a:prstGeom prst="rect">
            <a:avLst/>
          </a:prstGeom>
          <a:noFill/>
          <a:ln w="9525">
            <a:noFill/>
            <a:miter lim="800000"/>
            <a:headEnd/>
            <a:tailEnd/>
          </a:ln>
          <a:effectLst/>
        </p:spPr>
      </p:pic>
      <p:pic>
        <p:nvPicPr>
          <p:cNvPr id="176133" name="Picture 5"/>
          <p:cNvPicPr>
            <a:picLocks noChangeAspect="1" noChangeArrowheads="1"/>
          </p:cNvPicPr>
          <p:nvPr/>
        </p:nvPicPr>
        <p:blipFill>
          <a:blip r:embed="rId5"/>
          <a:srcRect/>
          <a:stretch>
            <a:fillRect/>
          </a:stretch>
        </p:blipFill>
        <p:spPr bwMode="auto">
          <a:xfrm>
            <a:off x="4786314" y="5000636"/>
            <a:ext cx="4114800" cy="1314450"/>
          </a:xfrm>
          <a:prstGeom prst="rect">
            <a:avLst/>
          </a:prstGeom>
          <a:noFill/>
          <a:ln w="9525">
            <a:noFill/>
            <a:miter lim="800000"/>
            <a:headEnd/>
            <a:tailEnd/>
          </a:ln>
          <a:effec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4" name="Picture 2"/>
          <p:cNvPicPr>
            <a:picLocks noChangeAspect="1" noChangeArrowheads="1"/>
          </p:cNvPicPr>
          <p:nvPr/>
        </p:nvPicPr>
        <p:blipFill>
          <a:blip r:embed="rId2"/>
          <a:srcRect/>
          <a:stretch>
            <a:fillRect/>
          </a:stretch>
        </p:blipFill>
        <p:spPr bwMode="auto">
          <a:xfrm>
            <a:off x="281018" y="71461"/>
            <a:ext cx="8648700" cy="6715125"/>
          </a:xfrm>
          <a:prstGeom prst="rect">
            <a:avLst/>
          </a:prstGeom>
          <a:noFill/>
          <a:ln w="9525">
            <a:noFill/>
            <a:miter lim="800000"/>
            <a:headEnd/>
            <a:tailEnd/>
          </a:ln>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3000372"/>
            <a:ext cx="8229600" cy="1143000"/>
          </a:xfrm>
        </p:spPr>
        <p:txBody>
          <a:bodyPr/>
          <a:lstStyle/>
          <a:p>
            <a:r>
              <a:rPr lang="zh-CN" altLang="en-US" b="1" dirty="0"/>
              <a:t>谢谢大家 </a:t>
            </a:r>
            <a:r>
              <a:rPr lang="en-US" altLang="zh-CN" b="1" dirty="0">
                <a:sym typeface="Wingdings" pitchFamily="2" charset="2"/>
              </a:rPr>
              <a:t></a:t>
            </a:r>
            <a:endParaRPr lang="zh-CN" altLang="en-US" b="1"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附录：</a:t>
            </a:r>
            <a:r>
              <a:rPr lang="en-US" altLang="zh-CN" dirty="0"/>
              <a:t>Blender </a:t>
            </a:r>
            <a:r>
              <a:rPr lang="zh-CN" altLang="en-US" dirty="0"/>
              <a:t>使用入门</a:t>
            </a:r>
          </a:p>
        </p:txBody>
      </p:sp>
      <p:pic>
        <p:nvPicPr>
          <p:cNvPr id="89090" name="Picture 2"/>
          <p:cNvPicPr>
            <a:picLocks noChangeAspect="1" noChangeArrowheads="1"/>
          </p:cNvPicPr>
          <p:nvPr/>
        </p:nvPicPr>
        <p:blipFill>
          <a:blip r:embed="rId2" cstate="print"/>
          <a:srcRect/>
          <a:stretch>
            <a:fillRect/>
          </a:stretch>
        </p:blipFill>
        <p:spPr bwMode="auto">
          <a:xfrm>
            <a:off x="476351" y="1628800"/>
            <a:ext cx="8272113" cy="4608512"/>
          </a:xfrm>
          <a:prstGeom prst="rect">
            <a:avLst/>
          </a:prstGeom>
          <a:noFill/>
          <a:ln w="9525">
            <a:noFill/>
            <a:miter lim="800000"/>
            <a:headEnd/>
            <a:tailEnd/>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5793507"/>
          </a:xfrm>
        </p:spPr>
        <p:txBody>
          <a:bodyPr/>
          <a:lstStyle/>
          <a:p>
            <a:r>
              <a:rPr lang="zh-CN" altLang="en-US" dirty="0">
                <a:sym typeface="Wingdings" pitchFamily="2" charset="2"/>
              </a:rPr>
              <a:t>新建：</a:t>
            </a:r>
            <a:r>
              <a:rPr lang="en-US" altLang="zh-CN" dirty="0" err="1">
                <a:sym typeface="Wingdings" pitchFamily="2" charset="2"/>
              </a:rPr>
              <a:t>Ctrl+X</a:t>
            </a:r>
            <a:endParaRPr lang="en-US" altLang="zh-CN" dirty="0"/>
          </a:p>
          <a:p>
            <a:r>
              <a:rPr lang="zh-CN" altLang="en-US" dirty="0"/>
              <a:t>选定物体：鼠标右键（减小</a:t>
            </a:r>
            <a:r>
              <a:rPr lang="en-US" altLang="zh-CN" dirty="0"/>
              <a:t>RSI</a:t>
            </a:r>
            <a:r>
              <a:rPr lang="zh-CN" altLang="en-US" dirty="0"/>
              <a:t>）</a:t>
            </a:r>
            <a:endParaRPr lang="en-US" altLang="zh-CN" dirty="0"/>
          </a:p>
          <a:p>
            <a:r>
              <a:rPr lang="zh-CN" altLang="en-US" dirty="0"/>
              <a:t>平移</a:t>
            </a:r>
            <a:r>
              <a:rPr lang="en-US" altLang="zh-CN" dirty="0"/>
              <a:t>(G)/</a:t>
            </a:r>
            <a:r>
              <a:rPr lang="zh-CN" altLang="en-US" dirty="0"/>
              <a:t>旋转</a:t>
            </a:r>
            <a:r>
              <a:rPr lang="en-US" altLang="zh-CN" dirty="0"/>
              <a:t>(S)/</a:t>
            </a:r>
            <a:r>
              <a:rPr lang="zh-CN" altLang="en-US" dirty="0"/>
              <a:t>缩放</a:t>
            </a:r>
            <a:r>
              <a:rPr lang="en-US" altLang="zh-CN" dirty="0"/>
              <a:t>(R)</a:t>
            </a:r>
            <a:r>
              <a:rPr lang="zh-CN" altLang="en-US" dirty="0"/>
              <a:t>：鼠标手势</a:t>
            </a:r>
            <a:endParaRPr lang="en-US" altLang="zh-CN" dirty="0"/>
          </a:p>
          <a:p>
            <a:pPr lvl="1"/>
            <a:r>
              <a:rPr lang="en-US" altLang="zh-CN" dirty="0"/>
              <a:t>G</a:t>
            </a:r>
            <a:r>
              <a:rPr lang="en-US" altLang="zh-CN" dirty="0">
                <a:sym typeface="Wingdings" pitchFamily="2" charset="2"/>
              </a:rPr>
              <a:t>Z</a:t>
            </a:r>
            <a:r>
              <a:rPr lang="zh-CN" altLang="en-US" dirty="0">
                <a:sym typeface="Wingdings" pitchFamily="2" charset="2"/>
              </a:rPr>
              <a:t>：限制为全局</a:t>
            </a:r>
            <a:r>
              <a:rPr lang="en-US" altLang="zh-CN" dirty="0">
                <a:sym typeface="Wingdings" pitchFamily="2" charset="2"/>
              </a:rPr>
              <a:t>Z</a:t>
            </a:r>
            <a:r>
              <a:rPr lang="zh-CN" altLang="en-US" dirty="0">
                <a:sym typeface="Wingdings" pitchFamily="2" charset="2"/>
              </a:rPr>
              <a:t>方向移动</a:t>
            </a:r>
            <a:endParaRPr lang="en-US" altLang="zh-CN" dirty="0">
              <a:sym typeface="Wingdings" pitchFamily="2" charset="2"/>
            </a:endParaRPr>
          </a:p>
          <a:p>
            <a:pPr lvl="1"/>
            <a:r>
              <a:rPr lang="en-US" altLang="zh-CN" dirty="0">
                <a:sym typeface="Wingdings" pitchFamily="2" charset="2"/>
              </a:rPr>
              <a:t>GZZ</a:t>
            </a:r>
            <a:r>
              <a:rPr lang="zh-CN" altLang="en-US" dirty="0">
                <a:sym typeface="Wingdings" pitchFamily="2" charset="2"/>
              </a:rPr>
              <a:t>：限制为局部</a:t>
            </a:r>
            <a:r>
              <a:rPr lang="en-US" altLang="zh-CN" dirty="0">
                <a:sym typeface="Wingdings" pitchFamily="2" charset="2"/>
              </a:rPr>
              <a:t>Z</a:t>
            </a:r>
            <a:r>
              <a:rPr lang="zh-CN" altLang="en-US" dirty="0">
                <a:sym typeface="Wingdings" pitchFamily="2" charset="2"/>
              </a:rPr>
              <a:t>方向移动</a:t>
            </a:r>
            <a:endParaRPr lang="en-US" altLang="zh-CN" dirty="0">
              <a:sym typeface="Wingdings" pitchFamily="2" charset="2"/>
            </a:endParaRPr>
          </a:p>
          <a:p>
            <a:pPr lvl="1"/>
            <a:r>
              <a:rPr lang="en-US" altLang="zh-CN" dirty="0" err="1">
                <a:sym typeface="Wingdings" pitchFamily="2" charset="2"/>
              </a:rPr>
              <a:t>GShift+Z</a:t>
            </a:r>
            <a:r>
              <a:rPr lang="zh-CN" altLang="en-US" dirty="0">
                <a:sym typeface="Wingdings" pitchFamily="2" charset="2"/>
              </a:rPr>
              <a:t>：限制为全局</a:t>
            </a:r>
            <a:r>
              <a:rPr lang="en-US" altLang="zh-CN" dirty="0">
                <a:sym typeface="Wingdings" pitchFamily="2" charset="2"/>
              </a:rPr>
              <a:t>XY</a:t>
            </a:r>
            <a:r>
              <a:rPr lang="zh-CN" altLang="en-US" dirty="0">
                <a:sym typeface="Wingdings" pitchFamily="2" charset="2"/>
              </a:rPr>
              <a:t>平面</a:t>
            </a:r>
            <a:endParaRPr lang="en-US" altLang="zh-CN" dirty="0">
              <a:sym typeface="Wingdings" pitchFamily="2" charset="2"/>
            </a:endParaRPr>
          </a:p>
          <a:p>
            <a:pPr lvl="1"/>
            <a:r>
              <a:rPr lang="zh-CN" altLang="en-US" dirty="0">
                <a:sym typeface="Wingdings" pitchFamily="2" charset="2"/>
              </a:rPr>
              <a:t>可以输入数字</a:t>
            </a:r>
            <a:endParaRPr lang="en-US" altLang="zh-CN" dirty="0"/>
          </a:p>
        </p:txBody>
      </p:sp>
      <p:pic>
        <p:nvPicPr>
          <p:cNvPr id="153602" name="Picture 2"/>
          <p:cNvPicPr>
            <a:picLocks noChangeAspect="1" noChangeArrowheads="1"/>
          </p:cNvPicPr>
          <p:nvPr/>
        </p:nvPicPr>
        <p:blipFill>
          <a:blip r:embed="rId2" cstate="print"/>
          <a:srcRect/>
          <a:stretch>
            <a:fillRect/>
          </a:stretch>
        </p:blipFill>
        <p:spPr bwMode="auto">
          <a:xfrm>
            <a:off x="959599" y="3645024"/>
            <a:ext cx="7212801" cy="3024336"/>
          </a:xfrm>
          <a:prstGeom prst="rect">
            <a:avLst/>
          </a:prstGeom>
          <a:noFill/>
          <a:ln w="9525">
            <a:no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8640"/>
            <a:ext cx="8229600" cy="6480720"/>
          </a:xfrm>
        </p:spPr>
        <p:txBody>
          <a:bodyPr>
            <a:normAutofit/>
          </a:bodyPr>
          <a:lstStyle/>
          <a:p>
            <a:r>
              <a:rPr lang="zh-CN" altLang="en-US" dirty="0"/>
              <a:t>视角变换</a:t>
            </a:r>
            <a:endParaRPr lang="en-US" altLang="zh-CN" dirty="0"/>
          </a:p>
          <a:p>
            <a:pPr lvl="1"/>
            <a:r>
              <a:rPr lang="zh-CN" altLang="en-US" dirty="0"/>
              <a:t>鼠标中键：</a:t>
            </a:r>
            <a:r>
              <a:rPr lang="en-US" altLang="zh-CN" dirty="0"/>
              <a:t>Orbit</a:t>
            </a:r>
          </a:p>
          <a:p>
            <a:pPr lvl="1"/>
            <a:r>
              <a:rPr lang="en-US" altLang="zh-CN" dirty="0"/>
              <a:t>Shift +</a:t>
            </a:r>
            <a:r>
              <a:rPr lang="zh-CN" altLang="en-US" dirty="0"/>
              <a:t>鼠标中键：</a:t>
            </a:r>
            <a:r>
              <a:rPr lang="en-US" altLang="zh-CN" dirty="0"/>
              <a:t>Pan</a:t>
            </a:r>
          </a:p>
          <a:p>
            <a:pPr lvl="1"/>
            <a:r>
              <a:rPr lang="en-US" altLang="zh-CN" dirty="0"/>
              <a:t>Ctrl+</a:t>
            </a:r>
            <a:r>
              <a:rPr lang="zh-CN" altLang="en-US" dirty="0"/>
              <a:t>鼠标中键：</a:t>
            </a:r>
            <a:r>
              <a:rPr lang="en-US" altLang="zh-CN" dirty="0"/>
              <a:t>Zoom</a:t>
            </a:r>
          </a:p>
          <a:p>
            <a:pPr lvl="1"/>
            <a:r>
              <a:rPr lang="zh-CN" altLang="en-US" dirty="0"/>
              <a:t>用</a:t>
            </a:r>
            <a:r>
              <a:rPr lang="en-US" altLang="zh-CN" dirty="0"/>
              <a:t>Alt+</a:t>
            </a:r>
            <a:r>
              <a:rPr lang="zh-CN" altLang="en-US" dirty="0"/>
              <a:t>鼠标左键可代替中键</a:t>
            </a:r>
            <a:endParaRPr lang="en-US" altLang="zh-CN" dirty="0"/>
          </a:p>
          <a:p>
            <a:r>
              <a:rPr lang="zh-CN" altLang="en-US" dirty="0"/>
              <a:t>小键盘</a:t>
            </a:r>
            <a:endParaRPr lang="en-US" altLang="zh-CN" dirty="0"/>
          </a:p>
          <a:p>
            <a:pPr lvl="1"/>
            <a:r>
              <a:rPr lang="zh-CN" altLang="en-US" dirty="0"/>
              <a:t>按照</a:t>
            </a:r>
            <a:r>
              <a:rPr lang="en-US" altLang="zh-CN" dirty="0"/>
              <a:t>Ctrl</a:t>
            </a:r>
            <a:r>
              <a:rPr lang="zh-CN" altLang="en-US" dirty="0"/>
              <a:t>会得到相反视图（</a:t>
            </a:r>
            <a:r>
              <a:rPr lang="en-US" altLang="zh-CN" dirty="0" err="1"/>
              <a:t>Front</a:t>
            </a:r>
            <a:r>
              <a:rPr lang="en-US" altLang="zh-CN" dirty="0" err="1">
                <a:sym typeface="Wingdings" pitchFamily="2" charset="2"/>
              </a:rPr>
              <a:t>Back</a:t>
            </a:r>
            <a:r>
              <a:rPr lang="zh-CN" altLang="en-US" dirty="0">
                <a:sym typeface="Wingdings" pitchFamily="2" charset="2"/>
              </a:rPr>
              <a:t>）</a:t>
            </a:r>
            <a:endParaRPr lang="en-US" altLang="zh-CN" dirty="0">
              <a:sym typeface="Wingdings" pitchFamily="2" charset="2"/>
            </a:endParaRPr>
          </a:p>
          <a:p>
            <a:pPr lvl="1"/>
            <a:r>
              <a:rPr lang="en-US" altLang="zh-CN" dirty="0">
                <a:sym typeface="Wingdings" pitchFamily="2" charset="2"/>
              </a:rPr>
              <a:t>/</a:t>
            </a:r>
            <a:r>
              <a:rPr lang="zh-CN" altLang="en-US" dirty="0">
                <a:sym typeface="Wingdings" pitchFamily="2" charset="2"/>
              </a:rPr>
              <a:t>：隐藏其他物体</a:t>
            </a:r>
            <a:endParaRPr lang="en-US" altLang="zh-CN" dirty="0">
              <a:sym typeface="Wingdings" pitchFamily="2" charset="2"/>
            </a:endParaRPr>
          </a:p>
          <a:p>
            <a:pPr lvl="1"/>
            <a:r>
              <a:rPr lang="en-US" altLang="zh-CN" dirty="0">
                <a:sym typeface="Wingdings" pitchFamily="2" charset="2"/>
              </a:rPr>
              <a:t>.</a:t>
            </a:r>
            <a:r>
              <a:rPr lang="zh-CN" altLang="en-US" dirty="0">
                <a:sym typeface="Wingdings" pitchFamily="2" charset="2"/>
              </a:rPr>
              <a:t>：选定物体居中</a:t>
            </a:r>
            <a:endParaRPr lang="en-US" altLang="zh-CN" dirty="0">
              <a:sym typeface="Wingdings" pitchFamily="2" charset="2"/>
            </a:endParaRPr>
          </a:p>
          <a:p>
            <a:r>
              <a:rPr lang="zh-CN" altLang="en-US" dirty="0">
                <a:sym typeface="Wingdings" pitchFamily="2" charset="2"/>
              </a:rPr>
              <a:t>选择绘制方式：</a:t>
            </a:r>
            <a:r>
              <a:rPr lang="en-US" altLang="zh-CN" dirty="0">
                <a:sym typeface="Wingdings" pitchFamily="2" charset="2"/>
              </a:rPr>
              <a:t>D</a:t>
            </a:r>
          </a:p>
        </p:txBody>
      </p:sp>
      <p:pic>
        <p:nvPicPr>
          <p:cNvPr id="152578" name="Picture 2"/>
          <p:cNvPicPr>
            <a:picLocks noChangeAspect="1" noChangeArrowheads="1"/>
          </p:cNvPicPr>
          <p:nvPr/>
        </p:nvPicPr>
        <p:blipFill>
          <a:blip r:embed="rId2" cstate="print"/>
          <a:srcRect/>
          <a:stretch>
            <a:fillRect/>
          </a:stretch>
        </p:blipFill>
        <p:spPr bwMode="auto">
          <a:xfrm>
            <a:off x="5724128" y="188640"/>
            <a:ext cx="3152775" cy="3048000"/>
          </a:xfrm>
          <a:prstGeom prst="rect">
            <a:avLst/>
          </a:prstGeom>
          <a:noFill/>
          <a:ln w="9525">
            <a:noFill/>
            <a:miter lim="800000"/>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编辑物体</a:t>
            </a:r>
          </a:p>
        </p:txBody>
      </p:sp>
      <p:sp>
        <p:nvSpPr>
          <p:cNvPr id="3" name="内容占位符 2"/>
          <p:cNvSpPr>
            <a:spLocks noGrp="1"/>
          </p:cNvSpPr>
          <p:nvPr>
            <p:ph idx="1"/>
          </p:nvPr>
        </p:nvSpPr>
        <p:spPr/>
        <p:txBody>
          <a:bodyPr/>
          <a:lstStyle/>
          <a:p>
            <a:r>
              <a:rPr lang="zh-CN" altLang="en-US" dirty="0"/>
              <a:t>按</a:t>
            </a:r>
            <a:r>
              <a:rPr lang="en-US" altLang="zh-CN" dirty="0"/>
              <a:t>Tab</a:t>
            </a:r>
            <a:r>
              <a:rPr lang="zh-CN" altLang="en-US" dirty="0"/>
              <a:t>，从</a:t>
            </a:r>
            <a:r>
              <a:rPr lang="en-US" altLang="zh-CN" dirty="0"/>
              <a:t>Object</a:t>
            </a:r>
            <a:r>
              <a:rPr lang="zh-CN" altLang="en-US" dirty="0"/>
              <a:t>模式进入</a:t>
            </a:r>
            <a:r>
              <a:rPr lang="en-US" altLang="zh-CN" dirty="0"/>
              <a:t>Edit</a:t>
            </a:r>
            <a:r>
              <a:rPr lang="zh-CN" altLang="en-US" dirty="0"/>
              <a:t>模式（默认是顶点选择子模式）</a:t>
            </a:r>
            <a:endParaRPr lang="en-US" altLang="zh-CN" dirty="0"/>
          </a:p>
          <a:p>
            <a:r>
              <a:rPr lang="zh-CN" altLang="en-US" dirty="0"/>
              <a:t>在</a:t>
            </a:r>
            <a:r>
              <a:rPr lang="en-US" altLang="zh-CN" dirty="0"/>
              <a:t>Edit</a:t>
            </a:r>
            <a:r>
              <a:rPr lang="zh-CN" altLang="en-US" dirty="0"/>
              <a:t>模式中可以按</a:t>
            </a:r>
            <a:r>
              <a:rPr lang="en-US" altLang="zh-CN" dirty="0" err="1"/>
              <a:t>Ctrl+Tab</a:t>
            </a:r>
            <a:r>
              <a:rPr lang="zh-CN" altLang="en-US" dirty="0"/>
              <a:t>选择子模式（顶点、边或面）</a:t>
            </a:r>
            <a:endParaRPr lang="en-US" altLang="zh-CN" dirty="0"/>
          </a:p>
          <a:p>
            <a:r>
              <a:rPr lang="zh-CN" altLang="en-US" dirty="0"/>
              <a:t>善用</a:t>
            </a:r>
            <a:r>
              <a:rPr lang="en-US" altLang="zh-CN" dirty="0"/>
              <a:t>Mesh</a:t>
            </a:r>
            <a:r>
              <a:rPr lang="zh-CN" altLang="en-US" dirty="0"/>
              <a:t>菜单可以构造出复杂的网格</a:t>
            </a:r>
            <a:endParaRPr lang="en-US" altLang="zh-CN" dirty="0"/>
          </a:p>
          <a:p>
            <a:pPr lvl="1"/>
            <a:r>
              <a:rPr lang="zh-CN" altLang="en-US" dirty="0"/>
              <a:t>顶点合并</a:t>
            </a:r>
            <a:r>
              <a:rPr lang="en-US" altLang="zh-CN" dirty="0"/>
              <a:t>(Merge)</a:t>
            </a:r>
            <a:r>
              <a:rPr lang="zh-CN" altLang="en-US" dirty="0"/>
              <a:t>：注意保留的顶点是哪个</a:t>
            </a:r>
            <a:endParaRPr lang="en-US" altLang="zh-CN" dirty="0"/>
          </a:p>
          <a:p>
            <a:pPr lvl="1"/>
            <a:r>
              <a:rPr lang="zh-CN" altLang="en-US" dirty="0"/>
              <a:t>边细分</a:t>
            </a:r>
            <a:r>
              <a:rPr lang="en-US" altLang="zh-CN" dirty="0"/>
              <a:t>(subdivision)</a:t>
            </a:r>
            <a:endParaRPr lang="zh-CN" alt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编写</a:t>
            </a:r>
            <a:r>
              <a:rPr lang="en-US" altLang="zh-CN" dirty="0"/>
              <a:t>python</a:t>
            </a:r>
            <a:r>
              <a:rPr lang="zh-CN" altLang="en-US" dirty="0"/>
              <a:t>脚本</a:t>
            </a:r>
          </a:p>
        </p:txBody>
      </p:sp>
      <p:sp>
        <p:nvSpPr>
          <p:cNvPr id="3" name="内容占位符 2"/>
          <p:cNvSpPr>
            <a:spLocks noGrp="1"/>
          </p:cNvSpPr>
          <p:nvPr>
            <p:ph idx="1"/>
          </p:nvPr>
        </p:nvSpPr>
        <p:spPr/>
        <p:txBody>
          <a:bodyPr/>
          <a:lstStyle/>
          <a:p>
            <a:r>
              <a:rPr lang="zh-CN" altLang="en-US" dirty="0"/>
              <a:t>用交互命令行练习</a:t>
            </a:r>
            <a:endParaRPr lang="en-US" altLang="zh-CN" dirty="0"/>
          </a:p>
          <a:p>
            <a:r>
              <a:rPr lang="zh-CN" altLang="en-US" dirty="0"/>
              <a:t>文件保存在</a:t>
            </a:r>
            <a:r>
              <a:rPr lang="en-US" altLang="zh-CN" dirty="0"/>
              <a:t>.blender/scripts</a:t>
            </a:r>
            <a:r>
              <a:rPr lang="zh-CN" altLang="en-US" dirty="0"/>
              <a:t>下，然后执行菜单命令</a:t>
            </a:r>
            <a:r>
              <a:rPr lang="en-US" altLang="zh-CN" dirty="0" err="1"/>
              <a:t>Scripts</a:t>
            </a:r>
            <a:r>
              <a:rPr lang="en-US" altLang="zh-CN" dirty="0" err="1">
                <a:sym typeface="Wingdings" pitchFamily="2" charset="2"/>
              </a:rPr>
              <a:t></a:t>
            </a:r>
            <a:r>
              <a:rPr lang="en-US" altLang="zh-CN" dirty="0" err="1"/>
              <a:t>Update</a:t>
            </a:r>
            <a:r>
              <a:rPr lang="en-US" altLang="zh-CN" dirty="0"/>
              <a:t> Menus</a:t>
            </a:r>
            <a:endParaRPr lang="zh-CN" altLang="en-US" dirty="0"/>
          </a:p>
        </p:txBody>
      </p:sp>
      <p:pic>
        <p:nvPicPr>
          <p:cNvPr id="152579" name="Picture 3"/>
          <p:cNvPicPr>
            <a:picLocks noChangeAspect="1" noChangeArrowheads="1"/>
          </p:cNvPicPr>
          <p:nvPr/>
        </p:nvPicPr>
        <p:blipFill>
          <a:blip r:embed="rId2" cstate="print"/>
          <a:srcRect/>
          <a:stretch>
            <a:fillRect/>
          </a:stretch>
        </p:blipFill>
        <p:spPr bwMode="auto">
          <a:xfrm>
            <a:off x="2562200" y="3429000"/>
            <a:ext cx="3810000" cy="3133725"/>
          </a:xfrm>
          <a:prstGeom prst="rect">
            <a:avLst/>
          </a:prstGeom>
          <a:noFill/>
          <a:ln w="9525">
            <a:noFill/>
            <a:miter lim="800000"/>
            <a:headEnd/>
            <a:tailEnd/>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lstStyle/>
          <a:p>
            <a:r>
              <a:rPr lang="zh-CN" altLang="en-US" dirty="0"/>
              <a:t>可以添加到菜单系统中，比如</a:t>
            </a:r>
            <a:r>
              <a:rPr lang="en-US" altLang="zh-CN" dirty="0" err="1"/>
              <a:t>Add</a:t>
            </a:r>
            <a:r>
              <a:rPr lang="en-US" altLang="zh-CN" dirty="0" err="1">
                <a:sym typeface="Wingdings" pitchFamily="2" charset="2"/>
              </a:rPr>
              <a:t>Mesh</a:t>
            </a:r>
            <a:r>
              <a:rPr lang="zh-CN" altLang="en-US" dirty="0">
                <a:sym typeface="Wingdings" pitchFamily="2" charset="2"/>
              </a:rPr>
              <a:t>（右键点击场景一秒钟后出现）</a:t>
            </a:r>
            <a:endParaRPr lang="zh-CN" altLang="en-US" dirty="0"/>
          </a:p>
        </p:txBody>
      </p:sp>
      <p:sp>
        <p:nvSpPr>
          <p:cNvPr id="4" name="TextBox 3"/>
          <p:cNvSpPr txBox="1"/>
          <p:nvPr/>
        </p:nvSpPr>
        <p:spPr>
          <a:xfrm>
            <a:off x="1187624" y="1600339"/>
            <a:ext cx="6494085" cy="4708981"/>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000" dirty="0">
                <a:latin typeface="Courier New" pitchFamily="49" charset="0"/>
                <a:cs typeface="Courier New" pitchFamily="49" charset="0"/>
              </a:rPr>
              <a:t>#!BPY</a:t>
            </a:r>
          </a:p>
          <a:p>
            <a:r>
              <a:rPr lang="en-US" altLang="zh-CN" sz="2000" dirty="0">
                <a:latin typeface="Courier New" pitchFamily="49" charset="0"/>
                <a:cs typeface="Courier New" pitchFamily="49" charset="0"/>
              </a:rPr>
              <a:t>"""</a:t>
            </a:r>
          </a:p>
          <a:p>
            <a:r>
              <a:rPr lang="en-US" altLang="zh-CN" sz="2000" dirty="0">
                <a:latin typeface="Courier New" pitchFamily="49" charset="0"/>
                <a:cs typeface="Courier New" pitchFamily="49" charset="0"/>
              </a:rPr>
              <a:t>Name: 'Hello World'</a:t>
            </a:r>
          </a:p>
          <a:p>
            <a:r>
              <a:rPr lang="en-US" altLang="zh-CN" sz="2000" dirty="0">
                <a:latin typeface="Courier New" pitchFamily="49" charset="0"/>
                <a:cs typeface="Courier New" pitchFamily="49" charset="0"/>
              </a:rPr>
              <a:t>Blender: 249</a:t>
            </a:r>
          </a:p>
          <a:p>
            <a:r>
              <a:rPr lang="en-US" altLang="zh-CN" sz="2000" dirty="0">
                <a:latin typeface="Courier New" pitchFamily="49" charset="0"/>
                <a:cs typeface="Courier New" pitchFamily="49" charset="0"/>
              </a:rPr>
              <a:t>Group: '</a:t>
            </a:r>
            <a:r>
              <a:rPr lang="en-US" altLang="zh-CN" sz="2000" dirty="0" err="1">
                <a:latin typeface="Courier New" pitchFamily="49" charset="0"/>
                <a:cs typeface="Courier New" pitchFamily="49" charset="0"/>
              </a:rPr>
              <a:t>AddMesh</a:t>
            </a:r>
            <a:r>
              <a:rPr lang="en-US" altLang="zh-CN" sz="2000" dirty="0">
                <a:latin typeface="Courier New" pitchFamily="49" charset="0"/>
                <a:cs typeface="Courier New" pitchFamily="49" charset="0"/>
              </a:rPr>
              <a:t>'</a:t>
            </a:r>
          </a:p>
          <a:p>
            <a:r>
              <a:rPr lang="en-US" altLang="zh-CN" sz="2000" dirty="0">
                <a:latin typeface="Courier New" pitchFamily="49" charset="0"/>
                <a:cs typeface="Courier New" pitchFamily="49" charset="0"/>
              </a:rPr>
              <a:t>"""</a:t>
            </a:r>
          </a:p>
          <a:p>
            <a:r>
              <a:rPr lang="en-US" altLang="zh-CN" sz="2000" dirty="0">
                <a:latin typeface="Courier New" pitchFamily="49" charset="0"/>
                <a:cs typeface="Courier New" pitchFamily="49" charset="0"/>
              </a:rPr>
              <a:t>from Blender import Scene, Text3d, Window</a:t>
            </a:r>
          </a:p>
          <a:p>
            <a:endParaRPr lang="en-US" altLang="zh-CN" sz="2000" dirty="0">
              <a:latin typeface="Courier New" pitchFamily="49" charset="0"/>
              <a:cs typeface="Courier New" pitchFamily="49" charset="0"/>
            </a:endParaRPr>
          </a:p>
          <a:p>
            <a:r>
              <a:rPr lang="en-US" altLang="zh-CN" sz="2000" dirty="0">
                <a:latin typeface="Courier New" pitchFamily="49" charset="0"/>
                <a:cs typeface="Courier New" pitchFamily="49" charset="0"/>
              </a:rPr>
              <a:t>hello = Text3d.New("</a:t>
            </a:r>
            <a:r>
              <a:rPr lang="en-US" altLang="zh-CN" sz="2000" dirty="0" err="1">
                <a:latin typeface="Courier New" pitchFamily="49" charset="0"/>
                <a:cs typeface="Courier New" pitchFamily="49" charset="0"/>
              </a:rPr>
              <a:t>HelloWorld</a:t>
            </a:r>
            <a:r>
              <a:rPr lang="en-US" altLang="zh-CN" sz="2000" dirty="0">
                <a:latin typeface="Courier New" pitchFamily="49" charset="0"/>
                <a:cs typeface="Courier New" pitchFamily="49" charset="0"/>
              </a:rPr>
              <a:t>")</a:t>
            </a:r>
          </a:p>
          <a:p>
            <a:r>
              <a:rPr lang="en-US" altLang="zh-CN" sz="2000" dirty="0" err="1">
                <a:latin typeface="Courier New" pitchFamily="49" charset="0"/>
                <a:cs typeface="Courier New" pitchFamily="49" charset="0"/>
              </a:rPr>
              <a:t>hello.setText</a:t>
            </a:r>
            <a:r>
              <a:rPr lang="en-US" altLang="zh-CN" sz="2000" dirty="0">
                <a:latin typeface="Courier New" pitchFamily="49" charset="0"/>
                <a:cs typeface="Courier New" pitchFamily="49" charset="0"/>
              </a:rPr>
              <a:t>("Hello World!")</a:t>
            </a:r>
          </a:p>
          <a:p>
            <a:endParaRPr lang="en-US" altLang="zh-CN" sz="2000" dirty="0">
              <a:latin typeface="Courier New" pitchFamily="49" charset="0"/>
              <a:cs typeface="Courier New" pitchFamily="49" charset="0"/>
            </a:endParaRPr>
          </a:p>
          <a:p>
            <a:r>
              <a:rPr lang="en-US" altLang="zh-CN" sz="2000" dirty="0" err="1">
                <a:latin typeface="Courier New" pitchFamily="49" charset="0"/>
                <a:cs typeface="Courier New" pitchFamily="49" charset="0"/>
              </a:rPr>
              <a:t>scn</a:t>
            </a:r>
            <a:r>
              <a:rPr lang="en-US" altLang="zh-CN" sz="2000" dirty="0">
                <a:latin typeface="Courier New" pitchFamily="49" charset="0"/>
                <a:cs typeface="Courier New" pitchFamily="49" charset="0"/>
              </a:rPr>
              <a:t> = </a:t>
            </a:r>
            <a:r>
              <a:rPr lang="en-US" altLang="zh-CN" sz="2000" dirty="0" err="1">
                <a:latin typeface="Courier New" pitchFamily="49" charset="0"/>
                <a:cs typeface="Courier New" pitchFamily="49" charset="0"/>
              </a:rPr>
              <a:t>Scene.GetCurrent</a:t>
            </a:r>
            <a:r>
              <a:rPr lang="en-US" altLang="zh-CN" sz="2000" dirty="0">
                <a:latin typeface="Courier New" pitchFamily="49" charset="0"/>
                <a:cs typeface="Courier New" pitchFamily="49" charset="0"/>
              </a:rPr>
              <a:t>()</a:t>
            </a:r>
          </a:p>
          <a:p>
            <a:r>
              <a:rPr lang="en-US" altLang="zh-CN" sz="2000" dirty="0">
                <a:latin typeface="Courier New" pitchFamily="49" charset="0"/>
                <a:cs typeface="Courier New" pitchFamily="49" charset="0"/>
              </a:rPr>
              <a:t>ob = </a:t>
            </a:r>
            <a:r>
              <a:rPr lang="en-US" altLang="zh-CN" sz="2000" dirty="0" err="1">
                <a:latin typeface="Courier New" pitchFamily="49" charset="0"/>
                <a:cs typeface="Courier New" pitchFamily="49" charset="0"/>
              </a:rPr>
              <a:t>scn.objects.new</a:t>
            </a:r>
            <a:r>
              <a:rPr lang="en-US" altLang="zh-CN" sz="2000" dirty="0">
                <a:latin typeface="Courier New" pitchFamily="49" charset="0"/>
                <a:cs typeface="Courier New" pitchFamily="49" charset="0"/>
              </a:rPr>
              <a:t>(hello)</a:t>
            </a:r>
          </a:p>
          <a:p>
            <a:endParaRPr lang="en-US" altLang="zh-CN" sz="2000" dirty="0">
              <a:latin typeface="Courier New" pitchFamily="49" charset="0"/>
              <a:cs typeface="Courier New" pitchFamily="49" charset="0"/>
            </a:endParaRPr>
          </a:p>
          <a:p>
            <a:r>
              <a:rPr lang="en-US" altLang="zh-CN" sz="2000" dirty="0" err="1">
                <a:latin typeface="Courier New" pitchFamily="49" charset="0"/>
                <a:cs typeface="Courier New" pitchFamily="49" charset="0"/>
              </a:rPr>
              <a:t>Window.RedrawAll</a:t>
            </a:r>
            <a:r>
              <a:rPr lang="en-US" altLang="zh-CN" sz="2000" dirty="0">
                <a:latin typeface="Courier New" pitchFamily="49" charset="0"/>
                <a:cs typeface="Courier New" pitchFamily="49" charset="0"/>
              </a:rPr>
              <a:t>()</a:t>
            </a:r>
            <a:endParaRPr lang="zh-CN" altLang="en-US" sz="2000" dirty="0">
              <a:latin typeface="Courier New" pitchFamily="49" charset="0"/>
              <a:cs typeface="Courier New" pitchFamily="49"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85727"/>
            <a:ext cx="8784976" cy="6555641"/>
          </a:xfrm>
          <a:prstGeom prst="rect">
            <a:avLst/>
          </a:prstGeom>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rtlCol="0">
            <a:spAutoFit/>
          </a:bodyPr>
          <a:lstStyle/>
          <a:p>
            <a:r>
              <a:rPr lang="en-US" altLang="zh-CN" sz="2000" dirty="0"/>
              <a:t>from Blender import Scene, Object, Mesh, Window</a:t>
            </a:r>
          </a:p>
          <a:p>
            <a:r>
              <a:rPr lang="en-US" altLang="zh-CN" sz="2000" dirty="0"/>
              <a:t>def </a:t>
            </a:r>
            <a:r>
              <a:rPr lang="en-US" altLang="zh-CN" sz="2000" dirty="0" err="1"/>
              <a:t>removeAllMeshes</a:t>
            </a:r>
            <a:r>
              <a:rPr lang="en-US" altLang="zh-CN" sz="2000" dirty="0"/>
              <a:t>( </a:t>
            </a:r>
            <a:r>
              <a:rPr lang="en-US" altLang="zh-CN" sz="2000" dirty="0" err="1"/>
              <a:t>scn</a:t>
            </a:r>
            <a:r>
              <a:rPr lang="en-US" altLang="zh-CN" sz="2000" dirty="0"/>
              <a:t> ):</a:t>
            </a:r>
          </a:p>
          <a:p>
            <a:r>
              <a:rPr lang="en-US" altLang="zh-CN" sz="2000" dirty="0"/>
              <a:t>	for ob in </a:t>
            </a:r>
            <a:r>
              <a:rPr lang="en-US" altLang="zh-CN" sz="2000" dirty="0" err="1"/>
              <a:t>scn.objects</a:t>
            </a:r>
            <a:r>
              <a:rPr lang="en-US" altLang="zh-CN" sz="2000" dirty="0"/>
              <a:t>:</a:t>
            </a:r>
          </a:p>
          <a:p>
            <a:r>
              <a:rPr lang="en-US" altLang="zh-CN" sz="2000" dirty="0"/>
              <a:t>		if </a:t>
            </a:r>
            <a:r>
              <a:rPr lang="en-US" altLang="zh-CN" sz="2000" dirty="0" err="1"/>
              <a:t>ob.getType</a:t>
            </a:r>
            <a:r>
              <a:rPr lang="en-US" altLang="zh-CN" sz="2000" dirty="0"/>
              <a:t>() == 'Mesh':</a:t>
            </a:r>
          </a:p>
          <a:p>
            <a:r>
              <a:rPr lang="en-US" altLang="zh-CN" sz="2000" dirty="0"/>
              <a:t>			</a:t>
            </a:r>
            <a:r>
              <a:rPr lang="en-US" altLang="zh-CN" sz="2000" dirty="0" err="1"/>
              <a:t>scn.objects.unlink</a:t>
            </a:r>
            <a:r>
              <a:rPr lang="en-US" altLang="zh-CN" sz="2000" dirty="0"/>
              <a:t>( ob )</a:t>
            </a:r>
          </a:p>
          <a:p>
            <a:r>
              <a:rPr lang="en-US" altLang="zh-CN" sz="2000" dirty="0"/>
              <a:t> </a:t>
            </a:r>
          </a:p>
          <a:p>
            <a:r>
              <a:rPr lang="en-US" altLang="zh-CN" sz="2000" dirty="0" err="1"/>
              <a:t>scn</a:t>
            </a:r>
            <a:r>
              <a:rPr lang="en-US" altLang="zh-CN" sz="2000" dirty="0"/>
              <a:t> = </a:t>
            </a:r>
            <a:r>
              <a:rPr lang="en-US" altLang="zh-CN" sz="2000" dirty="0" err="1"/>
              <a:t>Scene.GetCurrent</a:t>
            </a:r>
            <a:r>
              <a:rPr lang="en-US" altLang="zh-CN" sz="2000" dirty="0"/>
              <a:t>()</a:t>
            </a:r>
          </a:p>
          <a:p>
            <a:r>
              <a:rPr lang="en-US" altLang="zh-CN" sz="2000" dirty="0" err="1"/>
              <a:t>removeAllMeshes</a:t>
            </a:r>
            <a:r>
              <a:rPr lang="en-US" altLang="zh-CN" sz="2000" dirty="0"/>
              <a:t>( </a:t>
            </a:r>
            <a:r>
              <a:rPr lang="en-US" altLang="zh-CN" sz="2000" dirty="0" err="1"/>
              <a:t>scn</a:t>
            </a:r>
            <a:r>
              <a:rPr lang="en-US" altLang="zh-CN" sz="2000" dirty="0"/>
              <a:t> )</a:t>
            </a:r>
          </a:p>
          <a:p>
            <a:endParaRPr lang="en-US" altLang="zh-CN" sz="2000" dirty="0"/>
          </a:p>
          <a:p>
            <a:r>
              <a:rPr lang="en-US" altLang="zh-CN" sz="2000" dirty="0" err="1"/>
              <a:t>myObj</a:t>
            </a:r>
            <a:r>
              <a:rPr lang="en-US" altLang="zh-CN" sz="2000" dirty="0"/>
              <a:t> = </a:t>
            </a:r>
            <a:r>
              <a:rPr lang="en-US" altLang="zh-CN" sz="2000" dirty="0" err="1"/>
              <a:t>Object.New</a:t>
            </a:r>
            <a:r>
              <a:rPr lang="en-US" altLang="zh-CN" sz="2000" dirty="0"/>
              <a:t>( 'Mesh', 'my' )</a:t>
            </a:r>
          </a:p>
          <a:p>
            <a:r>
              <a:rPr lang="en-US" altLang="zh-CN" sz="2000" dirty="0" err="1"/>
              <a:t>myMesh</a:t>
            </a:r>
            <a:r>
              <a:rPr lang="en-US" altLang="zh-CN" sz="2000" dirty="0"/>
              <a:t> = </a:t>
            </a:r>
            <a:r>
              <a:rPr lang="en-US" altLang="zh-CN" sz="2000" dirty="0" err="1"/>
              <a:t>Mesh.New</a:t>
            </a:r>
            <a:r>
              <a:rPr lang="en-US" altLang="zh-CN" sz="2000" dirty="0"/>
              <a:t>( '</a:t>
            </a:r>
            <a:r>
              <a:rPr lang="en-US" altLang="zh-CN" sz="2000" dirty="0" err="1"/>
              <a:t>myMesh</a:t>
            </a:r>
            <a:r>
              <a:rPr lang="en-US" altLang="zh-CN" sz="2000" dirty="0"/>
              <a:t>' )</a:t>
            </a:r>
          </a:p>
          <a:p>
            <a:r>
              <a:rPr lang="en-US" altLang="zh-CN" sz="2000" dirty="0"/>
              <a:t> </a:t>
            </a:r>
          </a:p>
          <a:p>
            <a:r>
              <a:rPr lang="en-US" altLang="zh-CN" sz="2000" dirty="0" err="1"/>
              <a:t>myMesh.verts.extend</a:t>
            </a:r>
            <a:r>
              <a:rPr lang="en-US" altLang="zh-CN" sz="2000" dirty="0"/>
              <a:t>([[0,0,0], [1,0,0], [0.5,1,0]])</a:t>
            </a:r>
          </a:p>
          <a:p>
            <a:r>
              <a:rPr lang="en-US" altLang="zh-CN" sz="2000" dirty="0" err="1"/>
              <a:t>myMesh.verts.extend</a:t>
            </a:r>
            <a:r>
              <a:rPr lang="en-US" altLang="zh-CN" sz="2000" dirty="0"/>
              <a:t>([[0,0,.2], [1,0,0.2], [0.5,1,0.2]])</a:t>
            </a:r>
          </a:p>
          <a:p>
            <a:r>
              <a:rPr lang="en-US" altLang="zh-CN" sz="2000" dirty="0" err="1"/>
              <a:t>myMesh.faces.extend</a:t>
            </a:r>
            <a:r>
              <a:rPr lang="en-US" altLang="zh-CN" sz="2000" dirty="0"/>
              <a:t>([[0,1,2], [3,4,5]])</a:t>
            </a:r>
          </a:p>
          <a:p>
            <a:r>
              <a:rPr lang="en-US" altLang="zh-CN" sz="2000" dirty="0" err="1"/>
              <a:t>myMesh.faces.extend</a:t>
            </a:r>
            <a:r>
              <a:rPr lang="en-US" altLang="zh-CN" sz="2000" dirty="0"/>
              <a:t>([[0,3,4,1], [0,3,5,2], [1,4,5,2]])</a:t>
            </a:r>
          </a:p>
          <a:p>
            <a:r>
              <a:rPr lang="en-US" altLang="zh-CN" sz="2000" dirty="0"/>
              <a:t> </a:t>
            </a:r>
          </a:p>
          <a:p>
            <a:r>
              <a:rPr lang="en-US" altLang="zh-CN" sz="2000" dirty="0" err="1"/>
              <a:t>myObj.link</a:t>
            </a:r>
            <a:r>
              <a:rPr lang="en-US" altLang="zh-CN" sz="2000" dirty="0"/>
              <a:t>( </a:t>
            </a:r>
            <a:r>
              <a:rPr lang="en-US" altLang="zh-CN" sz="2000" dirty="0" err="1"/>
              <a:t>myMesh</a:t>
            </a:r>
            <a:r>
              <a:rPr lang="en-US" altLang="zh-CN" sz="2000" dirty="0"/>
              <a:t> )</a:t>
            </a:r>
          </a:p>
          <a:p>
            <a:r>
              <a:rPr lang="en-US" altLang="zh-CN" sz="2000" dirty="0" err="1"/>
              <a:t>scn.objects.link</a:t>
            </a:r>
            <a:r>
              <a:rPr lang="en-US" altLang="zh-CN" sz="2000" dirty="0"/>
              <a:t>( </a:t>
            </a:r>
            <a:r>
              <a:rPr lang="en-US" altLang="zh-CN" sz="2000" dirty="0" err="1"/>
              <a:t>myObj</a:t>
            </a:r>
            <a:r>
              <a:rPr lang="en-US" altLang="zh-CN" sz="2000" dirty="0"/>
              <a:t> )</a:t>
            </a:r>
          </a:p>
          <a:p>
            <a:r>
              <a:rPr lang="en-US" altLang="zh-CN" sz="2000" dirty="0"/>
              <a:t> </a:t>
            </a:r>
          </a:p>
          <a:p>
            <a:r>
              <a:rPr lang="en-US" altLang="zh-CN" sz="2000" dirty="0" err="1"/>
              <a:t>Window.RedrawAll</a:t>
            </a:r>
            <a:r>
              <a:rPr lang="en-US" altLang="zh-CN" sz="2000" dirty="0"/>
              <a:t>()</a:t>
            </a:r>
          </a:p>
        </p:txBody>
      </p:sp>
      <p:pic>
        <p:nvPicPr>
          <p:cNvPr id="153602" name="Picture 2"/>
          <p:cNvPicPr>
            <a:picLocks noChangeAspect="1" noChangeArrowheads="1"/>
          </p:cNvPicPr>
          <p:nvPr/>
        </p:nvPicPr>
        <p:blipFill>
          <a:blip r:embed="rId2" cstate="print"/>
          <a:srcRect/>
          <a:stretch>
            <a:fillRect/>
          </a:stretch>
        </p:blipFill>
        <p:spPr bwMode="auto">
          <a:xfrm>
            <a:off x="5004048" y="1772816"/>
            <a:ext cx="3744416" cy="2080231"/>
          </a:xfrm>
          <a:prstGeom prst="rect">
            <a:avLst/>
          </a:prstGeom>
          <a:noFill/>
          <a:ln w="9525">
            <a:noFill/>
            <a:miter lim="800000"/>
            <a:headEnd/>
            <a:tailEnd/>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主要参考书目</a:t>
            </a:r>
          </a:p>
        </p:txBody>
      </p:sp>
      <p:pic>
        <p:nvPicPr>
          <p:cNvPr id="4" name="Picture 2"/>
          <p:cNvPicPr>
            <a:picLocks noChangeAspect="1" noChangeArrowheads="1"/>
          </p:cNvPicPr>
          <p:nvPr/>
        </p:nvPicPr>
        <p:blipFill>
          <a:blip r:embed="rId2"/>
          <a:srcRect/>
          <a:stretch>
            <a:fillRect/>
          </a:stretch>
        </p:blipFill>
        <p:spPr bwMode="auto">
          <a:xfrm>
            <a:off x="214282" y="1857364"/>
            <a:ext cx="2857520" cy="3588344"/>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3357554" y="1857364"/>
            <a:ext cx="2460025" cy="3571900"/>
          </a:xfrm>
          <a:prstGeom prst="rect">
            <a:avLst/>
          </a:prstGeom>
          <a:noFill/>
          <a:ln w="9525">
            <a:noFill/>
            <a:miter lim="800000"/>
            <a:headEnd/>
            <a:tailEnd/>
          </a:ln>
          <a:effectLst/>
        </p:spPr>
      </p:pic>
      <p:pic>
        <p:nvPicPr>
          <p:cNvPr id="6" name="Picture 5"/>
          <p:cNvPicPr>
            <a:picLocks noChangeAspect="1" noChangeArrowheads="1"/>
          </p:cNvPicPr>
          <p:nvPr/>
        </p:nvPicPr>
        <p:blipFill>
          <a:blip r:embed="rId4"/>
          <a:srcRect/>
          <a:stretch>
            <a:fillRect/>
          </a:stretch>
        </p:blipFill>
        <p:spPr bwMode="auto">
          <a:xfrm>
            <a:off x="6072198" y="1857364"/>
            <a:ext cx="2865827" cy="35719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1528</TotalTime>
  <Words>6698</Words>
  <Application>Microsoft Office PowerPoint</Application>
  <PresentationFormat>全屏显示(4:3)</PresentationFormat>
  <Paragraphs>705</Paragraphs>
  <Slides>135</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135</vt:i4>
      </vt:variant>
    </vt:vector>
  </HeadingPairs>
  <TitlesOfParts>
    <vt:vector size="152" baseType="lpstr">
      <vt:lpstr>Times New Roman (Hebrew)</vt:lpstr>
      <vt:lpstr>黑体</vt:lpstr>
      <vt:lpstr>楷体_GB2312</vt:lpstr>
      <vt:lpstr>宋体</vt:lpstr>
      <vt:lpstr>Arial</vt:lpstr>
      <vt:lpstr>Calibri</vt:lpstr>
      <vt:lpstr>Courier New</vt:lpstr>
      <vt:lpstr>Monotype Corsiva</vt:lpstr>
      <vt:lpstr>Symbol</vt:lpstr>
      <vt:lpstr>Tahoma</vt:lpstr>
      <vt:lpstr>Times New Roman</vt:lpstr>
      <vt:lpstr>Wingdings</vt:lpstr>
      <vt:lpstr>Office 主题</vt:lpstr>
      <vt:lpstr>Equation</vt:lpstr>
      <vt:lpstr>משוואה</vt:lpstr>
      <vt:lpstr>公式</vt:lpstr>
      <vt:lpstr>Bitmap Image</vt:lpstr>
      <vt:lpstr>空间几何：概念、算法与应用 </vt:lpstr>
      <vt:lpstr>一、基本概念</vt:lpstr>
      <vt:lpstr>点和向量(2D/3D)</vt:lpstr>
      <vt:lpstr>point + vector = point (2D/3D)</vt:lpstr>
      <vt:lpstr>vector + vector = vector (2D/3D)</vt:lpstr>
      <vt:lpstr>point - point = vector (2D/3D)</vt:lpstr>
      <vt:lpstr>point + point: 没有定义!!!</vt:lpstr>
      <vt:lpstr>坐标系(2D/3D)</vt:lpstr>
      <vt:lpstr>二、点积</vt:lpstr>
      <vt:lpstr>点积(dot product, 2D/3D)</vt:lpstr>
      <vt:lpstr>用坐标运算实现点积(2D)</vt:lpstr>
      <vt:lpstr>垂直向量(2D/3D)</vt:lpstr>
      <vt:lpstr>两点之间的距离</vt:lpstr>
      <vt:lpstr>直线的参数方程(2D/3D)</vt:lpstr>
      <vt:lpstr>射线的参数方程(2D/3D)</vt:lpstr>
      <vt:lpstr>点到直线的距离(代数推导,2D/3D)</vt:lpstr>
      <vt:lpstr>点到直线的距离(几何推导,2D/3D)</vt:lpstr>
      <vt:lpstr>直线的一般式(2D)</vt:lpstr>
      <vt:lpstr>直线和线段相交判定(2D)</vt:lpstr>
      <vt:lpstr>平面的点法式(3D)</vt:lpstr>
      <vt:lpstr>点到平面的距离(3D)</vt:lpstr>
      <vt:lpstr>点到平面的距离(代数推导,3D)</vt:lpstr>
      <vt:lpstr>点到平面的距离(几何推导,3D)</vt:lpstr>
      <vt:lpstr>平面的一般式(3D)</vt:lpstr>
      <vt:lpstr>直线和平面的交点(3D)</vt:lpstr>
      <vt:lpstr>空间二直线的距离(3D)</vt:lpstr>
      <vt:lpstr>空间二直线的距离(3D)</vt:lpstr>
      <vt:lpstr>空间二直线的距离(3D)</vt:lpstr>
      <vt:lpstr>空间二直线的距离(3D)</vt:lpstr>
      <vt:lpstr>小结</vt:lpstr>
      <vt:lpstr>练习1：点在平面上的投影</vt:lpstr>
      <vt:lpstr>练习2：向量在平面上的投影</vt:lpstr>
      <vt:lpstr>练习3：过定点垂直于定直线的平面</vt:lpstr>
      <vt:lpstr>练习4：直线和平面的夹角</vt:lpstr>
      <vt:lpstr>练习5：两平面的夹角</vt:lpstr>
      <vt:lpstr>练习6：两直线的夹角</vt:lpstr>
      <vt:lpstr>三、叉积</vt:lpstr>
      <vt:lpstr>二维叉积（回顾）</vt:lpstr>
      <vt:lpstr>三维叉积</vt:lpstr>
      <vt:lpstr>练习7：过三点的平面</vt:lpstr>
      <vt:lpstr>练习8：两平面交线（参数式）</vt:lpstr>
      <vt:lpstr>练习9：三平面的位置关系</vt:lpstr>
      <vt:lpstr>四、网格和多面体</vt:lpstr>
      <vt:lpstr>多边形网格(Polymesh)</vt:lpstr>
      <vt:lpstr>多面体</vt:lpstr>
      <vt:lpstr>四面体的体积</vt:lpstr>
      <vt:lpstr>混合积(Scalar Triple Product)</vt:lpstr>
      <vt:lpstr>多面体的体积</vt:lpstr>
      <vt:lpstr>空间两三角形相交 （Uva 11275：3D Triangles）</vt:lpstr>
      <vt:lpstr>算法</vt:lpstr>
      <vt:lpstr>两个四面体的最短距离 （UVa11836：Star War）</vt:lpstr>
      <vt:lpstr>Paperweight (WF 2010, LA 4795)</vt:lpstr>
      <vt:lpstr>PowerPoint 演示文稿</vt:lpstr>
      <vt:lpstr>Fairies’ Defence (Xi’an 2006, LA 3786)</vt:lpstr>
      <vt:lpstr>平面切割多面体</vt:lpstr>
      <vt:lpstr>平面切割多面体（续）</vt:lpstr>
      <vt:lpstr>题外话：网格和3D游戏模型</vt:lpstr>
      <vt:lpstr>PowerPoint 演示文稿</vt:lpstr>
      <vt:lpstr>PowerPoint 演示文稿</vt:lpstr>
      <vt:lpstr>PowerPoint 演示文稿</vt:lpstr>
      <vt:lpstr>课间休息 + Blender练习</vt:lpstr>
      <vt:lpstr>五、凸包（难！）</vt:lpstr>
      <vt:lpstr>二维凸包（回顾）</vt:lpstr>
      <vt:lpstr>三维凸包</vt:lpstr>
      <vt:lpstr>Aerodynamics (NEERC 2008, LA 4371)</vt:lpstr>
      <vt:lpstr>Asteroids (NEERC 2009, LA 4589)</vt:lpstr>
      <vt:lpstr>算法们</vt:lpstr>
      <vt:lpstr>暴力法</vt:lpstr>
      <vt:lpstr>PowerPoint 演示文稿</vt:lpstr>
      <vt:lpstr>卷包裹法</vt:lpstr>
      <vt:lpstr>PowerPoint 演示文稿</vt:lpstr>
      <vt:lpstr>增量法</vt:lpstr>
      <vt:lpstr>往凸包里添加一个点</vt:lpstr>
      <vt:lpstr>PowerPoint 演示文稿</vt:lpstr>
      <vt:lpstr>参考实现</vt:lpstr>
      <vt:lpstr>PowerPoint 演示文稿</vt:lpstr>
      <vt:lpstr>随机增量算法(概述)</vt:lpstr>
      <vt:lpstr>类似快速排序的快速凸包(2D)</vt:lpstr>
      <vt:lpstr>PowerPoint 演示文稿</vt:lpstr>
      <vt:lpstr>n维情形：基本概念</vt:lpstr>
      <vt:lpstr>超平面(hyperplane)</vt:lpstr>
      <vt:lpstr>简化的Beneath-Beyond定理</vt:lpstr>
      <vt:lpstr>PowerPoint 演示文稿</vt:lpstr>
      <vt:lpstr>PowerPoint 演示文稿</vt:lpstr>
      <vt:lpstr>和Delaunay三角剖分的关系(d维)</vt:lpstr>
      <vt:lpstr>Fairies’ Defence (Xi’an 2006, LA 3786)</vt:lpstr>
      <vt:lpstr>分治算法</vt:lpstr>
      <vt:lpstr>PowerPoint 演示文稿</vt:lpstr>
      <vt:lpstr>消除隐藏面</vt:lpstr>
      <vt:lpstr>练习：找出边界</vt:lpstr>
      <vt:lpstr>答案</vt:lpstr>
      <vt:lpstr>问题：边界不一定是一个圈</vt:lpstr>
      <vt:lpstr>分治算法小结</vt:lpstr>
      <vt:lpstr>Chan算法：换一种描述</vt:lpstr>
      <vt:lpstr>Chan算法：转化为平面问题</vt:lpstr>
      <vt:lpstr>Chan算法：用事件序列表示动画</vt:lpstr>
      <vt:lpstr>Chan算法：合并步骤</vt:lpstr>
      <vt:lpstr>PowerPoint 演示文稿</vt:lpstr>
      <vt:lpstr>PowerPoint 演示文稿</vt:lpstr>
      <vt:lpstr>Chan算法：程序细节</vt:lpstr>
      <vt:lpstr>PowerPoint 演示文稿</vt:lpstr>
      <vt:lpstr>PowerPoint 演示文稿</vt:lpstr>
      <vt:lpstr>PowerPoint 演示文稿</vt:lpstr>
      <vt:lpstr>时光倒流，恢复到初始时刻</vt:lpstr>
      <vt:lpstr>三维凸包总结</vt:lpstr>
      <vt:lpstr>六、题目讨论</vt:lpstr>
      <vt:lpstr>Everybody may get lost in space (CERC 2009, LA 4623)</vt:lpstr>
      <vt:lpstr>分析</vt:lpstr>
      <vt:lpstr>PowerPoint 演示文稿</vt:lpstr>
      <vt:lpstr>自适应Simpson</vt:lpstr>
      <vt:lpstr>Tetrahedrons and Spheres (UVa 11887)</vt:lpstr>
      <vt:lpstr>The Return of Carl (WF 2009, LA 4447)</vt:lpstr>
      <vt:lpstr>Raising the Roof (WF 2007, LA 3809) </vt:lpstr>
      <vt:lpstr>Ghost Busters (NEERC 2002, LA 2693)</vt:lpstr>
      <vt:lpstr>Dumb Eucelics’ Pyramid Walk (Uva 11807)</vt:lpstr>
      <vt:lpstr>七、其他话题</vt:lpstr>
      <vt:lpstr>八叉树(Octrees)</vt:lpstr>
      <vt:lpstr>画家算法</vt:lpstr>
      <vt:lpstr>BSP树</vt:lpstr>
      <vt:lpstr>用BSP表示空间层次划分</vt:lpstr>
      <vt:lpstr>用BSP表示多边形</vt:lpstr>
      <vt:lpstr>用BSP表示多面体</vt:lpstr>
      <vt:lpstr>用BSP实现画家算法</vt:lpstr>
      <vt:lpstr>构造二维BSP（平面上画线段）</vt:lpstr>
      <vt:lpstr>全景图算法</vt:lpstr>
      <vt:lpstr>PowerPoint 演示文稿</vt:lpstr>
      <vt:lpstr>谢谢大家 </vt:lpstr>
      <vt:lpstr>附录：Blender 使用入门</vt:lpstr>
      <vt:lpstr>PowerPoint 演示文稿</vt:lpstr>
      <vt:lpstr>PowerPoint 演示文稿</vt:lpstr>
      <vt:lpstr>编辑物体</vt:lpstr>
      <vt:lpstr>编写python脚本</vt:lpstr>
      <vt:lpstr>PowerPoint 演示文稿</vt:lpstr>
      <vt:lpstr>PowerPoint 演示文稿</vt:lpstr>
      <vt:lpstr>主要参考书目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cp:lastModifiedBy>老夫</cp:lastModifiedBy>
  <cp:revision>280</cp:revision>
  <dcterms:modified xsi:type="dcterms:W3CDTF">2017-09-04T01:41:46Z</dcterms:modified>
</cp:coreProperties>
</file>