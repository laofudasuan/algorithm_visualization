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7"/>
  </p:notesMasterIdLst>
  <p:sldIdLst>
    <p:sldId id="266" r:id="rId2"/>
    <p:sldId id="267" r:id="rId3"/>
    <p:sldId id="257" r:id="rId4"/>
    <p:sldId id="268" r:id="rId5"/>
    <p:sldId id="258" r:id="rId6"/>
    <p:sldId id="279" r:id="rId7"/>
    <p:sldId id="280" r:id="rId8"/>
    <p:sldId id="259" r:id="rId9"/>
    <p:sldId id="269" r:id="rId10"/>
    <p:sldId id="260" r:id="rId11"/>
    <p:sldId id="270" r:id="rId12"/>
    <p:sldId id="272" r:id="rId13"/>
    <p:sldId id="324" r:id="rId14"/>
    <p:sldId id="271" r:id="rId15"/>
    <p:sldId id="273" r:id="rId16"/>
    <p:sldId id="274" r:id="rId17"/>
    <p:sldId id="275" r:id="rId18"/>
    <p:sldId id="261" r:id="rId19"/>
    <p:sldId id="323" r:id="rId20"/>
    <p:sldId id="276" r:id="rId21"/>
    <p:sldId id="277" r:id="rId22"/>
    <p:sldId id="278" r:id="rId23"/>
    <p:sldId id="327" r:id="rId24"/>
    <p:sldId id="328" r:id="rId25"/>
    <p:sldId id="263" r:id="rId26"/>
    <p:sldId id="264" r:id="rId27"/>
    <p:sldId id="281" r:id="rId28"/>
    <p:sldId id="282" r:id="rId29"/>
    <p:sldId id="283" r:id="rId30"/>
    <p:sldId id="284" r:id="rId31"/>
    <p:sldId id="285" r:id="rId32"/>
    <p:sldId id="302" r:id="rId33"/>
    <p:sldId id="303" r:id="rId34"/>
    <p:sldId id="304" r:id="rId35"/>
    <p:sldId id="360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53" r:id="rId44"/>
    <p:sldId id="354" r:id="rId45"/>
    <p:sldId id="352" r:id="rId46"/>
    <p:sldId id="355" r:id="rId47"/>
    <p:sldId id="356" r:id="rId48"/>
    <p:sldId id="357" r:id="rId49"/>
    <p:sldId id="358" r:id="rId50"/>
    <p:sldId id="359" r:id="rId51"/>
    <p:sldId id="293" r:id="rId52"/>
    <p:sldId id="348" r:id="rId53"/>
    <p:sldId id="349" r:id="rId54"/>
    <p:sldId id="351" r:id="rId55"/>
    <p:sldId id="305" r:id="rId56"/>
    <p:sldId id="306" r:id="rId57"/>
    <p:sldId id="307" r:id="rId58"/>
    <p:sldId id="265" r:id="rId59"/>
    <p:sldId id="294" r:id="rId60"/>
    <p:sldId id="295" r:id="rId61"/>
    <p:sldId id="296" r:id="rId62"/>
    <p:sldId id="350" r:id="rId63"/>
    <p:sldId id="298" r:id="rId64"/>
    <p:sldId id="308" r:id="rId65"/>
    <p:sldId id="309" r:id="rId66"/>
    <p:sldId id="310" r:id="rId67"/>
    <p:sldId id="311" r:id="rId68"/>
    <p:sldId id="312" r:id="rId69"/>
    <p:sldId id="299" r:id="rId70"/>
    <p:sldId id="313" r:id="rId71"/>
    <p:sldId id="314" r:id="rId72"/>
    <p:sldId id="315" r:id="rId73"/>
    <p:sldId id="316" r:id="rId74"/>
    <p:sldId id="317" r:id="rId75"/>
    <p:sldId id="325" r:id="rId76"/>
    <p:sldId id="326" r:id="rId77"/>
    <p:sldId id="329" r:id="rId78"/>
    <p:sldId id="330" r:id="rId79"/>
    <p:sldId id="331" r:id="rId80"/>
    <p:sldId id="332" r:id="rId81"/>
    <p:sldId id="334" r:id="rId82"/>
    <p:sldId id="335" r:id="rId83"/>
    <p:sldId id="336" r:id="rId84"/>
    <p:sldId id="337" r:id="rId85"/>
    <p:sldId id="338" r:id="rId86"/>
    <p:sldId id="339" r:id="rId87"/>
    <p:sldId id="342" r:id="rId88"/>
    <p:sldId id="343" r:id="rId89"/>
    <p:sldId id="344" r:id="rId90"/>
    <p:sldId id="345" r:id="rId91"/>
    <p:sldId id="341" r:id="rId92"/>
    <p:sldId id="346" r:id="rId93"/>
    <p:sldId id="347" r:id="rId94"/>
    <p:sldId id="300" r:id="rId95"/>
    <p:sldId id="318" r:id="rId96"/>
    <p:sldId id="319" r:id="rId97"/>
    <p:sldId id="301" r:id="rId98"/>
    <p:sldId id="320" r:id="rId99"/>
    <p:sldId id="321" r:id="rId100"/>
    <p:sldId id="322" r:id="rId101"/>
    <p:sldId id="361" r:id="rId102"/>
    <p:sldId id="362" r:id="rId103"/>
    <p:sldId id="363" r:id="rId104"/>
    <p:sldId id="364" r:id="rId105"/>
    <p:sldId id="365" r:id="rId10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88" autoAdjust="0"/>
  </p:normalViewPr>
  <p:slideViewPr>
    <p:cSldViewPr>
      <p:cViewPr varScale="1">
        <p:scale>
          <a:sx n="58" d="100"/>
          <a:sy n="58" d="100"/>
        </p:scale>
        <p:origin x="-17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1163AE-19E7-4ED7-BFEE-E32426005C43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E7B1F53-B4DD-4B79-8535-53EEE725EA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639E1B-AB55-49B6-83E8-178365D05935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图片来自</a:t>
            </a:r>
            <a:r>
              <a:rPr lang="en-US" altLang="zh-CN" smtClean="0"/>
              <a:t>lrj 2011</a:t>
            </a:r>
            <a:r>
              <a:rPr lang="zh-CN" altLang="en-US" smtClean="0"/>
              <a:t>年冬令营课件</a:t>
            </a: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B94E1F-9394-4A4C-AFE2-66FA9D814970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图片来源同上</a:t>
            </a: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970DEE-BB74-4B32-9DA1-DA0CAB5BC55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来自</a:t>
            </a:r>
            <a:r>
              <a:rPr lang="en-US" altLang="zh-CN" smtClean="0"/>
              <a:t>lrj2011</a:t>
            </a:r>
            <a:r>
              <a:rPr lang="zh-CN" altLang="en-US" smtClean="0"/>
              <a:t>年冬令营课件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D01C5A-F4F5-42B3-B7D2-C4A1A947DAA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/>
              <a:t>另可参见</a:t>
            </a:r>
            <a:endParaRPr lang="en-US" altLang="zh-CN" b="1" smtClean="0"/>
          </a:p>
          <a:p>
            <a:pPr eaLnBrk="1" hangingPunct="1">
              <a:spcBef>
                <a:spcPct val="0"/>
              </a:spcBef>
            </a:pPr>
            <a:r>
              <a:rPr lang="en-US" altLang="zh-CN" b="1" smtClean="0"/>
              <a:t>CPS234 Computational Geometry 08 September 2005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b="1" smtClean="0"/>
              <a:t>Lecture 4: Convex Hulls in Higher Dimensions</a:t>
            </a:r>
            <a:endParaRPr lang="zh-CN" altLang="en-US" smtClean="0"/>
          </a:p>
        </p:txBody>
      </p:sp>
      <p:sp>
        <p:nvSpPr>
          <p:cNvPr id="7168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AE58CE-4E16-4BB0-BBC6-191E8DB4FC66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B8CB417-D1E7-47C9-B793-331F5071A9D9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7B1F53-B4DD-4B79-8535-53EEE725EAE0}" type="slidenum">
              <a:rPr lang="zh-CN" altLang="en-US" smtClean="0"/>
              <a:pPr>
                <a:defRPr/>
              </a:pPr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21D615-E624-407F-B0B3-839DE17A0A09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7B1F53-B4DD-4B79-8535-53EEE725EAE0}" type="slidenum">
              <a:rPr lang="zh-CN" altLang="en-US" smtClean="0"/>
              <a:pPr>
                <a:defRPr/>
              </a:pPr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矩形 11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矩形 18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直接连接符 10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1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2" name="直接连接符 1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3" name="直接连接符 15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4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5" name="直接连接符 21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椭圆 22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椭圆 23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椭圆 25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椭圆 24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2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D06CE-941D-4105-B661-F16E1D0F7242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23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53AEF-77EE-48CC-B230-FAECF1544E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AC5412B-ACA7-4D5A-8AF6-02D4C38FFB13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5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351F3FA-4D6F-4CFF-B765-A9E630C8E1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矩形 9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矩形 10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矩形 11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直接连接符 12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9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" name="直接连接符 14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1" name="直接连接符 15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2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3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椭圆 19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椭圆 20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椭圆 21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椭圆 22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直接连接符 25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BB8CC-9B90-4303-AE08-D10BEAAADAC9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C199D-A665-4EDC-8B36-CA7CE12CD5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CC694-D6B8-4CCB-B35F-5ADC42AF734E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1F7E4-A9B5-4089-BA30-BA47662857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13F26-414A-4FAF-A4C2-927317011EE5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F8DC4-F4BE-4EA5-80EC-0DC6B78127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76A167C-09E3-4C1C-A534-2C519DC6A546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6BC0E78-6833-43B6-8700-53EB956633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F097D-CFD7-4AB7-96F6-F9B276007500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2EF1D-D8B1-47F6-96EB-21A68AACD6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6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7" name="直接连接符 8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8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9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1" name="椭圆 13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81119E4-926A-4D5C-ABB7-AD02DC1E7312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13" name="灯片编号占位符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0E35D93-BFF6-434D-BD14-8AFA85AE89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4" name="页脚占位符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6" name="椭圆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11" name="直接连接符 19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1A208D6-D7C6-43CE-80E1-C1C69D75E4E3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13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1BE7FDF-16CD-4A8B-B9F8-B3CC8BC912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4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BDA28-3284-4126-B1AC-5AE4761864C0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00E5A-7B27-41C8-BCC6-7D913ACBD4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B1FB9-23CD-47F8-8640-8D5851E5DE65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F53F8-45D9-48CD-BD8F-1284EB8BB8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28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5744ED5-CD97-4D3D-AEB3-2696046997F3}" type="datetimeFigureOut">
              <a:rPr lang="zh-CN" altLang="en-US"/>
              <a:pPr>
                <a:defRPr/>
              </a:pPr>
              <a:t>2013/4/24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51CC83B-3071-492F-A086-01BADE9331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3" r:id="rId4"/>
    <p:sldLayoutId id="2147483682" r:id="rId5"/>
    <p:sldLayoutId id="2147483687" r:id="rId6"/>
    <p:sldLayoutId id="2147483681" r:id="rId7"/>
    <p:sldLayoutId id="2147483688" r:id="rId8"/>
    <p:sldLayoutId id="2147483689" r:id="rId9"/>
    <p:sldLayoutId id="2147483680" r:id="rId10"/>
    <p:sldLayoutId id="21474836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华文楷体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  <a:ea typeface="华文楷体"/>
          <a:cs typeface="华文楷体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专题讨论：计算几何与凸包算法</a:t>
            </a:r>
            <a:endParaRPr lang="zh-CN" altLang="en-US" dirty="0">
              <a:cs typeface="+mj-cs"/>
            </a:endParaRPr>
          </a:p>
        </p:txBody>
      </p:sp>
      <p:sp>
        <p:nvSpPr>
          <p:cNvPr id="14338" name="副标题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r>
              <a:rPr lang="en-US" altLang="zh-CN" smtClean="0"/>
              <a:t>AC_Aerolight</a:t>
            </a:r>
          </a:p>
          <a:p>
            <a:pPr eaLnBrk="1" hangingPunct="1"/>
            <a:r>
              <a:rPr lang="en-US" altLang="zh-CN" smtClean="0"/>
              <a:t>2013.4.30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Preface</a:t>
            </a:r>
            <a:endParaRPr lang="zh-CN" altLang="en-US" dirty="0">
              <a:cs typeface="+mj-cs"/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这一节的讨论集中于几个比较实用但关注度不高的凸包算法。穿插一些计算几何基础题目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今天的目的依然是科普，因此内容会比较简单。已经对相关内容有所了解的同学可以跳过这些，但不要打扰其他同学。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Let’s begin.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</a:t>
            </a:r>
            <a:endParaRPr lang="zh-CN" altLang="en-US" dirty="0">
              <a:cs typeface="+mj-cs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>
                <a:sym typeface="Wingdings" pitchFamily="2" charset="2"/>
              </a:rPr>
              <a:t>直线表示</a:t>
            </a:r>
            <a:endParaRPr lang="en-US" altLang="zh-CN" smtClean="0">
              <a:sym typeface="Wingdings" pitchFamily="2" charset="2"/>
            </a:endParaRPr>
          </a:p>
          <a:p>
            <a:pPr lvl="1" eaLnBrk="1" hangingPunct="1"/>
            <a:r>
              <a:rPr lang="zh-CN" altLang="en-US" smtClean="0">
                <a:sym typeface="Wingdings" pitchFamily="2" charset="2"/>
              </a:rPr>
              <a:t>标准式 </a:t>
            </a:r>
            <a:r>
              <a:rPr lang="en-US" altLang="zh-CN" smtClean="0">
                <a:sym typeface="Wingdings" pitchFamily="2" charset="2"/>
              </a:rPr>
              <a:t>Ax+By+C = 0</a:t>
            </a:r>
          </a:p>
          <a:p>
            <a:pPr lvl="1" eaLnBrk="1" hangingPunct="1"/>
            <a:r>
              <a:rPr lang="zh-CN" altLang="en-US" smtClean="0">
                <a:sym typeface="Wingdings" pitchFamily="2" charset="2"/>
              </a:rPr>
              <a:t>斜率式 </a:t>
            </a:r>
            <a:r>
              <a:rPr lang="en-US" altLang="zh-CN" smtClean="0">
                <a:sym typeface="Wingdings" pitchFamily="2" charset="2"/>
              </a:rPr>
              <a:t>y = kx+b</a:t>
            </a:r>
          </a:p>
          <a:p>
            <a:pPr lvl="1" eaLnBrk="1" hangingPunct="1"/>
            <a:r>
              <a:rPr lang="zh-CN" altLang="en-US" smtClean="0"/>
              <a:t>两点式 </a:t>
            </a:r>
            <a:r>
              <a:rPr lang="en-US" altLang="zh-CN" smtClean="0"/>
              <a:t>(x-x0)/(x1-x0) = (y-y0)/(y1-y0)</a:t>
            </a:r>
          </a:p>
          <a:p>
            <a:pPr lvl="1" eaLnBrk="1" hangingPunct="1"/>
            <a:r>
              <a:rPr lang="en-US" altLang="zh-CN" smtClean="0"/>
              <a:t>x/A+y/B = 1</a:t>
            </a:r>
          </a:p>
          <a:p>
            <a:pPr lvl="1" eaLnBrk="1" hangingPunct="1"/>
            <a:r>
              <a:rPr lang="en-US" altLang="zh-CN" smtClean="0"/>
              <a:t>Balabala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</a:t>
            </a:r>
            <a:endParaRPr lang="zh-CN" altLang="en-US" dirty="0">
              <a:cs typeface="+mj-cs"/>
            </a:endParaRPr>
          </a:p>
        </p:txBody>
      </p:sp>
      <p:sp>
        <p:nvSpPr>
          <p:cNvPr id="1843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点积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二维情形：</a:t>
            </a:r>
            <a:r>
              <a:rPr lang="en-US" altLang="zh-CN" smtClean="0"/>
              <a:t>a·b = axbx+ayby</a:t>
            </a:r>
          </a:p>
          <a:p>
            <a:pPr lvl="1" eaLnBrk="1" hangingPunct="1"/>
            <a:r>
              <a:rPr lang="en-US" altLang="zh-CN" smtClean="0"/>
              <a:t>&lt;a,b&gt; = |a|*|b|*cos</a:t>
            </a:r>
            <a:r>
              <a:rPr lang="el-GR" altLang="zh-CN" smtClean="0"/>
              <a:t>θ</a:t>
            </a:r>
            <a:endParaRPr lang="en-US" altLang="zh-CN" smtClean="0"/>
          </a:p>
          <a:p>
            <a:pPr lvl="1" eaLnBrk="1" hangingPunct="1"/>
            <a:r>
              <a:rPr lang="el-GR" altLang="zh-CN" smtClean="0"/>
              <a:t>θ</a:t>
            </a:r>
            <a:r>
              <a:rPr lang="en-US" altLang="zh-CN" smtClean="0"/>
              <a:t>=arccos(&lt;a,b&gt;/|a|/|b|)</a:t>
            </a:r>
          </a:p>
          <a:p>
            <a:pPr lvl="1" eaLnBrk="1" hangingPunct="1"/>
            <a:r>
              <a:rPr lang="en-US" altLang="zh-CN" smtClean="0"/>
              <a:t>Dis(a,b) = |B-A| =  &lt;A-B,A-B&gt;</a:t>
            </a:r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叉积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二维情形：</a:t>
            </a:r>
            <a:r>
              <a:rPr lang="en-US" altLang="zh-CN" smtClean="0"/>
              <a:t>a×b = axby-aybx</a:t>
            </a:r>
          </a:p>
          <a:p>
            <a:pPr lvl="1" eaLnBrk="1" hangingPunct="1"/>
            <a:r>
              <a:rPr lang="en-US" altLang="zh-CN" smtClean="0"/>
              <a:t>|a×b| = |a|*|b|*sin</a:t>
            </a:r>
            <a:r>
              <a:rPr lang="el-GR" altLang="zh-CN" smtClean="0"/>
              <a:t>θ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表示以</a:t>
            </a:r>
            <a:r>
              <a:rPr lang="en-US" altLang="zh-CN" smtClean="0"/>
              <a:t>a,b</a:t>
            </a:r>
            <a:r>
              <a:rPr lang="zh-CN" altLang="en-US" smtClean="0"/>
              <a:t>为边的平行四边形的有向面积。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右手定则：用面积判定方向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可以用于计算多边形面积</a:t>
            </a:r>
            <a:endParaRPr lang="en-US" altLang="zh-CN" smtClean="0"/>
          </a:p>
          <a:p>
            <a:pPr lvl="1" eaLnBrk="1" hangingPunct="1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凸包：定义</a:t>
            </a:r>
            <a:endParaRPr lang="zh-CN" altLang="en-US" dirty="0"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什么是凸多边形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As precise as you can.</a:t>
            </a:r>
          </a:p>
          <a:p>
            <a:pPr lvl="1" eaLnBrk="1" hangingPunct="1"/>
            <a:r>
              <a:rPr lang="zh-CN" altLang="en-US" smtClean="0"/>
              <a:t>对于形内两点</a:t>
            </a:r>
            <a:r>
              <a:rPr lang="en-US" altLang="zh-CN" smtClean="0"/>
              <a:t>X</a:t>
            </a:r>
            <a:r>
              <a:rPr lang="zh-CN" altLang="en-US" smtClean="0"/>
              <a:t>和</a:t>
            </a:r>
            <a:r>
              <a:rPr lang="en-US" altLang="zh-CN" smtClean="0"/>
              <a:t>Y</a:t>
            </a:r>
            <a:r>
              <a:rPr lang="zh-CN" altLang="en-US" smtClean="0"/>
              <a:t>，线段</a:t>
            </a:r>
            <a:r>
              <a:rPr lang="en-US" altLang="zh-CN" smtClean="0"/>
              <a:t>XY</a:t>
            </a:r>
            <a:r>
              <a:rPr lang="zh-CN" altLang="en-US" smtClean="0"/>
              <a:t>一定完全位于形内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对于多边形的每条边，整个多边形都在其一侧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……</a:t>
            </a:r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凸包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对于点集</a:t>
            </a:r>
            <a:r>
              <a:rPr lang="en-US" altLang="zh-CN" smtClean="0"/>
              <a:t>P</a:t>
            </a:r>
            <a:r>
              <a:rPr lang="zh-CN" altLang="en-US" smtClean="0"/>
              <a:t>，包含</a:t>
            </a:r>
            <a:r>
              <a:rPr lang="en-US" altLang="zh-CN" smtClean="0"/>
              <a:t>P</a:t>
            </a:r>
            <a:r>
              <a:rPr lang="zh-CN" altLang="en-US" smtClean="0"/>
              <a:t>的最小凸多边形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给定点集</a:t>
            </a:r>
            <a:r>
              <a:rPr lang="en-US" altLang="zh-CN" smtClean="0"/>
              <a:t>P=(Xi,Yi)</a:t>
            </a:r>
            <a:r>
              <a:rPr lang="zh-CN" altLang="en-US" smtClean="0"/>
              <a:t>，求点集</a:t>
            </a:r>
            <a:r>
              <a:rPr lang="en-US" altLang="zh-CN" smtClean="0"/>
              <a:t>P</a:t>
            </a:r>
            <a:r>
              <a:rPr lang="zh-CN" altLang="en-US" smtClean="0"/>
              <a:t>的凸包。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endParaRPr lang="zh-CN" altLang="en-US" dirty="0">
              <a:cs typeface="+mj-cs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按输入顺序将点加入点集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维护当前点集的凸包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(1) </a:t>
            </a:r>
            <a:r>
              <a:rPr lang="zh-CN" altLang="en-US" smtClean="0"/>
              <a:t>新点在凸包内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O(n)</a:t>
            </a:r>
            <a:r>
              <a:rPr lang="zh-CN" altLang="en-US" smtClean="0"/>
              <a:t>判定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(2) </a:t>
            </a:r>
            <a:r>
              <a:rPr lang="zh-CN" altLang="en-US" smtClean="0"/>
              <a:t>新点在凸包外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删除从新点</a:t>
            </a:r>
            <a:r>
              <a:rPr lang="zh-CN" altLang="en-US" b="1" smtClean="0"/>
              <a:t>可见</a:t>
            </a:r>
            <a:r>
              <a:rPr lang="zh-CN" altLang="en-US" smtClean="0"/>
              <a:t>的凸包边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用链表维护凸包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O(n)</a:t>
            </a:r>
            <a:r>
              <a:rPr lang="zh-CN" altLang="en-US" smtClean="0"/>
              <a:t>删除和判断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O(n^2)</a:t>
            </a:r>
          </a:p>
          <a:p>
            <a:pPr eaLnBrk="1" hangingPunct="1"/>
            <a:r>
              <a:rPr lang="zh-CN" altLang="en-US" b="1" smtClean="0"/>
              <a:t>在线算法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363" y="2933700"/>
            <a:ext cx="3327400" cy="346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endParaRPr lang="zh-CN" altLang="en-US" dirty="0">
              <a:cs typeface="+mj-cs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改进时间复杂度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用数据结构分别维护上下凸壳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O(nlogn)</a:t>
            </a:r>
          </a:p>
          <a:p>
            <a:pPr lvl="1" eaLnBrk="1" hangingPunct="1"/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三点共线的情况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可见性判定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Javris</a:t>
            </a:r>
            <a:r>
              <a:rPr lang="zh-CN" altLang="en-US" dirty="0" smtClean="0">
                <a:cs typeface="+mj-cs"/>
              </a:rPr>
              <a:t>步进法（卷包裹法）</a:t>
            </a:r>
            <a:endParaRPr lang="zh-CN" altLang="en-US" dirty="0">
              <a:cs typeface="+mj-cs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假设有一根无限长的绳子，一开始绳子靠在点集的一个外围点上。随后绳子沿某个方向（如逆时针）绕动，直到碰到一个点之后停止绕动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以新点为中心继续沿指定方向绕动绳子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当回到起点时，得到凸包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选取一个一定在凸包上的点</a:t>
            </a:r>
            <a:r>
              <a:rPr lang="en-US" altLang="zh-CN" smtClean="0"/>
              <a:t>X</a:t>
            </a:r>
            <a:r>
              <a:rPr lang="zh-CN" altLang="en-US" smtClean="0"/>
              <a:t>，沿着点集逆时针走一圈，当走回</a:t>
            </a:r>
            <a:r>
              <a:rPr lang="en-US" altLang="zh-CN" smtClean="0"/>
              <a:t>X</a:t>
            </a:r>
            <a:r>
              <a:rPr lang="zh-CN" altLang="en-US" smtClean="0"/>
              <a:t>时，得到整个凸包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(1)X</a:t>
            </a:r>
            <a:r>
              <a:rPr lang="zh-CN" altLang="en-US" smtClean="0"/>
              <a:t>怎么选？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(2)</a:t>
            </a:r>
            <a:r>
              <a:rPr lang="zh-CN" altLang="en-US" smtClean="0"/>
              <a:t>如何找最右手边的射线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Javris</a:t>
            </a:r>
            <a:r>
              <a:rPr lang="zh-CN" altLang="en-US" dirty="0" smtClean="0">
                <a:cs typeface="+mj-cs"/>
              </a:rPr>
              <a:t>步进法（卷包裹法）</a:t>
            </a:r>
            <a:endParaRPr lang="zh-CN" altLang="en-US" dirty="0"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zh-CN" altLang="en-US" dirty="0" smtClean="0"/>
              <a:t>复杂度分析</a:t>
            </a: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en-US" altLang="zh-CN" dirty="0" smtClean="0"/>
              <a:t>O(n*h)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en-US" altLang="zh-CN" dirty="0" smtClean="0"/>
              <a:t>H</a:t>
            </a:r>
            <a:r>
              <a:rPr lang="zh-CN" altLang="en-US" dirty="0" smtClean="0"/>
              <a:t>是凸包上的节点数</a:t>
            </a:r>
            <a:endParaRPr lang="en-US" altLang="zh-CN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en-US" altLang="zh-CN" b="1" dirty="0" smtClean="0"/>
              <a:t>Output-Sensitive</a:t>
            </a:r>
          </a:p>
        </p:txBody>
      </p:sp>
      <p:pic>
        <p:nvPicPr>
          <p:cNvPr id="23555" name="图片 3" descr="2011022816500311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557338"/>
            <a:ext cx="3240087" cy="258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Graham’s Convex Hull</a:t>
            </a:r>
            <a:endParaRPr lang="zh-CN" altLang="en-US" dirty="0">
              <a:cs typeface="+mj-cs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目前使用最为广泛的算法。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确定极角序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选取最左下的点作为参考点，按夹角对其他点排序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按夹角排序？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叉积定方向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偏序关系</a:t>
            </a:r>
          </a:p>
        </p:txBody>
      </p:sp>
      <p:pic>
        <p:nvPicPr>
          <p:cNvPr id="24579" name="图片 3" descr="2011031017323131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8400" y="3573463"/>
            <a:ext cx="3535363" cy="277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Graham’s Convex Hull</a:t>
            </a:r>
            <a:endParaRPr lang="zh-CN" altLang="en-US" dirty="0">
              <a:cs typeface="+mj-cs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维护凸壳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节点按极角序入栈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保持栈中节点凸壳性质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弹出栈顶元素直到新边和原栈顶边成左转关系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复杂度分析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一个节点进栈一次出栈一次，</a:t>
            </a:r>
            <a:r>
              <a:rPr lang="en-US" altLang="zh-CN" smtClean="0"/>
              <a:t>O(n)</a:t>
            </a:r>
          </a:p>
          <a:p>
            <a:pPr lvl="1" eaLnBrk="1" hangingPunct="1"/>
            <a:r>
              <a:rPr lang="zh-CN" altLang="en-US" smtClean="0"/>
              <a:t>排序</a:t>
            </a:r>
            <a:r>
              <a:rPr lang="en-US" altLang="zh-CN" smtClean="0"/>
              <a:t>O(nlogn)</a:t>
            </a:r>
          </a:p>
          <a:p>
            <a:pPr lvl="1" eaLnBrk="1" hangingPunct="1"/>
            <a:r>
              <a:rPr lang="zh-CN" altLang="en-US" smtClean="0"/>
              <a:t>总复杂度</a:t>
            </a:r>
            <a:r>
              <a:rPr lang="en-US" altLang="zh-CN" smtClean="0"/>
              <a:t>O(nlogn)</a:t>
            </a:r>
          </a:p>
          <a:p>
            <a:pPr eaLnBrk="1" hangingPunct="1"/>
            <a:r>
              <a:rPr lang="zh-CN" altLang="en-US" smtClean="0"/>
              <a:t>常用技巧：维护水平序节点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Divide-And-Conquer</a:t>
            </a:r>
            <a:endParaRPr lang="zh-CN" altLang="en-US" dirty="0">
              <a:cs typeface="+mj-cs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考虑对点集进行分治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Solve(S)</a:t>
            </a:r>
            <a:r>
              <a:rPr lang="zh-CN" altLang="en-US" smtClean="0"/>
              <a:t>返回</a:t>
            </a:r>
            <a:r>
              <a:rPr lang="en-US" altLang="zh-CN" smtClean="0"/>
              <a:t>S</a:t>
            </a:r>
            <a:r>
              <a:rPr lang="zh-CN" altLang="en-US" smtClean="0"/>
              <a:t>的凸包。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Solve(S)</a:t>
            </a:r>
          </a:p>
          <a:p>
            <a:pPr lvl="1" eaLnBrk="1" hangingPunct="1"/>
            <a:r>
              <a:rPr lang="zh-CN" altLang="en-US" smtClean="0"/>
              <a:t>将</a:t>
            </a:r>
            <a:r>
              <a:rPr lang="en-US" altLang="zh-CN" smtClean="0"/>
              <a:t>S</a:t>
            </a:r>
            <a:r>
              <a:rPr lang="zh-CN" altLang="en-US" smtClean="0"/>
              <a:t>分为两个点集</a:t>
            </a:r>
            <a:r>
              <a:rPr lang="en-US" altLang="zh-CN" smtClean="0"/>
              <a:t>S1</a:t>
            </a:r>
            <a:r>
              <a:rPr lang="zh-CN" altLang="en-US" smtClean="0"/>
              <a:t>和</a:t>
            </a:r>
            <a:r>
              <a:rPr lang="en-US" altLang="zh-CN" smtClean="0"/>
              <a:t>S2</a:t>
            </a:r>
            <a:r>
              <a:rPr lang="zh-CN" altLang="en-US" smtClean="0"/>
              <a:t>，保证</a:t>
            </a:r>
            <a:r>
              <a:rPr lang="en-US" altLang="zh-CN" smtClean="0"/>
              <a:t>S1</a:t>
            </a:r>
            <a:r>
              <a:rPr lang="zh-CN" altLang="en-US" smtClean="0"/>
              <a:t>在</a:t>
            </a:r>
            <a:r>
              <a:rPr lang="en-US" altLang="zh-CN" smtClean="0"/>
              <a:t>S2</a:t>
            </a:r>
            <a:r>
              <a:rPr lang="zh-CN" altLang="en-US" smtClean="0"/>
              <a:t>左侧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合并</a:t>
            </a:r>
            <a:r>
              <a:rPr lang="en-US" altLang="zh-CN" smtClean="0"/>
              <a:t>Solve(S1)</a:t>
            </a:r>
            <a:r>
              <a:rPr lang="zh-CN" altLang="en-US" smtClean="0"/>
              <a:t>和</a:t>
            </a:r>
            <a:r>
              <a:rPr lang="en-US" altLang="zh-CN" smtClean="0"/>
              <a:t>Solve(S2)</a:t>
            </a:r>
            <a:r>
              <a:rPr lang="zh-CN" altLang="en-US" smtClean="0"/>
              <a:t>返回的凸包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合并凸包的关键：找到切线</a:t>
            </a:r>
          </a:p>
          <a:p>
            <a:pPr eaLnBrk="1" hangingPunct="1"/>
            <a:r>
              <a:rPr lang="zh-CN" altLang="en-US" smtClean="0"/>
              <a:t>上下切线可以分别考虑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cap="none" smtClean="0"/>
              <a:t>DIVIDE-AND-CONQUER</a:t>
            </a:r>
          </a:p>
        </p:txBody>
      </p:sp>
      <p:sp>
        <p:nvSpPr>
          <p:cNvPr id="962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en-US" altLang="zh-CN" dirty="0" smtClean="0"/>
              <a:t>U-,U,V</a:t>
            </a:r>
            <a:r>
              <a:rPr lang="zh-CN" altLang="en-US" dirty="0" smtClean="0"/>
              <a:t>和</a:t>
            </a:r>
            <a:r>
              <a:rPr lang="en-US" altLang="zh-CN" dirty="0" smtClean="0"/>
              <a:t>U,V,V+</a:t>
            </a:r>
            <a:r>
              <a:rPr lang="zh-CN" altLang="en-US" dirty="0" smtClean="0"/>
              <a:t>都成逆时针顺序排列</a:t>
            </a:r>
          </a:p>
          <a:p>
            <a:r>
              <a:rPr lang="zh-CN" altLang="en-US" dirty="0" smtClean="0"/>
              <a:t>双指针扫描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</a:t>
            </a:r>
            <a:r>
              <a:rPr lang="en-US" altLang="zh-CN" dirty="0" smtClean="0"/>
              <a:t>L</a:t>
            </a:r>
            <a:r>
              <a:rPr lang="zh-CN" altLang="en-US" dirty="0" smtClean="0"/>
              <a:t>的最右端和</a:t>
            </a:r>
            <a:r>
              <a:rPr lang="en-US" altLang="zh-CN" dirty="0" smtClean="0"/>
              <a:t>R</a:t>
            </a:r>
            <a:r>
              <a:rPr lang="zh-CN" altLang="en-US" dirty="0" smtClean="0"/>
              <a:t>的最左端开始</a:t>
            </a:r>
          </a:p>
          <a:p>
            <a:pPr lvl="1"/>
            <a:r>
              <a:rPr lang="zh-CN" altLang="en-US" dirty="0" smtClean="0"/>
              <a:t>维护</a:t>
            </a:r>
            <a:r>
              <a:rPr lang="en-US" altLang="zh-CN" dirty="0" smtClean="0"/>
              <a:t>U</a:t>
            </a:r>
            <a:r>
              <a:rPr lang="zh-CN" altLang="en-US" dirty="0" smtClean="0"/>
              <a:t>上可见点的最远点，直到一个点都看不见</a:t>
            </a:r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1844675"/>
            <a:ext cx="6337300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2765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回忆</a:t>
            </a:r>
            <a:r>
              <a:rPr lang="en-US" altLang="zh-CN" smtClean="0"/>
              <a:t>Quicksort</a:t>
            </a:r>
          </a:p>
          <a:p>
            <a:pPr eaLnBrk="1" hangingPunct="1"/>
            <a:r>
              <a:rPr lang="zh-CN" altLang="en-US" smtClean="0"/>
              <a:t>选定一个标准</a:t>
            </a:r>
            <a:r>
              <a:rPr lang="en-US" altLang="zh-CN" smtClean="0"/>
              <a:t>mid</a:t>
            </a:r>
            <a:r>
              <a:rPr lang="zh-CN" altLang="en-US" smtClean="0"/>
              <a:t>，将</a:t>
            </a:r>
            <a:r>
              <a:rPr lang="en-US" altLang="zh-CN" smtClean="0"/>
              <a:t>&lt;mid</a:t>
            </a:r>
            <a:r>
              <a:rPr lang="zh-CN" altLang="en-US" smtClean="0"/>
              <a:t>和</a:t>
            </a:r>
            <a:r>
              <a:rPr lang="en-US" altLang="zh-CN" smtClean="0"/>
              <a:t>&gt;mid</a:t>
            </a:r>
            <a:r>
              <a:rPr lang="zh-CN" altLang="en-US" smtClean="0"/>
              <a:t>的部分分别排序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定义过程</a:t>
            </a:r>
            <a:r>
              <a:rPr lang="en-US" altLang="zh-CN" smtClean="0"/>
              <a:t>QuickHull(a,b)</a:t>
            </a:r>
          </a:p>
          <a:p>
            <a:pPr lvl="1" eaLnBrk="1" hangingPunct="1"/>
            <a:r>
              <a:rPr lang="zh-CN" altLang="en-US" smtClean="0"/>
              <a:t>保证</a:t>
            </a:r>
            <a:r>
              <a:rPr lang="en-US" altLang="zh-CN" smtClean="0"/>
              <a:t>A-B</a:t>
            </a:r>
            <a:r>
              <a:rPr lang="zh-CN" altLang="en-US" smtClean="0"/>
              <a:t>是凸包上的两个顶点。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定义点集</a:t>
            </a:r>
            <a:r>
              <a:rPr lang="en-US" altLang="zh-CN" smtClean="0"/>
              <a:t>S</a:t>
            </a:r>
            <a:r>
              <a:rPr lang="zh-CN" altLang="en-US" smtClean="0"/>
              <a:t>，使</a:t>
            </a:r>
            <a:r>
              <a:rPr lang="en-US" altLang="zh-CN" smtClean="0"/>
              <a:t>S</a:t>
            </a:r>
            <a:r>
              <a:rPr lang="zh-CN" altLang="en-US" smtClean="0"/>
              <a:t>中的点除了</a:t>
            </a:r>
            <a:r>
              <a:rPr lang="en-US" altLang="zh-CN" smtClean="0"/>
              <a:t>a,b</a:t>
            </a:r>
            <a:r>
              <a:rPr lang="zh-CN" altLang="en-US" smtClean="0"/>
              <a:t>以外都在</a:t>
            </a:r>
            <a:r>
              <a:rPr lang="en-US" altLang="zh-CN" smtClean="0"/>
              <a:t>a-&gt;b</a:t>
            </a:r>
            <a:r>
              <a:rPr lang="zh-CN" altLang="en-US" smtClean="0"/>
              <a:t>的右侧。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A-B</a:t>
            </a:r>
            <a:r>
              <a:rPr lang="zh-CN" altLang="en-US" smtClean="0"/>
              <a:t>这条边被称为凸包的弦</a:t>
            </a:r>
            <a:r>
              <a:rPr lang="en-US" altLang="zh-CN" smtClean="0"/>
              <a:t>(chord)</a:t>
            </a:r>
          </a:p>
          <a:p>
            <a:pPr eaLnBrk="1" hangingPunct="1"/>
            <a:r>
              <a:rPr lang="en-US" altLang="zh-CN" smtClean="0"/>
              <a:t>QuickHull(a,b)</a:t>
            </a:r>
            <a:r>
              <a:rPr lang="zh-CN" altLang="en-US" smtClean="0"/>
              <a:t>应当返回</a:t>
            </a:r>
            <a:r>
              <a:rPr lang="en-US" altLang="zh-CN" smtClean="0"/>
              <a:t>S</a:t>
            </a:r>
            <a:r>
              <a:rPr lang="zh-CN" altLang="en-US" smtClean="0"/>
              <a:t>的凸包。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2867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QuickHull(a,b)</a:t>
            </a:r>
          </a:p>
          <a:p>
            <a:pPr lvl="1" eaLnBrk="1" hangingPunct="1"/>
            <a:r>
              <a:rPr lang="zh-CN" altLang="en-US" smtClean="0"/>
              <a:t>找到离</a:t>
            </a:r>
            <a:r>
              <a:rPr lang="en-US" altLang="zh-CN" smtClean="0"/>
              <a:t>ab</a:t>
            </a:r>
            <a:r>
              <a:rPr lang="zh-CN" altLang="en-US" smtClean="0"/>
              <a:t>最远的点</a:t>
            </a:r>
            <a:r>
              <a:rPr lang="en-US" altLang="zh-CN" smtClean="0"/>
              <a:t>c</a:t>
            </a:r>
            <a:r>
              <a:rPr lang="zh-CN" altLang="en-US" smtClean="0"/>
              <a:t>，那么</a:t>
            </a:r>
            <a:r>
              <a:rPr lang="en-US" altLang="zh-CN" smtClean="0"/>
              <a:t>c</a:t>
            </a:r>
            <a:r>
              <a:rPr lang="zh-CN" altLang="en-US" smtClean="0"/>
              <a:t>一定在凸包上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QuickHull(a,c)</a:t>
            </a:r>
          </a:p>
          <a:p>
            <a:pPr lvl="1" eaLnBrk="1" hangingPunct="1"/>
            <a:r>
              <a:rPr lang="en-US" altLang="zh-CN" smtClean="0"/>
              <a:t>QuickHull(c,b)</a:t>
            </a:r>
          </a:p>
          <a:p>
            <a:pPr eaLnBrk="1" hangingPunct="1"/>
            <a:r>
              <a:rPr lang="zh-CN" altLang="en-US" smtClean="0"/>
              <a:t>将点集分成三个部分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(1)</a:t>
            </a:r>
            <a:r>
              <a:rPr lang="zh-CN" altLang="en-US" smtClean="0"/>
              <a:t>三角形内点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(2)AC</a:t>
            </a:r>
            <a:r>
              <a:rPr lang="zh-CN" altLang="en-US" smtClean="0"/>
              <a:t>右侧点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(3)CB</a:t>
            </a:r>
            <a:r>
              <a:rPr lang="zh-CN" altLang="en-US" smtClean="0"/>
              <a:t>右侧点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对</a:t>
            </a:r>
            <a:r>
              <a:rPr lang="en-US" altLang="zh-CN" smtClean="0"/>
              <a:t>(2)(3)</a:t>
            </a:r>
            <a:r>
              <a:rPr lang="zh-CN" altLang="en-US" smtClean="0"/>
              <a:t>分治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(1)</a:t>
            </a:r>
            <a:r>
              <a:rPr lang="zh-CN" altLang="en-US" smtClean="0"/>
              <a:t>的点全部抛弃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(2)</a:t>
            </a:r>
            <a:r>
              <a:rPr lang="zh-CN" altLang="en-US" smtClean="0"/>
              <a:t>和</a:t>
            </a:r>
            <a:r>
              <a:rPr lang="en-US" altLang="zh-CN" smtClean="0"/>
              <a:t>(3)</a:t>
            </a:r>
            <a:r>
              <a:rPr lang="zh-CN" altLang="en-US" smtClean="0"/>
              <a:t>会有交集么？</a:t>
            </a:r>
            <a:endParaRPr lang="en-US" altLang="zh-CN" smtClean="0"/>
          </a:p>
        </p:txBody>
      </p:sp>
      <p:pic>
        <p:nvPicPr>
          <p:cNvPr id="28675" name="图片 3" descr="未命名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738" y="3213100"/>
            <a:ext cx="3336925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5651500" y="4076700"/>
            <a:ext cx="504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latin typeface="Century Schoolbook"/>
              </a:rPr>
              <a:t>(1)</a:t>
            </a:r>
          </a:p>
        </p:txBody>
      </p:sp>
      <p:sp>
        <p:nvSpPr>
          <p:cNvPr id="28677" name="TextBox 5"/>
          <p:cNvSpPr txBox="1">
            <a:spLocks noChangeArrowheads="1"/>
          </p:cNvSpPr>
          <p:nvPr/>
        </p:nvSpPr>
        <p:spPr bwMode="auto">
          <a:xfrm>
            <a:off x="5003800" y="3141663"/>
            <a:ext cx="5762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(2)</a:t>
            </a:r>
            <a:endParaRPr lang="zh-CN" altLang="en-US">
              <a:latin typeface="Century Schoolbook"/>
            </a:endParaRPr>
          </a:p>
        </p:txBody>
      </p:sp>
      <p:sp>
        <p:nvSpPr>
          <p:cNvPr id="28678" name="TextBox 6"/>
          <p:cNvSpPr txBox="1">
            <a:spLocks noChangeArrowheads="1"/>
          </p:cNvSpPr>
          <p:nvPr/>
        </p:nvSpPr>
        <p:spPr bwMode="auto">
          <a:xfrm>
            <a:off x="6804025" y="3500438"/>
            <a:ext cx="504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(3)</a:t>
            </a:r>
            <a:endParaRPr lang="zh-CN" altLang="en-US">
              <a:latin typeface="Century Schoolbook"/>
            </a:endParaRPr>
          </a:p>
        </p:txBody>
      </p:sp>
      <p:sp>
        <p:nvSpPr>
          <p:cNvPr id="28679" name="TextBox 7"/>
          <p:cNvSpPr txBox="1">
            <a:spLocks noChangeArrowheads="1"/>
          </p:cNvSpPr>
          <p:nvPr/>
        </p:nvSpPr>
        <p:spPr bwMode="auto">
          <a:xfrm>
            <a:off x="7164388" y="5805488"/>
            <a:ext cx="2159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A</a:t>
            </a:r>
            <a:endParaRPr lang="zh-CN" altLang="en-US">
              <a:latin typeface="Century Schoolbook"/>
            </a:endParaRPr>
          </a:p>
        </p:txBody>
      </p:sp>
      <p:sp>
        <p:nvSpPr>
          <p:cNvPr id="28680" name="TextBox 8"/>
          <p:cNvSpPr txBox="1">
            <a:spLocks noChangeArrowheads="1"/>
          </p:cNvSpPr>
          <p:nvPr/>
        </p:nvSpPr>
        <p:spPr bwMode="auto">
          <a:xfrm>
            <a:off x="3995738" y="3357563"/>
            <a:ext cx="3603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B</a:t>
            </a:r>
            <a:endParaRPr lang="zh-CN" altLang="en-US">
              <a:latin typeface="Century Schoolbook"/>
            </a:endParaRPr>
          </a:p>
        </p:txBody>
      </p:sp>
      <p:sp>
        <p:nvSpPr>
          <p:cNvPr id="28681" name="TextBox 10"/>
          <p:cNvSpPr txBox="1">
            <a:spLocks noChangeArrowheads="1"/>
          </p:cNvSpPr>
          <p:nvPr/>
        </p:nvSpPr>
        <p:spPr bwMode="auto">
          <a:xfrm>
            <a:off x="6588125" y="2924175"/>
            <a:ext cx="360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C</a:t>
            </a:r>
            <a:endParaRPr lang="zh-CN" altLang="en-US">
              <a:latin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2969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QuickHull</a:t>
            </a:r>
            <a:r>
              <a:rPr lang="zh-CN" altLang="en-US" smtClean="0"/>
              <a:t>的效率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三角形</a:t>
            </a:r>
            <a:r>
              <a:rPr lang="en-US" altLang="zh-CN" smtClean="0"/>
              <a:t>ABC</a:t>
            </a:r>
            <a:r>
              <a:rPr lang="zh-CN" altLang="en-US" smtClean="0"/>
              <a:t>内的点一定不在凸包上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在点集随机的情况下，复杂度十分优秀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能够被圆周撒点卡到</a:t>
            </a:r>
            <a:r>
              <a:rPr lang="en-US" altLang="zh-CN" smtClean="0"/>
              <a:t>O(nlogn)</a:t>
            </a:r>
          </a:p>
          <a:p>
            <a:pPr lvl="2" eaLnBrk="1" hangingPunct="1"/>
            <a:r>
              <a:rPr lang="zh-CN" altLang="en-US" smtClean="0"/>
              <a:t>没有点在三角形内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初始调用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指定点集的最左</a:t>
            </a:r>
            <a:r>
              <a:rPr lang="en-US" altLang="zh-CN" smtClean="0"/>
              <a:t>/</a:t>
            </a:r>
            <a:r>
              <a:rPr lang="zh-CN" altLang="en-US" smtClean="0"/>
              <a:t>最右点</a:t>
            </a:r>
            <a:r>
              <a:rPr lang="en-US" altLang="zh-CN" smtClean="0"/>
              <a:t>x,y</a:t>
            </a:r>
          </a:p>
          <a:p>
            <a:pPr lvl="1" eaLnBrk="1" hangingPunct="1"/>
            <a:r>
              <a:rPr lang="zh-CN" altLang="en-US" smtClean="0"/>
              <a:t>调用</a:t>
            </a:r>
            <a:r>
              <a:rPr lang="en-US" altLang="zh-CN" smtClean="0"/>
              <a:t>QuickHull(x,y)</a:t>
            </a:r>
            <a:r>
              <a:rPr lang="zh-CN" altLang="en-US" smtClean="0"/>
              <a:t>和</a:t>
            </a:r>
            <a:r>
              <a:rPr lang="en-US" altLang="zh-CN" smtClean="0"/>
              <a:t>QuickHull(y,x)</a:t>
            </a:r>
          </a:p>
          <a:p>
            <a:pPr eaLnBrk="1" hangingPunct="1"/>
            <a:r>
              <a:rPr lang="zh-CN" altLang="en-US" smtClean="0"/>
              <a:t>去递归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O(</a:t>
            </a:r>
            <a:r>
              <a:rPr lang="en-US" altLang="zh-CN" dirty="0" err="1" smtClean="0">
                <a:cs typeface="+mj-cs"/>
              </a:rPr>
              <a:t>NlogN</a:t>
            </a:r>
            <a:r>
              <a:rPr lang="en-US" altLang="zh-CN" dirty="0" smtClean="0">
                <a:cs typeface="+mj-cs"/>
              </a:rPr>
              <a:t>) Bound</a:t>
            </a:r>
            <a:endParaRPr lang="zh-CN" altLang="en-US" dirty="0">
              <a:cs typeface="+mj-cs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证明：凸包的时间复杂度不会低于</a:t>
            </a:r>
            <a:r>
              <a:rPr lang="en-US" altLang="zh-CN" smtClean="0"/>
              <a:t>O(nlogn)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考虑点集</a:t>
            </a:r>
            <a:r>
              <a:rPr lang="en-US" altLang="zh-CN" smtClean="0"/>
              <a:t>Pi=(a[i],a[i]^2)</a:t>
            </a:r>
          </a:p>
          <a:p>
            <a:pPr eaLnBrk="1" hangingPunct="1"/>
            <a:r>
              <a:rPr lang="zh-CN" altLang="en-US" smtClean="0"/>
              <a:t>对</a:t>
            </a:r>
            <a:r>
              <a:rPr lang="en-US" altLang="zh-CN" smtClean="0"/>
              <a:t>Pi</a:t>
            </a:r>
            <a:r>
              <a:rPr lang="zh-CN" altLang="en-US" smtClean="0"/>
              <a:t>求凸包，实际上就是对</a:t>
            </a:r>
            <a:r>
              <a:rPr lang="en-US" altLang="zh-CN" smtClean="0"/>
              <a:t>Ai</a:t>
            </a:r>
            <a:r>
              <a:rPr lang="zh-CN" altLang="en-US" smtClean="0"/>
              <a:t>的排序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排序的复杂度不会低于</a:t>
            </a:r>
            <a:r>
              <a:rPr lang="en-US" altLang="zh-CN" smtClean="0"/>
              <a:t>O(nlogn)</a:t>
            </a:r>
          </a:p>
          <a:p>
            <a:pPr eaLnBrk="1" hangingPunct="1"/>
            <a:r>
              <a:rPr lang="zh-CN" altLang="en-US" smtClean="0"/>
              <a:t>凸包的复杂度不会低于</a:t>
            </a:r>
            <a:r>
              <a:rPr lang="en-US" altLang="zh-CN" smtClean="0"/>
              <a:t>O(nlogn)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b="1" smtClean="0"/>
              <a:t>Not Output-Sensitive</a:t>
            </a:r>
            <a:endParaRPr lang="zh-CN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Chan’s Algorithm</a:t>
            </a:r>
            <a:endParaRPr lang="zh-CN" altLang="en-US" dirty="0">
              <a:cs typeface="+mj-cs"/>
            </a:endParaRPr>
          </a:p>
        </p:txBody>
      </p:sp>
      <p:sp>
        <p:nvSpPr>
          <p:cNvPr id="3174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b="1" smtClean="0"/>
              <a:t>假设</a:t>
            </a:r>
            <a:r>
              <a:rPr lang="zh-CN" altLang="en-US" smtClean="0"/>
              <a:t>已知凸包上有</a:t>
            </a:r>
            <a:r>
              <a:rPr lang="en-US" altLang="zh-CN" smtClean="0"/>
              <a:t>M</a:t>
            </a:r>
            <a:r>
              <a:rPr lang="zh-CN" altLang="en-US" smtClean="0"/>
              <a:t>个点。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Step 1</a:t>
            </a:r>
            <a:r>
              <a:rPr lang="zh-CN" altLang="en-US" smtClean="0"/>
              <a:t>：将点均分为</a:t>
            </a:r>
            <a:r>
              <a:rPr lang="en-US" altLang="zh-CN" smtClean="0"/>
              <a:t>N/M</a:t>
            </a:r>
            <a:r>
              <a:rPr lang="zh-CN" altLang="en-US" smtClean="0"/>
              <a:t>个部分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对每个点集进行</a:t>
            </a:r>
            <a:r>
              <a:rPr lang="en-US" altLang="zh-CN" smtClean="0"/>
              <a:t>Graham-Scan</a:t>
            </a:r>
            <a:r>
              <a:rPr lang="zh-CN" altLang="en-US" smtClean="0"/>
              <a:t>，得到</a:t>
            </a:r>
            <a:r>
              <a:rPr lang="en-US" altLang="zh-CN" smtClean="0"/>
              <a:t>N/M</a:t>
            </a:r>
            <a:r>
              <a:rPr lang="zh-CN" altLang="en-US" smtClean="0"/>
              <a:t>个凸包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复杂度统计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O((n/m)*(mlogm)) = </a:t>
            </a:r>
            <a:r>
              <a:rPr lang="en-US" altLang="zh-CN" b="1" smtClean="0"/>
              <a:t>O(nlogm)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Step 2</a:t>
            </a:r>
            <a:r>
              <a:rPr lang="zh-CN" altLang="en-US" smtClean="0"/>
              <a:t>：合并</a:t>
            </a:r>
            <a:r>
              <a:rPr lang="en-US" altLang="zh-CN" smtClean="0"/>
              <a:t>N/M</a:t>
            </a:r>
            <a:r>
              <a:rPr lang="zh-CN" altLang="en-US" smtClean="0"/>
              <a:t>个凸包。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cap="none" smtClean="0"/>
              <a:t>CHAN’S ALGORITHM</a:t>
            </a:r>
          </a:p>
        </p:txBody>
      </p:sp>
      <p:sp>
        <p:nvSpPr>
          <p:cNvPr id="3277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277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1628775"/>
            <a:ext cx="4727575" cy="475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Chan’s Algorithm</a:t>
            </a:r>
            <a:endParaRPr lang="zh-CN" altLang="en-US" dirty="0">
              <a:cs typeface="+mj-cs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Step 2</a:t>
            </a:r>
            <a:r>
              <a:rPr lang="zh-CN" altLang="en-US" smtClean="0"/>
              <a:t>：合并</a:t>
            </a:r>
            <a:r>
              <a:rPr lang="en-US" altLang="zh-CN" smtClean="0"/>
              <a:t>N/M</a:t>
            </a:r>
            <a:r>
              <a:rPr lang="zh-CN" altLang="en-US" smtClean="0"/>
              <a:t>个凸包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卷包裹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选取初始点</a:t>
            </a:r>
            <a:r>
              <a:rPr lang="en-US" altLang="zh-CN" smtClean="0"/>
              <a:t>x0</a:t>
            </a:r>
            <a:r>
              <a:rPr lang="zh-CN" altLang="en-US" smtClean="0"/>
              <a:t>，每次选择最右手边的一个点前进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可能的点都在</a:t>
            </a:r>
            <a:r>
              <a:rPr lang="en-US" altLang="zh-CN" smtClean="0"/>
              <a:t>n/m</a:t>
            </a:r>
            <a:r>
              <a:rPr lang="zh-CN" altLang="en-US" smtClean="0"/>
              <a:t>个凸包上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在每个凸包内部二分查询：</a:t>
            </a:r>
            <a:r>
              <a:rPr lang="en-US" altLang="zh-CN" smtClean="0"/>
              <a:t>O(logm)</a:t>
            </a:r>
          </a:p>
          <a:p>
            <a:pPr eaLnBrk="1" hangingPunct="1"/>
            <a:r>
              <a:rPr lang="zh-CN" altLang="en-US" smtClean="0"/>
              <a:t>时间复杂度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选取最右点：</a:t>
            </a:r>
            <a:r>
              <a:rPr lang="en-US" altLang="zh-CN" smtClean="0"/>
              <a:t>O(n/m*logm)</a:t>
            </a:r>
          </a:p>
          <a:p>
            <a:pPr lvl="1" eaLnBrk="1" hangingPunct="1"/>
            <a:r>
              <a:rPr lang="zh-CN" altLang="en-US" smtClean="0"/>
              <a:t>凸包上有</a:t>
            </a:r>
            <a:r>
              <a:rPr lang="en-US" altLang="zh-CN" smtClean="0"/>
              <a:t>M</a:t>
            </a:r>
            <a:r>
              <a:rPr lang="zh-CN" altLang="en-US" smtClean="0"/>
              <a:t>个点：</a:t>
            </a:r>
            <a:r>
              <a:rPr lang="en-US" altLang="zh-CN" smtClean="0"/>
              <a:t>O(m*n/m*logm)=</a:t>
            </a:r>
            <a:r>
              <a:rPr lang="en-US" altLang="zh-CN" b="1" smtClean="0"/>
              <a:t>O(nlogm)</a:t>
            </a:r>
          </a:p>
          <a:p>
            <a:pPr lvl="1" eaLnBrk="1" hangingPunct="1"/>
            <a:endParaRPr lang="en-US" altLang="zh-CN" b="1" smtClean="0"/>
          </a:p>
          <a:p>
            <a:pPr eaLnBrk="1" hangingPunct="1"/>
            <a:r>
              <a:rPr lang="en-US" altLang="zh-CN" smtClean="0"/>
              <a:t>Chan’s Algorithm</a:t>
            </a:r>
            <a:r>
              <a:rPr lang="zh-CN" altLang="en-US" smtClean="0"/>
              <a:t>求凸包的复杂度是</a:t>
            </a:r>
            <a:r>
              <a:rPr lang="en-US" altLang="zh-CN" smtClean="0"/>
              <a:t>O(nlogm)</a:t>
            </a:r>
          </a:p>
          <a:p>
            <a:pPr eaLnBrk="1" hangingPunct="1"/>
            <a:r>
              <a:rPr lang="en-US" altLang="zh-CN" smtClean="0"/>
              <a:t>M</a:t>
            </a:r>
            <a:r>
              <a:rPr lang="zh-CN" altLang="en-US" smtClean="0"/>
              <a:t>是啥</a:t>
            </a:r>
            <a:r>
              <a:rPr lang="en-US" altLang="zh-CN" smtClean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Chan’s Algorithm</a:t>
            </a:r>
            <a:endParaRPr lang="zh-CN" altLang="en-US" dirty="0">
              <a:cs typeface="+mj-cs"/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将求凸包过程记为</a:t>
            </a:r>
            <a:r>
              <a:rPr lang="en-US" altLang="zh-CN" smtClean="0"/>
              <a:t>Solve(N,</a:t>
            </a:r>
            <a:r>
              <a:rPr lang="en-US" altLang="zh-CN" b="1" smtClean="0"/>
              <a:t>M</a:t>
            </a:r>
            <a:r>
              <a:rPr lang="en-US" altLang="zh-CN" smtClean="0"/>
              <a:t>)</a:t>
            </a:r>
          </a:p>
          <a:p>
            <a:pPr eaLnBrk="1" hangingPunct="1"/>
            <a:r>
              <a:rPr lang="zh-CN" altLang="en-US" smtClean="0"/>
              <a:t>假设最终凸包上的点数为</a:t>
            </a:r>
            <a:r>
              <a:rPr lang="en-US" altLang="zh-CN" smtClean="0"/>
              <a:t>H</a:t>
            </a:r>
            <a:r>
              <a:rPr lang="zh-CN" altLang="en-US" smtClean="0"/>
              <a:t>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从小到大枚举</a:t>
            </a:r>
            <a:r>
              <a:rPr lang="en-US" altLang="zh-CN" smtClean="0"/>
              <a:t>M</a:t>
            </a:r>
            <a:r>
              <a:rPr lang="zh-CN" altLang="en-US" smtClean="0"/>
              <a:t>？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  O(nlog1)+O(nlog2)+…+O(nlogh)</a:t>
            </a:r>
          </a:p>
          <a:p>
            <a:pPr lvl="1" eaLnBrk="1" hangingPunct="1"/>
            <a:r>
              <a:rPr lang="en-US" altLang="zh-CN" smtClean="0"/>
              <a:t>=O(n)*(log1+log2+…+logh)</a:t>
            </a:r>
          </a:p>
          <a:p>
            <a:pPr lvl="1" eaLnBrk="1" hangingPunct="1"/>
            <a:r>
              <a:rPr lang="en-US" altLang="zh-CN" smtClean="0"/>
              <a:t>=O(n)*(log(h!))=O(n)*O(hlogh)=O(nhlogh)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只要</a:t>
            </a:r>
            <a:r>
              <a:rPr lang="en-US" altLang="zh-CN" smtClean="0"/>
              <a:t>M&gt;=H</a:t>
            </a:r>
            <a:r>
              <a:rPr lang="zh-CN" altLang="en-US" smtClean="0"/>
              <a:t>，算法就能正确出解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Chan’s Algorithm</a:t>
            </a:r>
            <a:endParaRPr lang="zh-CN" altLang="en-US" dirty="0">
              <a:cs typeface="+mj-cs"/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倍增枚举</a:t>
            </a:r>
            <a:r>
              <a:rPr lang="en-US" altLang="zh-CN" smtClean="0"/>
              <a:t>M</a:t>
            </a:r>
            <a:r>
              <a:rPr lang="zh-CN" altLang="en-US" smtClean="0"/>
              <a:t>？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M=2,4,8,16,…,2^t,…</a:t>
            </a:r>
          </a:p>
          <a:p>
            <a:pPr lvl="1" eaLnBrk="1" hangingPunct="1"/>
            <a:r>
              <a:rPr lang="en-US" altLang="zh-CN" smtClean="0"/>
              <a:t>  O(nlog2)+O(nlog4)+…+O(nlogh)</a:t>
            </a:r>
          </a:p>
          <a:p>
            <a:pPr lvl="1" eaLnBrk="1" hangingPunct="1"/>
            <a:r>
              <a:rPr lang="en-US" altLang="zh-CN" smtClean="0"/>
              <a:t>=O(n)*(1+2+3+…+logh)</a:t>
            </a:r>
          </a:p>
          <a:p>
            <a:pPr lvl="1" eaLnBrk="1" hangingPunct="1"/>
            <a:r>
              <a:rPr lang="en-US" altLang="zh-CN" smtClean="0"/>
              <a:t>=O(n)*O(log^2h)</a:t>
            </a:r>
          </a:p>
          <a:p>
            <a:pPr lvl="1" eaLnBrk="1" hangingPunct="1"/>
            <a:r>
              <a:rPr lang="en-US" altLang="zh-CN" smtClean="0"/>
              <a:t>=O(nlog^2h)</a:t>
            </a:r>
          </a:p>
          <a:p>
            <a:pPr eaLnBrk="1" hangingPunct="1"/>
            <a:r>
              <a:rPr lang="zh-CN" altLang="en-US" smtClean="0"/>
              <a:t>比指数更快的增长率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M=2,4,16,256,…,2^(2^t))….</a:t>
            </a:r>
          </a:p>
          <a:p>
            <a:pPr lvl="1" eaLnBrk="1" hangingPunct="1"/>
            <a:r>
              <a:rPr lang="en-US" altLang="zh-CN" smtClean="0"/>
              <a:t>  O(nlog2)+O(nlog4)+…+O(nlogh)</a:t>
            </a:r>
          </a:p>
          <a:p>
            <a:pPr lvl="1" eaLnBrk="1" hangingPunct="1"/>
            <a:r>
              <a:rPr lang="en-US" altLang="zh-CN" smtClean="0"/>
              <a:t>=O(n)*(1+2+4+..+logh)</a:t>
            </a:r>
          </a:p>
          <a:p>
            <a:pPr lvl="1" eaLnBrk="1" hangingPunct="1"/>
            <a:r>
              <a:rPr lang="en-US" altLang="zh-CN" smtClean="0"/>
              <a:t>=O(n)*O(logh)</a:t>
            </a:r>
            <a:br>
              <a:rPr lang="en-US" altLang="zh-CN" smtClean="0"/>
            </a:br>
            <a:r>
              <a:rPr lang="en-US" altLang="zh-CN" smtClean="0"/>
              <a:t>=</a:t>
            </a:r>
            <a:r>
              <a:rPr lang="en-US" altLang="zh-CN" b="1" smtClean="0"/>
              <a:t>O(nlogh)</a:t>
            </a:r>
            <a:endParaRPr lang="zh-CN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err="1" smtClean="0"/>
              <a:t>Minkowski</a:t>
            </a:r>
            <a:r>
              <a:rPr lang="zh-CN" altLang="en-US" dirty="0" smtClean="0"/>
              <a:t>和</a:t>
            </a:r>
            <a:endParaRPr lang="zh-CN" altLang="en-US" cap="none" dirty="0" smtClean="0"/>
          </a:p>
        </p:txBody>
      </p:sp>
      <p:sp>
        <p:nvSpPr>
          <p:cNvPr id="9933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mtClean="0"/>
              <a:t>给定两个点集</a:t>
            </a:r>
            <a:r>
              <a:rPr lang="en-US" altLang="zh-CN" smtClean="0"/>
              <a:t>P,Q</a:t>
            </a:r>
            <a:r>
              <a:rPr lang="zh-CN" altLang="en-US" smtClean="0"/>
              <a:t>，定义他们的</a:t>
            </a:r>
            <a:r>
              <a:rPr lang="en-US" altLang="zh-CN" smtClean="0"/>
              <a:t>Minkowski</a:t>
            </a:r>
            <a:r>
              <a:rPr lang="zh-CN" altLang="en-US" smtClean="0"/>
              <a:t>和</a:t>
            </a:r>
          </a:p>
          <a:p>
            <a:r>
              <a:rPr lang="en-US" altLang="zh-CN" smtClean="0"/>
              <a:t>P+Q = {X1+X2,Y1+Y2 | (x1,y1)∈P,(x2,y2)∈Q}</a:t>
            </a:r>
          </a:p>
          <a:p>
            <a:r>
              <a:rPr lang="zh-CN" altLang="en-US" smtClean="0"/>
              <a:t>给定点集</a:t>
            </a:r>
            <a:r>
              <a:rPr lang="en-US" altLang="zh-CN" smtClean="0"/>
              <a:t>P,Q,</a:t>
            </a:r>
            <a:r>
              <a:rPr lang="zh-CN" altLang="en-US" smtClean="0"/>
              <a:t>求他们</a:t>
            </a:r>
            <a:r>
              <a:rPr lang="en-US" altLang="zh-CN" smtClean="0"/>
              <a:t>Minkowski</a:t>
            </a:r>
            <a:r>
              <a:rPr lang="zh-CN" altLang="en-US" smtClean="0"/>
              <a:t>和的凸包面积</a:t>
            </a:r>
          </a:p>
          <a:p>
            <a:endParaRPr lang="zh-CN" altLang="en-US" smtClean="0"/>
          </a:p>
          <a:p>
            <a:r>
              <a:rPr lang="en-US" altLang="zh-CN" smtClean="0"/>
              <a:t>|P|,|Q| &lt;= 10^5</a:t>
            </a:r>
          </a:p>
          <a:p>
            <a:endParaRPr lang="zh-CN" altLang="en-US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err="1" smtClean="0"/>
              <a:t>Minkowski</a:t>
            </a:r>
            <a:r>
              <a:rPr lang="zh-CN" altLang="en-US" dirty="0" smtClean="0"/>
              <a:t>和</a:t>
            </a:r>
            <a:endParaRPr lang="zh-CN" altLang="en-US" cap="none" dirty="0" smtClean="0"/>
          </a:p>
        </p:txBody>
      </p:sp>
      <p:sp>
        <p:nvSpPr>
          <p:cNvPr id="10035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mtClean="0"/>
              <a:t>等价于</a:t>
            </a:r>
            <a:r>
              <a:rPr lang="en-US" altLang="zh-CN" smtClean="0"/>
              <a:t>P</a:t>
            </a:r>
            <a:r>
              <a:rPr lang="zh-CN" altLang="en-US" smtClean="0"/>
              <a:t>和</a:t>
            </a:r>
            <a:r>
              <a:rPr lang="en-US" altLang="zh-CN" smtClean="0"/>
              <a:t>Q</a:t>
            </a:r>
            <a:r>
              <a:rPr lang="zh-CN" altLang="en-US" smtClean="0"/>
              <a:t>凸包的</a:t>
            </a:r>
            <a:r>
              <a:rPr lang="en-US" altLang="zh-CN" smtClean="0"/>
              <a:t>Minkowski</a:t>
            </a:r>
            <a:r>
              <a:rPr lang="zh-CN" altLang="en-US" smtClean="0"/>
              <a:t>和</a:t>
            </a:r>
          </a:p>
          <a:p>
            <a:endParaRPr lang="zh-CN" altLang="en-US" smtClean="0"/>
          </a:p>
          <a:p>
            <a:r>
              <a:rPr lang="zh-CN" altLang="en-US" smtClean="0"/>
              <a:t>凸包的边构成</a:t>
            </a:r>
          </a:p>
          <a:p>
            <a:r>
              <a:rPr lang="en-US" altLang="zh-CN" smtClean="0"/>
              <a:t>(Px+Py,P(x+1)+Py) or (Px+Py,Px+P(y+1))</a:t>
            </a:r>
          </a:p>
          <a:p>
            <a:r>
              <a:rPr lang="zh-CN" altLang="en-US" smtClean="0"/>
              <a:t>相当于用</a:t>
            </a:r>
            <a:r>
              <a:rPr lang="en-US" altLang="zh-CN" smtClean="0"/>
              <a:t>P</a:t>
            </a:r>
            <a:r>
              <a:rPr lang="zh-CN" altLang="en-US" smtClean="0"/>
              <a:t>和</a:t>
            </a:r>
            <a:r>
              <a:rPr lang="en-US" altLang="zh-CN" smtClean="0"/>
              <a:t>Q</a:t>
            </a:r>
            <a:r>
              <a:rPr lang="zh-CN" altLang="en-US" smtClean="0"/>
              <a:t>凸包的所有边做一个新凸包</a:t>
            </a:r>
          </a:p>
          <a:p>
            <a:endParaRPr lang="zh-CN" altLang="en-US" smtClean="0"/>
          </a:p>
          <a:p>
            <a:r>
              <a:rPr lang="zh-CN" altLang="en-US" smtClean="0"/>
              <a:t>双指针扫描解决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>
                <a:cs typeface="+mj-cs"/>
              </a:rPr>
              <a:t>Part II</a:t>
            </a:r>
            <a:endParaRPr lang="zh-CN" altLang="en-US" dirty="0">
              <a:cs typeface="+mj-cs"/>
            </a:endParaRPr>
          </a:p>
        </p:txBody>
      </p:sp>
      <p:sp>
        <p:nvSpPr>
          <p:cNvPr id="3686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回顾：凸包</a:t>
            </a:r>
            <a:endParaRPr lang="en-US" altLang="zh-CN" smtClean="0"/>
          </a:p>
          <a:p>
            <a:pPr lvl="1" eaLnBrk="1" hangingPunct="1"/>
            <a:r>
              <a:rPr lang="zh-CN" altLang="en-US" b="1" smtClean="0"/>
              <a:t>增量法 </a:t>
            </a:r>
            <a:r>
              <a:rPr lang="en-US" altLang="zh-CN" b="1" smtClean="0"/>
              <a:t>– O(n^2)</a:t>
            </a:r>
          </a:p>
          <a:p>
            <a:pPr lvl="1" eaLnBrk="1" hangingPunct="1"/>
            <a:r>
              <a:rPr lang="en-US" altLang="zh-CN" b="1" smtClean="0"/>
              <a:t>Javris</a:t>
            </a:r>
            <a:r>
              <a:rPr lang="zh-CN" altLang="en-US" b="1" smtClean="0"/>
              <a:t>步进法 </a:t>
            </a:r>
            <a:r>
              <a:rPr lang="en-US" altLang="zh-CN" b="1" smtClean="0"/>
              <a:t>– O(nh)</a:t>
            </a:r>
          </a:p>
          <a:p>
            <a:pPr lvl="1" eaLnBrk="1" hangingPunct="1"/>
            <a:r>
              <a:rPr lang="en-US" altLang="zh-CN" smtClean="0"/>
              <a:t>Graham</a:t>
            </a:r>
            <a:r>
              <a:rPr lang="zh-CN" altLang="en-US" smtClean="0"/>
              <a:t>扫描 </a:t>
            </a:r>
            <a:r>
              <a:rPr lang="en-US" altLang="zh-CN" smtClean="0"/>
              <a:t>– O(nlogn)</a:t>
            </a:r>
          </a:p>
          <a:p>
            <a:pPr lvl="1" eaLnBrk="1" hangingPunct="1"/>
            <a:r>
              <a:rPr lang="en-US" altLang="zh-CN" b="1" smtClean="0"/>
              <a:t>QuickHull – O(n^2)~O(n)</a:t>
            </a:r>
          </a:p>
          <a:p>
            <a:pPr lvl="1" eaLnBrk="1" hangingPunct="1"/>
            <a:r>
              <a:rPr lang="en-US" altLang="zh-CN" smtClean="0"/>
              <a:t>Chan</a:t>
            </a:r>
            <a:r>
              <a:rPr lang="zh-CN" altLang="en-US" smtClean="0"/>
              <a:t>分块法 </a:t>
            </a:r>
            <a:r>
              <a:rPr lang="en-US" altLang="zh-CN" smtClean="0"/>
              <a:t>– O(nlogh)</a:t>
            </a:r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将凸包扩展到三维情况。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计算几何基础：表达</a:t>
            </a:r>
            <a:endParaRPr lang="zh-CN" altLang="en-US" dirty="0">
              <a:cs typeface="+mj-cs"/>
            </a:endParaRPr>
          </a:p>
        </p:txBody>
      </p:sp>
      <p:sp>
        <p:nvSpPr>
          <p:cNvPr id="3789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定义直角坐标系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右手坐标系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三维空间的点坐标</a:t>
            </a:r>
            <a:r>
              <a:rPr lang="en-US" altLang="zh-CN" smtClean="0">
                <a:sym typeface="Wingdings" pitchFamily="2" charset="2"/>
              </a:rPr>
              <a:t>: (x,y,z)</a:t>
            </a:r>
          </a:p>
          <a:p>
            <a:pPr eaLnBrk="1" hangingPunct="1"/>
            <a:r>
              <a:rPr lang="zh-CN" altLang="en-US" smtClean="0">
                <a:sym typeface="Wingdings" pitchFamily="2" charset="2"/>
              </a:rPr>
              <a:t>点和向量有什么区别</a:t>
            </a:r>
            <a:endParaRPr lang="en-US" altLang="zh-CN" smtClean="0">
              <a:sym typeface="Wingdings" pitchFamily="2" charset="2"/>
            </a:endParaRPr>
          </a:p>
          <a:p>
            <a:pPr eaLnBrk="1" hangingPunct="1"/>
            <a:r>
              <a:rPr lang="en-US" altLang="zh-CN" smtClean="0">
                <a:sym typeface="Wingdings" pitchFamily="2" charset="2"/>
              </a:rPr>
              <a:t>Ax+By+Cz+D = 0</a:t>
            </a:r>
          </a:p>
          <a:p>
            <a:pPr eaLnBrk="1" hangingPunct="1"/>
            <a:r>
              <a:rPr lang="zh-CN" altLang="en-US" smtClean="0">
                <a:sym typeface="Wingdings" pitchFamily="2" charset="2"/>
              </a:rPr>
              <a:t>描述一个面</a:t>
            </a:r>
            <a:endParaRPr lang="en-US" altLang="zh-CN" smtClean="0">
              <a:sym typeface="Wingdings" pitchFamily="2" charset="2"/>
            </a:endParaRPr>
          </a:p>
          <a:p>
            <a:pPr lvl="1" eaLnBrk="1" hangingPunct="1"/>
            <a:r>
              <a:rPr lang="en-US" altLang="zh-CN" smtClean="0">
                <a:sym typeface="Wingdings" pitchFamily="2" charset="2"/>
              </a:rPr>
              <a:t>(A,B,C)</a:t>
            </a:r>
            <a:r>
              <a:rPr lang="zh-CN" altLang="en-US" smtClean="0">
                <a:sym typeface="Wingdings" pitchFamily="2" charset="2"/>
              </a:rPr>
              <a:t>是平面的法向量</a:t>
            </a:r>
            <a:endParaRPr lang="en-US" altLang="zh-CN" smtClean="0">
              <a:sym typeface="Wingdings" pitchFamily="2" charset="2"/>
            </a:endParaRPr>
          </a:p>
          <a:p>
            <a:pPr lvl="1" eaLnBrk="1" hangingPunct="1"/>
            <a:r>
              <a:rPr lang="zh-CN" altLang="en-US" smtClean="0">
                <a:sym typeface="Wingdings" pitchFamily="2" charset="2"/>
              </a:rPr>
              <a:t>右手法则</a:t>
            </a:r>
            <a:endParaRPr lang="en-US" altLang="zh-CN" smtClean="0">
              <a:sym typeface="Wingdings" pitchFamily="2" charset="2"/>
            </a:endParaRPr>
          </a:p>
          <a:p>
            <a:pPr eaLnBrk="1" hangingPunct="1"/>
            <a:r>
              <a:rPr lang="zh-CN" altLang="en-US" smtClean="0">
                <a:sym typeface="Wingdings" pitchFamily="2" charset="2"/>
              </a:rPr>
              <a:t>描述一条直线</a:t>
            </a:r>
            <a:endParaRPr lang="en-US" altLang="zh-CN" smtClean="0">
              <a:sym typeface="Wingdings" pitchFamily="2" charset="2"/>
            </a:endParaRPr>
          </a:p>
          <a:p>
            <a:pPr lvl="1" eaLnBrk="1" hangingPunct="1"/>
            <a:r>
              <a:rPr lang="zh-CN" altLang="en-US" smtClean="0">
                <a:sym typeface="Wingdings" pitchFamily="2" charset="2"/>
              </a:rPr>
              <a:t>基础：两个平面的交点</a:t>
            </a:r>
            <a:endParaRPr lang="en-US" altLang="zh-CN" smtClean="0">
              <a:sym typeface="Wingdings" pitchFamily="2" charset="2"/>
            </a:endParaRPr>
          </a:p>
          <a:p>
            <a:pPr lvl="1" eaLnBrk="1" hangingPunct="1"/>
            <a:r>
              <a:rPr lang="en-US" altLang="zh-CN" smtClean="0">
                <a:sym typeface="Wingdings" pitchFamily="2" charset="2"/>
              </a:rPr>
              <a:t>(A1x+B1y+C1z+D1=0,A2x+B2y+C2z+D2=0)</a:t>
            </a:r>
          </a:p>
          <a:p>
            <a:pPr lvl="1" eaLnBrk="1" hangingPunct="1"/>
            <a:endParaRPr lang="en-US" altLang="zh-CN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计算几何基础：表达</a:t>
            </a:r>
            <a:endParaRPr lang="zh-CN" altLang="en-US" dirty="0">
              <a:cs typeface="+mj-cs"/>
            </a:endParaRPr>
          </a:p>
        </p:txBody>
      </p:sp>
      <p:sp>
        <p:nvSpPr>
          <p:cNvPr id="3891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直线：参数方程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L={X0+tv} t</a:t>
            </a:r>
            <a:r>
              <a:rPr lang="zh-CN" altLang="en-US" smtClean="0"/>
              <a:t>∈</a:t>
            </a:r>
            <a:r>
              <a:rPr lang="en-US" altLang="zh-CN" smtClean="0"/>
              <a:t>R</a:t>
            </a:r>
          </a:p>
          <a:p>
            <a:pPr lvl="1" eaLnBrk="1" hangingPunct="1"/>
            <a:r>
              <a:rPr lang="en-US" altLang="zh-CN" smtClean="0"/>
              <a:t>X0</a:t>
            </a:r>
            <a:r>
              <a:rPr lang="zh-CN" altLang="en-US" smtClean="0"/>
              <a:t>是</a:t>
            </a:r>
            <a:r>
              <a:rPr lang="en-US" altLang="zh-CN" smtClean="0"/>
              <a:t>L</a:t>
            </a:r>
            <a:r>
              <a:rPr lang="zh-CN" altLang="en-US" smtClean="0"/>
              <a:t>上的一个点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V</a:t>
            </a:r>
            <a:r>
              <a:rPr lang="zh-CN" altLang="en-US" smtClean="0"/>
              <a:t>是一个向量，表示</a:t>
            </a:r>
            <a:r>
              <a:rPr lang="en-US" altLang="zh-CN" smtClean="0"/>
              <a:t>L</a:t>
            </a:r>
            <a:r>
              <a:rPr lang="zh-CN" altLang="en-US" smtClean="0"/>
              <a:t>的方向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直线：两点式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(x-x0)/(x-x1)=(y-y0)/(y-y1)=(z-z0)/(z-z1)</a:t>
            </a:r>
          </a:p>
          <a:p>
            <a:pPr lvl="1" eaLnBrk="1" hangingPunct="1"/>
            <a:r>
              <a:rPr lang="zh-CN" altLang="en-US" smtClean="0"/>
              <a:t>令</a:t>
            </a:r>
            <a:r>
              <a:rPr lang="en-US" altLang="zh-CN" smtClean="0"/>
              <a:t>v=P1-P0</a:t>
            </a:r>
            <a:r>
              <a:rPr lang="zh-CN" altLang="en-US" smtClean="0"/>
              <a:t>，则等价于上面的式子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平面：点法式</a:t>
            </a:r>
            <a:r>
              <a:rPr lang="en-US" altLang="zh-CN" smtClean="0"/>
              <a:t>/</a:t>
            </a:r>
            <a:r>
              <a:rPr lang="zh-CN" altLang="en-US" smtClean="0"/>
              <a:t>标准式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Ax+By+Cz+D=0 &lt;-&gt; A(x-x0)+B(y-y0)+C(z-z0)=0</a:t>
            </a:r>
          </a:p>
          <a:p>
            <a:pPr eaLnBrk="1" hangingPunct="1"/>
            <a:r>
              <a:rPr lang="zh-CN" altLang="en-US" smtClean="0"/>
              <a:t>判定点和平面关系</a:t>
            </a:r>
            <a:r>
              <a:rPr lang="en-US" altLang="zh-CN" smtClean="0"/>
              <a:t>	</a:t>
            </a:r>
          </a:p>
          <a:p>
            <a:pPr lvl="1" eaLnBrk="1" hangingPunct="1"/>
            <a:r>
              <a:rPr lang="en-US" altLang="zh-CN" smtClean="0"/>
              <a:t>Ax0+By0+Cz0+D &gt; 0 -&gt;</a:t>
            </a:r>
            <a:r>
              <a:rPr lang="zh-CN" altLang="en-US" smtClean="0"/>
              <a:t>点与法向量同侧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3993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点积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&lt;a,b&gt; = AxBx+AyBy+AzBz</a:t>
            </a:r>
          </a:p>
          <a:p>
            <a:pPr eaLnBrk="1" hangingPunct="1"/>
            <a:r>
              <a:rPr lang="en-US" altLang="zh-CN" b="1" smtClean="0"/>
              <a:t>&lt;a,x&gt;+&lt;b,x&gt;=&lt;a+b,x&gt;</a:t>
            </a:r>
          </a:p>
          <a:p>
            <a:pPr eaLnBrk="1" hangingPunct="1"/>
            <a:r>
              <a:rPr lang="en-US" altLang="zh-CN" smtClean="0"/>
              <a:t>&lt;a,b&gt; = |a|*|b|*cos</a:t>
            </a:r>
            <a:r>
              <a:rPr lang="el-GR" altLang="zh-CN" smtClean="0"/>
              <a:t>θ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&lt;a,b&gt; = 0 &lt;-&gt; a</a:t>
            </a:r>
            <a:r>
              <a:rPr lang="zh-CN" altLang="en-US" smtClean="0"/>
              <a:t>⊥</a:t>
            </a:r>
            <a:r>
              <a:rPr lang="en-US" altLang="zh-CN" smtClean="0"/>
              <a:t>b</a:t>
            </a:r>
          </a:p>
          <a:p>
            <a:pPr eaLnBrk="1" hangingPunct="1"/>
            <a:r>
              <a:rPr lang="zh-CN" altLang="en-US" smtClean="0"/>
              <a:t>也被称为内积</a:t>
            </a:r>
            <a:r>
              <a:rPr lang="en-US" altLang="zh-CN" smtClean="0"/>
              <a:t>(Inner Product)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4096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P1</a:t>
            </a:r>
            <a:r>
              <a:rPr lang="zh-CN" altLang="en-US" smtClean="0"/>
              <a:t>：求一个点</a:t>
            </a:r>
            <a:r>
              <a:rPr lang="en-US" altLang="zh-CN" smtClean="0"/>
              <a:t>Q</a:t>
            </a:r>
            <a:r>
              <a:rPr lang="zh-CN" altLang="en-US" smtClean="0"/>
              <a:t>到直线</a:t>
            </a:r>
            <a:r>
              <a:rPr lang="en-US" altLang="zh-CN" smtClean="0"/>
              <a:t>(Po,V)</a:t>
            </a:r>
            <a:r>
              <a:rPr lang="zh-CN" altLang="en-US" smtClean="0"/>
              <a:t>的距离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P0</a:t>
            </a:r>
            <a:r>
              <a:rPr lang="zh-CN" altLang="en-US" smtClean="0"/>
              <a:t>是直线上一点，</a:t>
            </a:r>
            <a:r>
              <a:rPr lang="en-US" altLang="zh-CN" smtClean="0"/>
              <a:t>v</a:t>
            </a:r>
            <a:r>
              <a:rPr lang="zh-CN" altLang="en-US" smtClean="0"/>
              <a:t>是方向向量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直线上的点</a:t>
            </a:r>
            <a:r>
              <a:rPr lang="en-US" altLang="zh-CN" smtClean="0"/>
              <a:t>Q</a:t>
            </a:r>
            <a:r>
              <a:rPr lang="zh-CN" altLang="en-US" smtClean="0"/>
              <a:t>满足</a:t>
            </a:r>
            <a:r>
              <a:rPr lang="en-US" altLang="zh-CN" smtClean="0"/>
              <a:t>Q=P0+λv</a:t>
            </a:r>
            <a:r>
              <a:rPr lang="zh-CN" altLang="en-US" smtClean="0"/>
              <a:t>，</a:t>
            </a:r>
            <a:r>
              <a:rPr lang="en-US" altLang="zh-CN" smtClean="0"/>
              <a:t>v</a:t>
            </a:r>
            <a:r>
              <a:rPr lang="zh-CN" altLang="en-US" smtClean="0"/>
              <a:t>∈</a:t>
            </a:r>
            <a:r>
              <a:rPr lang="en-US" altLang="zh-CN" smtClean="0"/>
              <a:t>R</a:t>
            </a:r>
          </a:p>
          <a:p>
            <a:pPr lvl="1" eaLnBrk="1" hangingPunct="1"/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P2</a:t>
            </a:r>
            <a:r>
              <a:rPr lang="zh-CN" altLang="en-US" smtClean="0"/>
              <a:t>：求一个点</a:t>
            </a:r>
            <a:r>
              <a:rPr lang="en-US" altLang="zh-CN" smtClean="0"/>
              <a:t>Q</a:t>
            </a:r>
            <a:r>
              <a:rPr lang="zh-CN" altLang="en-US" smtClean="0"/>
              <a:t>到平面</a:t>
            </a:r>
            <a:r>
              <a:rPr lang="en-US" altLang="zh-CN" smtClean="0"/>
              <a:t>(Po,N)</a:t>
            </a:r>
            <a:r>
              <a:rPr lang="zh-CN" altLang="en-US" smtClean="0"/>
              <a:t>的距离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P0</a:t>
            </a:r>
            <a:r>
              <a:rPr lang="zh-CN" altLang="en-US" smtClean="0"/>
              <a:t>是平面上一点，</a:t>
            </a:r>
            <a:r>
              <a:rPr lang="en-US" altLang="zh-CN" smtClean="0"/>
              <a:t>N</a:t>
            </a:r>
            <a:r>
              <a:rPr lang="zh-CN" altLang="en-US" smtClean="0"/>
              <a:t>是法向量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第一个问题：如何判断点</a:t>
            </a:r>
            <a:r>
              <a:rPr lang="en-US" altLang="zh-CN" smtClean="0"/>
              <a:t>X</a:t>
            </a:r>
            <a:r>
              <a:rPr lang="zh-CN" altLang="en-US" smtClean="0"/>
              <a:t>在不在平面上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&lt;X-P0,N&gt; = 0</a:t>
            </a:r>
          </a:p>
          <a:p>
            <a:pPr lvl="1" eaLnBrk="1" hangingPunct="1"/>
            <a:r>
              <a:rPr lang="zh-CN" altLang="en-US" smtClean="0"/>
              <a:t>或者</a:t>
            </a:r>
            <a:r>
              <a:rPr lang="en-US" altLang="zh-CN" smtClean="0"/>
              <a:t>&lt;X,N&gt; = &lt;P0,N&gt;</a:t>
            </a:r>
            <a:endParaRPr lang="zh-CN" altLang="en-US" smtClean="0"/>
          </a:p>
          <a:p>
            <a:pPr lvl="1"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4198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Solution to P1</a:t>
            </a:r>
            <a:r>
              <a:rPr lang="zh-CN" altLang="en-US" smtClean="0"/>
              <a:t>：这个方法也适用于</a:t>
            </a:r>
            <a:r>
              <a:rPr lang="en-US" altLang="zh-CN" smtClean="0"/>
              <a:t>2D</a:t>
            </a:r>
            <a:r>
              <a:rPr lang="zh-CN" altLang="en-US" smtClean="0"/>
              <a:t>。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8" y="2060575"/>
            <a:ext cx="7129462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4403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Solution to P2</a:t>
            </a:r>
            <a:r>
              <a:rPr lang="zh-CN" altLang="en-US" smtClean="0"/>
              <a:t>：假设</a:t>
            </a:r>
            <a:r>
              <a:rPr lang="en-US" altLang="zh-CN" smtClean="0"/>
              <a:t>q’</a:t>
            </a:r>
            <a:r>
              <a:rPr lang="zh-CN" altLang="en-US" smtClean="0"/>
              <a:t>是</a:t>
            </a:r>
            <a:r>
              <a:rPr lang="en-US" altLang="zh-CN" smtClean="0"/>
              <a:t>Q</a:t>
            </a:r>
            <a:r>
              <a:rPr lang="zh-CN" altLang="en-US" smtClean="0"/>
              <a:t>在</a:t>
            </a:r>
            <a:r>
              <a:rPr lang="en-US" altLang="zh-CN" smtClean="0"/>
              <a:t>π</a:t>
            </a:r>
            <a:r>
              <a:rPr lang="zh-CN" altLang="en-US" smtClean="0"/>
              <a:t>上的投影。</a:t>
            </a:r>
            <a:endParaRPr lang="en-US" altLang="zh-CN" smtClean="0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2060575"/>
            <a:ext cx="5975350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4608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P3</a:t>
            </a:r>
            <a:r>
              <a:rPr lang="zh-CN" altLang="en-US" smtClean="0"/>
              <a:t>：给定两条异面直线，求它们之间的距离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假设两条直线是</a:t>
            </a:r>
            <a:r>
              <a:rPr lang="en-US" altLang="zh-CN" smtClean="0"/>
              <a:t>L1=P1+us,L2=P2+vt (s,t</a:t>
            </a:r>
            <a:r>
              <a:rPr lang="zh-CN" altLang="en-US" smtClean="0"/>
              <a:t>∈</a:t>
            </a:r>
            <a:r>
              <a:rPr lang="en-US" altLang="zh-CN" smtClean="0"/>
              <a:t>R)</a:t>
            </a:r>
          </a:p>
          <a:p>
            <a:pPr eaLnBrk="1" hangingPunct="1"/>
            <a:r>
              <a:rPr lang="zh-CN" altLang="en-US" smtClean="0"/>
              <a:t>垂线交点是</a:t>
            </a:r>
            <a:r>
              <a:rPr lang="en-US" altLang="zh-CN" smtClean="0"/>
              <a:t>Q1=P1+us,Q2=P2+vt</a:t>
            </a:r>
          </a:p>
          <a:p>
            <a:pPr eaLnBrk="1" hangingPunct="1"/>
            <a:r>
              <a:rPr lang="zh-CN" altLang="en-US" smtClean="0"/>
              <a:t>那么有</a:t>
            </a:r>
            <a:r>
              <a:rPr lang="en-US" altLang="zh-CN" smtClean="0"/>
              <a:t>&lt;Q1-Q2,u&gt; = 0</a:t>
            </a:r>
            <a:r>
              <a:rPr lang="zh-CN" altLang="en-US" smtClean="0"/>
              <a:t>和</a:t>
            </a:r>
            <a:r>
              <a:rPr lang="en-US" altLang="zh-CN" smtClean="0"/>
              <a:t>&lt;Q1-Q2,v&gt; =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213" y="1773238"/>
            <a:ext cx="709295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313" y="4941888"/>
            <a:ext cx="6172200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Ardenia</a:t>
            </a:r>
            <a:endParaRPr lang="zh-CN" altLang="en-US" dirty="0">
              <a:cs typeface="+mj-cs"/>
            </a:endParaRPr>
          </a:p>
        </p:txBody>
      </p:sp>
      <p:sp>
        <p:nvSpPr>
          <p:cNvPr id="4915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给定三维空间上的两条线段，求它们的最近距离。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分情况讨论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(1)</a:t>
            </a:r>
            <a:r>
              <a:rPr lang="zh-CN" altLang="en-US" smtClean="0"/>
              <a:t>线段所在直线是异面</a:t>
            </a:r>
            <a:r>
              <a:rPr lang="en-US" altLang="zh-CN" smtClean="0"/>
              <a:t>/</a:t>
            </a:r>
            <a:r>
              <a:rPr lang="zh-CN" altLang="en-US" smtClean="0"/>
              <a:t>相交直线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计算异面直线距离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当且仅当两个垂点都在线段上时取到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(2)</a:t>
            </a:r>
            <a:r>
              <a:rPr lang="zh-CN" altLang="en-US" smtClean="0"/>
              <a:t>直线平行，或</a:t>
            </a:r>
            <a:r>
              <a:rPr lang="en-US" altLang="zh-CN" smtClean="0"/>
              <a:t>(1)</a:t>
            </a:r>
            <a:r>
              <a:rPr lang="zh-CN" altLang="en-US" smtClean="0"/>
              <a:t>的条件不满足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分别计算四个端点到另一条</a:t>
            </a:r>
            <a:r>
              <a:rPr lang="zh-CN" altLang="en-US" b="1" smtClean="0"/>
              <a:t>线段</a:t>
            </a:r>
            <a:r>
              <a:rPr lang="zh-CN" altLang="en-US" smtClean="0"/>
              <a:t>的最短距离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视为平面问题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Star War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给定三维空间上的两个四面体，求它们的最近距离。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保证四面体相离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分情况讨论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点</a:t>
            </a:r>
            <a:r>
              <a:rPr lang="en-US" altLang="zh-CN" dirty="0" smtClean="0"/>
              <a:t>-</a:t>
            </a:r>
            <a:r>
              <a:rPr lang="zh-CN" altLang="en-US" dirty="0" smtClean="0"/>
              <a:t>面距离</a:t>
            </a:r>
            <a:endParaRPr lang="en-US" altLang="zh-CN" dirty="0" smtClean="0"/>
          </a:p>
          <a:p>
            <a:r>
              <a:rPr lang="zh-CN" altLang="en-US" dirty="0" smtClean="0"/>
              <a:t>线</a:t>
            </a:r>
            <a:r>
              <a:rPr lang="en-US" altLang="zh-CN" dirty="0" smtClean="0"/>
              <a:t>-</a:t>
            </a:r>
            <a:r>
              <a:rPr lang="zh-CN" altLang="en-US" dirty="0" smtClean="0"/>
              <a:t>面距离？</a:t>
            </a:r>
            <a:endParaRPr lang="en-US" altLang="zh-CN" dirty="0" smtClean="0"/>
          </a:p>
          <a:p>
            <a:r>
              <a:rPr lang="zh-CN" altLang="en-US" dirty="0" smtClean="0"/>
              <a:t>面</a:t>
            </a:r>
            <a:r>
              <a:rPr lang="en-US" altLang="zh-CN" dirty="0" smtClean="0"/>
              <a:t>-</a:t>
            </a:r>
            <a:r>
              <a:rPr lang="zh-CN" altLang="en-US" dirty="0" smtClean="0"/>
              <a:t>面距离？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017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二维叉积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a×b=AxBy-AyBx</a:t>
            </a:r>
          </a:p>
          <a:p>
            <a:pPr lvl="1" eaLnBrk="1" hangingPunct="1"/>
            <a:r>
              <a:rPr lang="en-US" altLang="zh-CN" smtClean="0"/>
              <a:t>a×b=|a||b|sin</a:t>
            </a:r>
            <a:r>
              <a:rPr lang="el-GR" altLang="zh-CN" smtClean="0"/>
              <a:t>θ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三维叉积：定义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c=a×b=|a||b|sin</a:t>
            </a:r>
            <a:r>
              <a:rPr lang="el-GR" altLang="zh-CN" smtClean="0"/>
              <a:t>θ</a:t>
            </a:r>
            <a:r>
              <a:rPr lang="zh-CN" altLang="en-US" smtClean="0"/>
              <a:t>*</a:t>
            </a:r>
            <a:r>
              <a:rPr lang="en-US" altLang="zh-CN" b="1" smtClean="0"/>
              <a:t>n</a:t>
            </a:r>
          </a:p>
          <a:p>
            <a:pPr lvl="1" eaLnBrk="1" hangingPunct="1"/>
            <a:r>
              <a:rPr lang="en-US" altLang="zh-CN" smtClean="0"/>
              <a:t>n</a:t>
            </a:r>
            <a:r>
              <a:rPr lang="zh-CN" altLang="en-US" smtClean="0"/>
              <a:t>是和</a:t>
            </a:r>
            <a:r>
              <a:rPr lang="en-US" altLang="zh-CN" smtClean="0"/>
              <a:t>ab</a:t>
            </a:r>
            <a:r>
              <a:rPr lang="zh-CN" altLang="en-US" smtClean="0"/>
              <a:t>所在平面垂直的</a:t>
            </a:r>
            <a:r>
              <a:rPr lang="zh-CN" altLang="en-US" b="1" smtClean="0"/>
              <a:t>单位向量</a:t>
            </a:r>
            <a:endParaRPr lang="en-US" altLang="zh-CN" b="1" smtClean="0"/>
          </a:p>
          <a:p>
            <a:pPr lvl="1" eaLnBrk="1" hangingPunct="1"/>
            <a:r>
              <a:rPr lang="en-US" altLang="zh-CN" smtClean="0"/>
              <a:t>a×b = -b×a</a:t>
            </a:r>
          </a:p>
          <a:p>
            <a:pPr lvl="1" eaLnBrk="1" hangingPunct="1"/>
            <a:r>
              <a:rPr lang="zh-CN" altLang="en-US" smtClean="0"/>
              <a:t>也被称为外积</a:t>
            </a:r>
            <a:r>
              <a:rPr lang="en-US" altLang="zh-CN" smtClean="0"/>
              <a:t>(Outer Product)</a:t>
            </a:r>
          </a:p>
          <a:p>
            <a:pPr eaLnBrk="1" hangingPunct="1"/>
            <a:r>
              <a:rPr lang="zh-CN" altLang="en-US" smtClean="0"/>
              <a:t>确定</a:t>
            </a:r>
            <a:r>
              <a:rPr lang="en-US" altLang="zh-CN" smtClean="0"/>
              <a:t>n</a:t>
            </a:r>
            <a:r>
              <a:rPr lang="zh-CN" altLang="en-US" smtClean="0"/>
              <a:t>的方向</a:t>
            </a:r>
            <a:endParaRPr lang="en-US" altLang="zh-CN" smtClean="0"/>
          </a:p>
          <a:p>
            <a:pPr lvl="1" eaLnBrk="1" hangingPunct="1"/>
            <a:r>
              <a:rPr lang="zh-CN" altLang="en-US" b="1" smtClean="0"/>
              <a:t>右手定则</a:t>
            </a:r>
            <a:r>
              <a:rPr lang="en-US" altLang="zh-CN" b="1" smtClean="0"/>
              <a:t>/</a:t>
            </a:r>
            <a:r>
              <a:rPr lang="zh-CN" altLang="en-US" b="1" smtClean="0"/>
              <a:t>右手系</a:t>
            </a:r>
            <a:endParaRPr lang="en-US" altLang="zh-CN" b="1" smtClean="0"/>
          </a:p>
          <a:p>
            <a:pPr lvl="1" eaLnBrk="1" hangingPunct="1"/>
            <a:r>
              <a:rPr lang="zh-CN" altLang="en-US" smtClean="0"/>
              <a:t>右手四指从</a:t>
            </a:r>
            <a:r>
              <a:rPr lang="en-US" altLang="zh-CN" smtClean="0"/>
              <a:t>X</a:t>
            </a:r>
            <a:r>
              <a:rPr lang="zh-CN" altLang="en-US" smtClean="0"/>
              <a:t>扫到</a:t>
            </a:r>
            <a:r>
              <a:rPr lang="en-US" altLang="zh-CN" smtClean="0"/>
              <a:t>Y</a:t>
            </a:r>
            <a:r>
              <a:rPr lang="zh-CN" altLang="en-US" smtClean="0"/>
              <a:t>，大拇指方向为</a:t>
            </a:r>
            <a:r>
              <a:rPr lang="en-US" altLang="zh-CN" smtClean="0"/>
              <a:t>N</a:t>
            </a:r>
            <a:endParaRPr lang="zh-CN" altLang="en-US" smtClean="0"/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625" y="2492375"/>
            <a:ext cx="2592388" cy="352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120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平面上三个不共线点确定唯一平面。给定三个点</a:t>
            </a:r>
            <a:r>
              <a:rPr lang="en-US" altLang="zh-CN" smtClean="0"/>
              <a:t>M1,M2,M3</a:t>
            </a:r>
            <a:r>
              <a:rPr lang="zh-CN" altLang="en-US" smtClean="0"/>
              <a:t>，求平面解析式。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N = (M2-M1)×(M3-M1)</a:t>
            </a:r>
          </a:p>
          <a:p>
            <a:pPr eaLnBrk="1" hangingPunct="1"/>
            <a:r>
              <a:rPr lang="zh-CN" altLang="en-US" smtClean="0"/>
              <a:t>平面上的点</a:t>
            </a:r>
            <a:r>
              <a:rPr lang="en-US" altLang="zh-CN" smtClean="0"/>
              <a:t>P</a:t>
            </a:r>
            <a:r>
              <a:rPr lang="zh-CN" altLang="en-US" smtClean="0"/>
              <a:t>应当满足</a:t>
            </a:r>
            <a:r>
              <a:rPr lang="en-US" altLang="zh-CN" smtClean="0"/>
              <a:t> &lt;P-M1, N&gt; = 0</a:t>
            </a:r>
          </a:p>
          <a:p>
            <a:pPr eaLnBrk="1" hangingPunct="1"/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222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计算</a:t>
            </a:r>
            <a:r>
              <a:rPr lang="en-US" altLang="zh-CN" smtClean="0"/>
              <a:t>P1(x1,y1,z1) × P2(x2,y2,z2)</a:t>
            </a:r>
            <a:r>
              <a:rPr lang="zh-CN" altLang="en-US" smtClean="0"/>
              <a:t>的值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假设</a:t>
            </a:r>
            <a:r>
              <a:rPr lang="en-US" altLang="zh-CN" smtClean="0"/>
              <a:t>i=(1,0,0),j=(0,1,0),k=(0,0,1)</a:t>
            </a:r>
          </a:p>
          <a:p>
            <a:pPr eaLnBrk="1" hangingPunct="1"/>
            <a:r>
              <a:rPr lang="en-US" altLang="zh-CN" smtClean="0"/>
              <a:t>P1 × P2 = (x1i+y1j+z1k) × (x2i+y2j+z2k)</a:t>
            </a:r>
          </a:p>
          <a:p>
            <a:pPr eaLnBrk="1" hangingPunct="1"/>
            <a:r>
              <a:rPr lang="en-US" altLang="zh-CN" smtClean="0"/>
              <a:t>=x1x2(i ×i)+x1y2(i ×j)+x1z2(i ×k)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/>
              <a:t>+y1x2(j×i)+y1y2(j ×j)+y1z2(j ×k)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/>
              <a:t>+z1x2(k ×i)+z1y2(k ×j)+z1z2(k ×k)</a:t>
            </a:r>
          </a:p>
          <a:p>
            <a:pPr eaLnBrk="1" hangingPunct="1"/>
            <a:r>
              <a:rPr lang="en-US" altLang="zh-CN" smtClean="0"/>
              <a:t>=(y1z2-y2z1)i+(z1x2-z2x1)j+(x1y2-x2y1)k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每一项看起来都像一个二维叉积。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回忆：三阶行列式按第</a:t>
            </a:r>
            <a:r>
              <a:rPr lang="en-US" altLang="zh-CN" smtClean="0"/>
              <a:t>1</a:t>
            </a:r>
            <a:r>
              <a:rPr lang="zh-CN" altLang="en-US" smtClean="0"/>
              <a:t>行展开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410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叉积的另一种写法：三阶行列式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对上式进行求值，可以得到相同的结果。</a:t>
            </a:r>
            <a:endParaRPr lang="en-US" altLang="zh-CN" smtClean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p:oleObj spid="_x0000_s4098" name="公式" r:id="rId3" imgW="914400" imgH="215640" progId="Equation.3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900113" y="2349500"/>
          <a:ext cx="5141912" cy="2232025"/>
        </p:xfrm>
        <a:graphic>
          <a:graphicData uri="http://schemas.openxmlformats.org/presentationml/2006/ole">
            <p:oleObj spid="_x0000_s4099" name="公式" r:id="rId4" imgW="163800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529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2D</a:t>
            </a:r>
            <a:r>
              <a:rPr lang="zh-CN" altLang="en-US" smtClean="0"/>
              <a:t>：用</a:t>
            </a:r>
            <a:r>
              <a:rPr lang="en-US" altLang="zh-CN" smtClean="0"/>
              <a:t>a×b</a:t>
            </a:r>
            <a:r>
              <a:rPr lang="zh-CN" altLang="en-US" smtClean="0"/>
              <a:t>表示以</a:t>
            </a:r>
            <a:r>
              <a:rPr lang="en-US" altLang="zh-CN" smtClean="0"/>
              <a:t>a</a:t>
            </a:r>
            <a:r>
              <a:rPr lang="zh-CN" altLang="en-US" smtClean="0"/>
              <a:t>和</a:t>
            </a:r>
            <a:r>
              <a:rPr lang="en-US" altLang="zh-CN" smtClean="0"/>
              <a:t>b</a:t>
            </a:r>
            <a:r>
              <a:rPr lang="zh-CN" altLang="en-US" smtClean="0"/>
              <a:t>为边的平行四边形面积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3D</a:t>
            </a:r>
            <a:r>
              <a:rPr lang="zh-CN" altLang="en-US" smtClean="0"/>
              <a:t>：</a:t>
            </a:r>
            <a:r>
              <a:rPr lang="en-US" altLang="zh-CN" smtClean="0"/>
              <a:t>|a×b|</a:t>
            </a:r>
            <a:r>
              <a:rPr lang="zh-CN" altLang="en-US" smtClean="0"/>
              <a:t>表示以</a:t>
            </a:r>
            <a:r>
              <a:rPr lang="en-US" altLang="zh-CN" smtClean="0"/>
              <a:t>a</a:t>
            </a:r>
            <a:r>
              <a:rPr lang="zh-CN" altLang="en-US" smtClean="0"/>
              <a:t>和</a:t>
            </a:r>
            <a:r>
              <a:rPr lang="en-US" altLang="zh-CN" smtClean="0"/>
              <a:t>b</a:t>
            </a:r>
            <a:r>
              <a:rPr lang="zh-CN" altLang="en-US" smtClean="0"/>
              <a:t>为边的平行四边形面积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平行四边形加一维就是</a:t>
            </a:r>
            <a:r>
              <a:rPr lang="zh-CN" altLang="en-US" b="1" smtClean="0"/>
              <a:t>平行六面体</a:t>
            </a:r>
            <a:endParaRPr lang="en-US" altLang="zh-CN" b="1" smtClean="0"/>
          </a:p>
          <a:p>
            <a:pPr eaLnBrk="1" hangingPunct="1"/>
            <a:endParaRPr lang="en-US" altLang="zh-CN" b="1" smtClean="0"/>
          </a:p>
          <a:p>
            <a:pPr eaLnBrk="1" hangingPunct="1"/>
            <a:r>
              <a:rPr lang="zh-CN" altLang="en-US" smtClean="0"/>
              <a:t>给定向量</a:t>
            </a:r>
            <a:r>
              <a:rPr lang="en-US" altLang="zh-CN" smtClean="0"/>
              <a:t>a,b,c</a:t>
            </a:r>
            <a:r>
              <a:rPr lang="zh-CN" altLang="en-US" smtClean="0"/>
              <a:t>，求以</a:t>
            </a:r>
            <a:r>
              <a:rPr lang="en-US" altLang="zh-CN" smtClean="0"/>
              <a:t>a,b,c</a:t>
            </a:r>
            <a:r>
              <a:rPr lang="zh-CN" altLang="en-US" smtClean="0"/>
              <a:t>为三边的平行六面体体积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632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求平行六面体的面积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S(Base)=|b×c|</a:t>
            </a:r>
          </a:p>
          <a:p>
            <a:pPr eaLnBrk="1" hangingPunct="1"/>
            <a:r>
              <a:rPr lang="en-US" altLang="zh-CN" smtClean="0"/>
              <a:t>H=|a|cosα</a:t>
            </a:r>
          </a:p>
          <a:p>
            <a:pPr eaLnBrk="1" hangingPunct="1"/>
            <a:r>
              <a:rPr lang="el-GR" altLang="zh-CN" smtClean="0"/>
              <a:t>Α</a:t>
            </a:r>
            <a:r>
              <a:rPr lang="zh-CN" altLang="en-US" smtClean="0"/>
              <a:t>也是</a:t>
            </a:r>
            <a:r>
              <a:rPr lang="en-US" altLang="zh-CN" smtClean="0"/>
              <a:t>b×c</a:t>
            </a:r>
            <a:r>
              <a:rPr lang="zh-CN" altLang="en-US" smtClean="0"/>
              <a:t>和</a:t>
            </a:r>
            <a:r>
              <a:rPr lang="en-US" altLang="zh-CN" smtClean="0"/>
              <a:t>a</a:t>
            </a:r>
            <a:r>
              <a:rPr lang="zh-CN" altLang="en-US" smtClean="0"/>
              <a:t>的夹角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V=SH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/>
              <a:t>=|a|*|b×c|*cosα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/>
              <a:t>=a· (b×c)</a:t>
            </a:r>
          </a:p>
          <a:p>
            <a:pPr eaLnBrk="1" hangingPunct="1">
              <a:buClr>
                <a:srgbClr val="FE8637"/>
              </a:buClr>
            </a:pPr>
            <a:r>
              <a:rPr lang="en-US" altLang="zh-CN" smtClean="0">
                <a:solidFill>
                  <a:srgbClr val="000000"/>
                </a:solidFill>
              </a:rPr>
              <a:t>a·(b×c)</a:t>
            </a:r>
            <a:r>
              <a:rPr lang="zh-CN" altLang="en-US" smtClean="0">
                <a:solidFill>
                  <a:srgbClr val="000000"/>
                </a:solidFill>
              </a:rPr>
              <a:t>被称为向量的</a:t>
            </a:r>
            <a:r>
              <a:rPr lang="zh-CN" altLang="en-US" b="1" smtClean="0">
                <a:solidFill>
                  <a:srgbClr val="000000"/>
                </a:solidFill>
              </a:rPr>
              <a:t>混合积</a:t>
            </a:r>
            <a:r>
              <a:rPr lang="zh-CN" altLang="en-US" smtClean="0">
                <a:solidFill>
                  <a:srgbClr val="000000"/>
                </a:solidFill>
              </a:rPr>
              <a:t>，记作</a:t>
            </a:r>
            <a:r>
              <a:rPr lang="en-US" altLang="zh-CN" smtClean="0">
                <a:solidFill>
                  <a:srgbClr val="000000"/>
                </a:solidFill>
              </a:rPr>
              <a:t>[a,b,c]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175" y="1844675"/>
            <a:ext cx="3775075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计算几何基础：运算</a:t>
            </a:r>
            <a:endParaRPr lang="zh-CN" altLang="en-US" dirty="0">
              <a:cs typeface="+mj-cs"/>
            </a:endParaRPr>
          </a:p>
        </p:txBody>
      </p:sp>
      <p:sp>
        <p:nvSpPr>
          <p:cNvPr id="5734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为什么叫</a:t>
            </a:r>
            <a:r>
              <a:rPr lang="en-US" altLang="zh-CN" smtClean="0"/>
              <a:t>[a,b,c]</a:t>
            </a:r>
          </a:p>
          <a:p>
            <a:pPr eaLnBrk="1" hangingPunct="1"/>
            <a:r>
              <a:rPr lang="zh-CN" altLang="en-US" smtClean="0"/>
              <a:t>实质是一个三阶行列式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[a,b,c] = |det(a,b,c)|</a:t>
            </a:r>
          </a:p>
          <a:p>
            <a:pPr eaLnBrk="1" hangingPunct="1"/>
            <a:r>
              <a:rPr lang="zh-CN" altLang="en-US" smtClean="0"/>
              <a:t>混合积满足轮换性，</a:t>
            </a:r>
            <a:r>
              <a:rPr lang="en-US" altLang="zh-CN" smtClean="0"/>
              <a:t>[a,b,c]=[b,c,a]=[c,a,b]</a:t>
            </a:r>
          </a:p>
          <a:p>
            <a:pPr eaLnBrk="1" hangingPunct="1"/>
            <a:r>
              <a:rPr lang="en-US" altLang="zh-CN" smtClean="0"/>
              <a:t>[a,b,c] = -[c,b,a]</a:t>
            </a:r>
          </a:p>
          <a:p>
            <a:pPr eaLnBrk="1" hangingPunct="1"/>
            <a:r>
              <a:rPr lang="zh-CN" altLang="en-US" smtClean="0"/>
              <a:t>什么时候</a:t>
            </a:r>
            <a:r>
              <a:rPr lang="en-US" altLang="zh-CN" smtClean="0"/>
              <a:t>[a,b,c] &gt;0?</a:t>
            </a:r>
          </a:p>
          <a:p>
            <a:pPr lvl="1" eaLnBrk="1" hangingPunct="1"/>
            <a:r>
              <a:rPr lang="en-US" altLang="zh-CN" smtClean="0"/>
              <a:t>A,B,C</a:t>
            </a:r>
            <a:r>
              <a:rPr lang="zh-CN" altLang="en-US" smtClean="0"/>
              <a:t>成右手系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如何求以</a:t>
            </a:r>
            <a:r>
              <a:rPr lang="en-US" altLang="zh-CN" smtClean="0"/>
              <a:t>a,b,c</a:t>
            </a:r>
            <a:r>
              <a:rPr lang="zh-CN" altLang="en-US" smtClean="0"/>
              <a:t>为边的三</a:t>
            </a:r>
            <a:r>
              <a:rPr lang="zh-CN" altLang="en-US" b="1" smtClean="0"/>
              <a:t>棱锥</a:t>
            </a:r>
            <a:r>
              <a:rPr lang="zh-CN" altLang="en-US" smtClean="0"/>
              <a:t>体积？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V(</a:t>
            </a:r>
            <a:r>
              <a:rPr lang="zh-CN" altLang="en-US" smtClean="0"/>
              <a:t>三棱锥</a:t>
            </a:r>
            <a:r>
              <a:rPr lang="en-US" altLang="zh-CN" smtClean="0"/>
              <a:t>)=1/6V(</a:t>
            </a:r>
            <a:r>
              <a:rPr lang="zh-CN" altLang="en-US" smtClean="0"/>
              <a:t>六面体</a:t>
            </a:r>
            <a:r>
              <a:rPr lang="en-US" altLang="zh-CN" smtClean="0"/>
              <a:t>)</a:t>
            </a:r>
          </a:p>
          <a:p>
            <a:pPr eaLnBrk="1" hangingPunct="1"/>
            <a:r>
              <a:rPr lang="zh-CN" altLang="en-US" smtClean="0"/>
              <a:t>三维空间中的三棱锥也被称为单纯形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 Letter To Programmers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给定一个向量，模拟以下操作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(1)</a:t>
            </a:r>
            <a:r>
              <a:rPr lang="zh-CN" altLang="en-US" dirty="0" smtClean="0"/>
              <a:t>平移增量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x,y,z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(2)</a:t>
            </a:r>
            <a:r>
              <a:rPr lang="zh-CN" altLang="en-US" dirty="0" smtClean="0"/>
              <a:t>将向量放大到</a:t>
            </a:r>
            <a:r>
              <a:rPr lang="en-US" altLang="zh-CN" dirty="0" smtClean="0"/>
              <a:t>α</a:t>
            </a:r>
            <a:r>
              <a:rPr lang="zh-CN" altLang="en-US" dirty="0" smtClean="0"/>
              <a:t>倍</a:t>
            </a:r>
            <a:endParaRPr lang="en-US" altLang="zh-CN" dirty="0" smtClean="0"/>
          </a:p>
          <a:p>
            <a:r>
              <a:rPr lang="en-US" altLang="zh-CN" dirty="0" smtClean="0"/>
              <a:t>(3)</a:t>
            </a:r>
            <a:r>
              <a:rPr lang="zh-CN" altLang="en-US" dirty="0" smtClean="0"/>
              <a:t>将向量沿指定的旋转轴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x,y,z</a:t>
            </a:r>
            <a:r>
              <a:rPr lang="en-US" altLang="zh-CN" dirty="0" smtClean="0"/>
              <a:t>)</a:t>
            </a:r>
            <a:r>
              <a:rPr lang="zh-CN" altLang="en-US" dirty="0" smtClean="0"/>
              <a:t>逆时针旋转</a:t>
            </a:r>
            <a:r>
              <a:rPr lang="en-US" altLang="zh-CN" dirty="0" smtClean="0"/>
              <a:t>d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r>
              <a:rPr lang="en-US" altLang="zh-CN" dirty="0" smtClean="0"/>
              <a:t>(4)</a:t>
            </a:r>
            <a:r>
              <a:rPr lang="zh-CN" altLang="en-US" dirty="0" smtClean="0"/>
              <a:t>将之前的</a:t>
            </a:r>
            <a:r>
              <a:rPr lang="en-US" altLang="zh-CN" dirty="0" smtClean="0"/>
              <a:t>x</a:t>
            </a:r>
            <a:r>
              <a:rPr lang="zh-CN" altLang="en-US" dirty="0" smtClean="0"/>
              <a:t>个操作重复执行</a:t>
            </a:r>
            <a:r>
              <a:rPr lang="en-US" altLang="zh-CN" dirty="0" smtClean="0"/>
              <a:t>y</a:t>
            </a:r>
            <a:r>
              <a:rPr lang="zh-CN" altLang="en-US" dirty="0" smtClean="0"/>
              <a:t>次</a:t>
            </a:r>
            <a:endParaRPr lang="en-US" altLang="zh-CN" dirty="0" smtClean="0"/>
          </a:p>
          <a:p>
            <a:r>
              <a:rPr lang="zh-CN" altLang="en-US" dirty="0" smtClean="0"/>
              <a:t>序列长</a:t>
            </a:r>
            <a:r>
              <a:rPr lang="en-US" altLang="zh-CN" dirty="0" smtClean="0"/>
              <a:t>&lt;=1000 </a:t>
            </a:r>
            <a:r>
              <a:rPr lang="zh-CN" altLang="en-US" dirty="0" smtClean="0"/>
              <a:t>涉及数字除角度外均为整数且</a:t>
            </a:r>
            <a:r>
              <a:rPr lang="en-US" altLang="zh-CN" dirty="0" smtClean="0"/>
              <a:t>&lt;1000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构造变换矩阵，进行矩阵乘法</a:t>
            </a:r>
            <a:endParaRPr lang="en-US" altLang="zh-CN" dirty="0" smtClean="0"/>
          </a:p>
          <a:p>
            <a:r>
              <a:rPr lang="zh-CN" altLang="en-US" dirty="0" smtClean="0"/>
              <a:t>声明向量为</a:t>
            </a:r>
            <a:r>
              <a:rPr lang="en-US" altLang="zh-CN" dirty="0" smtClean="0"/>
              <a:t>(x,y,z,1)</a:t>
            </a:r>
          </a:p>
          <a:p>
            <a:pPr lvl="1"/>
            <a:r>
              <a:rPr lang="zh-CN" altLang="en-US" dirty="0" smtClean="0"/>
              <a:t>第四维的作用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放缩向量可以类似写出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2736304" cy="1685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在二维平面上，一个向量逆时针旋转</a:t>
            </a:r>
            <a:r>
              <a:rPr lang="en-US" altLang="zh-CN" dirty="0" smtClean="0"/>
              <a:t>α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r>
              <a:rPr lang="en-US" altLang="zh-CN" dirty="0" smtClean="0"/>
              <a:t>A=((</a:t>
            </a:r>
            <a:r>
              <a:rPr lang="en-US" altLang="zh-CN" dirty="0" err="1" smtClean="0"/>
              <a:t>cos</a:t>
            </a:r>
            <a:r>
              <a:rPr lang="en-US" altLang="zh-CN" dirty="0" smtClean="0"/>
              <a:t> α,-sin α),(sin </a:t>
            </a:r>
            <a:r>
              <a:rPr lang="en-US" altLang="zh-CN" dirty="0" err="1" smtClean="0"/>
              <a:t>α,cos</a:t>
            </a:r>
            <a:r>
              <a:rPr lang="en-US" altLang="zh-CN" dirty="0" smtClean="0"/>
              <a:t> </a:t>
            </a:r>
            <a:r>
              <a:rPr lang="en-US" altLang="zh-CN" dirty="0" smtClean="0"/>
              <a:t>α))</a:t>
            </a:r>
          </a:p>
          <a:p>
            <a:r>
              <a:rPr lang="zh-CN" altLang="en-US" dirty="0" smtClean="0"/>
              <a:t>在三维平面上，一个向量</a:t>
            </a:r>
            <a:r>
              <a:rPr lang="zh-CN" altLang="en-US" b="1" dirty="0" smtClean="0"/>
              <a:t>绕</a:t>
            </a:r>
            <a:r>
              <a:rPr lang="en-US" altLang="zh-CN" b="1" dirty="0" smtClean="0"/>
              <a:t>z</a:t>
            </a:r>
            <a:r>
              <a:rPr lang="zh-CN" altLang="en-US" b="1" dirty="0" smtClean="0"/>
              <a:t>轴</a:t>
            </a:r>
            <a:r>
              <a:rPr lang="zh-CN" altLang="en-US" dirty="0" smtClean="0"/>
              <a:t>逆时针旋转</a:t>
            </a:r>
            <a:r>
              <a:rPr lang="en-US" altLang="zh-CN" dirty="0" smtClean="0"/>
              <a:t>α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在三维平面上，一个向量</a:t>
            </a:r>
            <a:r>
              <a:rPr lang="zh-CN" altLang="en-US" b="1" dirty="0" smtClean="0"/>
              <a:t>绕</a:t>
            </a:r>
            <a:r>
              <a:rPr lang="en-US" altLang="zh-CN" b="1" dirty="0" smtClean="0"/>
              <a:t>x</a:t>
            </a:r>
            <a:r>
              <a:rPr lang="zh-CN" altLang="en-US" b="1" dirty="0" smtClean="0"/>
              <a:t>轴</a:t>
            </a:r>
            <a:r>
              <a:rPr lang="zh-CN" altLang="en-US" dirty="0" smtClean="0"/>
              <a:t>逆时针旋转</a:t>
            </a:r>
            <a:r>
              <a:rPr lang="en-US" altLang="zh-CN" dirty="0" smtClean="0"/>
              <a:t>α</a:t>
            </a:r>
            <a:r>
              <a:rPr lang="zh-CN" altLang="en-US" dirty="0" smtClean="0"/>
              <a:t>度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在三维平面上，一个向量</a:t>
            </a:r>
            <a:r>
              <a:rPr lang="zh-CN" altLang="en-US" b="1" dirty="0" smtClean="0"/>
              <a:t>绕</a:t>
            </a:r>
            <a:r>
              <a:rPr lang="en-US" altLang="zh-CN" b="1" dirty="0" smtClean="0"/>
              <a:t>y</a:t>
            </a:r>
            <a:r>
              <a:rPr lang="zh-CN" altLang="en-US" b="1" dirty="0" smtClean="0"/>
              <a:t>轴</a:t>
            </a:r>
            <a:r>
              <a:rPr lang="zh-CN" altLang="en-US" dirty="0" smtClean="0"/>
              <a:t>逆时针旋转</a:t>
            </a:r>
            <a:r>
              <a:rPr lang="en-US" altLang="zh-CN" dirty="0" smtClean="0"/>
              <a:t>α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在三维平面上，一个向量先绕</a:t>
            </a:r>
            <a:r>
              <a:rPr lang="en-US" altLang="zh-CN" dirty="0" smtClean="0"/>
              <a:t>x</a:t>
            </a:r>
            <a:r>
              <a:rPr lang="zh-CN" altLang="en-US" dirty="0" smtClean="0"/>
              <a:t>旋转</a:t>
            </a:r>
            <a:r>
              <a:rPr lang="en-US" altLang="zh-CN" dirty="0" smtClean="0"/>
              <a:t>α</a:t>
            </a:r>
            <a:r>
              <a:rPr lang="zh-CN" altLang="en-US" dirty="0" smtClean="0"/>
              <a:t>度，再按</a:t>
            </a:r>
            <a:r>
              <a:rPr lang="en-US" altLang="zh-CN" dirty="0" smtClean="0"/>
              <a:t>y</a:t>
            </a:r>
            <a:r>
              <a:rPr lang="zh-CN" altLang="en-US" dirty="0" smtClean="0"/>
              <a:t>旋转</a:t>
            </a:r>
            <a:r>
              <a:rPr lang="en-US" altLang="zh-CN" dirty="0" smtClean="0"/>
              <a:t>β</a:t>
            </a:r>
            <a:r>
              <a:rPr lang="zh-CN" altLang="en-US" dirty="0" smtClean="0"/>
              <a:t>度，最后按</a:t>
            </a:r>
            <a:r>
              <a:rPr lang="en-US" altLang="zh-CN" dirty="0" smtClean="0"/>
              <a:t>z</a:t>
            </a:r>
            <a:r>
              <a:rPr lang="zh-CN" altLang="en-US" dirty="0" smtClean="0"/>
              <a:t>旋转</a:t>
            </a:r>
            <a:r>
              <a:rPr lang="en-US" altLang="zh-CN" dirty="0" smtClean="0"/>
              <a:t>γ</a:t>
            </a:r>
            <a:r>
              <a:rPr lang="zh-CN" altLang="en-US" dirty="0" smtClean="0"/>
              <a:t>度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3816424" cy="449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符合题目要求的是第一个</a:t>
            </a:r>
            <a:endParaRPr lang="en-US" altLang="zh-CN" dirty="0" smtClean="0"/>
          </a:p>
          <a:p>
            <a:r>
              <a:rPr lang="zh-CN" altLang="en-US" dirty="0" smtClean="0"/>
              <a:t>考虑原题，旋转平面法向量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将指定向量旋转到</a:t>
            </a:r>
            <a:r>
              <a:rPr lang="en-US" altLang="zh-CN" dirty="0" smtClean="0"/>
              <a:t>z</a:t>
            </a:r>
            <a:r>
              <a:rPr lang="zh-CN" altLang="en-US" dirty="0" smtClean="0"/>
              <a:t>轴</a:t>
            </a:r>
            <a:endParaRPr lang="zh-CN" altLang="en-US" dirty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88840"/>
            <a:ext cx="7872875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(1)</a:t>
            </a:r>
            <a:r>
              <a:rPr lang="zh-CN" altLang="en-US" dirty="0" smtClean="0"/>
              <a:t>沿</a:t>
            </a:r>
            <a:r>
              <a:rPr lang="en-US" altLang="zh-CN" dirty="0" smtClean="0"/>
              <a:t>z</a:t>
            </a:r>
            <a:r>
              <a:rPr lang="zh-CN" altLang="en-US" dirty="0" smtClean="0"/>
              <a:t>轴，旋转向量到</a:t>
            </a:r>
            <a:r>
              <a:rPr lang="en-US" altLang="zh-CN" dirty="0" err="1" smtClean="0"/>
              <a:t>xOz</a:t>
            </a:r>
            <a:r>
              <a:rPr lang="zh-CN" altLang="en-US" dirty="0" smtClean="0"/>
              <a:t>平面</a:t>
            </a:r>
            <a:endParaRPr lang="en-US" altLang="zh-CN" dirty="0" smtClean="0"/>
          </a:p>
          <a:p>
            <a:r>
              <a:rPr lang="en-US" altLang="zh-CN" dirty="0" smtClean="0"/>
              <a:t>(2)</a:t>
            </a:r>
            <a:r>
              <a:rPr lang="zh-CN" altLang="en-US" dirty="0" smtClean="0"/>
              <a:t>沿</a:t>
            </a:r>
            <a:r>
              <a:rPr lang="en-US" altLang="zh-CN" dirty="0" smtClean="0"/>
              <a:t>y</a:t>
            </a:r>
            <a:r>
              <a:rPr lang="zh-CN" altLang="en-US" dirty="0" smtClean="0"/>
              <a:t>轴，旋转向量到</a:t>
            </a:r>
            <a:r>
              <a:rPr lang="en-US" altLang="zh-CN" dirty="0" smtClean="0"/>
              <a:t>z</a:t>
            </a:r>
            <a:r>
              <a:rPr lang="zh-CN" altLang="en-US" dirty="0" smtClean="0"/>
              <a:t>轴上</a:t>
            </a:r>
            <a:endParaRPr lang="en-US" altLang="zh-CN" dirty="0" smtClean="0"/>
          </a:p>
          <a:p>
            <a:r>
              <a:rPr lang="zh-CN" altLang="en-US" dirty="0" smtClean="0"/>
              <a:t>现在可以处理沿原点旋转的情况了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先将法向量旋转到</a:t>
            </a:r>
            <a:r>
              <a:rPr lang="en-US" altLang="zh-CN" dirty="0" smtClean="0"/>
              <a:t>z</a:t>
            </a:r>
            <a:r>
              <a:rPr lang="zh-CN" altLang="en-US" dirty="0" smtClean="0"/>
              <a:t>轴，沿</a:t>
            </a:r>
            <a:r>
              <a:rPr lang="en-US" altLang="zh-CN" dirty="0" err="1" smtClean="0"/>
              <a:t>xOy</a:t>
            </a:r>
            <a:r>
              <a:rPr lang="zh-CN" altLang="en-US" dirty="0" smtClean="0"/>
              <a:t>平面旋转角度，再把法向量转回去</a:t>
            </a:r>
            <a:endParaRPr lang="zh-CN" altLang="en-US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36290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068960"/>
            <a:ext cx="59436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第二</a:t>
            </a:r>
            <a:r>
              <a:rPr lang="zh-CN" altLang="en-US" dirty="0" smtClean="0"/>
              <a:t>个矩阵是假设法向量为单位向量得到的</a:t>
            </a:r>
            <a:endParaRPr lang="en-US" altLang="zh-CN" dirty="0" smtClean="0"/>
          </a:p>
          <a:p>
            <a:r>
              <a:rPr lang="zh-CN" altLang="en-US" dirty="0" smtClean="0"/>
              <a:t>解决原问题</a:t>
            </a:r>
            <a:endParaRPr lang="en-US" altLang="zh-CN" dirty="0" smtClean="0"/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805815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933056"/>
            <a:ext cx="7108482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计算几何基础：变换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先把平面移回原点</a:t>
            </a:r>
            <a:r>
              <a:rPr lang="en-US" altLang="zh-CN" dirty="0" smtClean="0"/>
              <a:t>(-a,-b,-c)</a:t>
            </a:r>
            <a:r>
              <a:rPr lang="zh-CN" altLang="en-US" dirty="0" smtClean="0"/>
              <a:t>，最后再移回去</a:t>
            </a:r>
            <a:endParaRPr lang="en-US" altLang="zh-CN" dirty="0" smtClean="0"/>
          </a:p>
          <a:p>
            <a:r>
              <a:rPr lang="zh-CN" altLang="en-US" dirty="0" smtClean="0"/>
              <a:t>直线是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a,b,c</a:t>
            </a:r>
            <a:r>
              <a:rPr lang="en-US" altLang="zh-CN" dirty="0" smtClean="0"/>
              <a:t>)-&gt;(</a:t>
            </a:r>
            <a:r>
              <a:rPr lang="en-US" altLang="zh-CN" dirty="0" err="1" smtClean="0"/>
              <a:t>d,e,f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，方向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u,v,w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是单位向量</a:t>
            </a:r>
            <a:endParaRPr lang="en-US" altLang="zh-CN" dirty="0" smtClean="0"/>
          </a:p>
          <a:p>
            <a:r>
              <a:rPr lang="zh-CN" altLang="en-US" dirty="0" smtClean="0"/>
              <a:t>将点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x,y,z</a:t>
            </a:r>
            <a:r>
              <a:rPr lang="en-US" altLang="zh-CN" dirty="0" smtClean="0"/>
              <a:t>)</a:t>
            </a:r>
            <a:r>
              <a:rPr lang="zh-CN" altLang="en-US" dirty="0" smtClean="0"/>
              <a:t>带入，可以得到第二式</a:t>
            </a:r>
            <a:endParaRPr lang="zh-CN" altLang="en-US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3534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212976"/>
            <a:ext cx="71342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凸包：定义和实现</a:t>
            </a:r>
            <a:endParaRPr lang="zh-CN" altLang="en-US" dirty="0">
              <a:cs typeface="+mj-cs"/>
            </a:endParaRPr>
          </a:p>
        </p:txBody>
      </p:sp>
      <p:sp>
        <p:nvSpPr>
          <p:cNvPr id="5837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在三维空间上定义凸多面体</a:t>
            </a:r>
            <a:r>
              <a:rPr lang="en-US" altLang="zh-CN" smtClean="0"/>
              <a:t>(convex polyhedron)</a:t>
            </a:r>
          </a:p>
          <a:p>
            <a:pPr lvl="1" eaLnBrk="1" hangingPunct="1"/>
            <a:r>
              <a:rPr lang="zh-CN" altLang="en-US" smtClean="0"/>
              <a:t>对于形内两点</a:t>
            </a:r>
            <a:r>
              <a:rPr lang="en-US" altLang="zh-CN" smtClean="0"/>
              <a:t>X</a:t>
            </a:r>
            <a:r>
              <a:rPr lang="zh-CN" altLang="en-US" smtClean="0"/>
              <a:t>和</a:t>
            </a:r>
            <a:r>
              <a:rPr lang="en-US" altLang="zh-CN" smtClean="0"/>
              <a:t>Y</a:t>
            </a:r>
            <a:r>
              <a:rPr lang="zh-CN" altLang="en-US" smtClean="0"/>
              <a:t>，线段</a:t>
            </a:r>
            <a:r>
              <a:rPr lang="en-US" altLang="zh-CN" smtClean="0"/>
              <a:t>XY</a:t>
            </a:r>
            <a:r>
              <a:rPr lang="zh-CN" altLang="en-US" smtClean="0"/>
              <a:t>一定完全位于形内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对于多边形的每个面，整个多边形都在其一侧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…………</a:t>
            </a:r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如何存储凸多面体？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关键：存储凸多边形的面</a:t>
            </a:r>
            <a:r>
              <a:rPr lang="en-US" altLang="zh-CN" smtClean="0"/>
              <a:t>(facet)</a:t>
            </a:r>
          </a:p>
          <a:p>
            <a:pPr lvl="1" eaLnBrk="1" hangingPunct="1"/>
            <a:r>
              <a:rPr lang="zh-CN" altLang="en-US" smtClean="0"/>
              <a:t>拆一条边为两条半边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见右面的环绕标志</a:t>
            </a:r>
            <a:endParaRPr lang="en-US" altLang="zh-CN" smtClean="0"/>
          </a:p>
          <a:p>
            <a:pPr lvl="1" eaLnBrk="1" hangingPunct="1"/>
            <a:r>
              <a:rPr lang="zh-CN" altLang="en-US" b="1" smtClean="0"/>
              <a:t>所有平面法线向外</a:t>
            </a:r>
            <a:endParaRPr lang="en-US" altLang="zh-CN" b="1" smtClean="0"/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7900" y="3429000"/>
            <a:ext cx="32004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Aerodynamics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给定凸多面体</a:t>
            </a:r>
            <a:r>
              <a:rPr lang="en-US" altLang="zh-CN" dirty="0" smtClean="0"/>
              <a:t>S</a:t>
            </a:r>
            <a:r>
              <a:rPr lang="zh-CN" altLang="en-US" dirty="0" smtClean="0"/>
              <a:t>上的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个顶点，假设所有顶点的</a:t>
            </a:r>
            <a:r>
              <a:rPr lang="en-US" altLang="zh-CN" dirty="0" smtClean="0"/>
              <a:t>z</a:t>
            </a:r>
            <a:r>
              <a:rPr lang="zh-CN" altLang="en-US" dirty="0" smtClean="0"/>
              <a:t>坐标最小为</a:t>
            </a:r>
            <a:r>
              <a:rPr lang="en-US" altLang="zh-CN" dirty="0" err="1" smtClean="0"/>
              <a:t>zmin</a:t>
            </a:r>
            <a:r>
              <a:rPr lang="zh-CN" altLang="en-US" dirty="0" smtClean="0"/>
              <a:t>最大为</a:t>
            </a:r>
            <a:r>
              <a:rPr lang="en-US" altLang="zh-CN" dirty="0" err="1" smtClean="0"/>
              <a:t>zmax</a:t>
            </a:r>
            <a:r>
              <a:rPr lang="zh-CN" altLang="en-US" dirty="0" smtClean="0"/>
              <a:t>，求</a:t>
            </a:r>
            <a:r>
              <a:rPr lang="en-US" altLang="zh-CN" dirty="0" smtClean="0"/>
              <a:t>S</a:t>
            </a:r>
            <a:r>
              <a:rPr lang="zh-CN" altLang="en-US" dirty="0" smtClean="0"/>
              <a:t>在</a:t>
            </a:r>
            <a:r>
              <a:rPr lang="en-US" altLang="zh-CN" dirty="0" smtClean="0"/>
              <a:t>z=</a:t>
            </a:r>
            <a:r>
              <a:rPr lang="en-US" altLang="zh-CN" dirty="0" err="1" smtClean="0"/>
              <a:t>zmin</a:t>
            </a:r>
            <a:r>
              <a:rPr lang="zh-CN" altLang="en-US" dirty="0" smtClean="0"/>
              <a:t>到</a:t>
            </a:r>
            <a:r>
              <a:rPr lang="en-US" altLang="zh-CN" dirty="0" smtClean="0"/>
              <a:t>z=</a:t>
            </a:r>
            <a:r>
              <a:rPr lang="en-US" altLang="zh-CN" dirty="0" err="1" smtClean="0"/>
              <a:t>zmax</a:t>
            </a:r>
            <a:r>
              <a:rPr lang="zh-CN" altLang="en-US" dirty="0" smtClean="0"/>
              <a:t>中每个整数平面上截取的面积。</a:t>
            </a:r>
            <a:endParaRPr lang="en-US" altLang="zh-CN" dirty="0" smtClean="0"/>
          </a:p>
          <a:p>
            <a:r>
              <a:rPr lang="en-US" altLang="zh-CN" dirty="0" smtClean="0"/>
              <a:t>N&lt;=100,x,y,z&lt;=100</a:t>
            </a:r>
            <a:r>
              <a:rPr lang="zh-CN" altLang="en-US" dirty="0" smtClean="0"/>
              <a:t>且均为整数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502419"/>
            <a:ext cx="5007470" cy="335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Aerodynamics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需要计算三维凸包么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对于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zmin,zmax</a:t>
            </a:r>
            <a:r>
              <a:rPr lang="en-US" altLang="zh-CN" dirty="0" smtClean="0"/>
              <a:t>]</a:t>
            </a:r>
            <a:r>
              <a:rPr lang="zh-CN" altLang="en-US" dirty="0" smtClean="0"/>
              <a:t>中的每个整数，计算所有边在</a:t>
            </a:r>
            <a:r>
              <a:rPr lang="en-US" altLang="zh-CN" dirty="0" smtClean="0"/>
              <a:t>z=z’</a:t>
            </a:r>
            <a:r>
              <a:rPr lang="zh-CN" altLang="en-US" dirty="0" smtClean="0"/>
              <a:t>上的投影，计算凸包面积即可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Shade of Hallelujah Mountain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给定凸多边形</a:t>
            </a:r>
            <a:r>
              <a:rPr lang="en-US" altLang="zh-CN" dirty="0" smtClean="0"/>
              <a:t>S</a:t>
            </a:r>
            <a:r>
              <a:rPr lang="zh-CN" altLang="en-US" dirty="0" smtClean="0"/>
              <a:t>，一个投影平面</a:t>
            </a:r>
            <a:r>
              <a:rPr lang="en-US" altLang="zh-CN" dirty="0" smtClean="0"/>
              <a:t>P0</a:t>
            </a:r>
            <a:r>
              <a:rPr lang="zh-CN" altLang="en-US" dirty="0" smtClean="0"/>
              <a:t>和光源</a:t>
            </a:r>
            <a:r>
              <a:rPr lang="en-US" altLang="zh-CN" dirty="0" smtClean="0"/>
              <a:t>L</a:t>
            </a:r>
          </a:p>
          <a:p>
            <a:r>
              <a:rPr lang="zh-CN" altLang="en-US" dirty="0" smtClean="0"/>
              <a:t>求</a:t>
            </a:r>
            <a:r>
              <a:rPr lang="en-US" altLang="zh-CN" dirty="0" smtClean="0"/>
              <a:t>S</a:t>
            </a:r>
            <a:r>
              <a:rPr lang="zh-CN" altLang="en-US" dirty="0" smtClean="0"/>
              <a:t>在</a:t>
            </a:r>
            <a:r>
              <a:rPr lang="en-US" altLang="zh-CN" dirty="0" smtClean="0"/>
              <a:t>P0</a:t>
            </a:r>
            <a:r>
              <a:rPr lang="zh-CN" altLang="en-US" dirty="0" smtClean="0"/>
              <a:t>上造成阴影的体积大小</a:t>
            </a:r>
            <a:endParaRPr lang="en-US" altLang="zh-CN" dirty="0" smtClean="0"/>
          </a:p>
          <a:p>
            <a:r>
              <a:rPr lang="zh-CN" altLang="en-US" dirty="0" smtClean="0"/>
              <a:t>简单起见，保证平面和凸多边形不相交。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N&lt;=100.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平面旋转后求凸包即可</a:t>
            </a:r>
            <a:endParaRPr lang="en-US" altLang="zh-CN" dirty="0" smtClean="0"/>
          </a:p>
          <a:p>
            <a:r>
              <a:rPr lang="zh-CN" altLang="en-US" dirty="0" smtClean="0"/>
              <a:t>不用旋转知识怎么做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卷包裹法</a:t>
            </a:r>
            <a:r>
              <a:rPr lang="en-US" altLang="zh-CN" dirty="0" smtClean="0">
                <a:cs typeface="+mj-cs"/>
              </a:rPr>
              <a:t>(Gift-Wrapping)</a:t>
            </a:r>
            <a:endParaRPr lang="zh-CN" altLang="en-US" dirty="0">
              <a:cs typeface="+mj-cs"/>
            </a:endParaRPr>
          </a:p>
        </p:txBody>
      </p:sp>
      <p:sp>
        <p:nvSpPr>
          <p:cNvPr id="5939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回忆</a:t>
            </a:r>
            <a:r>
              <a:rPr lang="en-US" altLang="zh-CN" smtClean="0"/>
              <a:t>2D</a:t>
            </a:r>
            <a:r>
              <a:rPr lang="zh-CN" altLang="en-US" smtClean="0"/>
              <a:t>下的卷包裹法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Expand to 3D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一张纸紧贴着凸包的</a:t>
            </a:r>
            <a:r>
              <a:rPr lang="zh-CN" altLang="en-US" b="1" smtClean="0"/>
              <a:t>一条边</a:t>
            </a:r>
            <a:r>
              <a:rPr lang="en-US" altLang="zh-CN" b="1" smtClean="0"/>
              <a:t>AB</a:t>
            </a:r>
            <a:r>
              <a:rPr lang="zh-CN" altLang="en-US" smtClean="0"/>
              <a:t>沿</a:t>
            </a:r>
            <a:r>
              <a:rPr lang="en-US" altLang="zh-CN" smtClean="0"/>
              <a:t>AB</a:t>
            </a:r>
            <a:r>
              <a:rPr lang="zh-CN" altLang="en-US" smtClean="0"/>
              <a:t>的右手边收拢，直到遇到顶点</a:t>
            </a:r>
            <a:r>
              <a:rPr lang="en-US" altLang="zh-CN" smtClean="0"/>
              <a:t>C</a:t>
            </a:r>
            <a:r>
              <a:rPr lang="zh-CN" altLang="en-US" smtClean="0"/>
              <a:t>为止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那么</a:t>
            </a:r>
            <a:r>
              <a:rPr lang="en-US" altLang="zh-CN" smtClean="0"/>
              <a:t>ABC</a:t>
            </a:r>
            <a:r>
              <a:rPr lang="zh-CN" altLang="en-US" smtClean="0"/>
              <a:t>是凸包上的一个面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下一个方向？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递归：沿</a:t>
            </a:r>
            <a:r>
              <a:rPr lang="en-US" altLang="zh-CN" smtClean="0"/>
              <a:t>ac</a:t>
            </a:r>
            <a:r>
              <a:rPr lang="zh-CN" altLang="en-US" smtClean="0"/>
              <a:t>和</a:t>
            </a:r>
            <a:r>
              <a:rPr lang="en-US" altLang="zh-CN" smtClean="0"/>
              <a:t>cb</a:t>
            </a:r>
            <a:r>
              <a:rPr lang="zh-CN" altLang="en-US" smtClean="0"/>
              <a:t>方向搜索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去递归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拓展性：能不能拓展到高维度上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卷包裹法</a:t>
            </a:r>
            <a:r>
              <a:rPr lang="en-US" altLang="zh-CN" dirty="0" smtClean="0">
                <a:cs typeface="+mj-cs"/>
              </a:rPr>
              <a:t>(Gift-Wrapping)</a:t>
            </a:r>
            <a:endParaRPr lang="zh-CN" altLang="en-US" dirty="0">
              <a:cs typeface="+mj-cs"/>
            </a:endParaRPr>
          </a:p>
        </p:txBody>
      </p:sp>
      <p:sp>
        <p:nvSpPr>
          <p:cNvPr id="6041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  <a:p>
            <a:pPr eaLnBrk="1" hangingPunct="1"/>
            <a:r>
              <a:rPr lang="zh-CN" altLang="en-US" smtClean="0"/>
              <a:t>初始边的选择（见图</a:t>
            </a:r>
            <a:r>
              <a:rPr lang="en-US" altLang="zh-CN" smtClean="0"/>
              <a:t>(a)</a:t>
            </a:r>
            <a:r>
              <a:rPr lang="zh-CN" altLang="en-US" smtClean="0"/>
              <a:t>）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将点集投影到平面上求凸包，凸包的任一条边均可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时间复杂度</a:t>
            </a:r>
            <a:r>
              <a:rPr lang="en-US" altLang="zh-CN" smtClean="0"/>
              <a:t>O(nh)</a:t>
            </a:r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1700213"/>
            <a:ext cx="4967287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卷包裹法</a:t>
            </a:r>
            <a:r>
              <a:rPr lang="en-US" altLang="zh-CN" dirty="0" smtClean="0">
                <a:cs typeface="+mj-cs"/>
              </a:rPr>
              <a:t>(Gift-Wrapping)</a:t>
            </a:r>
            <a:endParaRPr lang="zh-CN" altLang="en-US" dirty="0"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void wrap(int i, int j) 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int k = i, l, m;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for(m = 0; m &lt; h; m++)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>
                <a:solidFill>
                  <a:srgbClr val="FF0000"/>
                </a:solidFill>
              </a:rPr>
              <a:t>    if ((I[m] == i &amp;&amp; J[m] == j) || (J[m] == i &amp;&amp; K[m] == j) ||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>
                <a:solidFill>
                  <a:srgbClr val="FF0000"/>
                </a:solidFill>
              </a:rPr>
              <a:t>        (K[m] == i &amp;&amp; I[m] == j))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pl-PL" altLang="zh-CN" dirty="0" smtClean="0">
                <a:solidFill>
                  <a:srgbClr val="FF0000"/>
                </a:solidFill>
              </a:rPr>
              <a:t>return;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for(l = 0; l &lt; n; l++)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  if(k == i || </a:t>
            </a:r>
            <a:r>
              <a:rPr lang="pl-PL" altLang="zh-CN" dirty="0" smtClean="0">
                <a:solidFill>
                  <a:srgbClr val="FF0000"/>
                </a:solidFill>
              </a:rPr>
              <a:t>SignedVolume(P[i],P[j],P[k],P[l]) </a:t>
            </a:r>
            <a:r>
              <a:rPr lang="pl-PL" altLang="zh-CN" dirty="0" smtClean="0"/>
              <a:t>&gt; EPS)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    k = l;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if(k == j) return;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I[h] = i;  J[h] = j;  K[h] = k;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  h++;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wrap(k,j); wrap(i,k);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r>
              <a:rPr lang="pl-PL" altLang="zh-CN" dirty="0" smtClean="0"/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r>
              <a:rPr lang="en-US" altLang="zh-CN" dirty="0" smtClean="0">
                <a:cs typeface="+mj-cs"/>
              </a:rPr>
              <a:t>(Incremental)</a:t>
            </a:r>
            <a:endParaRPr lang="zh-CN" altLang="en-US" dirty="0">
              <a:cs typeface="+mj-cs"/>
            </a:endParaRPr>
          </a:p>
        </p:txBody>
      </p:sp>
      <p:sp>
        <p:nvSpPr>
          <p:cNvPr id="6246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考虑在线版本的问题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给定点集</a:t>
            </a:r>
            <a:r>
              <a:rPr lang="en-US" altLang="zh-CN" smtClean="0"/>
              <a:t>P</a:t>
            </a:r>
            <a:r>
              <a:rPr lang="zh-CN" altLang="en-US" smtClean="0"/>
              <a:t>，每次加入一个点，动态维护</a:t>
            </a:r>
            <a:r>
              <a:rPr lang="en-US" altLang="zh-CN" smtClean="0"/>
              <a:t>P</a:t>
            </a:r>
            <a:r>
              <a:rPr lang="zh-CN" altLang="en-US" smtClean="0"/>
              <a:t>的凸包。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假设当前凸包未退化（体积</a:t>
            </a:r>
            <a:r>
              <a:rPr lang="en-US" altLang="zh-CN" smtClean="0"/>
              <a:t>&gt;0</a:t>
            </a:r>
            <a:r>
              <a:rPr lang="zh-CN" altLang="en-US" smtClean="0"/>
              <a:t>）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(1)</a:t>
            </a:r>
            <a:r>
              <a:rPr lang="zh-CN" altLang="en-US" smtClean="0"/>
              <a:t>点</a:t>
            </a:r>
            <a:r>
              <a:rPr lang="en-US" altLang="zh-CN" smtClean="0"/>
              <a:t>P</a:t>
            </a:r>
            <a:r>
              <a:rPr lang="zh-CN" altLang="en-US" smtClean="0"/>
              <a:t>在凸包内或凸包面上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(2)</a:t>
            </a:r>
            <a:r>
              <a:rPr lang="zh-CN" altLang="en-US" smtClean="0"/>
              <a:t>点</a:t>
            </a:r>
            <a:r>
              <a:rPr lang="en-US" altLang="zh-CN" smtClean="0"/>
              <a:t>P</a:t>
            </a:r>
            <a:r>
              <a:rPr lang="zh-CN" altLang="en-US" smtClean="0"/>
              <a:t>在凸包外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删除不必要的凸包面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将新点加入凸包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判定面</a:t>
            </a:r>
            <a:r>
              <a:rPr lang="en-US" altLang="zh-CN" smtClean="0"/>
              <a:t>(a,b,c)</a:t>
            </a:r>
            <a:r>
              <a:rPr lang="zh-CN" altLang="en-US" smtClean="0"/>
              <a:t>对点</a:t>
            </a:r>
            <a:r>
              <a:rPr lang="en-US" altLang="zh-CN" smtClean="0"/>
              <a:t>P</a:t>
            </a:r>
            <a:r>
              <a:rPr lang="zh-CN" altLang="en-US" smtClean="0"/>
              <a:t>可见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&lt;P-a,N&gt; &gt; 0</a:t>
            </a:r>
          </a:p>
          <a:p>
            <a:pPr lvl="1" eaLnBrk="1" hangingPunct="1"/>
            <a:r>
              <a:rPr lang="en-US" altLang="zh-CN" smtClean="0"/>
              <a:t>N=(b-a)×(c-a)</a:t>
            </a:r>
          </a:p>
          <a:p>
            <a:pPr lvl="1" eaLnBrk="1" hangingPunct="1"/>
            <a:r>
              <a:rPr lang="en-US" altLang="zh-CN" smtClean="0"/>
              <a:t>&lt;P-a,(b-a)×(c-a) &gt; &gt;0 -&gt; </a:t>
            </a:r>
            <a:r>
              <a:rPr lang="en-US" altLang="zh-CN" b="1" smtClean="0"/>
              <a:t>[p-a,b-a,c-a] &gt;0</a:t>
            </a:r>
            <a:endParaRPr lang="zh-CN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r>
              <a:rPr lang="en-US" altLang="zh-CN" dirty="0" smtClean="0">
                <a:cs typeface="+mj-cs"/>
              </a:rPr>
              <a:t>(Incremental)</a:t>
            </a:r>
            <a:endParaRPr lang="zh-CN" altLang="en-US" dirty="0">
              <a:cs typeface="+mj-cs"/>
            </a:endParaRPr>
          </a:p>
        </p:txBody>
      </p:sp>
      <p:sp>
        <p:nvSpPr>
          <p:cNvPr id="6349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  <a:p>
            <a:pPr eaLnBrk="1" hangingPunct="1"/>
            <a:r>
              <a:rPr lang="zh-CN" altLang="en-US" smtClean="0"/>
              <a:t>白色的面从</a:t>
            </a:r>
            <a:r>
              <a:rPr lang="en-US" altLang="zh-CN" smtClean="0"/>
              <a:t>Pr</a:t>
            </a:r>
            <a:r>
              <a:rPr lang="zh-CN" altLang="en-US" smtClean="0"/>
              <a:t>可见，灰色的面从</a:t>
            </a:r>
            <a:r>
              <a:rPr lang="en-US" altLang="zh-CN" smtClean="0"/>
              <a:t>Pr</a:t>
            </a:r>
            <a:r>
              <a:rPr lang="zh-CN" altLang="en-US" smtClean="0"/>
              <a:t>不可见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黑色的边被称为地平线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地平线的两端，一定是一个可见面一个不可见面</a:t>
            </a:r>
            <a:endParaRPr lang="en-US" altLang="zh-CN" smtClean="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1700213"/>
            <a:ext cx="3433763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r>
              <a:rPr lang="en-US" altLang="zh-CN" dirty="0" smtClean="0">
                <a:cs typeface="+mj-cs"/>
              </a:rPr>
              <a:t>(Incremental)</a:t>
            </a:r>
            <a:endParaRPr lang="zh-CN" altLang="en-US" dirty="0">
              <a:cs typeface="+mj-cs"/>
            </a:endParaRPr>
          </a:p>
        </p:txBody>
      </p:sp>
      <p:sp>
        <p:nvSpPr>
          <p:cNvPr id="6451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删除可见面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用新点连接地平线的每一条边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初始化：得到一个非退化的三棱锥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初始化失败的情况</a:t>
            </a:r>
            <a:endParaRPr lang="en-US" altLang="zh-CN" smtClean="0"/>
          </a:p>
        </p:txBody>
      </p:sp>
      <p:pic>
        <p:nvPicPr>
          <p:cNvPr id="645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700213"/>
            <a:ext cx="7424738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增量法</a:t>
            </a:r>
            <a:r>
              <a:rPr lang="en-US" altLang="zh-CN" dirty="0" smtClean="0">
                <a:cs typeface="+mj-cs"/>
              </a:rPr>
              <a:t>(Incremental)</a:t>
            </a:r>
            <a:endParaRPr lang="zh-CN" altLang="en-US" dirty="0">
              <a:cs typeface="+mj-cs"/>
            </a:endParaRPr>
          </a:p>
        </p:txBody>
      </p:sp>
      <p:sp>
        <p:nvSpPr>
          <p:cNvPr id="6553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证明：凸多面体的边数和面数是</a:t>
            </a:r>
            <a:r>
              <a:rPr lang="en-US" altLang="zh-CN" smtClean="0"/>
              <a:t>O(n)</a:t>
            </a:r>
            <a:r>
              <a:rPr lang="zh-CN" altLang="en-US" smtClean="0"/>
              <a:t>级别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(1)</a:t>
            </a:r>
            <a:r>
              <a:rPr lang="zh-CN" altLang="en-US" smtClean="0"/>
              <a:t>由欧拉公式，</a:t>
            </a:r>
            <a:r>
              <a:rPr lang="en-US" altLang="zh-CN" smtClean="0"/>
              <a:t>F(</a:t>
            </a:r>
            <a:r>
              <a:rPr lang="zh-CN" altLang="en-US" smtClean="0"/>
              <a:t>面数</a:t>
            </a:r>
            <a:r>
              <a:rPr lang="en-US" altLang="zh-CN" smtClean="0"/>
              <a:t>)+V(</a:t>
            </a:r>
            <a:r>
              <a:rPr lang="zh-CN" altLang="en-US" smtClean="0"/>
              <a:t>点数</a:t>
            </a:r>
            <a:r>
              <a:rPr lang="en-US" altLang="zh-CN" smtClean="0"/>
              <a:t>)-E(</a:t>
            </a:r>
            <a:r>
              <a:rPr lang="zh-CN" altLang="en-US" smtClean="0"/>
              <a:t>边数</a:t>
            </a:r>
            <a:r>
              <a:rPr lang="en-US" altLang="zh-CN" smtClean="0"/>
              <a:t>)=2</a:t>
            </a:r>
          </a:p>
          <a:p>
            <a:pPr lvl="1" eaLnBrk="1" hangingPunct="1"/>
            <a:r>
              <a:rPr lang="en-US" altLang="zh-CN" smtClean="0"/>
              <a:t>(2)</a:t>
            </a:r>
            <a:r>
              <a:rPr lang="zh-CN" altLang="en-US" smtClean="0"/>
              <a:t>一条边恰归属于两个面，一个面有</a:t>
            </a:r>
            <a:r>
              <a:rPr lang="en-US" altLang="zh-CN" smtClean="0"/>
              <a:t>&gt;=3</a:t>
            </a:r>
            <a:r>
              <a:rPr lang="zh-CN" altLang="en-US" smtClean="0"/>
              <a:t>条边，</a:t>
            </a:r>
            <a:r>
              <a:rPr lang="en-US" altLang="zh-CN" smtClean="0"/>
              <a:t>2E&gt;=3F</a:t>
            </a:r>
          </a:p>
          <a:p>
            <a:pPr lvl="1" eaLnBrk="1" hangingPunct="1"/>
            <a:r>
              <a:rPr lang="zh-CN" altLang="en-US" smtClean="0"/>
              <a:t>联立</a:t>
            </a:r>
            <a:r>
              <a:rPr lang="en-US" altLang="zh-CN" smtClean="0"/>
              <a:t>(1)(2)</a:t>
            </a:r>
            <a:r>
              <a:rPr lang="zh-CN" altLang="en-US" smtClean="0"/>
              <a:t>可得</a:t>
            </a:r>
            <a:r>
              <a:rPr lang="en-US" altLang="zh-CN" smtClean="0"/>
              <a:t>E&lt;=3V-6,F&lt;=2V-4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  <a:p>
            <a:pPr eaLnBrk="1" hangingPunct="1"/>
            <a:r>
              <a:rPr lang="zh-CN" altLang="en-US" smtClean="0"/>
              <a:t>时间复杂度：</a:t>
            </a:r>
            <a:r>
              <a:rPr lang="en-US" altLang="zh-CN" smtClean="0"/>
              <a:t>O(n^2)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查询可见面和地平线</a:t>
            </a:r>
            <a:endParaRPr lang="en-US" altLang="zh-CN" smtClean="0"/>
          </a:p>
          <a:p>
            <a:pPr lvl="1" eaLnBrk="1" hangingPunct="1"/>
            <a:r>
              <a:rPr lang="zh-CN" altLang="en-US" b="1" smtClean="0"/>
              <a:t>可以用一个</a:t>
            </a:r>
            <a:r>
              <a:rPr lang="en-US" altLang="zh-CN" b="1" smtClean="0"/>
              <a:t>DFS</a:t>
            </a:r>
            <a:r>
              <a:rPr lang="zh-CN" altLang="en-US" b="1" smtClean="0"/>
              <a:t>统一解决</a:t>
            </a:r>
            <a:endParaRPr lang="en-US" altLang="zh-CN" b="1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拓展性：可以拓展到高维情况</a:t>
            </a:r>
            <a:endParaRPr lang="en-US" altLang="zh-CN" smtClean="0"/>
          </a:p>
        </p:txBody>
      </p:sp>
      <p:pic>
        <p:nvPicPr>
          <p:cNvPr id="6553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9338" y="3429000"/>
            <a:ext cx="32004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随机增量</a:t>
            </a:r>
            <a:r>
              <a:rPr lang="en-US" altLang="zh-CN" dirty="0" smtClean="0">
                <a:cs typeface="+mj-cs"/>
              </a:rPr>
              <a:t>(Randomized Incremental)</a:t>
            </a:r>
            <a:endParaRPr lang="zh-CN" altLang="en-US" dirty="0">
              <a:cs typeface="+mj-cs"/>
            </a:endParaRPr>
          </a:p>
        </p:txBody>
      </p:sp>
      <p:sp>
        <p:nvSpPr>
          <p:cNvPr id="6656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考虑增量算法的一个改进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寻找地平线时不枚举所有面，而是利用之前的信息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  <p:pic>
        <p:nvPicPr>
          <p:cNvPr id="6656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700213"/>
            <a:ext cx="7424738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随机增量</a:t>
            </a:r>
            <a:r>
              <a:rPr lang="en-US" altLang="zh-CN" dirty="0" smtClean="0">
                <a:cs typeface="+mj-cs"/>
              </a:rPr>
              <a:t>(Randomized Incremental)</a:t>
            </a:r>
            <a:endParaRPr lang="zh-CN" altLang="en-US" dirty="0">
              <a:cs typeface="+mj-cs"/>
            </a:endParaRPr>
          </a:p>
        </p:txBody>
      </p:sp>
      <p:sp>
        <p:nvSpPr>
          <p:cNvPr id="5427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定义二分图</a:t>
            </a:r>
            <a:r>
              <a:rPr lang="en-US" altLang="zh-CN" smtClean="0"/>
              <a:t>C=(P,F,E)</a:t>
            </a:r>
          </a:p>
          <a:p>
            <a:pPr eaLnBrk="1" hangingPunct="1"/>
            <a:r>
              <a:rPr lang="zh-CN" altLang="en-US" smtClean="0"/>
              <a:t>如果一个点</a:t>
            </a:r>
            <a:r>
              <a:rPr lang="en-US" altLang="zh-CN" smtClean="0"/>
              <a:t>P</a:t>
            </a:r>
            <a:r>
              <a:rPr lang="zh-CN" altLang="en-US" smtClean="0"/>
              <a:t>看得到一个面</a:t>
            </a:r>
            <a:r>
              <a:rPr lang="en-US" altLang="zh-CN" smtClean="0"/>
              <a:t>F</a:t>
            </a:r>
            <a:r>
              <a:rPr lang="zh-CN" altLang="en-US" smtClean="0"/>
              <a:t>，在他们之间连边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得到的二分图称为冲突图（</a:t>
            </a:r>
            <a:r>
              <a:rPr lang="en-US" altLang="zh-CN" smtClean="0"/>
              <a:t>conflict graph</a:t>
            </a:r>
            <a:r>
              <a:rPr lang="zh-CN" altLang="en-US" smtClean="0"/>
              <a:t>）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冲突图的两部分别是未处理的点和已存在的面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查询可见面</a:t>
            </a:r>
            <a:r>
              <a:rPr lang="en-US" altLang="zh-CN" smtClean="0"/>
              <a:t> </a:t>
            </a:r>
          </a:p>
          <a:p>
            <a:pPr lvl="1" eaLnBrk="1" hangingPunct="1"/>
            <a:r>
              <a:rPr lang="zh-CN" altLang="en-US" smtClean="0"/>
              <a:t>直接从冲突图里面读取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设置点为已处理，删除平面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直接对二分图进行操作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加入新面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枚举每个点，判断可见性</a:t>
            </a:r>
            <a:endParaRPr lang="en-US" altLang="zh-CN" smtClean="0"/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5364163" y="3344863"/>
          <a:ext cx="2389187" cy="3046412"/>
        </p:xfrm>
        <a:graphic>
          <a:graphicData uri="http://schemas.openxmlformats.org/presentationml/2006/ole">
            <p:oleObj spid="_x0000_s54275" name="Bitmap Image" r:id="rId3" imgW="3315163" imgH="4229690" progId="PBrush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随机增量</a:t>
            </a:r>
            <a:r>
              <a:rPr lang="en-US" altLang="zh-CN" dirty="0" smtClean="0">
                <a:cs typeface="+mj-cs"/>
              </a:rPr>
              <a:t>(Randomized Incremental)</a:t>
            </a:r>
            <a:endParaRPr lang="zh-CN" altLang="en-US" dirty="0">
              <a:cs typeface="+mj-cs"/>
            </a:endParaRPr>
          </a:p>
        </p:txBody>
      </p:sp>
      <p:sp>
        <p:nvSpPr>
          <p:cNvPr id="6963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上图是</a:t>
            </a:r>
            <a:r>
              <a:rPr lang="en-US" altLang="zh-CN" smtClean="0"/>
              <a:t>Conflict graph</a:t>
            </a:r>
            <a:r>
              <a:rPr lang="zh-CN" altLang="en-US" smtClean="0"/>
              <a:t>的一个例子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初始化：建立单纯形，</a:t>
            </a:r>
            <a:r>
              <a:rPr lang="en-US" altLang="zh-CN" smtClean="0"/>
              <a:t>O(4n)</a:t>
            </a:r>
            <a:r>
              <a:rPr lang="zh-CN" altLang="en-US" smtClean="0"/>
              <a:t>建立初始冲突图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时间复杂度</a:t>
            </a:r>
            <a:r>
              <a:rPr lang="en-US" altLang="zh-CN" b="1" smtClean="0"/>
              <a:t>O(n^2)</a:t>
            </a:r>
            <a:r>
              <a:rPr lang="zh-CN" altLang="en-US" smtClean="0"/>
              <a:t>。</a:t>
            </a:r>
          </a:p>
        </p:txBody>
      </p:sp>
      <p:pic>
        <p:nvPicPr>
          <p:cNvPr id="6963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1916113"/>
            <a:ext cx="6467475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随机增量</a:t>
            </a:r>
            <a:r>
              <a:rPr lang="en-US" altLang="zh-CN" dirty="0" smtClean="0">
                <a:cs typeface="+mj-cs"/>
              </a:rPr>
              <a:t>(Randomized Incremental)</a:t>
            </a:r>
            <a:endParaRPr lang="zh-CN" altLang="en-US" dirty="0">
              <a:cs typeface="+mj-cs"/>
            </a:endParaRPr>
          </a:p>
        </p:txBody>
      </p:sp>
      <p:sp>
        <p:nvSpPr>
          <p:cNvPr id="7065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时间复杂度瓶颈在于加入新</a:t>
            </a:r>
            <a:r>
              <a:rPr lang="en-US" altLang="zh-CN" smtClean="0"/>
              <a:t>facet</a:t>
            </a:r>
            <a:r>
              <a:rPr lang="zh-CN" altLang="en-US" smtClean="0"/>
              <a:t>时的处理。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>
              <a:buFont typeface="Wingdings" pitchFamily="2" charset="2"/>
              <a:buNone/>
            </a:pPr>
            <a:endParaRPr lang="en-US" altLang="zh-CN" smtClean="0"/>
          </a:p>
          <a:p>
            <a:pPr eaLnBrk="1" hangingPunct="1"/>
            <a:r>
              <a:rPr lang="zh-CN" altLang="en-US" smtClean="0"/>
              <a:t>新的面一定连接当前处理点</a:t>
            </a:r>
            <a:r>
              <a:rPr lang="en-US" altLang="zh-CN" smtClean="0"/>
              <a:t>Pr</a:t>
            </a:r>
            <a:r>
              <a:rPr lang="zh-CN" altLang="en-US" smtClean="0"/>
              <a:t>和一条地平线</a:t>
            </a:r>
            <a:r>
              <a:rPr lang="en-US" altLang="zh-CN" smtClean="0"/>
              <a:t>e</a:t>
            </a:r>
          </a:p>
          <a:p>
            <a:pPr eaLnBrk="1" hangingPunct="1"/>
            <a:r>
              <a:rPr lang="zh-CN" altLang="en-US" smtClean="0"/>
              <a:t>假设</a:t>
            </a:r>
            <a:r>
              <a:rPr lang="en-US" altLang="zh-CN" smtClean="0"/>
              <a:t>e</a:t>
            </a:r>
            <a:r>
              <a:rPr lang="zh-CN" altLang="en-US" smtClean="0"/>
              <a:t>原先连接两个面</a:t>
            </a:r>
            <a:r>
              <a:rPr lang="en-US" altLang="zh-CN" smtClean="0"/>
              <a:t>f1,f2</a:t>
            </a:r>
            <a:r>
              <a:rPr lang="zh-CN" altLang="en-US" smtClean="0"/>
              <a:t>（恰好有一个面将被剔除）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证明：点</a:t>
            </a:r>
            <a:r>
              <a:rPr lang="en-US" altLang="zh-CN" smtClean="0"/>
              <a:t>Pt</a:t>
            </a:r>
            <a:r>
              <a:rPr lang="zh-CN" altLang="en-US" smtClean="0"/>
              <a:t>若能看见</a:t>
            </a:r>
            <a:r>
              <a:rPr lang="en-US" altLang="zh-CN" smtClean="0"/>
              <a:t>f</a:t>
            </a:r>
            <a:r>
              <a:rPr lang="zh-CN" altLang="en-US" smtClean="0"/>
              <a:t>，必定能看见</a:t>
            </a:r>
            <a:r>
              <a:rPr lang="en-US" altLang="zh-CN" smtClean="0"/>
              <a:t>f1</a:t>
            </a:r>
            <a:r>
              <a:rPr lang="zh-CN" altLang="en-US" smtClean="0"/>
              <a:t>或</a:t>
            </a:r>
            <a:r>
              <a:rPr lang="en-US" altLang="zh-CN" smtClean="0"/>
              <a:t>f2</a:t>
            </a:r>
          </a:p>
          <a:p>
            <a:pPr eaLnBrk="1" hangingPunct="1"/>
            <a:r>
              <a:rPr lang="zh-CN" altLang="en-US" smtClean="0"/>
              <a:t>在加入</a:t>
            </a:r>
            <a:r>
              <a:rPr lang="en-US" altLang="zh-CN" smtClean="0"/>
              <a:t>facet</a:t>
            </a:r>
            <a:r>
              <a:rPr lang="zh-CN" altLang="en-US" smtClean="0"/>
              <a:t>时只需要考虑能见到</a:t>
            </a:r>
            <a:r>
              <a:rPr lang="en-US" altLang="zh-CN" smtClean="0"/>
              <a:t>f1/f2</a:t>
            </a:r>
            <a:r>
              <a:rPr lang="zh-CN" altLang="en-US" smtClean="0"/>
              <a:t>的点</a:t>
            </a:r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2276475"/>
            <a:ext cx="4176712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随机增量</a:t>
            </a:r>
            <a:r>
              <a:rPr lang="en-US" altLang="zh-CN" dirty="0" smtClean="0">
                <a:cs typeface="+mj-cs"/>
              </a:rPr>
              <a:t>(Randomized Incremental)</a:t>
            </a:r>
            <a:endParaRPr lang="zh-CN" altLang="en-US" dirty="0">
              <a:cs typeface="+mj-cs"/>
            </a:endParaRPr>
          </a:p>
        </p:txBody>
      </p:sp>
      <p:sp>
        <p:nvSpPr>
          <p:cNvPr id="7168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共面点处理：</a:t>
            </a:r>
            <a:r>
              <a:rPr lang="en-US" altLang="zh-CN" smtClean="0"/>
              <a:t>Pr</a:t>
            </a:r>
            <a:r>
              <a:rPr lang="zh-CN" altLang="en-US" smtClean="0"/>
              <a:t>对</a:t>
            </a:r>
            <a:r>
              <a:rPr lang="en-US" altLang="zh-CN" smtClean="0"/>
              <a:t>f</a:t>
            </a:r>
            <a:r>
              <a:rPr lang="zh-CN" altLang="en-US" smtClean="0"/>
              <a:t>可不可见？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应当视为不可见，并合并两个</a:t>
            </a:r>
            <a:r>
              <a:rPr lang="en-US" altLang="zh-CN" smtClean="0"/>
              <a:t>facet</a:t>
            </a:r>
            <a:r>
              <a:rPr lang="zh-CN" altLang="en-US" smtClean="0"/>
              <a:t>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时间复杂度分析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整个过程中创建的</a:t>
            </a:r>
            <a:r>
              <a:rPr lang="en-US" altLang="zh-CN" smtClean="0"/>
              <a:t>facet</a:t>
            </a:r>
            <a:r>
              <a:rPr lang="zh-CN" altLang="en-US" smtClean="0"/>
              <a:t>个数是</a:t>
            </a:r>
            <a:r>
              <a:rPr lang="en-US" altLang="zh-CN" smtClean="0"/>
              <a:t>O(n)</a:t>
            </a:r>
            <a:r>
              <a:rPr lang="zh-CN" altLang="en-US" smtClean="0"/>
              <a:t>的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算法的复杂度是</a:t>
            </a:r>
            <a:r>
              <a:rPr lang="en-US" altLang="zh-CN" smtClean="0"/>
              <a:t>O(nlogn)</a:t>
            </a:r>
            <a:r>
              <a:rPr lang="zh-CN" altLang="en-US" smtClean="0"/>
              <a:t>，证明较为繁复先略过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参见</a:t>
            </a:r>
            <a:r>
              <a:rPr lang="en-US" altLang="zh-CN" smtClean="0"/>
              <a:t>Computational Geometry: Algorithms and Applications, Chapter 11</a:t>
            </a:r>
          </a:p>
        </p:txBody>
      </p:sp>
      <p:pic>
        <p:nvPicPr>
          <p:cNvPr id="7168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2133600"/>
            <a:ext cx="5233987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分治法</a:t>
            </a:r>
            <a:r>
              <a:rPr lang="en-US" altLang="zh-CN" dirty="0" smtClean="0">
                <a:cs typeface="+mj-cs"/>
              </a:rPr>
              <a:t>(Divide-And-Conquer)</a:t>
            </a:r>
            <a:endParaRPr lang="zh-CN" altLang="en-US" dirty="0">
              <a:cs typeface="+mj-cs"/>
            </a:endParaRPr>
          </a:p>
        </p:txBody>
      </p:sp>
      <p:sp>
        <p:nvSpPr>
          <p:cNvPr id="7373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推广到</a:t>
            </a:r>
            <a:r>
              <a:rPr lang="en-US" altLang="zh-CN" smtClean="0"/>
              <a:t>3D</a:t>
            </a:r>
          </a:p>
          <a:p>
            <a:pPr eaLnBrk="1" hangingPunct="1"/>
            <a:r>
              <a:rPr lang="en-US" altLang="zh-CN" smtClean="0"/>
              <a:t>O(n)</a:t>
            </a:r>
            <a:r>
              <a:rPr lang="zh-CN" altLang="en-US" smtClean="0"/>
              <a:t>合并两个凸包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需要一个</a:t>
            </a:r>
            <a:r>
              <a:rPr lang="zh-CN" altLang="en-US" b="1" smtClean="0"/>
              <a:t>顶点序</a:t>
            </a:r>
            <a:endParaRPr lang="en-US" altLang="zh-CN" b="1" smtClean="0"/>
          </a:p>
          <a:p>
            <a:pPr eaLnBrk="1" hangingPunct="1"/>
            <a:r>
              <a:rPr lang="zh-CN" altLang="en-US" smtClean="0"/>
              <a:t>考虑在</a:t>
            </a:r>
            <a:r>
              <a:rPr lang="en-US" altLang="zh-CN" smtClean="0"/>
              <a:t>C1</a:t>
            </a:r>
            <a:r>
              <a:rPr lang="zh-CN" altLang="en-US" smtClean="0"/>
              <a:t>和</a:t>
            </a:r>
            <a:r>
              <a:rPr lang="en-US" altLang="zh-CN" smtClean="0"/>
              <a:t>C2</a:t>
            </a:r>
            <a:r>
              <a:rPr lang="zh-CN" altLang="en-US" smtClean="0"/>
              <a:t>间设立平面</a:t>
            </a:r>
            <a:r>
              <a:rPr lang="en-US" altLang="zh-CN" smtClean="0"/>
              <a:t>H0</a:t>
            </a:r>
          </a:p>
          <a:p>
            <a:pPr eaLnBrk="1" hangingPunct="1"/>
            <a:r>
              <a:rPr lang="zh-CN" altLang="en-US" smtClean="0"/>
              <a:t>顶点序是</a:t>
            </a:r>
            <a:r>
              <a:rPr lang="en-US" altLang="zh-CN" smtClean="0"/>
              <a:t>C1/C2</a:t>
            </a:r>
            <a:r>
              <a:rPr lang="zh-CN" altLang="en-US" smtClean="0"/>
              <a:t>边界点间的连线在</a:t>
            </a:r>
            <a:r>
              <a:rPr lang="en-US" altLang="zh-CN" smtClean="0"/>
              <a:t>H0</a:t>
            </a:r>
            <a:r>
              <a:rPr lang="zh-CN" altLang="en-US" smtClean="0"/>
              <a:t>上的顶点序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难想难写，不推荐</a:t>
            </a:r>
            <a:endParaRPr lang="en-US" altLang="zh-CN" smtClean="0"/>
          </a:p>
          <a:p>
            <a:pPr eaLnBrk="1" hangingPunct="1"/>
            <a:r>
              <a:rPr lang="en-US" altLang="zh-CN" b="1" smtClean="0"/>
              <a:t>O(nlogn)</a:t>
            </a:r>
            <a:endParaRPr lang="zh-CN" altLang="en-US" b="1" smtClean="0"/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275" y="3762375"/>
            <a:ext cx="4232275" cy="269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7475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回忆</a:t>
            </a:r>
            <a:r>
              <a:rPr lang="en-US" altLang="zh-CN" smtClean="0"/>
              <a:t>2D</a:t>
            </a:r>
            <a:r>
              <a:rPr lang="zh-CN" altLang="en-US" smtClean="0"/>
              <a:t>下的</a:t>
            </a:r>
            <a:r>
              <a:rPr lang="en-US" altLang="zh-CN" smtClean="0"/>
              <a:t>QuickHull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QuickHull(a,b)</a:t>
            </a:r>
          </a:p>
          <a:p>
            <a:pPr lvl="1" eaLnBrk="1" hangingPunct="1"/>
            <a:r>
              <a:rPr lang="zh-CN" altLang="en-US" smtClean="0"/>
              <a:t>找到离</a:t>
            </a:r>
            <a:r>
              <a:rPr lang="en-US" altLang="zh-CN" smtClean="0"/>
              <a:t>ab</a:t>
            </a:r>
            <a:r>
              <a:rPr lang="zh-CN" altLang="en-US" smtClean="0"/>
              <a:t>最远的点</a:t>
            </a:r>
            <a:r>
              <a:rPr lang="en-US" altLang="zh-CN" smtClean="0"/>
              <a:t>c</a:t>
            </a:r>
            <a:r>
              <a:rPr lang="zh-CN" altLang="en-US" smtClean="0"/>
              <a:t>，那么</a:t>
            </a:r>
            <a:r>
              <a:rPr lang="en-US" altLang="zh-CN" smtClean="0"/>
              <a:t>c</a:t>
            </a:r>
            <a:r>
              <a:rPr lang="zh-CN" altLang="en-US" smtClean="0"/>
              <a:t>一定在凸包上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QuickHull(a,c)</a:t>
            </a:r>
          </a:p>
          <a:p>
            <a:pPr lvl="1" eaLnBrk="1" hangingPunct="1"/>
            <a:r>
              <a:rPr lang="en-US" altLang="zh-CN" smtClean="0"/>
              <a:t>QuickHull(c,b)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3D</a:t>
            </a:r>
            <a:r>
              <a:rPr lang="zh-CN" altLang="en-US" smtClean="0"/>
              <a:t>情况：</a:t>
            </a:r>
            <a:r>
              <a:rPr lang="en-US" altLang="zh-CN" smtClean="0"/>
              <a:t>Quickhull(a,b,c)</a:t>
            </a:r>
          </a:p>
          <a:p>
            <a:pPr eaLnBrk="1" hangingPunct="1"/>
            <a:r>
              <a:rPr lang="zh-CN" altLang="en-US" smtClean="0"/>
              <a:t>处理所有位于面</a:t>
            </a:r>
            <a:r>
              <a:rPr lang="en-US" altLang="zh-CN" smtClean="0"/>
              <a:t>a-b-c</a:t>
            </a:r>
            <a:r>
              <a:rPr lang="zh-CN" altLang="en-US" smtClean="0"/>
              <a:t>右侧的点集凸包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判定点集和法线同侧</a:t>
            </a:r>
            <a:r>
              <a:rPr lang="en-US" altLang="zh-CN" smtClean="0"/>
              <a:t>:[p-a,p-b,p-c] &gt; 0</a:t>
            </a:r>
            <a:endParaRPr lang="zh-CN" altLang="en-US" smtClean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7577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Quickhull(P0,P1,P2)</a:t>
            </a:r>
          </a:p>
          <a:p>
            <a:pPr lvl="1" eaLnBrk="1" hangingPunct="1"/>
            <a:r>
              <a:rPr lang="zh-CN" altLang="en-US" smtClean="0"/>
              <a:t>找到离平面</a:t>
            </a:r>
            <a:r>
              <a:rPr lang="en-US" altLang="zh-CN" smtClean="0"/>
              <a:t>(P0,P1,P2)</a:t>
            </a:r>
            <a:r>
              <a:rPr lang="zh-CN" altLang="en-US" smtClean="0"/>
              <a:t>最远的点</a:t>
            </a:r>
            <a:r>
              <a:rPr lang="en-US" altLang="zh-CN" smtClean="0"/>
              <a:t>K</a:t>
            </a:r>
          </a:p>
          <a:p>
            <a:pPr lvl="1" eaLnBrk="1" hangingPunct="1"/>
            <a:r>
              <a:rPr lang="zh-CN" altLang="en-US" smtClean="0"/>
              <a:t>删除在三棱锥</a:t>
            </a:r>
            <a:r>
              <a:rPr lang="en-US" altLang="zh-CN" smtClean="0"/>
              <a:t>K-P0-P1-P2</a:t>
            </a:r>
            <a:r>
              <a:rPr lang="zh-CN" altLang="en-US" smtClean="0"/>
              <a:t>内的</a:t>
            </a:r>
            <a:r>
              <a:rPr lang="zh-CN" altLang="en-US" b="1" smtClean="0"/>
              <a:t>点和面</a:t>
            </a:r>
            <a:endParaRPr lang="en-US" altLang="zh-CN" b="1" smtClean="0"/>
          </a:p>
          <a:p>
            <a:pPr lvl="1" eaLnBrk="1" hangingPunct="1"/>
            <a:r>
              <a:rPr lang="en-US" altLang="zh-CN" smtClean="0"/>
              <a:t>Quickhull(K,P0,P1)</a:t>
            </a:r>
          </a:p>
          <a:p>
            <a:pPr lvl="1" eaLnBrk="1" hangingPunct="1"/>
            <a:r>
              <a:rPr lang="en-US" altLang="zh-CN" smtClean="0"/>
              <a:t>Quickhull(K,P1,P2)</a:t>
            </a:r>
          </a:p>
          <a:p>
            <a:pPr lvl="1" eaLnBrk="1" hangingPunct="1"/>
            <a:r>
              <a:rPr lang="en-US" altLang="zh-CN" smtClean="0"/>
              <a:t>Quickhull(K,P2,P0)</a:t>
            </a:r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红色箭头为各平面法线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这个算法是有效的么？</a:t>
            </a:r>
          </a:p>
        </p:txBody>
      </p:sp>
      <p:pic>
        <p:nvPicPr>
          <p:cNvPr id="7577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4300" y="3141663"/>
            <a:ext cx="4824413" cy="254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7680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问题在哪里？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观察点</a:t>
            </a:r>
            <a:r>
              <a:rPr lang="en-US" altLang="zh-CN" smtClean="0"/>
              <a:t>T</a:t>
            </a:r>
            <a:r>
              <a:rPr lang="zh-CN" altLang="en-US" smtClean="0"/>
              <a:t>的位置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T</a:t>
            </a:r>
            <a:r>
              <a:rPr lang="zh-CN" altLang="en-US" smtClean="0"/>
              <a:t>同时在平面</a:t>
            </a:r>
            <a:r>
              <a:rPr lang="en-US" altLang="zh-CN" smtClean="0"/>
              <a:t>K-P0-P1</a:t>
            </a:r>
            <a:r>
              <a:rPr lang="zh-CN" altLang="en-US" smtClean="0"/>
              <a:t>和</a:t>
            </a:r>
            <a:r>
              <a:rPr lang="en-US" altLang="zh-CN" smtClean="0"/>
              <a:t>K-P2-P0</a:t>
            </a:r>
            <a:r>
              <a:rPr lang="zh-CN" altLang="en-US" smtClean="0"/>
              <a:t>外侧</a:t>
            </a:r>
            <a:endParaRPr lang="en-US" altLang="zh-CN" smtClean="0"/>
          </a:p>
          <a:p>
            <a:pPr eaLnBrk="1" hangingPunct="1"/>
            <a:r>
              <a:rPr lang="zh-CN" altLang="en-US" b="1" smtClean="0"/>
              <a:t>一个点会被递归多次</a:t>
            </a:r>
            <a:endParaRPr lang="en-US" altLang="zh-CN" b="1" smtClean="0"/>
          </a:p>
          <a:p>
            <a:pPr lvl="1" eaLnBrk="1" hangingPunct="1"/>
            <a:r>
              <a:rPr lang="zh-CN" altLang="en-US" smtClean="0"/>
              <a:t>为什么</a:t>
            </a:r>
            <a:r>
              <a:rPr lang="en-US" altLang="zh-CN" smtClean="0"/>
              <a:t>2d</a:t>
            </a:r>
            <a:r>
              <a:rPr lang="zh-CN" altLang="en-US" smtClean="0"/>
              <a:t>下没有这个问题？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递归的各个集合有交集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处理方式：随意分配到一个集合内</a:t>
            </a:r>
            <a:endParaRPr lang="en-US" altLang="zh-CN" smtClean="0"/>
          </a:p>
        </p:txBody>
      </p:sp>
      <p:pic>
        <p:nvPicPr>
          <p:cNvPr id="7680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2138" y="1628775"/>
            <a:ext cx="4824412" cy="254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04" name="TextBox 4"/>
          <p:cNvSpPr txBox="1">
            <a:spLocks noChangeArrowheads="1"/>
          </p:cNvSpPr>
          <p:nvPr/>
        </p:nvSpPr>
        <p:spPr bwMode="auto">
          <a:xfrm>
            <a:off x="4284663" y="1916113"/>
            <a:ext cx="2159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entury Schoolbook"/>
              </a:rPr>
              <a:t>T</a:t>
            </a:r>
            <a:endParaRPr lang="zh-CN" altLang="en-US">
              <a:latin typeface="Century Schoolbook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284663" y="2276475"/>
            <a:ext cx="71437" cy="73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endParaRPr lang="zh-CN" altLang="en-US" dirty="0">
              <a:cs typeface="+mj-cs"/>
            </a:endParaRPr>
          </a:p>
        </p:txBody>
      </p:sp>
      <p:sp>
        <p:nvSpPr>
          <p:cNvPr id="7782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证明：随意分配可以保证算法正确性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如果一个点是凸包上的点，那么永远不会被其他三棱锥包含而剔除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因此随意分配不会导致漏算等情况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Quickhull(P0,P1,P2,S)</a:t>
            </a:r>
          </a:p>
          <a:p>
            <a:pPr lvl="1" eaLnBrk="1" hangingPunct="1"/>
            <a:r>
              <a:rPr lang="zh-CN" altLang="en-US" smtClean="0"/>
              <a:t>找到离平面</a:t>
            </a:r>
            <a:r>
              <a:rPr lang="en-US" altLang="zh-CN" smtClean="0"/>
              <a:t>(P0,P1,P2)</a:t>
            </a:r>
            <a:r>
              <a:rPr lang="zh-CN" altLang="en-US" smtClean="0"/>
              <a:t>最远的点</a:t>
            </a:r>
            <a:r>
              <a:rPr lang="en-US" altLang="zh-CN" smtClean="0"/>
              <a:t>K</a:t>
            </a:r>
          </a:p>
          <a:p>
            <a:pPr lvl="1" eaLnBrk="1" hangingPunct="1"/>
            <a:r>
              <a:rPr lang="zh-CN" altLang="en-US" smtClean="0"/>
              <a:t>删除在三棱锥</a:t>
            </a:r>
            <a:r>
              <a:rPr lang="en-US" altLang="zh-CN" smtClean="0"/>
              <a:t>K-P0-P1-P2</a:t>
            </a:r>
            <a:r>
              <a:rPr lang="zh-CN" altLang="en-US" smtClean="0"/>
              <a:t>内的</a:t>
            </a:r>
            <a:r>
              <a:rPr lang="zh-CN" altLang="en-US" b="1" smtClean="0"/>
              <a:t>点和面</a:t>
            </a:r>
            <a:endParaRPr lang="en-US" altLang="zh-CN" b="1" smtClean="0"/>
          </a:p>
          <a:p>
            <a:pPr lvl="1" eaLnBrk="1" hangingPunct="1"/>
            <a:r>
              <a:rPr lang="zh-CN" altLang="en-US" b="1" smtClean="0"/>
              <a:t>将</a:t>
            </a:r>
            <a:r>
              <a:rPr lang="en-US" altLang="zh-CN" b="1" smtClean="0"/>
              <a:t>S</a:t>
            </a:r>
            <a:r>
              <a:rPr lang="zh-CN" altLang="en-US" b="1" smtClean="0"/>
              <a:t>中剩下的点分到三个外集中</a:t>
            </a:r>
            <a:endParaRPr lang="en-US" altLang="zh-CN" b="1" smtClean="0"/>
          </a:p>
          <a:p>
            <a:pPr lvl="1" eaLnBrk="1" hangingPunct="1"/>
            <a:r>
              <a:rPr lang="en-US" altLang="zh-CN" smtClean="0"/>
              <a:t>Quickhull(K,P0,P1,S1)</a:t>
            </a:r>
          </a:p>
          <a:p>
            <a:pPr lvl="1" eaLnBrk="1" hangingPunct="1"/>
            <a:r>
              <a:rPr lang="en-US" altLang="zh-CN" smtClean="0"/>
              <a:t>Quickhull(K,P1,P2,S2)</a:t>
            </a:r>
          </a:p>
          <a:p>
            <a:pPr lvl="1" eaLnBrk="1" hangingPunct="1"/>
            <a:r>
              <a:rPr lang="en-US" altLang="zh-CN" smtClean="0"/>
              <a:t>Quickhull(K,P2,P0,S3)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r>
              <a:rPr lang="en-US" altLang="zh-CN" dirty="0" smtClean="0">
                <a:cs typeface="+mj-cs"/>
              </a:rPr>
              <a:t> in KD</a:t>
            </a:r>
            <a:endParaRPr lang="zh-CN" altLang="en-US" dirty="0">
              <a:cs typeface="+mj-cs"/>
            </a:endParaRPr>
          </a:p>
        </p:txBody>
      </p:sp>
      <p:sp>
        <p:nvSpPr>
          <p:cNvPr id="7987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Quickhull</a:t>
            </a:r>
            <a:r>
              <a:rPr lang="zh-CN" altLang="en-US" smtClean="0"/>
              <a:t>拓展性很好，可以解决任意维凸包。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(D-1)</a:t>
            </a:r>
            <a:r>
              <a:rPr lang="zh-CN" altLang="en-US" smtClean="0"/>
              <a:t>维平面被称为凸包的</a:t>
            </a:r>
            <a:r>
              <a:rPr lang="en-US" altLang="zh-CN" smtClean="0"/>
              <a:t>facet</a:t>
            </a:r>
            <a:r>
              <a:rPr lang="zh-CN" altLang="en-US" smtClean="0"/>
              <a:t>，是凸包的组成部分。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相当于二维下的边和三维下的面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(D-2)</a:t>
            </a:r>
            <a:r>
              <a:rPr lang="zh-CN" altLang="en-US" smtClean="0"/>
              <a:t>维平面被称为凸包的</a:t>
            </a:r>
            <a:r>
              <a:rPr lang="en-US" altLang="zh-CN" smtClean="0"/>
              <a:t>ridge</a:t>
            </a:r>
            <a:r>
              <a:rPr lang="zh-CN" altLang="en-US" smtClean="0"/>
              <a:t>，是两个</a:t>
            </a:r>
            <a:r>
              <a:rPr lang="en-US" altLang="zh-CN" smtClean="0"/>
              <a:t>facet</a:t>
            </a:r>
            <a:r>
              <a:rPr lang="zh-CN" altLang="en-US" smtClean="0"/>
              <a:t>的交集。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相当于二维下的点和三维下的边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Simplified Beneath-Beyond Theorem</a:t>
            </a:r>
          </a:p>
          <a:p>
            <a:pPr eaLnBrk="1" hangingPunct="1"/>
            <a:r>
              <a:rPr lang="zh-CN" altLang="en-US" smtClean="0"/>
              <a:t>若</a:t>
            </a:r>
            <a:r>
              <a:rPr lang="en-US" altLang="zh-CN" smtClean="0"/>
              <a:t>H</a:t>
            </a:r>
            <a:r>
              <a:rPr lang="zh-CN" altLang="en-US" smtClean="0"/>
              <a:t>是空间</a:t>
            </a:r>
            <a:r>
              <a:rPr lang="en-US" altLang="zh-CN" smtClean="0"/>
              <a:t>Rd</a:t>
            </a:r>
            <a:r>
              <a:rPr lang="zh-CN" altLang="en-US" smtClean="0"/>
              <a:t>上的一个凸包，</a:t>
            </a:r>
            <a:r>
              <a:rPr lang="en-US" altLang="zh-CN" smtClean="0"/>
              <a:t>P</a:t>
            </a:r>
            <a:r>
              <a:rPr lang="zh-CN" altLang="en-US" smtClean="0"/>
              <a:t>是</a:t>
            </a:r>
            <a:r>
              <a:rPr lang="en-US" altLang="zh-CN" smtClean="0"/>
              <a:t>H</a:t>
            </a:r>
            <a:r>
              <a:rPr lang="zh-CN" altLang="en-US" smtClean="0"/>
              <a:t>外一点，一个</a:t>
            </a:r>
            <a:r>
              <a:rPr lang="en-US" altLang="zh-CN" smtClean="0"/>
              <a:t>facet F</a:t>
            </a:r>
            <a:r>
              <a:rPr lang="zh-CN" altLang="en-US" smtClean="0"/>
              <a:t>是</a:t>
            </a:r>
            <a:r>
              <a:rPr lang="en-US" altLang="zh-CN" smtClean="0"/>
              <a:t>H+P</a:t>
            </a:r>
            <a:r>
              <a:rPr lang="zh-CN" altLang="en-US" smtClean="0"/>
              <a:t>的凸包当且仅当：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(1) F</a:t>
            </a:r>
            <a:r>
              <a:rPr lang="zh-CN" altLang="en-US" smtClean="0"/>
              <a:t>∈</a:t>
            </a:r>
            <a:r>
              <a:rPr lang="en-US" altLang="zh-CN" smtClean="0"/>
              <a:t>H</a:t>
            </a:r>
            <a:r>
              <a:rPr lang="zh-CN" altLang="en-US" smtClean="0"/>
              <a:t>，</a:t>
            </a:r>
            <a:r>
              <a:rPr lang="en-US" altLang="zh-CN" smtClean="0"/>
              <a:t>P</a:t>
            </a:r>
            <a:r>
              <a:rPr lang="zh-CN" altLang="en-US" smtClean="0"/>
              <a:t>在</a:t>
            </a:r>
            <a:r>
              <a:rPr lang="en-US" altLang="zh-CN" smtClean="0"/>
              <a:t>F</a:t>
            </a:r>
            <a:r>
              <a:rPr lang="zh-CN" altLang="en-US" smtClean="0"/>
              <a:t>下方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(2) F</a:t>
            </a:r>
            <a:r>
              <a:rPr lang="zh-CN" altLang="en-US" smtClean="0"/>
              <a:t>∉</a:t>
            </a:r>
            <a:r>
              <a:rPr lang="en-US" altLang="zh-CN" smtClean="0"/>
              <a:t>H</a:t>
            </a:r>
            <a:r>
              <a:rPr lang="zh-CN" altLang="en-US" smtClean="0"/>
              <a:t>，且</a:t>
            </a:r>
            <a:r>
              <a:rPr lang="en-US" altLang="zh-CN" smtClean="0"/>
              <a:t>F</a:t>
            </a:r>
            <a:r>
              <a:rPr lang="zh-CN" altLang="en-US" smtClean="0"/>
              <a:t>由</a:t>
            </a:r>
            <a:r>
              <a:rPr lang="en-US" altLang="zh-CN" smtClean="0"/>
              <a:t>P</a:t>
            </a:r>
            <a:r>
              <a:rPr lang="zh-CN" altLang="en-US" smtClean="0"/>
              <a:t>和一个</a:t>
            </a:r>
            <a:r>
              <a:rPr lang="en-US" altLang="zh-CN" smtClean="0"/>
              <a:t>ridge</a:t>
            </a:r>
            <a:r>
              <a:rPr lang="zh-CN" altLang="en-US" smtClean="0"/>
              <a:t>组成，这个</a:t>
            </a:r>
            <a:r>
              <a:rPr lang="en-US" altLang="zh-CN" smtClean="0"/>
              <a:t>ridge</a:t>
            </a:r>
            <a:r>
              <a:rPr lang="zh-CN" altLang="en-US" smtClean="0"/>
              <a:t>关联的一个</a:t>
            </a:r>
            <a:r>
              <a:rPr lang="en-US" altLang="zh-CN" smtClean="0"/>
              <a:t>facet</a:t>
            </a:r>
            <a:r>
              <a:rPr lang="zh-CN" altLang="en-US" smtClean="0"/>
              <a:t>在</a:t>
            </a:r>
            <a:r>
              <a:rPr lang="en-US" altLang="zh-CN" smtClean="0"/>
              <a:t>p</a:t>
            </a:r>
            <a:r>
              <a:rPr lang="zh-CN" altLang="en-US" smtClean="0"/>
              <a:t>下方，其他在</a:t>
            </a:r>
            <a:r>
              <a:rPr lang="en-US" altLang="zh-CN" smtClean="0"/>
              <a:t>p</a:t>
            </a:r>
            <a:r>
              <a:rPr lang="zh-CN" altLang="en-US" smtClean="0"/>
              <a:t>上方</a:t>
            </a:r>
            <a:endParaRPr lang="en-US" altLang="zh-CN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err="1" smtClean="0">
                <a:cs typeface="+mj-cs"/>
              </a:rPr>
              <a:t>QuickHull</a:t>
            </a:r>
            <a:r>
              <a:rPr lang="en-US" altLang="zh-CN" dirty="0" smtClean="0">
                <a:cs typeface="+mj-cs"/>
              </a:rPr>
              <a:t> in KD</a:t>
            </a:r>
            <a:endParaRPr lang="zh-CN" altLang="en-US" dirty="0">
              <a:cs typeface="+mj-cs"/>
            </a:endParaRPr>
          </a:p>
        </p:txBody>
      </p:sp>
      <p:sp>
        <p:nvSpPr>
          <p:cNvPr id="80898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                                                                </a:t>
            </a:r>
            <a:r>
              <a:rPr lang="zh-CN" altLang="en-US" b="1" smtClean="0"/>
              <a:t>初始化</a:t>
            </a:r>
            <a:endParaRPr lang="en-US" altLang="zh-CN" b="1" smtClean="0"/>
          </a:p>
          <a:p>
            <a:pPr eaLnBrk="1" hangingPunct="1"/>
            <a:endParaRPr lang="en-US" altLang="zh-CN" b="1" smtClean="0"/>
          </a:p>
          <a:p>
            <a:pPr eaLnBrk="1" hangingPunct="1"/>
            <a:r>
              <a:rPr lang="en-US" altLang="zh-CN" b="1" smtClean="0"/>
              <a:t>                                                              </a:t>
            </a:r>
            <a:r>
              <a:rPr lang="zh-CN" altLang="en-US" b="1" smtClean="0"/>
              <a:t>寻找最远点</a:t>
            </a:r>
            <a:endParaRPr lang="en-US" altLang="zh-CN" b="1" smtClean="0"/>
          </a:p>
          <a:p>
            <a:pPr eaLnBrk="1" hangingPunct="1"/>
            <a:endParaRPr lang="en-US" altLang="zh-CN" b="1" smtClean="0"/>
          </a:p>
          <a:p>
            <a:pPr eaLnBrk="1" hangingPunct="1"/>
            <a:r>
              <a:rPr lang="en-US" altLang="zh-CN" b="1" smtClean="0"/>
              <a:t>                                                              </a:t>
            </a:r>
            <a:r>
              <a:rPr lang="zh-CN" altLang="en-US" b="1" smtClean="0"/>
              <a:t>查询地平线</a:t>
            </a:r>
            <a:endParaRPr lang="en-US" altLang="zh-CN" b="1" smtClean="0"/>
          </a:p>
          <a:p>
            <a:pPr eaLnBrk="1" hangingPunct="1"/>
            <a:endParaRPr lang="en-US" altLang="zh-CN" b="1" smtClean="0"/>
          </a:p>
          <a:p>
            <a:pPr eaLnBrk="1" hangingPunct="1"/>
            <a:r>
              <a:rPr lang="en-US" altLang="zh-CN" b="1" smtClean="0"/>
              <a:t>                                                              </a:t>
            </a:r>
            <a:r>
              <a:rPr lang="zh-CN" altLang="en-US" b="1" smtClean="0"/>
              <a:t>创建</a:t>
            </a:r>
            <a:r>
              <a:rPr lang="en-US" altLang="zh-CN" b="1" smtClean="0"/>
              <a:t>facet</a:t>
            </a:r>
          </a:p>
          <a:p>
            <a:pPr eaLnBrk="1" hangingPunct="1"/>
            <a:r>
              <a:rPr lang="en-US" altLang="zh-CN" b="1" smtClean="0"/>
              <a:t>                                                              </a:t>
            </a:r>
            <a:r>
              <a:rPr lang="zh-CN" altLang="en-US" b="1" smtClean="0"/>
              <a:t>分配顶点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                                                              </a:t>
            </a:r>
            <a:r>
              <a:rPr lang="zh-CN" altLang="en-US" b="1" smtClean="0"/>
              <a:t>删除可见面</a:t>
            </a:r>
            <a:endParaRPr lang="en-US" altLang="zh-CN" b="1" smtClean="0"/>
          </a:p>
          <a:p>
            <a:pPr eaLnBrk="1" hangingPunct="1"/>
            <a:endParaRPr lang="en-US" altLang="zh-CN" b="1" smtClean="0"/>
          </a:p>
          <a:p>
            <a:pPr eaLnBrk="1" hangingPunct="1"/>
            <a:r>
              <a:rPr lang="zh-CN" altLang="en-US" b="1" smtClean="0"/>
              <a:t>复杂度：</a:t>
            </a:r>
            <a:r>
              <a:rPr lang="en-US" altLang="zh-CN" b="1" smtClean="0"/>
              <a:t>O(nlogn)(d&lt;=3),~O(n^(d/2))(d&gt;=4)</a:t>
            </a:r>
            <a:endParaRPr lang="zh-CN" altLang="en-US" b="1" smtClean="0"/>
          </a:p>
        </p:txBody>
      </p:sp>
      <p:pic>
        <p:nvPicPr>
          <p:cNvPr id="8089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1484313"/>
            <a:ext cx="5294313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smtClean="0"/>
              <a:t>Chan’s Algorithm</a:t>
            </a:r>
            <a:endParaRPr lang="en-US" altLang="zh-CN" cap="none" dirty="0" smtClean="0"/>
          </a:p>
        </p:txBody>
      </p:sp>
      <p:sp>
        <p:nvSpPr>
          <p:cNvPr id="972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mtClean="0"/>
              <a:t>回忆二维的</a:t>
            </a:r>
            <a:r>
              <a:rPr lang="en-US" altLang="zh-CN" smtClean="0"/>
              <a:t>Chan’s Algorithm</a:t>
            </a:r>
          </a:p>
          <a:p>
            <a:endParaRPr lang="en-US" altLang="zh-CN" smtClean="0"/>
          </a:p>
          <a:p>
            <a:r>
              <a:rPr lang="en-US" altLang="zh-CN" smtClean="0"/>
              <a:t>Step 1</a:t>
            </a:r>
            <a:r>
              <a:rPr lang="zh-CN" altLang="en-US" smtClean="0"/>
              <a:t>：将点均分为</a:t>
            </a:r>
            <a:r>
              <a:rPr lang="en-US" altLang="zh-CN" smtClean="0"/>
              <a:t>N/M</a:t>
            </a:r>
            <a:r>
              <a:rPr lang="zh-CN" altLang="en-US" smtClean="0"/>
              <a:t>个部分</a:t>
            </a:r>
          </a:p>
          <a:p>
            <a:pPr lvl="1"/>
            <a:r>
              <a:rPr lang="zh-CN" altLang="en-US" smtClean="0"/>
              <a:t>对每个点集进行</a:t>
            </a:r>
            <a:r>
              <a:rPr lang="en-US" altLang="zh-CN" smtClean="0"/>
              <a:t>Graham-Scan</a:t>
            </a:r>
            <a:r>
              <a:rPr lang="zh-CN" altLang="en-US" smtClean="0"/>
              <a:t>，得到</a:t>
            </a:r>
            <a:r>
              <a:rPr lang="en-US" altLang="zh-CN" smtClean="0"/>
              <a:t>N/M</a:t>
            </a:r>
            <a:r>
              <a:rPr lang="zh-CN" altLang="en-US" smtClean="0"/>
              <a:t>个凸包</a:t>
            </a:r>
          </a:p>
          <a:p>
            <a:r>
              <a:rPr lang="en-US" altLang="zh-CN" smtClean="0"/>
              <a:t>Step 2</a:t>
            </a:r>
            <a:r>
              <a:rPr lang="zh-CN" altLang="en-US" smtClean="0"/>
              <a:t>：合并</a:t>
            </a:r>
            <a:r>
              <a:rPr lang="en-US" altLang="zh-CN" smtClean="0"/>
              <a:t>N/M</a:t>
            </a:r>
            <a:r>
              <a:rPr lang="zh-CN" altLang="en-US" smtClean="0"/>
              <a:t>个凸包</a:t>
            </a:r>
          </a:p>
          <a:p>
            <a:pPr lvl="1"/>
            <a:r>
              <a:rPr lang="zh-CN" altLang="en-US" smtClean="0"/>
              <a:t>卷包裹</a:t>
            </a:r>
          </a:p>
          <a:p>
            <a:pPr lvl="1"/>
            <a:r>
              <a:rPr lang="zh-CN" altLang="en-US" smtClean="0"/>
              <a:t>选取初始点</a:t>
            </a:r>
            <a:r>
              <a:rPr lang="en-US" altLang="zh-CN" smtClean="0"/>
              <a:t>x0</a:t>
            </a:r>
            <a:r>
              <a:rPr lang="zh-CN" altLang="en-US" smtClean="0"/>
              <a:t>，每次选择最右手边的一个点前进</a:t>
            </a:r>
          </a:p>
          <a:p>
            <a:pPr lvl="1"/>
            <a:r>
              <a:rPr lang="zh-CN" altLang="en-US" smtClean="0"/>
              <a:t>在凸包上二分</a:t>
            </a:r>
          </a:p>
          <a:p>
            <a:pPr lvl="1"/>
            <a:endParaRPr lang="zh-CN" altLang="en-US" smtClean="0"/>
          </a:p>
          <a:p>
            <a:r>
              <a:rPr lang="en-US" altLang="zh-CN" smtClean="0"/>
              <a:t>Chan’s Algorithm</a:t>
            </a:r>
            <a:r>
              <a:rPr lang="zh-CN" altLang="en-US" smtClean="0"/>
              <a:t>能否扩张到三维？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smtClean="0"/>
              <a:t>Chan’s Algorithm</a:t>
            </a:r>
            <a:endParaRPr lang="en-US" altLang="zh-CN" cap="none" dirty="0" smtClean="0"/>
          </a:p>
        </p:txBody>
      </p:sp>
      <p:sp>
        <p:nvSpPr>
          <p:cNvPr id="983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Step 1</a:t>
            </a:r>
          </a:p>
          <a:p>
            <a:r>
              <a:rPr lang="en-US" altLang="zh-CN" smtClean="0"/>
              <a:t>Graham-Scan</a:t>
            </a:r>
            <a:r>
              <a:rPr lang="zh-CN" altLang="en-US" smtClean="0"/>
              <a:t>不能扩展到三维</a:t>
            </a:r>
          </a:p>
          <a:p>
            <a:pPr lvl="1"/>
            <a:r>
              <a:rPr lang="zh-CN" altLang="en-US" smtClean="0"/>
              <a:t>三维中没有非常良好的序</a:t>
            </a:r>
          </a:p>
          <a:p>
            <a:pPr lvl="1"/>
            <a:r>
              <a:rPr lang="zh-CN" altLang="en-US" smtClean="0"/>
              <a:t>用随机增量</a:t>
            </a:r>
            <a:r>
              <a:rPr lang="en-US" altLang="zh-CN" smtClean="0"/>
              <a:t>/Quickhull</a:t>
            </a:r>
            <a:r>
              <a:rPr lang="zh-CN" altLang="en-US" smtClean="0"/>
              <a:t>代替，依然是</a:t>
            </a:r>
            <a:r>
              <a:rPr lang="en-US" altLang="zh-CN" smtClean="0"/>
              <a:t>O(nlogn)</a:t>
            </a:r>
          </a:p>
          <a:p>
            <a:r>
              <a:rPr lang="en-US" altLang="zh-CN" smtClean="0"/>
              <a:t>Step 2</a:t>
            </a:r>
          </a:p>
          <a:p>
            <a:r>
              <a:rPr lang="zh-CN" altLang="en-US" smtClean="0"/>
              <a:t>卷包裹算法不能优化到对每个凸包</a:t>
            </a:r>
            <a:r>
              <a:rPr lang="en-US" altLang="zh-CN" smtClean="0"/>
              <a:t>log m</a:t>
            </a:r>
          </a:p>
          <a:p>
            <a:pPr lvl="1"/>
            <a:r>
              <a:rPr lang="zh-CN" altLang="en-US" smtClean="0"/>
              <a:t>三维中没有良好的点序</a:t>
            </a:r>
          </a:p>
          <a:p>
            <a:r>
              <a:rPr lang="zh-CN" altLang="en-US" smtClean="0"/>
              <a:t>给定一个多面体，在</a:t>
            </a:r>
            <a:r>
              <a:rPr lang="en-US" altLang="zh-CN" smtClean="0"/>
              <a:t>O(logn)</a:t>
            </a:r>
            <a:r>
              <a:rPr lang="zh-CN" altLang="en-US" smtClean="0"/>
              <a:t>时间内得到卷包裹的下一个目标</a:t>
            </a:r>
          </a:p>
          <a:p>
            <a:pPr lvl="1"/>
            <a:r>
              <a:rPr lang="zh-CN" altLang="en-US" smtClean="0"/>
              <a:t>给定一个凸点集，在</a:t>
            </a:r>
            <a:r>
              <a:rPr lang="en-US" altLang="zh-CN" smtClean="0"/>
              <a:t>O(logn)</a:t>
            </a:r>
            <a:r>
              <a:rPr lang="zh-CN" altLang="en-US" smtClean="0"/>
              <a:t>时间内，找到点</a:t>
            </a:r>
            <a:r>
              <a:rPr lang="en-US" altLang="zh-CN" smtClean="0"/>
              <a:t>P</a:t>
            </a:r>
            <a:r>
              <a:rPr lang="zh-CN" altLang="en-US" smtClean="0"/>
              <a:t>使得面</a:t>
            </a:r>
            <a:r>
              <a:rPr lang="en-US" altLang="zh-CN" smtClean="0"/>
              <a:t>ABP</a:t>
            </a:r>
            <a:r>
              <a:rPr lang="zh-CN" altLang="en-US" smtClean="0"/>
              <a:t>和面</a:t>
            </a:r>
            <a:r>
              <a:rPr lang="en-US" altLang="zh-CN" smtClean="0"/>
              <a:t>ABC</a:t>
            </a:r>
            <a:r>
              <a:rPr lang="zh-CN" altLang="en-US" smtClean="0"/>
              <a:t>二面角最大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 err="1" smtClean="0"/>
              <a:t>Dobkin</a:t>
            </a:r>
            <a:r>
              <a:rPr lang="en-US" altLang="zh-CN" dirty="0" smtClean="0"/>
              <a:t>-Kirkpatrick Hierarchy</a:t>
            </a:r>
            <a:endParaRPr lang="en-US" altLang="zh-CN" cap="none" dirty="0" smtClean="0"/>
          </a:p>
        </p:txBody>
      </p:sp>
      <p:sp>
        <p:nvSpPr>
          <p:cNvPr id="10137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mtClean="0"/>
              <a:t>对点集进行</a:t>
            </a:r>
            <a:r>
              <a:rPr lang="en-US" altLang="zh-CN" smtClean="0"/>
              <a:t>D-K</a:t>
            </a:r>
            <a:r>
              <a:rPr lang="zh-CN" altLang="en-US" smtClean="0"/>
              <a:t>分层</a:t>
            </a:r>
          </a:p>
          <a:p>
            <a:r>
              <a:rPr lang="zh-CN" altLang="en-US" smtClean="0"/>
              <a:t>假设点集序列</a:t>
            </a:r>
            <a:r>
              <a:rPr lang="en-US" altLang="zh-CN" smtClean="0"/>
              <a:t>P0,P1,…,Pk</a:t>
            </a:r>
          </a:p>
          <a:p>
            <a:r>
              <a:rPr lang="en-US" altLang="zh-CN" smtClean="0"/>
              <a:t>P0=P</a:t>
            </a:r>
            <a:r>
              <a:rPr lang="zh-CN" altLang="en-US" smtClean="0"/>
              <a:t>，是原凸多边形</a:t>
            </a:r>
          </a:p>
          <a:p>
            <a:r>
              <a:rPr lang="en-US" altLang="zh-CN" smtClean="0"/>
              <a:t>Pi+1</a:t>
            </a:r>
            <a:r>
              <a:rPr lang="zh-CN" altLang="en-US" smtClean="0"/>
              <a:t>由</a:t>
            </a:r>
            <a:r>
              <a:rPr lang="en-US" altLang="zh-CN" smtClean="0"/>
              <a:t>Pi</a:t>
            </a:r>
            <a:r>
              <a:rPr lang="zh-CN" altLang="en-US" smtClean="0"/>
              <a:t>删掉一个点集的独立集得到</a:t>
            </a:r>
          </a:p>
          <a:p>
            <a:pPr lvl="1"/>
            <a:r>
              <a:rPr lang="zh-CN" altLang="en-US" smtClean="0"/>
              <a:t>删掉的点中没有连边的</a:t>
            </a:r>
          </a:p>
          <a:p>
            <a:r>
              <a:rPr lang="en-US" altLang="zh-CN" smtClean="0"/>
              <a:t>Pk</a:t>
            </a:r>
            <a:r>
              <a:rPr lang="zh-CN" altLang="en-US" smtClean="0"/>
              <a:t>是一个单纯形（三棱锥或四面体）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err="1" smtClean="0"/>
              <a:t>Dobkin</a:t>
            </a:r>
            <a:r>
              <a:rPr lang="en-US" altLang="zh-CN" dirty="0" smtClean="0"/>
              <a:t>-Kirkpatrick Hierarchy</a:t>
            </a:r>
            <a:endParaRPr lang="en-US" altLang="zh-CN" cap="none" dirty="0" smtClean="0"/>
          </a:p>
        </p:txBody>
      </p:sp>
      <p:sp>
        <p:nvSpPr>
          <p:cNvPr id="1024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r>
              <a:rPr lang="zh-CN" altLang="en-US" smtClean="0"/>
              <a:t>以上是一次找删除点集的操作</a:t>
            </a:r>
          </a:p>
          <a:p>
            <a:r>
              <a:rPr lang="zh-CN" altLang="en-US" smtClean="0"/>
              <a:t>可以证明这么做保证</a:t>
            </a:r>
            <a:r>
              <a:rPr lang="en-US" altLang="zh-CN" smtClean="0"/>
              <a:t>K</a:t>
            </a:r>
            <a:r>
              <a:rPr lang="zh-CN" altLang="en-US" smtClean="0"/>
              <a:t>最大为</a:t>
            </a:r>
            <a:r>
              <a:rPr lang="en-US" altLang="zh-CN" smtClean="0"/>
              <a:t>O(logn)</a:t>
            </a:r>
            <a:r>
              <a:rPr lang="zh-CN" altLang="en-US" smtClean="0"/>
              <a:t>级别</a:t>
            </a:r>
          </a:p>
        </p:txBody>
      </p:sp>
      <p:pic>
        <p:nvPicPr>
          <p:cNvPr id="1024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700213"/>
            <a:ext cx="654367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err="1" smtClean="0"/>
              <a:t>Dobkin</a:t>
            </a:r>
            <a:r>
              <a:rPr lang="en-US" altLang="zh-CN" dirty="0" smtClean="0"/>
              <a:t>-Kirkpatrick Hierarchy</a:t>
            </a:r>
            <a:endParaRPr lang="en-US" altLang="zh-CN" cap="none" dirty="0" smtClean="0"/>
          </a:p>
        </p:txBody>
      </p:sp>
      <p:sp>
        <p:nvSpPr>
          <p:cNvPr id="1034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r>
              <a:rPr lang="zh-CN" altLang="en-US" smtClean="0"/>
              <a:t>查询点集</a:t>
            </a:r>
          </a:p>
          <a:p>
            <a:pPr lvl="1"/>
            <a:r>
              <a:rPr lang="zh-CN" altLang="en-US" smtClean="0"/>
              <a:t>从</a:t>
            </a:r>
            <a:r>
              <a:rPr lang="en-US" altLang="zh-CN" smtClean="0"/>
              <a:t>Pk</a:t>
            </a:r>
            <a:r>
              <a:rPr lang="zh-CN" altLang="en-US" smtClean="0"/>
              <a:t>开始查询，</a:t>
            </a:r>
            <a:r>
              <a:rPr lang="en-US" altLang="zh-CN" smtClean="0"/>
              <a:t>Pk</a:t>
            </a:r>
            <a:r>
              <a:rPr lang="zh-CN" altLang="en-US" smtClean="0"/>
              <a:t>的查询是</a:t>
            </a:r>
            <a:r>
              <a:rPr lang="en-US" altLang="zh-CN" smtClean="0"/>
              <a:t>O(4)</a:t>
            </a:r>
            <a:r>
              <a:rPr lang="zh-CN" altLang="en-US" smtClean="0"/>
              <a:t>的</a:t>
            </a:r>
            <a:endParaRPr lang="en-US" altLang="zh-CN" smtClean="0"/>
          </a:p>
          <a:p>
            <a:pPr lvl="1"/>
            <a:r>
              <a:rPr lang="zh-CN" altLang="en-US" smtClean="0"/>
              <a:t>每次退回</a:t>
            </a:r>
            <a:r>
              <a:rPr lang="en-US" altLang="zh-CN" smtClean="0"/>
              <a:t>Pi-1</a:t>
            </a:r>
            <a:r>
              <a:rPr lang="zh-CN" altLang="en-US" smtClean="0"/>
              <a:t>查询，只查询</a:t>
            </a:r>
            <a:r>
              <a:rPr lang="en-US" altLang="zh-CN" smtClean="0"/>
              <a:t>Pi-1</a:t>
            </a:r>
            <a:r>
              <a:rPr lang="zh-CN" altLang="en-US" smtClean="0"/>
              <a:t>中当前结果的邻居</a:t>
            </a:r>
            <a:endParaRPr lang="en-US" altLang="zh-CN" smtClean="0"/>
          </a:p>
          <a:p>
            <a:pPr lvl="1"/>
            <a:r>
              <a:rPr lang="zh-CN" altLang="en-US" smtClean="0"/>
              <a:t>可以证明查询的复杂度也是</a:t>
            </a:r>
            <a:r>
              <a:rPr lang="en-US" altLang="zh-CN" smtClean="0"/>
              <a:t>O(logn)</a:t>
            </a:r>
          </a:p>
        </p:txBody>
      </p:sp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1844675"/>
            <a:ext cx="6480175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 smtClean="0"/>
              <a:t>Chan’s Algorithm</a:t>
            </a:r>
            <a:endParaRPr lang="en-US" altLang="zh-CN" cap="none" dirty="0" smtClean="0"/>
          </a:p>
        </p:txBody>
      </p:sp>
      <p:sp>
        <p:nvSpPr>
          <p:cNvPr id="1044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mtClean="0"/>
              <a:t>解决了点集查询问题，剩下的步骤同以往</a:t>
            </a:r>
          </a:p>
          <a:p>
            <a:endParaRPr lang="en-US" altLang="zh-CN" smtClean="0"/>
          </a:p>
          <a:p>
            <a:r>
              <a:rPr lang="zh-CN" altLang="en-US" smtClean="0"/>
              <a:t>时间复杂度是</a:t>
            </a:r>
            <a:r>
              <a:rPr lang="en-US" altLang="zh-CN" smtClean="0"/>
              <a:t>O(nlogh)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维分治法</a:t>
            </a:r>
            <a:r>
              <a:rPr lang="zh-CN" altLang="en-US" dirty="0" smtClean="0"/>
              <a:t>的</a:t>
            </a:r>
            <a:r>
              <a:rPr lang="en-US" altLang="zh-CN" dirty="0" smtClean="0"/>
              <a:t>3</a:t>
            </a:r>
            <a:r>
              <a:rPr lang="zh-CN" altLang="en-US" dirty="0" smtClean="0"/>
              <a:t>维凸包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和上一个名字一样，加上词语以区别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两个算法的作者是同一个人</a:t>
            </a:r>
            <a:r>
              <a:rPr lang="en-US" altLang="zh-CN" b="1" dirty="0" smtClean="0"/>
              <a:t>Timothy </a:t>
            </a:r>
            <a:r>
              <a:rPr lang="en-US" altLang="zh-CN" b="1" dirty="0" err="1" smtClean="0"/>
              <a:t>M.Chan</a:t>
            </a:r>
            <a:endParaRPr lang="en-US" altLang="zh-CN" b="1" dirty="0" smtClean="0"/>
          </a:p>
          <a:p>
            <a:pPr lvl="1"/>
            <a:endParaRPr lang="en-US" altLang="zh-CN" b="1" dirty="0" smtClean="0"/>
          </a:p>
          <a:p>
            <a:r>
              <a:rPr lang="zh-CN" altLang="en-US" dirty="0" smtClean="0"/>
              <a:t>回忆</a:t>
            </a:r>
            <a:r>
              <a:rPr lang="en-US" altLang="zh-CN" dirty="0" smtClean="0"/>
              <a:t>2</a:t>
            </a:r>
            <a:r>
              <a:rPr lang="zh-CN" altLang="en-US" dirty="0" smtClean="0"/>
              <a:t>维分治法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分别考虑上下凸壳</a:t>
            </a:r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573016"/>
            <a:ext cx="6337300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将三维问题转为二维问题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考虑凸包的一个</a:t>
            </a:r>
            <a:r>
              <a:rPr lang="en-US" altLang="zh-CN" dirty="0" smtClean="0"/>
              <a:t>facet</a:t>
            </a:r>
            <a:r>
              <a:rPr lang="zh-CN" altLang="en-US" dirty="0" smtClean="0"/>
              <a:t>，所在的平面是</a:t>
            </a:r>
            <a:r>
              <a:rPr lang="en-US" altLang="zh-CN" dirty="0" smtClean="0"/>
              <a:t>z=</a:t>
            </a:r>
            <a:r>
              <a:rPr lang="en-US" altLang="zh-CN" dirty="0" err="1" smtClean="0"/>
              <a:t>sx+ty+b</a:t>
            </a:r>
            <a:endParaRPr lang="en-US" altLang="zh-CN" dirty="0" smtClean="0"/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t</a:t>
            </a:r>
            <a:r>
              <a:rPr lang="zh-CN" altLang="en-US" dirty="0" smtClean="0"/>
              <a:t>看成时间参数，定义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时刻的平面点集</a:t>
            </a:r>
            <a:r>
              <a:rPr lang="en-US" altLang="zh-CN" dirty="0" smtClean="0"/>
              <a:t>Pt=(</a:t>
            </a:r>
            <a:r>
              <a:rPr lang="en-US" altLang="zh-CN" dirty="0" err="1" smtClean="0"/>
              <a:t>x,z-ty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(1)</a:t>
            </a:r>
            <a:r>
              <a:rPr lang="zh-CN" altLang="en-US" dirty="0" smtClean="0"/>
              <a:t>点</a:t>
            </a:r>
            <a:r>
              <a:rPr lang="en-US" altLang="zh-CN" dirty="0" smtClean="0"/>
              <a:t>P</a:t>
            </a:r>
            <a:r>
              <a:rPr lang="zh-CN" altLang="en-US" dirty="0" smtClean="0"/>
              <a:t>在三维凸包的下凸壳上，当且仅当在某个时间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Pt</a:t>
            </a:r>
            <a:r>
              <a:rPr lang="zh-CN" altLang="en-US" dirty="0" smtClean="0"/>
              <a:t>落在直线</a:t>
            </a:r>
            <a:r>
              <a:rPr lang="en-US" altLang="zh-CN" dirty="0" smtClean="0"/>
              <a:t>y=</a:t>
            </a:r>
            <a:r>
              <a:rPr lang="en-US" altLang="zh-CN" dirty="0" err="1" smtClean="0"/>
              <a:t>sx+b</a:t>
            </a:r>
            <a:r>
              <a:rPr lang="zh-CN" altLang="en-US" dirty="0" smtClean="0"/>
              <a:t>上，且其他点在该直线上方</a:t>
            </a:r>
            <a:endParaRPr lang="en-US" altLang="zh-CN" dirty="0" smtClean="0"/>
          </a:p>
          <a:p>
            <a:r>
              <a:rPr lang="en-US" altLang="zh-CN" dirty="0" smtClean="0"/>
              <a:t>(2)</a:t>
            </a:r>
            <a:r>
              <a:rPr lang="zh-CN" altLang="en-US" dirty="0" smtClean="0"/>
              <a:t>边</a:t>
            </a:r>
            <a:r>
              <a:rPr lang="en-US" altLang="zh-CN" dirty="0" smtClean="0"/>
              <a:t>P1P2</a:t>
            </a:r>
            <a:r>
              <a:rPr lang="zh-CN" altLang="en-US" dirty="0" smtClean="0"/>
              <a:t>在三维凸包的下凸壳上，当且仅当某个时间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P1P2</a:t>
            </a:r>
            <a:r>
              <a:rPr lang="zh-CN" altLang="en-US" dirty="0" smtClean="0"/>
              <a:t>是二维凸壳的一条边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求</a:t>
            </a:r>
            <a:r>
              <a:rPr lang="en-US" altLang="zh-CN" dirty="0" smtClean="0"/>
              <a:t>t=-</a:t>
            </a:r>
            <a:r>
              <a:rPr lang="en-US" altLang="zh-CN" dirty="0" err="1" smtClean="0"/>
              <a:t>inf</a:t>
            </a:r>
            <a:r>
              <a:rPr lang="en-US" altLang="zh-CN" dirty="0" smtClean="0"/>
              <a:t>~+</a:t>
            </a:r>
            <a:r>
              <a:rPr lang="en-US" altLang="zh-CN" dirty="0" err="1" smtClean="0"/>
              <a:t>inf</a:t>
            </a:r>
            <a:r>
              <a:rPr lang="zh-CN" altLang="en-US" dirty="0" smtClean="0"/>
              <a:t>之间凸壳的动画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虽然时间</a:t>
            </a:r>
            <a:r>
              <a:rPr lang="en-US" altLang="zh-CN" dirty="0" smtClean="0"/>
              <a:t>t</a:t>
            </a:r>
            <a:r>
              <a:rPr lang="zh-CN" altLang="en-US" dirty="0" smtClean="0"/>
              <a:t>是无穷的，但凸包点集的变化次数有限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(1)</a:t>
            </a:r>
            <a:r>
              <a:rPr lang="zh-CN" altLang="en-US" dirty="0" smtClean="0"/>
              <a:t>点</a:t>
            </a:r>
            <a:r>
              <a:rPr lang="en-US" altLang="zh-CN" dirty="0" err="1" smtClean="0"/>
              <a:t>Pj</a:t>
            </a:r>
            <a:r>
              <a:rPr lang="zh-CN" altLang="en-US" dirty="0" smtClean="0"/>
              <a:t>进入凸包，删除边</a:t>
            </a:r>
            <a:r>
              <a:rPr lang="en-US" altLang="zh-CN" dirty="0" err="1" smtClean="0"/>
              <a:t>PiPk</a:t>
            </a:r>
            <a:r>
              <a:rPr lang="zh-CN" altLang="en-US" dirty="0" smtClean="0"/>
              <a:t>，加入</a:t>
            </a:r>
            <a:r>
              <a:rPr lang="en-US" altLang="zh-CN" dirty="0" err="1" smtClean="0"/>
              <a:t>PiPj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PjPk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(2)</a:t>
            </a:r>
            <a:r>
              <a:rPr lang="zh-CN" altLang="en-US" dirty="0" smtClean="0"/>
              <a:t>点</a:t>
            </a:r>
            <a:r>
              <a:rPr lang="en-US" altLang="zh-CN" dirty="0" err="1" smtClean="0"/>
              <a:t>Pj</a:t>
            </a:r>
            <a:r>
              <a:rPr lang="zh-CN" altLang="en-US" dirty="0" smtClean="0"/>
              <a:t>离开凸包，删除</a:t>
            </a:r>
            <a:r>
              <a:rPr lang="en-US" altLang="zh-CN" dirty="0" err="1" smtClean="0"/>
              <a:t>PiPj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PjPk</a:t>
            </a:r>
            <a:r>
              <a:rPr lang="zh-CN" altLang="en-US" dirty="0" smtClean="0"/>
              <a:t>，加入</a:t>
            </a:r>
            <a:r>
              <a:rPr lang="en-US" altLang="zh-CN" dirty="0" err="1" smtClean="0"/>
              <a:t>PiPk</a:t>
            </a:r>
            <a:endParaRPr lang="en-US" altLang="zh-CN" dirty="0" smtClean="0"/>
          </a:p>
          <a:p>
            <a:r>
              <a:rPr lang="zh-CN" altLang="en-US" dirty="0" smtClean="0"/>
              <a:t>一个点进入凸包一次离开凸包一次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将点集</a:t>
            </a:r>
            <a:r>
              <a:rPr lang="zh-CN" altLang="en-US" b="1" dirty="0" smtClean="0"/>
              <a:t>按</a:t>
            </a:r>
            <a:r>
              <a:rPr lang="en-US" altLang="zh-CN" b="1" dirty="0" smtClean="0"/>
              <a:t>x</a:t>
            </a:r>
            <a:r>
              <a:rPr lang="zh-CN" altLang="en-US" b="1" dirty="0" smtClean="0"/>
              <a:t>排序</a:t>
            </a:r>
            <a:r>
              <a:rPr lang="zh-CN" altLang="en-US" dirty="0" smtClean="0"/>
              <a:t>，进行分治</a:t>
            </a:r>
            <a:endParaRPr lang="en-US" altLang="zh-CN" dirty="0" smtClean="0"/>
          </a:p>
          <a:p>
            <a:r>
              <a:rPr lang="en-US" altLang="zh-CN" dirty="0" smtClean="0"/>
              <a:t>Solve(</a:t>
            </a:r>
            <a:r>
              <a:rPr lang="en-US" altLang="zh-CN" dirty="0" err="1" smtClean="0"/>
              <a:t>l,r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Solve(</a:t>
            </a:r>
            <a:r>
              <a:rPr lang="en-US" altLang="zh-CN" dirty="0" err="1" smtClean="0"/>
              <a:t>l,mid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Solve(mid+1,r)</a:t>
            </a:r>
          </a:p>
          <a:p>
            <a:pPr lvl="1"/>
            <a:r>
              <a:rPr lang="zh-CN" altLang="en-US" dirty="0" smtClean="0"/>
              <a:t>合并两段点集的动画</a:t>
            </a:r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关键操作：合并点集</a:t>
            </a:r>
            <a:r>
              <a:rPr lang="en-US" altLang="zh-CN" dirty="0" smtClean="0"/>
              <a:t>L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</a:t>
            </a:r>
            <a:r>
              <a:rPr lang="zh-CN" altLang="en-US" dirty="0" smtClean="0"/>
              <a:t>的凸壳动画为</a:t>
            </a:r>
            <a:r>
              <a:rPr lang="en-US" altLang="zh-CN" dirty="0" smtClean="0"/>
              <a:t>A</a:t>
            </a:r>
          </a:p>
          <a:p>
            <a:r>
              <a:rPr lang="zh-CN" altLang="en-US" dirty="0" smtClean="0"/>
              <a:t>初始动画：合并两个</a:t>
            </a:r>
            <a:r>
              <a:rPr lang="en-US" altLang="zh-CN" dirty="0" smtClean="0"/>
              <a:t>t=-</a:t>
            </a:r>
            <a:r>
              <a:rPr lang="en-US" altLang="zh-CN" dirty="0" err="1" smtClean="0"/>
              <a:t>inf</a:t>
            </a:r>
            <a:r>
              <a:rPr lang="zh-CN" altLang="en-US" dirty="0" smtClean="0"/>
              <a:t>时的下凸包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二维的凸包合并</a:t>
            </a:r>
            <a:endParaRPr lang="en-US" altLang="zh-CN" dirty="0" smtClean="0"/>
          </a:p>
          <a:p>
            <a:r>
              <a:rPr lang="zh-CN" altLang="en-US" dirty="0" smtClean="0"/>
              <a:t>维护可能发生的增删点事件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(1)A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的增删点操作</a:t>
            </a:r>
            <a:endParaRPr lang="en-US" altLang="zh-CN" dirty="0" smtClean="0"/>
          </a:p>
          <a:p>
            <a:pPr lvl="1"/>
            <a:r>
              <a:rPr lang="en-US" altLang="zh-CN" b="1" dirty="0" smtClean="0"/>
              <a:t>(2)</a:t>
            </a:r>
            <a:r>
              <a:rPr lang="zh-CN" altLang="en-US" b="1" dirty="0" smtClean="0"/>
              <a:t>切线</a:t>
            </a:r>
            <a:r>
              <a:rPr lang="en-US" altLang="zh-CN" b="1" dirty="0" smtClean="0"/>
              <a:t>u-v</a:t>
            </a:r>
            <a:r>
              <a:rPr lang="zh-CN" altLang="en-US" b="1" dirty="0" smtClean="0"/>
              <a:t>的改动</a:t>
            </a:r>
            <a:endParaRPr lang="en-US" altLang="zh-CN" b="1" dirty="0" smtClean="0"/>
          </a:p>
          <a:p>
            <a:r>
              <a:rPr lang="en-US" altLang="zh-CN" dirty="0" smtClean="0"/>
              <a:t>(1)</a:t>
            </a:r>
            <a:r>
              <a:rPr lang="zh-CN" altLang="en-US" dirty="0" smtClean="0"/>
              <a:t>的维护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L</a:t>
            </a:r>
            <a:r>
              <a:rPr lang="zh-CN" altLang="en-US" dirty="0" smtClean="0"/>
              <a:t>发生了增删点，当且仅当涉及点在</a:t>
            </a:r>
            <a:r>
              <a:rPr lang="en-US" altLang="zh-CN" dirty="0" smtClean="0"/>
              <a:t>U</a:t>
            </a:r>
            <a:r>
              <a:rPr lang="zh-CN" altLang="en-US" dirty="0" smtClean="0"/>
              <a:t>左侧时，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需要增删对应的点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R</a:t>
            </a:r>
            <a:r>
              <a:rPr lang="zh-CN" altLang="en-US" dirty="0" smtClean="0"/>
              <a:t>发生了增删点，当且仅当涉及点在</a:t>
            </a:r>
            <a:r>
              <a:rPr lang="en-US" altLang="zh-CN" dirty="0" smtClean="0"/>
              <a:t>V</a:t>
            </a:r>
            <a:r>
              <a:rPr lang="zh-CN" altLang="en-US" dirty="0" smtClean="0"/>
              <a:t>右侧时，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需要增删对应的点</a:t>
            </a:r>
            <a:endParaRPr lang="en-US" altLang="zh-CN" dirty="0" smtClean="0"/>
          </a:p>
          <a:p>
            <a:r>
              <a:rPr lang="zh-CN" altLang="en-US" dirty="0" smtClean="0"/>
              <a:t>以上两个事件对应的时刻由分治过程得到。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(2)</a:t>
            </a:r>
            <a:r>
              <a:rPr lang="zh-CN" altLang="en-US" dirty="0" smtClean="0"/>
              <a:t>的维护</a:t>
            </a:r>
            <a:endParaRPr lang="en-US" altLang="zh-CN" dirty="0" smtClean="0"/>
          </a:p>
          <a:p>
            <a:r>
              <a:rPr lang="en-US" altLang="zh-CN" dirty="0" smtClean="0"/>
              <a:t>U-V</a:t>
            </a:r>
            <a:r>
              <a:rPr lang="zh-CN" altLang="en-US" dirty="0" smtClean="0"/>
              <a:t>是切线的充要条件是</a:t>
            </a:r>
            <a:r>
              <a:rPr lang="en-US" altLang="zh-CN" dirty="0" smtClean="0">
                <a:sym typeface="Wingdings" pitchFamily="2" charset="2"/>
              </a:rPr>
              <a:t>(1)u-</a:t>
            </a:r>
            <a:r>
              <a:rPr lang="en-US" altLang="zh-CN" dirty="0" err="1" smtClean="0">
                <a:sym typeface="Wingdings" pitchFamily="2" charset="2"/>
              </a:rPr>
              <a:t>uv</a:t>
            </a:r>
            <a:r>
              <a:rPr lang="zh-CN" altLang="en-US" dirty="0" smtClean="0">
                <a:sym typeface="Wingdings" pitchFamily="2" charset="2"/>
              </a:rPr>
              <a:t>是逆时针，</a:t>
            </a:r>
            <a:r>
              <a:rPr lang="en-US" altLang="zh-CN" dirty="0" smtClean="0">
                <a:sym typeface="Wingdings" pitchFamily="2" charset="2"/>
              </a:rPr>
              <a:t>(2)</a:t>
            </a:r>
            <a:r>
              <a:rPr lang="en-US" altLang="zh-CN" dirty="0" err="1" smtClean="0">
                <a:sym typeface="Wingdings" pitchFamily="2" charset="2"/>
              </a:rPr>
              <a:t>uu+v</a:t>
            </a:r>
            <a:r>
              <a:rPr lang="zh-CN" altLang="en-US" dirty="0" smtClean="0">
                <a:sym typeface="Wingdings" pitchFamily="2" charset="2"/>
              </a:rPr>
              <a:t>是顺时针，</a:t>
            </a:r>
            <a:r>
              <a:rPr lang="en-US" altLang="zh-CN" dirty="0" smtClean="0">
                <a:sym typeface="Wingdings" pitchFamily="2" charset="2"/>
              </a:rPr>
              <a:t>(3)</a:t>
            </a:r>
            <a:r>
              <a:rPr lang="en-US" altLang="zh-CN" dirty="0" err="1" smtClean="0">
                <a:sym typeface="Wingdings" pitchFamily="2" charset="2"/>
              </a:rPr>
              <a:t>uvv</a:t>
            </a:r>
            <a:r>
              <a:rPr lang="en-US" altLang="zh-CN" dirty="0" smtClean="0">
                <a:sym typeface="Wingdings" pitchFamily="2" charset="2"/>
              </a:rPr>
              <a:t>+</a:t>
            </a:r>
            <a:r>
              <a:rPr lang="zh-CN" altLang="en-US" dirty="0" smtClean="0">
                <a:sym typeface="Wingdings" pitchFamily="2" charset="2"/>
              </a:rPr>
              <a:t>是逆时针，</a:t>
            </a:r>
            <a:r>
              <a:rPr lang="en-US" altLang="zh-CN" dirty="0" smtClean="0">
                <a:sym typeface="Wingdings" pitchFamily="2" charset="2"/>
              </a:rPr>
              <a:t>(4)</a:t>
            </a:r>
            <a:r>
              <a:rPr lang="en-US" altLang="zh-CN" dirty="0" err="1" smtClean="0">
                <a:sym typeface="Wingdings" pitchFamily="2" charset="2"/>
              </a:rPr>
              <a:t>uv</a:t>
            </a:r>
            <a:r>
              <a:rPr lang="en-US" altLang="zh-CN" dirty="0" smtClean="0">
                <a:sym typeface="Wingdings" pitchFamily="2" charset="2"/>
              </a:rPr>
              <a:t>-v</a:t>
            </a:r>
            <a:r>
              <a:rPr lang="zh-CN" altLang="en-US" dirty="0" smtClean="0">
                <a:sym typeface="Wingdings" pitchFamily="2" charset="2"/>
              </a:rPr>
              <a:t>是顺时针。</a:t>
            </a:r>
            <a:endParaRPr lang="en-US" altLang="zh-CN" dirty="0" smtClean="0">
              <a:sym typeface="Wingdings" pitchFamily="2" charset="2"/>
            </a:endParaRPr>
          </a:p>
          <a:p>
            <a:pPr lvl="1"/>
            <a:r>
              <a:rPr lang="en-US" altLang="zh-CN" dirty="0" smtClean="0">
                <a:sym typeface="Wingdings" pitchFamily="2" charset="2"/>
              </a:rPr>
              <a:t>(1)</a:t>
            </a:r>
            <a:r>
              <a:rPr lang="zh-CN" altLang="en-US" dirty="0" smtClean="0">
                <a:sym typeface="Wingdings" pitchFamily="2" charset="2"/>
              </a:rPr>
              <a:t>不满足：新的切线是</a:t>
            </a:r>
            <a:r>
              <a:rPr lang="en-US" altLang="zh-CN" dirty="0" smtClean="0">
                <a:sym typeface="Wingdings" pitchFamily="2" charset="2"/>
              </a:rPr>
              <a:t>u-v</a:t>
            </a:r>
            <a:r>
              <a:rPr lang="zh-CN" altLang="en-US" dirty="0" smtClean="0">
                <a:sym typeface="Wingdings" pitchFamily="2" charset="2"/>
              </a:rPr>
              <a:t>，从</a:t>
            </a:r>
            <a:r>
              <a:rPr lang="en-US" altLang="zh-CN" dirty="0" smtClean="0">
                <a:sym typeface="Wingdings" pitchFamily="2" charset="2"/>
              </a:rPr>
              <a:t>u-</a:t>
            </a:r>
            <a:r>
              <a:rPr lang="zh-CN" altLang="en-US" dirty="0" smtClean="0">
                <a:sym typeface="Wingdings" pitchFamily="2" charset="2"/>
              </a:rPr>
              <a:t>和</a:t>
            </a:r>
            <a:r>
              <a:rPr lang="en-US" altLang="zh-CN" dirty="0" smtClean="0">
                <a:sym typeface="Wingdings" pitchFamily="2" charset="2"/>
              </a:rPr>
              <a:t>v</a:t>
            </a:r>
            <a:r>
              <a:rPr lang="zh-CN" altLang="en-US" dirty="0" smtClean="0">
                <a:sym typeface="Wingdings" pitchFamily="2" charset="2"/>
              </a:rPr>
              <a:t>之间删除</a:t>
            </a:r>
            <a:r>
              <a:rPr lang="en-US" altLang="zh-CN" dirty="0" smtClean="0">
                <a:sym typeface="Wingdings" pitchFamily="2" charset="2"/>
              </a:rPr>
              <a:t>u</a:t>
            </a:r>
          </a:p>
          <a:p>
            <a:pPr lvl="1"/>
            <a:r>
              <a:rPr lang="en-US" altLang="zh-CN" dirty="0" smtClean="0">
                <a:sym typeface="Wingdings" pitchFamily="2" charset="2"/>
              </a:rPr>
              <a:t>(2)</a:t>
            </a:r>
            <a:r>
              <a:rPr lang="zh-CN" altLang="en-US" dirty="0" smtClean="0">
                <a:sym typeface="Wingdings" pitchFamily="2" charset="2"/>
              </a:rPr>
              <a:t>不满足：新的切线是</a:t>
            </a:r>
            <a:r>
              <a:rPr lang="en-US" altLang="zh-CN" dirty="0" err="1" smtClean="0">
                <a:sym typeface="Wingdings" pitchFamily="2" charset="2"/>
              </a:rPr>
              <a:t>u+v</a:t>
            </a:r>
            <a:r>
              <a:rPr lang="zh-CN" altLang="en-US" dirty="0" smtClean="0">
                <a:sym typeface="Wingdings" pitchFamily="2" charset="2"/>
              </a:rPr>
              <a:t>，在</a:t>
            </a:r>
            <a:r>
              <a:rPr lang="en-US" altLang="zh-CN" dirty="0" smtClean="0">
                <a:sym typeface="Wingdings" pitchFamily="2" charset="2"/>
              </a:rPr>
              <a:t>u</a:t>
            </a:r>
            <a:r>
              <a:rPr lang="zh-CN" altLang="en-US" dirty="0" smtClean="0">
                <a:sym typeface="Wingdings" pitchFamily="2" charset="2"/>
              </a:rPr>
              <a:t>和</a:t>
            </a:r>
            <a:r>
              <a:rPr lang="en-US" altLang="zh-CN" dirty="0" smtClean="0">
                <a:sym typeface="Wingdings" pitchFamily="2" charset="2"/>
              </a:rPr>
              <a:t>v</a:t>
            </a:r>
            <a:r>
              <a:rPr lang="zh-CN" altLang="en-US" dirty="0" smtClean="0">
                <a:sym typeface="Wingdings" pitchFamily="2" charset="2"/>
              </a:rPr>
              <a:t>之间插入</a:t>
            </a:r>
            <a:r>
              <a:rPr lang="en-US" altLang="zh-CN" dirty="0" smtClean="0">
                <a:sym typeface="Wingdings" pitchFamily="2" charset="2"/>
              </a:rPr>
              <a:t>u+</a:t>
            </a:r>
          </a:p>
          <a:p>
            <a:pPr lvl="1"/>
            <a:r>
              <a:rPr lang="en-US" altLang="zh-CN" dirty="0" smtClean="0">
                <a:sym typeface="Wingdings" pitchFamily="2" charset="2"/>
              </a:rPr>
              <a:t>(3)</a:t>
            </a:r>
            <a:r>
              <a:rPr lang="zh-CN" altLang="en-US" dirty="0" smtClean="0">
                <a:sym typeface="Wingdings" pitchFamily="2" charset="2"/>
              </a:rPr>
              <a:t>不满足：新的切线是</a:t>
            </a:r>
            <a:r>
              <a:rPr lang="en-US" altLang="zh-CN" dirty="0" err="1" smtClean="0">
                <a:sym typeface="Wingdings" pitchFamily="2" charset="2"/>
              </a:rPr>
              <a:t>uv</a:t>
            </a:r>
            <a:r>
              <a:rPr lang="en-US" altLang="zh-CN" dirty="0" smtClean="0">
                <a:sym typeface="Wingdings" pitchFamily="2" charset="2"/>
              </a:rPr>
              <a:t>+</a:t>
            </a:r>
            <a:r>
              <a:rPr lang="zh-CN" altLang="en-US" dirty="0" smtClean="0">
                <a:sym typeface="Wingdings" pitchFamily="2" charset="2"/>
              </a:rPr>
              <a:t>，在</a:t>
            </a:r>
            <a:r>
              <a:rPr lang="en-US" altLang="zh-CN" dirty="0" smtClean="0">
                <a:sym typeface="Wingdings" pitchFamily="2" charset="2"/>
              </a:rPr>
              <a:t>u</a:t>
            </a:r>
            <a:r>
              <a:rPr lang="zh-CN" altLang="en-US" dirty="0" smtClean="0">
                <a:sym typeface="Wingdings" pitchFamily="2" charset="2"/>
              </a:rPr>
              <a:t>和</a:t>
            </a:r>
            <a:r>
              <a:rPr lang="en-US" altLang="zh-CN" dirty="0" smtClean="0">
                <a:sym typeface="Wingdings" pitchFamily="2" charset="2"/>
              </a:rPr>
              <a:t>v+</a:t>
            </a:r>
            <a:r>
              <a:rPr lang="zh-CN" altLang="en-US" dirty="0" smtClean="0">
                <a:sym typeface="Wingdings" pitchFamily="2" charset="2"/>
              </a:rPr>
              <a:t>之间删除</a:t>
            </a:r>
            <a:r>
              <a:rPr lang="en-US" altLang="zh-CN" dirty="0" smtClean="0">
                <a:sym typeface="Wingdings" pitchFamily="2" charset="2"/>
              </a:rPr>
              <a:t>v</a:t>
            </a:r>
          </a:p>
          <a:p>
            <a:pPr lvl="1"/>
            <a:r>
              <a:rPr lang="en-US" altLang="zh-CN" dirty="0" smtClean="0">
                <a:sym typeface="Wingdings" pitchFamily="2" charset="2"/>
              </a:rPr>
              <a:t>(4)</a:t>
            </a:r>
            <a:r>
              <a:rPr lang="zh-CN" altLang="en-US" dirty="0" smtClean="0">
                <a:sym typeface="Wingdings" pitchFamily="2" charset="2"/>
              </a:rPr>
              <a:t>不满足：新的切线是</a:t>
            </a:r>
            <a:r>
              <a:rPr lang="en-US" altLang="zh-CN" dirty="0" err="1" smtClean="0">
                <a:sym typeface="Wingdings" pitchFamily="2" charset="2"/>
              </a:rPr>
              <a:t>uv</a:t>
            </a:r>
            <a:r>
              <a:rPr lang="en-US" altLang="zh-CN" dirty="0" smtClean="0">
                <a:sym typeface="Wingdings" pitchFamily="2" charset="2"/>
              </a:rPr>
              <a:t>-</a:t>
            </a:r>
            <a:r>
              <a:rPr lang="zh-CN" altLang="en-US" dirty="0" smtClean="0">
                <a:sym typeface="Wingdings" pitchFamily="2" charset="2"/>
              </a:rPr>
              <a:t>，在</a:t>
            </a:r>
            <a:r>
              <a:rPr lang="en-US" altLang="zh-CN" dirty="0" smtClean="0">
                <a:sym typeface="Wingdings" pitchFamily="2" charset="2"/>
              </a:rPr>
              <a:t>u</a:t>
            </a:r>
            <a:r>
              <a:rPr lang="zh-CN" altLang="en-US" dirty="0" smtClean="0">
                <a:sym typeface="Wingdings" pitchFamily="2" charset="2"/>
              </a:rPr>
              <a:t>和</a:t>
            </a:r>
            <a:r>
              <a:rPr lang="en-US" altLang="zh-CN" dirty="0" smtClean="0">
                <a:sym typeface="Wingdings" pitchFamily="2" charset="2"/>
              </a:rPr>
              <a:t>v</a:t>
            </a:r>
            <a:r>
              <a:rPr lang="zh-CN" altLang="en-US" dirty="0" smtClean="0">
                <a:sym typeface="Wingdings" pitchFamily="2" charset="2"/>
              </a:rPr>
              <a:t>之间插入</a:t>
            </a:r>
            <a:r>
              <a:rPr lang="en-US" altLang="zh-CN" dirty="0" smtClean="0">
                <a:sym typeface="Wingdings" pitchFamily="2" charset="2"/>
              </a:rPr>
              <a:t>v-</a:t>
            </a:r>
            <a:endParaRPr lang="en-US" altLang="zh-CN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6337300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(2)</a:t>
            </a:r>
            <a:r>
              <a:rPr lang="zh-CN" altLang="en-US" dirty="0" smtClean="0"/>
              <a:t>的维护</a:t>
            </a:r>
            <a:endParaRPr lang="en-US" altLang="zh-CN" dirty="0" smtClean="0"/>
          </a:p>
          <a:p>
            <a:r>
              <a:rPr lang="zh-CN" altLang="en-US" dirty="0" smtClean="0"/>
              <a:t>计算事件发生的时间：三点共线</a:t>
            </a:r>
            <a:endParaRPr lang="en-US" altLang="zh-CN" dirty="0" smtClean="0"/>
          </a:p>
          <a:p>
            <a:r>
              <a:rPr lang="zh-CN" altLang="en-US" dirty="0" smtClean="0"/>
              <a:t>复杂度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Implementation</a:t>
            </a: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772816"/>
            <a:ext cx="524291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Hull(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用于存储事件列表，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用于辅助</a:t>
            </a:r>
            <a:endParaRPr lang="en-US" altLang="zh-CN" dirty="0" smtClean="0"/>
          </a:p>
          <a:p>
            <a:r>
              <a:rPr lang="en-US" altLang="zh-CN" dirty="0" smtClean="0"/>
              <a:t>Turn(</a:t>
            </a:r>
            <a:r>
              <a:rPr lang="en-US" altLang="zh-CN" dirty="0" err="1" smtClean="0"/>
              <a:t>a,b,c</a:t>
            </a:r>
            <a:r>
              <a:rPr lang="en-US" altLang="zh-CN" dirty="0" smtClean="0"/>
              <a:t>)</a:t>
            </a:r>
            <a:r>
              <a:rPr lang="zh-CN" altLang="en-US" dirty="0" smtClean="0"/>
              <a:t>返回三点是顺时针还是逆时针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假设此时</a:t>
            </a:r>
            <a:r>
              <a:rPr lang="en-US" altLang="zh-CN" dirty="0" smtClean="0"/>
              <a:t>last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里存储的是两个</a:t>
            </a:r>
            <a:r>
              <a:rPr lang="en-US" altLang="zh-CN" dirty="0" smtClean="0"/>
              <a:t>t=-</a:t>
            </a:r>
            <a:r>
              <a:rPr lang="en-US" altLang="zh-CN" dirty="0" err="1" smtClean="0"/>
              <a:t>inf</a:t>
            </a:r>
            <a:r>
              <a:rPr lang="zh-CN" altLang="en-US" dirty="0" smtClean="0"/>
              <a:t>时的凸包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75819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合并凸壳的事件</a:t>
            </a:r>
            <a:endParaRPr lang="zh-CN" altLang="en-US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8675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时光倒流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prev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中存下点</a:t>
            </a:r>
            <a:r>
              <a:rPr lang="en-US" altLang="zh-CN" dirty="0" smtClean="0"/>
              <a:t>j</a:t>
            </a:r>
            <a:r>
              <a:rPr lang="zh-CN" altLang="en-US" dirty="0" smtClean="0"/>
              <a:t>进入凸包时的邻接点，以及</a:t>
            </a:r>
            <a:r>
              <a:rPr lang="en-US" altLang="zh-CN" dirty="0" smtClean="0"/>
              <a:t>t=-</a:t>
            </a:r>
            <a:r>
              <a:rPr lang="en-US" altLang="zh-CN" dirty="0" err="1" smtClean="0"/>
              <a:t>inf</a:t>
            </a:r>
            <a:r>
              <a:rPr lang="zh-CN" altLang="en-US" dirty="0" smtClean="0"/>
              <a:t>时的凸包</a:t>
            </a:r>
            <a:endParaRPr lang="en-US" altLang="zh-CN" dirty="0" smtClean="0"/>
          </a:p>
          <a:p>
            <a:r>
              <a:rPr lang="zh-CN" altLang="en-US" dirty="0" smtClean="0"/>
              <a:t>用于返回上一层，以及输出答案用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16832"/>
            <a:ext cx="85820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输出答案</a:t>
            </a:r>
            <a:endParaRPr lang="en-US" altLang="zh-CN" dirty="0" smtClean="0"/>
          </a:p>
          <a:p>
            <a:r>
              <a:rPr lang="zh-CN" altLang="en-US" dirty="0" smtClean="0"/>
              <a:t>对返回的事件序列进行模拟即可</a:t>
            </a:r>
            <a:endParaRPr lang="en-US" altLang="zh-CN" dirty="0" smtClean="0"/>
          </a:p>
          <a:p>
            <a:r>
              <a:rPr lang="zh-CN" altLang="en-US" dirty="0" smtClean="0"/>
              <a:t>当一个点</a:t>
            </a:r>
            <a:r>
              <a:rPr lang="en-US" altLang="zh-CN" dirty="0" smtClean="0"/>
              <a:t>j</a:t>
            </a:r>
            <a:r>
              <a:rPr lang="zh-CN" altLang="en-US" dirty="0" smtClean="0"/>
              <a:t>被插入凸包时，假设两侧节点是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和</a:t>
            </a:r>
            <a:r>
              <a:rPr lang="en-US" altLang="zh-CN" dirty="0" smtClean="0"/>
              <a:t>k</a:t>
            </a:r>
          </a:p>
          <a:p>
            <a:r>
              <a:rPr lang="zh-CN" altLang="en-US" dirty="0" smtClean="0"/>
              <a:t>存在时刻</a:t>
            </a:r>
            <a:r>
              <a:rPr lang="en-US" altLang="zh-CN" dirty="0" smtClean="0"/>
              <a:t>t</a:t>
            </a:r>
            <a:r>
              <a:rPr lang="zh-CN" altLang="en-US" dirty="0" smtClean="0"/>
              <a:t>使</a:t>
            </a:r>
            <a:r>
              <a:rPr lang="en-US" altLang="zh-CN" dirty="0" err="1" smtClean="0"/>
              <a:t>i,j,k</a:t>
            </a:r>
            <a:r>
              <a:rPr lang="zh-CN" altLang="en-US" dirty="0" smtClean="0"/>
              <a:t>共线，且其他顶点在直线上方</a:t>
            </a:r>
            <a:endParaRPr lang="en-US" altLang="zh-CN" dirty="0" smtClean="0"/>
          </a:p>
          <a:p>
            <a:r>
              <a:rPr lang="en-US" altLang="zh-CN" dirty="0" err="1" smtClean="0"/>
              <a:t>I,j,k</a:t>
            </a:r>
            <a:r>
              <a:rPr lang="zh-CN" altLang="en-US" dirty="0" smtClean="0"/>
              <a:t>都在某个平面</a:t>
            </a:r>
            <a:r>
              <a:rPr lang="en-US" altLang="zh-CN" dirty="0" smtClean="0"/>
              <a:t>z=</a:t>
            </a:r>
            <a:r>
              <a:rPr lang="en-US" altLang="zh-CN" dirty="0" err="1" smtClean="0"/>
              <a:t>sx+ty+b</a:t>
            </a:r>
            <a:r>
              <a:rPr lang="zh-CN" altLang="en-US" dirty="0" smtClean="0"/>
              <a:t>上，且其他点在平面上方</a:t>
            </a:r>
            <a:endParaRPr lang="en-US" altLang="zh-CN" dirty="0" smtClean="0"/>
          </a:p>
          <a:p>
            <a:r>
              <a:rPr lang="zh-CN" altLang="en-US" dirty="0" smtClean="0"/>
              <a:t>另一侧凸包可以类似处理</a:t>
            </a:r>
            <a:endParaRPr lang="zh-CN" altLang="en-US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00808"/>
            <a:ext cx="85629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给定平面点集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，在线查询离输入点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</a:t>
            </a:r>
            <a:r>
              <a:rPr lang="zh-CN" altLang="en-US" dirty="0" smtClean="0"/>
              <a:t>最近的点。</a:t>
            </a:r>
            <a:endParaRPr lang="en-US" altLang="zh-CN" dirty="0" smtClean="0"/>
          </a:p>
          <a:p>
            <a:r>
              <a:rPr lang="zh-CN" altLang="en-US" dirty="0" smtClean="0"/>
              <a:t>点距离用直线距离。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Dist^2=(a-x)^2+(b-y)^2 = (x^2+y^2)-2ax-2by+(a^2+b^2)</a:t>
            </a:r>
          </a:p>
          <a:p>
            <a:r>
              <a:rPr lang="en-US" altLang="zh-CN" dirty="0" smtClean="0"/>
              <a:t>A^2+B^2</a:t>
            </a:r>
            <a:r>
              <a:rPr lang="zh-CN" altLang="en-US" dirty="0" smtClean="0"/>
              <a:t>是常数，可以忽略</a:t>
            </a:r>
            <a:endParaRPr lang="en-US" altLang="zh-CN" dirty="0" smtClean="0"/>
          </a:p>
          <a:p>
            <a:r>
              <a:rPr lang="zh-CN" altLang="en-US" dirty="0" smtClean="0"/>
              <a:t>在三维空间上定义点</a:t>
            </a:r>
            <a:r>
              <a:rPr lang="en-US" altLang="zh-CN" dirty="0" smtClean="0"/>
              <a:t>(X’,Y’)-&gt;(2X’,2Y’,X’^2+Y’^2)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存储分治中所有时刻的凸包点集，考虑时刻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的情况</a:t>
            </a:r>
            <a:endParaRPr lang="zh-CN" alt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D-C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在时刻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x,z</a:t>
            </a:r>
            <a:r>
              <a:rPr lang="en-US" altLang="zh-CN" dirty="0" smtClean="0"/>
              <a:t>-by) = (2X’,X’^2+Y’^2-2BY’)</a:t>
            </a:r>
          </a:p>
          <a:p>
            <a:r>
              <a:rPr lang="zh-CN" altLang="en-US" dirty="0" smtClean="0"/>
              <a:t>而此时求的</a:t>
            </a:r>
            <a:r>
              <a:rPr lang="en-US" altLang="zh-CN" dirty="0" smtClean="0"/>
              <a:t>dist</a:t>
            </a:r>
            <a:r>
              <a:rPr lang="zh-CN" altLang="en-US" dirty="0" smtClean="0"/>
              <a:t>等于</a:t>
            </a:r>
            <a:r>
              <a:rPr lang="en-US" altLang="zh-CN" dirty="0" smtClean="0"/>
              <a:t>x’^2+y’^2-2ax’-2by’</a:t>
            </a:r>
          </a:p>
          <a:p>
            <a:r>
              <a:rPr lang="zh-CN" altLang="en-US" dirty="0" smtClean="0"/>
              <a:t>恰好等于新坐标系中的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ax+y</a:t>
            </a:r>
            <a:endParaRPr lang="en-US" altLang="zh-CN" dirty="0" smtClean="0"/>
          </a:p>
          <a:p>
            <a:r>
              <a:rPr lang="zh-CN" altLang="en-US" dirty="0" smtClean="0"/>
              <a:t>在新凸包上进行二分即可</a:t>
            </a:r>
            <a:endParaRPr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Part II Conclusion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O(n^2)</a:t>
            </a:r>
          </a:p>
          <a:p>
            <a:pPr lvl="1"/>
            <a:r>
              <a:rPr lang="zh-CN" altLang="en-US" dirty="0" smtClean="0"/>
              <a:t>卷包裹法</a:t>
            </a:r>
            <a:r>
              <a:rPr lang="en-US" altLang="zh-CN" dirty="0" smtClean="0"/>
              <a:t> – </a:t>
            </a:r>
            <a:r>
              <a:rPr lang="zh-CN" altLang="en-US" dirty="0" smtClean="0"/>
              <a:t>输出敏感，实现简单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增量法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思路直观</a:t>
            </a:r>
            <a:endParaRPr lang="en-US" altLang="zh-CN" dirty="0" smtClean="0"/>
          </a:p>
          <a:p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随机增量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思路直观，效果不错，但较难实现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D-C</a:t>
            </a:r>
            <a:r>
              <a:rPr lang="zh-CN" altLang="en-US" dirty="0" smtClean="0"/>
              <a:t>（分治法）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做法直观，效率也很好，但较难实现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QuickHull</a:t>
            </a:r>
            <a:r>
              <a:rPr lang="en-US" altLang="zh-CN" dirty="0" smtClean="0"/>
              <a:t> – </a:t>
            </a:r>
            <a:r>
              <a:rPr lang="zh-CN" altLang="en-US" dirty="0" smtClean="0"/>
              <a:t>扩展性好，直接扩展到高维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Chan’s Algorithm – </a:t>
            </a:r>
            <a:r>
              <a:rPr lang="zh-CN" altLang="en-US" dirty="0" smtClean="0"/>
              <a:t>输出敏感，时间复杂度最优，但实现非常困难，需要辅助的定位结构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Chan’s D-C – </a:t>
            </a:r>
            <a:r>
              <a:rPr lang="zh-CN" altLang="en-US" dirty="0" smtClean="0"/>
              <a:t>思路精巧，实现灵活，但效率较低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重心</a:t>
            </a:r>
            <a:endParaRPr lang="zh-CN" altLang="en-US" dirty="0">
              <a:cs typeface="+mj-cs"/>
            </a:endParaRPr>
          </a:p>
        </p:txBody>
      </p:sp>
      <p:sp>
        <p:nvSpPr>
          <p:cNvPr id="8192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P1</a:t>
            </a:r>
            <a:r>
              <a:rPr lang="zh-CN" altLang="en-US" smtClean="0"/>
              <a:t>：给定平面上的三角形，求其重心坐标。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几何定义：顶点与对边中点的连线交点为重心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(Gx,Gy) = ((Ax+Bx+Cx)/3,(Ay+By+Cy)/3)</a:t>
            </a:r>
          </a:p>
          <a:p>
            <a:pPr lvl="1" eaLnBrk="1" hangingPunct="1"/>
            <a:r>
              <a:rPr lang="en-US" altLang="zh-CN" smtClean="0"/>
              <a:t>G=(A+B+C)/3</a:t>
            </a:r>
          </a:p>
          <a:p>
            <a:pPr eaLnBrk="1" hangingPunct="1"/>
            <a:r>
              <a:rPr lang="en-US" altLang="zh-CN" smtClean="0"/>
              <a:t>P2</a:t>
            </a:r>
            <a:r>
              <a:rPr lang="zh-CN" altLang="en-US" smtClean="0"/>
              <a:t>：给定空间内的三棱锥，求其重心坐标。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几何定义：顶点和对面重心的连线交点为重心。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G=(A+B+C+D)/4</a:t>
            </a:r>
          </a:p>
          <a:p>
            <a:pPr lvl="1" eaLnBrk="1" hangingPunct="1"/>
            <a:r>
              <a:rPr lang="zh-CN" altLang="en-US" smtClean="0"/>
              <a:t>可以推广到</a:t>
            </a:r>
            <a:r>
              <a:rPr lang="en-US" altLang="zh-CN" smtClean="0"/>
              <a:t>N</a:t>
            </a:r>
            <a:r>
              <a:rPr lang="zh-CN" altLang="en-US" smtClean="0"/>
              <a:t>维单纯形上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P3</a:t>
            </a:r>
            <a:r>
              <a:rPr lang="zh-CN" altLang="en-US" smtClean="0"/>
              <a:t>：给定平面内的凸包，求凸包的重心坐标。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P4</a:t>
            </a:r>
            <a:r>
              <a:rPr lang="zh-CN" altLang="en-US" smtClean="0"/>
              <a:t>：给定空间内的凸包，求凸包的重心坐标。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重心</a:t>
            </a:r>
            <a:endParaRPr lang="zh-CN" altLang="en-US" dirty="0">
              <a:cs typeface="+mj-cs"/>
            </a:endParaRPr>
          </a:p>
        </p:txBody>
      </p:sp>
      <p:sp>
        <p:nvSpPr>
          <p:cNvPr id="8294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Solution to P3</a:t>
            </a:r>
          </a:p>
          <a:p>
            <a:pPr lvl="1" eaLnBrk="1" hangingPunct="1"/>
            <a:r>
              <a:rPr lang="zh-CN" altLang="en-US" smtClean="0"/>
              <a:t>对凸包进行三角剖分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对于每个三角形，求出其面积</a:t>
            </a:r>
            <a:r>
              <a:rPr lang="en-US" altLang="zh-CN" smtClean="0"/>
              <a:t>Si</a:t>
            </a:r>
            <a:r>
              <a:rPr lang="zh-CN" altLang="en-US" smtClean="0"/>
              <a:t>，重心</a:t>
            </a:r>
            <a:r>
              <a:rPr lang="en-US" altLang="zh-CN" smtClean="0"/>
              <a:t>Gi</a:t>
            </a:r>
          </a:p>
          <a:p>
            <a:pPr lvl="1" eaLnBrk="1" hangingPunct="1"/>
            <a:r>
              <a:rPr lang="zh-CN" altLang="en-US" smtClean="0"/>
              <a:t>点上带权重的多边形重心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G=Σ(SiGi)/Σ(Si)</a:t>
            </a:r>
          </a:p>
          <a:p>
            <a:pPr lvl="1" eaLnBrk="1" hangingPunct="1"/>
            <a:r>
              <a:rPr lang="zh-CN" altLang="en-US" smtClean="0"/>
              <a:t>以原点进行三角剖分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Gx=Σ((Xi+Xi+1)*(Pi×Pj))/6/S</a:t>
            </a:r>
          </a:p>
          <a:p>
            <a:pPr eaLnBrk="1" hangingPunct="1"/>
            <a:r>
              <a:rPr lang="en-US" altLang="zh-CN" smtClean="0"/>
              <a:t>Solution to P4</a:t>
            </a:r>
          </a:p>
          <a:p>
            <a:pPr lvl="1" eaLnBrk="1" hangingPunct="1"/>
            <a:r>
              <a:rPr lang="zh-CN" altLang="en-US" smtClean="0"/>
              <a:t>假设无四点共面，凸包每个面都是三角形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cs typeface="+mj-cs"/>
              </a:rPr>
              <a:t>重心</a:t>
            </a:r>
            <a:endParaRPr lang="zh-CN" altLang="en-US" dirty="0">
              <a:cs typeface="+mj-cs"/>
            </a:endParaRPr>
          </a:p>
        </p:txBody>
      </p:sp>
      <p:sp>
        <p:nvSpPr>
          <p:cNvPr id="8397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以原点进行三角剖分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G=Σ(</a:t>
            </a:r>
            <a:r>
              <a:rPr lang="en-US" altLang="zh-CN" dirty="0" err="1" smtClean="0"/>
              <a:t>ViGi</a:t>
            </a:r>
            <a:r>
              <a:rPr lang="en-US" altLang="zh-CN" dirty="0" smtClean="0"/>
              <a:t>)/Σ(Vi)</a:t>
            </a:r>
          </a:p>
          <a:p>
            <a:pPr eaLnBrk="1" hangingPunct="1"/>
            <a:r>
              <a:rPr lang="zh-CN" altLang="en-US" dirty="0" smtClean="0"/>
              <a:t>假设各个面是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-j-k</a:t>
            </a:r>
          </a:p>
          <a:p>
            <a:pPr lvl="1" eaLnBrk="1" hangingPunct="1"/>
            <a:r>
              <a:rPr lang="en-US" altLang="zh-CN" dirty="0" err="1" smtClean="0"/>
              <a:t>Gi</a:t>
            </a:r>
            <a:r>
              <a:rPr lang="en-US" altLang="zh-CN" dirty="0" smtClean="0"/>
              <a:t>=(</a:t>
            </a:r>
            <a:r>
              <a:rPr lang="en-US" altLang="zh-CN" dirty="0" err="1" smtClean="0"/>
              <a:t>Pi+Pj+Pk</a:t>
            </a:r>
            <a:r>
              <a:rPr lang="en-US" altLang="zh-CN" dirty="0" smtClean="0"/>
              <a:t>)/4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Vi=[</a:t>
            </a:r>
            <a:r>
              <a:rPr lang="en-US" altLang="zh-CN" dirty="0" err="1" smtClean="0"/>
              <a:t>Pi,Pj,Pk</a:t>
            </a:r>
            <a:r>
              <a:rPr lang="en-US" altLang="zh-CN" dirty="0" smtClean="0"/>
              <a:t>]/6</a:t>
            </a:r>
          </a:p>
          <a:p>
            <a:pPr lvl="1" eaLnBrk="1" hangingPunct="1"/>
            <a:r>
              <a:rPr lang="en-US" altLang="zh-CN" dirty="0" smtClean="0"/>
              <a:t>G=Σ((</a:t>
            </a:r>
            <a:r>
              <a:rPr lang="en-US" altLang="zh-CN" dirty="0" err="1" smtClean="0"/>
              <a:t>Pi+Pj+Pk</a:t>
            </a:r>
            <a:r>
              <a:rPr lang="en-US" altLang="zh-CN" dirty="0" smtClean="0"/>
              <a:t>)*[</a:t>
            </a:r>
            <a:r>
              <a:rPr lang="en-US" altLang="zh-CN" dirty="0" err="1" smtClean="0"/>
              <a:t>Pi,Pj,Pk</a:t>
            </a:r>
            <a:r>
              <a:rPr lang="en-US" altLang="zh-CN" dirty="0" smtClean="0"/>
              <a:t>])/24V</a:t>
            </a:r>
          </a:p>
          <a:p>
            <a:pPr lvl="1"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一个面上有多个点的情况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对每个面进行三角剖分再带入上式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假设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个面，每个面有</a:t>
            </a:r>
            <a:r>
              <a:rPr lang="en-US" altLang="zh-CN" dirty="0" smtClean="0"/>
              <a:t>Si</a:t>
            </a:r>
            <a:r>
              <a:rPr lang="zh-CN" altLang="en-US" dirty="0" smtClean="0"/>
              <a:t>个节点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G=Σ((Pi,1+Pi,j+Pi,j+1)*[Pi,1,Pi,j,Pi,j+1])/</a:t>
            </a:r>
            <a:r>
              <a:rPr lang="en-US" altLang="zh-CN" dirty="0" smtClean="0"/>
              <a:t>24V</a:t>
            </a:r>
          </a:p>
          <a:p>
            <a:pPr eaLnBrk="1" hangingPunct="1"/>
            <a:r>
              <a:rPr lang="zh-CN" altLang="en-US" dirty="0" smtClean="0"/>
              <a:t>顺便得到了多面体的体积。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[WF2010] Paperweight</a:t>
            </a:r>
            <a:endParaRPr lang="zh-CN" altLang="en-US" dirty="0">
              <a:cs typeface="+mj-cs"/>
            </a:endParaRPr>
          </a:p>
        </p:txBody>
      </p:sp>
      <p:sp>
        <p:nvSpPr>
          <p:cNvPr id="84994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你的公司生产一种压纸器。压纸器本身由两个共面的四面体组成（</a:t>
            </a:r>
            <a:r>
              <a:rPr lang="en-US" altLang="zh-CN" smtClean="0"/>
              <a:t>5</a:t>
            </a:r>
            <a:r>
              <a:rPr lang="zh-CN" altLang="en-US" smtClean="0"/>
              <a:t>个顶点，</a:t>
            </a:r>
            <a:r>
              <a:rPr lang="en-US" altLang="zh-CN" smtClean="0"/>
              <a:t>6</a:t>
            </a:r>
            <a:r>
              <a:rPr lang="zh-CN" altLang="en-US" smtClean="0"/>
              <a:t>个面和</a:t>
            </a:r>
            <a:r>
              <a:rPr lang="en-US" altLang="zh-CN" smtClean="0"/>
              <a:t>9</a:t>
            </a:r>
            <a:r>
              <a:rPr lang="zh-CN" altLang="en-US" smtClean="0"/>
              <a:t>条边），压纸器的某个地方镶嵌了一个</a:t>
            </a:r>
            <a:r>
              <a:rPr lang="en-US" altLang="zh-CN" smtClean="0"/>
              <a:t>RFID</a:t>
            </a:r>
            <a:r>
              <a:rPr lang="zh-CN" altLang="en-US" smtClean="0"/>
              <a:t>芯片。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一般用户会将压纸器放在计算机顶部，而</a:t>
            </a:r>
            <a:r>
              <a:rPr lang="en-US" altLang="zh-CN" smtClean="0"/>
              <a:t>RFID</a:t>
            </a:r>
            <a:r>
              <a:rPr lang="zh-CN" altLang="en-US" smtClean="0"/>
              <a:t>芯片需要足够接近计算机才能够正常工作。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你的任务是计算在压纸器稳定放置于计算机顶部的前提下，芯片离计算机顶部的最远和最近距离。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称压纸器为稳定的，当且仅当压纸器的重心向任何方向移动</a:t>
            </a:r>
            <a:r>
              <a:rPr lang="en-US" altLang="zh-CN" smtClean="0"/>
              <a:t>0.2</a:t>
            </a:r>
            <a:r>
              <a:rPr lang="zh-CN" altLang="en-US" smtClean="0"/>
              <a:t>单位时，压纸器都处于平衡状态。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[WF2010] Paperweight</a:t>
            </a:r>
            <a:endParaRPr lang="zh-CN" altLang="en-US" dirty="0">
              <a:cs typeface="+mj-cs"/>
            </a:endParaRPr>
          </a:p>
        </p:txBody>
      </p:sp>
      <p:sp>
        <p:nvSpPr>
          <p:cNvPr id="87042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Fig10</a:t>
            </a:r>
            <a:r>
              <a:rPr lang="zh-CN" altLang="en-US" smtClean="0"/>
              <a:t>：一个压纸器的示意图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Fig11</a:t>
            </a:r>
            <a:r>
              <a:rPr lang="zh-CN" altLang="en-US" smtClean="0"/>
              <a:t>：两种放置方法</a:t>
            </a:r>
          </a:p>
        </p:txBody>
      </p:sp>
      <p:pic>
        <p:nvPicPr>
          <p:cNvPr id="870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700213"/>
            <a:ext cx="689610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[WF2010] Paperweight</a:t>
            </a:r>
            <a:endParaRPr lang="zh-CN" altLang="en-US" dirty="0">
              <a:cs typeface="+mj-cs"/>
            </a:endParaRPr>
          </a:p>
        </p:txBody>
      </p:sp>
      <p:sp>
        <p:nvSpPr>
          <p:cNvPr id="88066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zh-CN" smtClean="0"/>
              <a:t>C(5,3)</a:t>
            </a:r>
            <a:r>
              <a:rPr lang="zh-CN" altLang="en-US" smtClean="0"/>
              <a:t>枚举底面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(1)</a:t>
            </a:r>
            <a:r>
              <a:rPr lang="zh-CN" altLang="en-US" smtClean="0"/>
              <a:t>两个顶点不在底面一侧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(2)</a:t>
            </a:r>
            <a:r>
              <a:rPr lang="zh-CN" altLang="en-US" smtClean="0"/>
              <a:t>两个顶点在底面同一侧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稳定性测试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重心离底面三边的距离不小于</a:t>
            </a:r>
            <a:r>
              <a:rPr lang="en-US" altLang="zh-CN" smtClean="0"/>
              <a:t>0.2</a:t>
            </a:r>
          </a:p>
          <a:p>
            <a:pPr eaLnBrk="1" hangingPunct="1"/>
            <a:r>
              <a:rPr lang="en-US" altLang="zh-CN" smtClean="0"/>
              <a:t>Tricky Case</a:t>
            </a:r>
          </a:p>
          <a:p>
            <a:pPr eaLnBrk="1" hangingPunct="1"/>
            <a:r>
              <a:rPr lang="zh-CN" altLang="en-US" smtClean="0"/>
              <a:t>四点共面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底面扩大为四边形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稳定性测试：重心离底面四边的距离不小于</a:t>
            </a:r>
            <a:r>
              <a:rPr lang="en-US" altLang="zh-CN" smtClean="0"/>
              <a:t>0.2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cs typeface="+mj-cs"/>
              </a:rPr>
              <a:t>Asteroids</a:t>
            </a:r>
            <a:endParaRPr lang="zh-CN" altLang="en-US" dirty="0">
              <a:cs typeface="+mj-cs"/>
            </a:endParaRPr>
          </a:p>
        </p:txBody>
      </p:sp>
      <p:sp>
        <p:nvSpPr>
          <p:cNvPr id="89090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zh-CN" altLang="en-US" smtClean="0"/>
              <a:t>给定空间上的两个凸多面体，允许随意旋转移动，求它们重心间的最短距离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Dist(G1,CH1)+Dist(G2,CH2)</a:t>
            </a:r>
          </a:p>
          <a:p>
            <a:pPr eaLnBrk="1" hangingPunct="1"/>
            <a:r>
              <a:rPr lang="zh-CN" altLang="en-US" smtClean="0"/>
              <a:t>把两个垂点贴在一起就行了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Intersection Of Two Prisms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有两个无穷大的棱锥</a:t>
            </a:r>
            <a:r>
              <a:rPr lang="en-US" altLang="zh-CN" dirty="0" smtClean="0"/>
              <a:t>P1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P1</a:t>
            </a:r>
            <a:r>
              <a:rPr lang="zh-CN" altLang="en-US" dirty="0" smtClean="0"/>
              <a:t>的所有侧棱和</a:t>
            </a:r>
            <a:r>
              <a:rPr lang="en-US" altLang="zh-CN" dirty="0" smtClean="0"/>
              <a:t>z</a:t>
            </a:r>
            <a:r>
              <a:rPr lang="zh-CN" altLang="en-US" dirty="0" smtClean="0"/>
              <a:t>轴平行，</a:t>
            </a:r>
            <a:r>
              <a:rPr lang="en-US" altLang="zh-CN" dirty="0" smtClean="0"/>
              <a:t>P2</a:t>
            </a:r>
            <a:r>
              <a:rPr lang="zh-CN" altLang="en-US" dirty="0" smtClean="0"/>
              <a:t>的所有侧棱和</a:t>
            </a:r>
            <a:r>
              <a:rPr lang="en-US" altLang="zh-CN" dirty="0" smtClean="0"/>
              <a:t>y</a:t>
            </a:r>
            <a:r>
              <a:rPr lang="zh-CN" altLang="en-US" dirty="0" smtClean="0"/>
              <a:t>轴平行。</a:t>
            </a:r>
            <a:endParaRPr lang="en-US" altLang="zh-CN" dirty="0" smtClean="0"/>
          </a:p>
          <a:p>
            <a:r>
              <a:rPr lang="zh-CN" altLang="en-US" dirty="0" smtClean="0"/>
              <a:t>根据两个棱锥的性质，可以用</a:t>
            </a:r>
            <a:r>
              <a:rPr lang="en-US" altLang="zh-CN" dirty="0" smtClean="0"/>
              <a:t>P1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xOy</a:t>
            </a:r>
            <a:r>
              <a:rPr lang="zh-CN" altLang="en-US" dirty="0" smtClean="0"/>
              <a:t>的截面来定义</a:t>
            </a:r>
            <a:r>
              <a:rPr lang="en-US" altLang="zh-CN" dirty="0" smtClean="0"/>
              <a:t>P1</a:t>
            </a:r>
            <a:r>
              <a:rPr lang="zh-CN" altLang="en-US" dirty="0" smtClean="0"/>
              <a:t>，用</a:t>
            </a:r>
            <a:r>
              <a:rPr lang="en-US" altLang="zh-CN" dirty="0" smtClean="0"/>
              <a:t>P2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xOz</a:t>
            </a:r>
            <a:r>
              <a:rPr lang="zh-CN" altLang="en-US" dirty="0" smtClean="0"/>
              <a:t>的截面来定义</a:t>
            </a:r>
            <a:r>
              <a:rPr lang="en-US" altLang="zh-CN" dirty="0" smtClean="0"/>
              <a:t>P2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已知</a:t>
            </a:r>
            <a:r>
              <a:rPr lang="en-US" altLang="zh-CN" dirty="0" smtClean="0"/>
              <a:t>P1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P2</a:t>
            </a:r>
            <a:r>
              <a:rPr lang="zh-CN" altLang="en-US" dirty="0" smtClean="0"/>
              <a:t>的截面都是凸多边形。</a:t>
            </a:r>
            <a:endParaRPr lang="en-US" altLang="zh-CN" dirty="0" smtClean="0"/>
          </a:p>
          <a:p>
            <a:r>
              <a:rPr lang="zh-CN" altLang="en-US" dirty="0" smtClean="0"/>
              <a:t>求</a:t>
            </a:r>
            <a:r>
              <a:rPr lang="en-US" altLang="zh-CN" dirty="0" smtClean="0"/>
              <a:t>P1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P2</a:t>
            </a:r>
            <a:r>
              <a:rPr lang="zh-CN" altLang="en-US" dirty="0" smtClean="0"/>
              <a:t>的交的体积。</a:t>
            </a:r>
            <a:r>
              <a:rPr lang="en-US" altLang="zh-CN" dirty="0" smtClean="0"/>
              <a:t>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N,M&lt;=100</a:t>
            </a:r>
            <a:r>
              <a:rPr lang="zh-CN" altLang="en-US" dirty="0" smtClean="0"/>
              <a:t>，坐标</a:t>
            </a:r>
            <a:r>
              <a:rPr lang="en-US" altLang="zh-CN" dirty="0" smtClean="0"/>
              <a:t>&lt;=100</a:t>
            </a:r>
            <a:r>
              <a:rPr lang="zh-CN" altLang="en-US" dirty="0" smtClean="0"/>
              <a:t>且均为整数。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Intersection Of Two Prisms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两个棱锥的截面图和实际样式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132856"/>
            <a:ext cx="5796136" cy="186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4221088"/>
            <a:ext cx="4344356" cy="229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Intersection Of Two Prisms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619125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Intersection Of Two Prisms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求出三维凸包的样式？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寻找突破口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Q</a:t>
            </a:r>
            <a:r>
              <a:rPr lang="zh-CN" altLang="en-US" dirty="0" smtClean="0"/>
              <a:t>：目标多面体在任意垂直</a:t>
            </a:r>
            <a:r>
              <a:rPr lang="en-US" altLang="zh-CN" dirty="0" smtClean="0"/>
              <a:t>X</a:t>
            </a:r>
            <a:r>
              <a:rPr lang="zh-CN" altLang="en-US" dirty="0" smtClean="0"/>
              <a:t>轴的平面截面是什么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：一定是长方形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为什么？</a:t>
            </a:r>
            <a:endParaRPr lang="en-US" altLang="zh-CN" dirty="0" smtClean="0"/>
          </a:p>
          <a:p>
            <a:r>
              <a:rPr lang="zh-CN" altLang="en-US" dirty="0" smtClean="0"/>
              <a:t>由于坐标是整数，可以分段求解</a:t>
            </a:r>
            <a:endParaRPr lang="en-US" altLang="zh-CN" dirty="0" smtClean="0"/>
          </a:p>
          <a:p>
            <a:r>
              <a:rPr lang="zh-CN" altLang="en-US" dirty="0" smtClean="0"/>
              <a:t>两</a:t>
            </a:r>
            <a:r>
              <a:rPr lang="zh-CN" altLang="en-US" dirty="0" smtClean="0"/>
              <a:t>个相邻的截面中间是一个四棱台 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Intersection Of Two Prisms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求四棱台的体积</a:t>
            </a:r>
            <a:endParaRPr lang="en-US" altLang="zh-CN" dirty="0" smtClean="0"/>
          </a:p>
          <a:p>
            <a:r>
              <a:rPr lang="en-US" altLang="zh-CN" dirty="0" smtClean="0"/>
              <a:t>S=h*1/3(S1+S2+sqrt(S1S2))</a:t>
            </a:r>
          </a:p>
          <a:p>
            <a:pPr lvl="1"/>
            <a:r>
              <a:rPr lang="en-US" altLang="zh-CN" dirty="0" smtClean="0"/>
              <a:t>S1</a:t>
            </a:r>
            <a:r>
              <a:rPr lang="zh-CN" altLang="en-US" dirty="0" smtClean="0"/>
              <a:t>是下底面面积，</a:t>
            </a:r>
            <a:r>
              <a:rPr lang="en-US" altLang="zh-CN" dirty="0" smtClean="0"/>
              <a:t>S2</a:t>
            </a:r>
            <a:r>
              <a:rPr lang="zh-CN" altLang="en-US" dirty="0" smtClean="0"/>
              <a:t>是上底面面积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避免根号</a:t>
            </a:r>
            <a:endParaRPr lang="en-US" altLang="zh-CN" dirty="0" smtClean="0"/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f(t)</a:t>
            </a:r>
            <a:r>
              <a:rPr lang="zh-CN" altLang="en-US" dirty="0" smtClean="0"/>
              <a:t>表示在</a:t>
            </a:r>
            <a:r>
              <a:rPr lang="en-US" altLang="zh-CN" dirty="0" smtClean="0"/>
              <a:t>x=t</a:t>
            </a:r>
            <a:r>
              <a:rPr lang="zh-CN" altLang="en-US" dirty="0" smtClean="0"/>
              <a:t>处截得的面积大小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F(t)=width(S1,t)*width(S2,t)</a:t>
            </a:r>
          </a:p>
          <a:p>
            <a:r>
              <a:rPr lang="en-US" altLang="zh-CN" dirty="0" smtClean="0"/>
              <a:t>S=1/6(F(l)+F(h)+4F(mid))</a:t>
            </a:r>
          </a:p>
          <a:p>
            <a:pPr lvl="1"/>
            <a:r>
              <a:rPr lang="zh-CN" altLang="en-US" dirty="0" smtClean="0"/>
              <a:t>易</a:t>
            </a:r>
            <a:r>
              <a:rPr lang="zh-CN" altLang="en-US" dirty="0" smtClean="0"/>
              <a:t>知</a:t>
            </a:r>
            <a:r>
              <a:rPr lang="en-US" altLang="zh-CN" dirty="0" smtClean="0"/>
              <a:t>f(t)</a:t>
            </a:r>
            <a:r>
              <a:rPr lang="zh-CN" altLang="en-US" dirty="0" smtClean="0"/>
              <a:t>是二次函数，</a:t>
            </a:r>
            <a:r>
              <a:rPr lang="en-US" altLang="zh-CN" dirty="0" smtClean="0"/>
              <a:t>S</a:t>
            </a:r>
            <a:r>
              <a:rPr lang="zh-CN" altLang="en-US" dirty="0" smtClean="0"/>
              <a:t>就是该函数的积分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在计算近似面积时，也可以利用这种法则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凸显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2311</TotalTime>
  <Words>5966</Words>
  <Application>Microsoft Office PowerPoint</Application>
  <PresentationFormat>全屏显示(4:3)</PresentationFormat>
  <Paragraphs>1004</Paragraphs>
  <Slides>105</Slides>
  <Notes>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105</vt:i4>
      </vt:variant>
    </vt:vector>
  </HeadingPairs>
  <TitlesOfParts>
    <vt:vector size="108" baseType="lpstr">
      <vt:lpstr>凸显</vt:lpstr>
      <vt:lpstr>公式</vt:lpstr>
      <vt:lpstr>Bitmap Image</vt:lpstr>
      <vt:lpstr>专题讨论：计算几何与凸包算法</vt:lpstr>
      <vt:lpstr>Preface</vt:lpstr>
      <vt:lpstr>计算几何基础</vt:lpstr>
      <vt:lpstr>计算几何基础</vt:lpstr>
      <vt:lpstr>凸包：定义</vt:lpstr>
      <vt:lpstr>增量法</vt:lpstr>
      <vt:lpstr>增量法</vt:lpstr>
      <vt:lpstr>Javris步进法（卷包裹法）</vt:lpstr>
      <vt:lpstr>Javris步进法（卷包裹法）</vt:lpstr>
      <vt:lpstr>Graham’s Convex Hull</vt:lpstr>
      <vt:lpstr>Graham’s Convex Hull</vt:lpstr>
      <vt:lpstr>Divide-And-Conquer</vt:lpstr>
      <vt:lpstr>DIVIDE-AND-CONQUER</vt:lpstr>
      <vt:lpstr>QuickHull</vt:lpstr>
      <vt:lpstr>QuickHull</vt:lpstr>
      <vt:lpstr>QuickHull</vt:lpstr>
      <vt:lpstr>O(NlogN) Bound</vt:lpstr>
      <vt:lpstr>Chan’s Algorithm</vt:lpstr>
      <vt:lpstr>CHAN’S ALGORITHM</vt:lpstr>
      <vt:lpstr>Chan’s Algorithm</vt:lpstr>
      <vt:lpstr>Chan’s Algorithm</vt:lpstr>
      <vt:lpstr>Chan’s Algorithm</vt:lpstr>
      <vt:lpstr>Minkowski和</vt:lpstr>
      <vt:lpstr>Minkowski和</vt:lpstr>
      <vt:lpstr>Part II</vt:lpstr>
      <vt:lpstr>计算几何基础：表达</vt:lpstr>
      <vt:lpstr>计算几何基础：表达</vt:lpstr>
      <vt:lpstr>计算几何基础：运算</vt:lpstr>
      <vt:lpstr>计算几何基础：运算</vt:lpstr>
      <vt:lpstr>计算几何基础：运算</vt:lpstr>
      <vt:lpstr>计算几何基础：运算</vt:lpstr>
      <vt:lpstr>计算几何基础：运算</vt:lpstr>
      <vt:lpstr>计算几何基础：运算</vt:lpstr>
      <vt:lpstr>Ardenia</vt:lpstr>
      <vt:lpstr>Star War</vt:lpstr>
      <vt:lpstr>计算几何基础：运算</vt:lpstr>
      <vt:lpstr>计算几何基础：运算</vt:lpstr>
      <vt:lpstr>计算几何基础：运算</vt:lpstr>
      <vt:lpstr>计算几何基础：运算</vt:lpstr>
      <vt:lpstr>计算几何基础：运算</vt:lpstr>
      <vt:lpstr>计算几何基础：运算</vt:lpstr>
      <vt:lpstr>计算几何基础：运算</vt:lpstr>
      <vt:lpstr>A Letter To Programmers</vt:lpstr>
      <vt:lpstr>计算几何基础：变换</vt:lpstr>
      <vt:lpstr>计算几何基础：变换</vt:lpstr>
      <vt:lpstr>计算几何基础：变换</vt:lpstr>
      <vt:lpstr>计算几何基础：变换</vt:lpstr>
      <vt:lpstr>计算几何基础：变换</vt:lpstr>
      <vt:lpstr>计算几何基础：变换</vt:lpstr>
      <vt:lpstr>计算几何基础：变换</vt:lpstr>
      <vt:lpstr>凸包：定义和实现</vt:lpstr>
      <vt:lpstr>Aerodynamics</vt:lpstr>
      <vt:lpstr>Aerodynamics</vt:lpstr>
      <vt:lpstr>Shade of Hallelujah Mountain</vt:lpstr>
      <vt:lpstr>卷包裹法(Gift-Wrapping)</vt:lpstr>
      <vt:lpstr>卷包裹法(Gift-Wrapping)</vt:lpstr>
      <vt:lpstr>卷包裹法(Gift-Wrapping)</vt:lpstr>
      <vt:lpstr>增量法(Incremental)</vt:lpstr>
      <vt:lpstr>增量法(Incremental)</vt:lpstr>
      <vt:lpstr>增量法(Incremental)</vt:lpstr>
      <vt:lpstr>增量法(Incremental)</vt:lpstr>
      <vt:lpstr>幻灯片 62</vt:lpstr>
      <vt:lpstr>随机增量(Randomized Incremental)</vt:lpstr>
      <vt:lpstr>随机增量(Randomized Incremental)</vt:lpstr>
      <vt:lpstr>随机增量(Randomized Incremental)</vt:lpstr>
      <vt:lpstr>随机增量(Randomized Incremental)</vt:lpstr>
      <vt:lpstr>随机增量(Randomized Incremental)</vt:lpstr>
      <vt:lpstr>分治法(Divide-And-Conquer)</vt:lpstr>
      <vt:lpstr>QuickHull</vt:lpstr>
      <vt:lpstr>QuickHull</vt:lpstr>
      <vt:lpstr>QuickHull</vt:lpstr>
      <vt:lpstr>QuickHull</vt:lpstr>
      <vt:lpstr>QuickHull in KD</vt:lpstr>
      <vt:lpstr>QuickHull in KD</vt:lpstr>
      <vt:lpstr>Chan’s Algorithm</vt:lpstr>
      <vt:lpstr>Chan’s Algorithm</vt:lpstr>
      <vt:lpstr>Dobkin-Kirkpatrick Hierarchy</vt:lpstr>
      <vt:lpstr>Dobkin-Kirkpatrick Hierarchy</vt:lpstr>
      <vt:lpstr>Dobkin-Kirkpatrick Hierarchy</vt:lpstr>
      <vt:lpstr>Chan’s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Chan’s D-C Algorithm</vt:lpstr>
      <vt:lpstr>Part II Conclusion</vt:lpstr>
      <vt:lpstr>重心</vt:lpstr>
      <vt:lpstr>重心</vt:lpstr>
      <vt:lpstr>重心</vt:lpstr>
      <vt:lpstr>[WF2010] Paperweight</vt:lpstr>
      <vt:lpstr>[WF2010] Paperweight</vt:lpstr>
      <vt:lpstr>[WF2010] Paperweight</vt:lpstr>
      <vt:lpstr>Asteroids</vt:lpstr>
      <vt:lpstr>Intersection Of Two Prisms</vt:lpstr>
      <vt:lpstr>Intersection Of Two Prisms</vt:lpstr>
      <vt:lpstr>Intersection Of Two Prisms</vt:lpstr>
      <vt:lpstr>Intersection Of Two Prisms</vt:lpstr>
      <vt:lpstr>Intersection Of Two Prisms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</cp:lastModifiedBy>
  <cp:revision>594</cp:revision>
  <dcterms:created xsi:type="dcterms:W3CDTF">2013-04-16T03:16:39Z</dcterms:created>
  <dcterms:modified xsi:type="dcterms:W3CDTF">2013-04-24T05:23:55Z</dcterms:modified>
</cp:coreProperties>
</file>