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8" r:id="rId4"/>
    <p:sldId id="260" r:id="rId5"/>
    <p:sldId id="261" r:id="rId6"/>
    <p:sldId id="262" r:id="rId7"/>
    <p:sldId id="272" r:id="rId8"/>
    <p:sldId id="263" r:id="rId9"/>
    <p:sldId id="273" r:id="rId10"/>
    <p:sldId id="271" r:id="rId11"/>
    <p:sldId id="266" r:id="rId12"/>
    <p:sldId id="267" r:id="rId13"/>
    <p:sldId id="268" r:id="rId14"/>
    <p:sldId id="269" r:id="rId15"/>
    <p:sldId id="270" r:id="rId16"/>
    <p:sldId id="274" r:id="rId17"/>
    <p:sldId id="275" r:id="rId18"/>
    <p:sldId id="276" r:id="rId19"/>
    <p:sldId id="277" r:id="rId20"/>
    <p:sldId id="278" r:id="rId21"/>
    <p:sldId id="279" r:id="rId22"/>
    <p:sldId id="280" r:id="rId23"/>
    <p:sldId id="281" r:id="rId24"/>
    <p:sldId id="291" r:id="rId25"/>
    <p:sldId id="292" r:id="rId26"/>
    <p:sldId id="282" r:id="rId27"/>
    <p:sldId id="283" r:id="rId28"/>
    <p:sldId id="295" r:id="rId29"/>
    <p:sldId id="296" r:id="rId30"/>
    <p:sldId id="297" r:id="rId31"/>
    <p:sldId id="298" r:id="rId32"/>
    <p:sldId id="299" r:id="rId33"/>
    <p:sldId id="300" r:id="rId34"/>
    <p:sldId id="301" r:id="rId35"/>
    <p:sldId id="284" r:id="rId36"/>
    <p:sldId id="285" r:id="rId37"/>
    <p:sldId id="286" r:id="rId38"/>
    <p:sldId id="302" r:id="rId39"/>
    <p:sldId id="303" r:id="rId40"/>
    <p:sldId id="304" r:id="rId41"/>
    <p:sldId id="305" r:id="rId42"/>
    <p:sldId id="306" r:id="rId43"/>
    <p:sldId id="307" r:id="rId44"/>
    <p:sldId id="308" r:id="rId45"/>
    <p:sldId id="309" r:id="rId46"/>
    <p:sldId id="287" r:id="rId47"/>
    <p:sldId id="288" r:id="rId48"/>
    <p:sldId id="289" r:id="rId49"/>
    <p:sldId id="310" r:id="rId50"/>
    <p:sldId id="311" r:id="rId51"/>
    <p:sldId id="312" r:id="rId52"/>
    <p:sldId id="313" r:id="rId53"/>
    <p:sldId id="314" r:id="rId54"/>
    <p:sldId id="290" r:id="rId55"/>
    <p:sldId id="293" r:id="rId56"/>
    <p:sldId id="294" r:id="rId57"/>
    <p:sldId id="315" r:id="rId58"/>
    <p:sldId id="316" r:id="rId59"/>
    <p:sldId id="317" r:id="rId60"/>
    <p:sldId id="318" r:id="rId61"/>
    <p:sldId id="319" r:id="rId62"/>
    <p:sldId id="320" r:id="rId63"/>
    <p:sldId id="321" r:id="rId64"/>
    <p:sldId id="322" r:id="rId65"/>
    <p:sldId id="323" r:id="rId66"/>
    <p:sldId id="324" r:id="rId67"/>
    <p:sldId id="325" r:id="rId68"/>
    <p:sldId id="326" r:id="rId69"/>
    <p:sldId id="327" r:id="rId70"/>
    <p:sldId id="328" r:id="rId71"/>
    <p:sldId id="329" r:id="rId72"/>
    <p:sldId id="330" r:id="rId73"/>
    <p:sldId id="331" r:id="rId74"/>
    <p:sldId id="332" r:id="rId75"/>
    <p:sldId id="333" r:id="rId76"/>
    <p:sldId id="334" r:id="rId77"/>
    <p:sldId id="335" r:id="rId78"/>
    <p:sldId id="336" r:id="rId79"/>
    <p:sldId id="337" r:id="rId80"/>
    <p:sldId id="338" r:id="rId81"/>
    <p:sldId id="339" r:id="rId82"/>
    <p:sldId id="340" r:id="rId83"/>
    <p:sldId id="341" r:id="rId84"/>
    <p:sldId id="342" r:id="rId85"/>
    <p:sldId id="343" r:id="rId86"/>
    <p:sldId id="344" r:id="rId87"/>
    <p:sldId id="345" r:id="rId88"/>
    <p:sldId id="346" r:id="rId89"/>
    <p:sldId id="347" r:id="rId90"/>
    <p:sldId id="348" r:id="rId91"/>
    <p:sldId id="349" r:id="rId92"/>
    <p:sldId id="350" r:id="rId93"/>
    <p:sldId id="351" r:id="rId94"/>
    <p:sldId id="352" r:id="rId95"/>
    <p:sldId id="353" r:id="rId96"/>
    <p:sldId id="354" r:id="rId97"/>
    <p:sldId id="355" r:id="rId9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45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99" autoAdjust="0"/>
    <p:restoredTop sz="94660"/>
  </p:normalViewPr>
  <p:slideViewPr>
    <p:cSldViewPr snapToGrid="0">
      <p:cViewPr varScale="1">
        <p:scale>
          <a:sx n="90" d="100"/>
          <a:sy n="90" d="100"/>
        </p:scale>
        <p:origin x="38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788C704-6D9E-49EF-B4C2-C77D4D88D39F}" type="datetimeFigureOut">
              <a:rPr lang="zh-CN" altLang="en-US" smtClean="0"/>
              <a:t>2017/8/20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56EA451-460A-430D-8689-1ABC3976AF6D}"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788C704-6D9E-49EF-B4C2-C77D4D88D39F}" type="datetimeFigureOut">
              <a:rPr lang="zh-CN" altLang="en-US" smtClean="0"/>
              <a:t>2017/8/20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56EA451-460A-430D-8689-1ABC3976AF6D}"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788C704-6D9E-49EF-B4C2-C77D4D88D39F}" type="datetimeFigureOut">
              <a:rPr lang="zh-CN" altLang="en-US" smtClean="0"/>
              <a:t>2017/8/20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56EA451-460A-430D-8689-1ABC3976AF6D}"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3788C704-6D9E-49EF-B4C2-C77D4D88D39F}" type="datetimeFigureOut">
              <a:rPr lang="zh-CN" altLang="en-US" smtClean="0"/>
              <a:t>2017/8/20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56EA451-460A-430D-8689-1ABC3976AF6D}"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3788C704-6D9E-49EF-B4C2-C77D4D88D39F}" type="datetimeFigureOut">
              <a:rPr lang="zh-CN" altLang="en-US" smtClean="0"/>
              <a:t>2017/8/20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56EA451-460A-430D-8689-1ABC3976AF6D}"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788C704-6D9E-49EF-B4C2-C77D4D88D39F}" type="datetimeFigureOut">
              <a:rPr lang="zh-CN" altLang="en-US" smtClean="0"/>
              <a:t>2017/8/20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56EA451-460A-430D-8689-1ABC3976AF6D}"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788C704-6D9E-49EF-B4C2-C77D4D88D39F}" type="datetimeFigureOut">
              <a:rPr lang="zh-CN" altLang="en-US" smtClean="0"/>
              <a:t>2017/8/20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56EA451-460A-430D-8689-1ABC3976AF6D}"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788C704-6D9E-49EF-B4C2-C77D4D88D39F}" type="datetimeFigureOut">
              <a:rPr lang="zh-CN" altLang="en-US" smtClean="0"/>
              <a:t>2017/8/20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56EA451-460A-430D-8689-1ABC3976AF6D}"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788C704-6D9E-49EF-B4C2-C77D4D88D39F}" type="datetimeFigureOut">
              <a:rPr lang="zh-CN" altLang="en-US" smtClean="0"/>
              <a:t>2017/8/20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56EA451-460A-430D-8689-1ABC3976AF6D}"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788C704-6D9E-49EF-B4C2-C77D4D88D39F}" type="datetimeFigureOut">
              <a:rPr lang="zh-CN" altLang="en-US" smtClean="0"/>
              <a:t>2017/8/20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56EA451-460A-430D-8689-1ABC3976AF6D}"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788C704-6D9E-49EF-B4C2-C77D4D88D39F}" type="datetimeFigureOut">
              <a:rPr lang="zh-CN" altLang="en-US" smtClean="0"/>
              <a:t>2017/8/20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56EA451-460A-430D-8689-1ABC3976AF6D}"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88C704-6D9E-49EF-B4C2-C77D4D88D39F}" type="datetimeFigureOut">
              <a:rPr lang="zh-CN" altLang="en-US" smtClean="0"/>
              <a:t>2017/8/20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6EA451-460A-430D-8689-1ABC3976AF6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7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7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7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8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2.png"/><Relationship Id="rId4" Type="http://schemas.openxmlformats.org/officeDocument/2006/relationships/image" Target="../media/image50.png"/></Relationships>
</file>

<file path=ppt/slides/_rels/slide8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7.png"/><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60.png"/><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59.png"/></Relationships>
</file>

<file path=ppt/slides/_rels/slide8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3.png"/><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6.png"/></Relationships>
</file>

<file path=ppt/slides/_rels/slide8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9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9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618672" y="2967335"/>
            <a:ext cx="2954656" cy="923330"/>
          </a:xfrm>
          <a:prstGeom prst="rect">
            <a:avLst/>
          </a:prstGeom>
          <a:noFill/>
        </p:spPr>
        <p:txBody>
          <a:bodyPr wrap="none" lIns="91440" tIns="45720" rIns="91440" bIns="45720">
            <a:spAutoFit/>
          </a:bodyPr>
          <a:lstStyle/>
          <a:p>
            <a:pPr algn="ctr"/>
            <a:r>
              <a:rPr lang="zh-CN" altLang="en-US" sz="5400" b="0" cap="none" spc="0" dirty="0">
                <a:ln w="0"/>
                <a:solidFill>
                  <a:schemeClr val="tx1"/>
                </a:solidFill>
                <a:effectLst>
                  <a:outerShdw blurRad="38100" dist="19050" dir="2700000" algn="tl" rotWithShape="0">
                    <a:schemeClr val="dk1">
                      <a:alpha val="40000"/>
                    </a:schemeClr>
                  </a:outerShdw>
                </a:effectLst>
              </a:rPr>
              <a:t>计算几何</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a:t>
            </a:r>
          </a:p>
        </p:txBody>
      </p:sp>
      <p:sp>
        <p:nvSpPr>
          <p:cNvPr id="3" name="内容占位符 2"/>
          <p:cNvSpPr>
            <a:spLocks noGrp="1"/>
          </p:cNvSpPr>
          <p:nvPr>
            <p:ph idx="1"/>
          </p:nvPr>
        </p:nvSpPr>
        <p:spPr/>
        <p:txBody>
          <a:bodyPr>
            <a:normAutofit lnSpcReduction="10000"/>
          </a:bodyPr>
          <a:lstStyle/>
          <a:p>
            <a:r>
              <a:rPr lang="zh-CN" altLang="en-US" dirty="0">
                <a:ln w="0"/>
                <a:latin typeface="Microsoft YaHei UI" pitchFamily="34" charset="-122"/>
                <a:ea typeface="Microsoft YaHei UI" pitchFamily="34" charset="-122"/>
              </a:rPr>
              <a:t>向量及其基本运算</a:t>
            </a:r>
            <a:endParaRPr lang="zh-CN" altLang="en-US" b="0" cap="none" spc="0" dirty="0">
              <a:ln w="0"/>
              <a:solidFill>
                <a:schemeClr val="tx1"/>
              </a:solidFill>
              <a:latin typeface="Microsoft YaHei UI" pitchFamily="34" charset="-122"/>
              <a:ea typeface="Microsoft YaHei UI" pitchFamily="34" charset="-122"/>
            </a:endParaRPr>
          </a:p>
          <a:p>
            <a:r>
              <a:rPr lang="zh-CN" altLang="en-US" dirty="0">
                <a:ln w="0"/>
                <a:latin typeface="Microsoft YaHei UI" pitchFamily="34" charset="-122"/>
                <a:ea typeface="Microsoft YaHei UI" pitchFamily="34" charset="-122"/>
              </a:rPr>
              <a:t>基础操作</a:t>
            </a:r>
            <a:endParaRPr lang="zh-CN" altLang="en-US" b="0" cap="none" spc="0" dirty="0">
              <a:ln w="0"/>
              <a:solidFill>
                <a:schemeClr val="tx1"/>
              </a:solidFill>
              <a:latin typeface="Microsoft YaHei UI" pitchFamily="34" charset="-122"/>
              <a:ea typeface="Microsoft YaHei UI" pitchFamily="34" charset="-122"/>
            </a:endParaRPr>
          </a:p>
          <a:p>
            <a:r>
              <a:rPr lang="zh-CN" altLang="en-US" dirty="0">
                <a:ln w="0"/>
                <a:latin typeface="Microsoft YaHei UI" pitchFamily="34" charset="-122"/>
                <a:ea typeface="Microsoft YaHei UI" pitchFamily="34" charset="-122"/>
              </a:rPr>
              <a:t>凸包及其算法</a:t>
            </a:r>
            <a:endParaRPr lang="zh-CN" altLang="en-US" b="0" cap="none" spc="0" dirty="0">
              <a:ln w="0"/>
              <a:solidFill>
                <a:schemeClr val="tx1"/>
              </a:solidFill>
              <a:latin typeface="Microsoft YaHei UI" pitchFamily="34" charset="-122"/>
              <a:ea typeface="Microsoft YaHei UI" pitchFamily="34" charset="-122"/>
            </a:endParaRPr>
          </a:p>
          <a:p>
            <a:r>
              <a:rPr lang="zh-CN" altLang="en-US" dirty="0">
                <a:ln w="0"/>
                <a:latin typeface="Microsoft YaHei UI" pitchFamily="34" charset="-122"/>
                <a:ea typeface="Microsoft YaHei UI" pitchFamily="34" charset="-122"/>
              </a:rPr>
              <a:t>半平面交</a:t>
            </a:r>
            <a:endParaRPr lang="en-US" altLang="zh-CN" dirty="0">
              <a:ln w="0"/>
              <a:latin typeface="Microsoft YaHei UI" pitchFamily="34" charset="-122"/>
              <a:ea typeface="Microsoft YaHei UI" pitchFamily="34" charset="-122"/>
            </a:endParaRPr>
          </a:p>
          <a:p>
            <a:r>
              <a:rPr lang="zh-CN" altLang="en-US" b="0" cap="none" spc="0" dirty="0">
                <a:ln w="0"/>
                <a:solidFill>
                  <a:schemeClr val="tx1"/>
                </a:solidFill>
                <a:latin typeface="Microsoft YaHei UI" pitchFamily="34" charset="-122"/>
                <a:ea typeface="Microsoft YaHei UI" pitchFamily="34" charset="-122"/>
              </a:rPr>
              <a:t>反演</a:t>
            </a:r>
          </a:p>
          <a:p>
            <a:r>
              <a:rPr lang="zh-CN" altLang="en-US" dirty="0">
                <a:ln w="0"/>
                <a:latin typeface="Microsoft YaHei UI" pitchFamily="34" charset="-122"/>
                <a:ea typeface="Microsoft YaHei UI" pitchFamily="34" charset="-122"/>
              </a:rPr>
              <a:t>三维计算几何</a:t>
            </a:r>
            <a:endParaRPr lang="en-US" altLang="zh-CN" dirty="0">
              <a:ln w="0"/>
              <a:latin typeface="Microsoft YaHei UI" pitchFamily="34" charset="-122"/>
              <a:ea typeface="Microsoft YaHei UI" pitchFamily="34" charset="-122"/>
            </a:endParaRPr>
          </a:p>
          <a:p>
            <a:r>
              <a:rPr lang="en-US" altLang="zh-CN" dirty="0" err="1">
                <a:ln w="0"/>
                <a:latin typeface="Microsoft YaHei UI" pitchFamily="34" charset="-122"/>
                <a:ea typeface="Microsoft YaHei UI" pitchFamily="34" charset="-122"/>
              </a:rPr>
              <a:t>Voronoi</a:t>
            </a:r>
            <a:r>
              <a:rPr lang="zh-CN" altLang="en-US" dirty="0">
                <a:ln w="0"/>
                <a:latin typeface="Microsoft YaHei UI" pitchFamily="34" charset="-122"/>
                <a:ea typeface="Microsoft YaHei UI" pitchFamily="34" charset="-122"/>
              </a:rPr>
              <a:t>图</a:t>
            </a:r>
            <a:endParaRPr lang="zh-CN" altLang="en-US" b="0" cap="none" spc="0" dirty="0">
              <a:ln w="0"/>
              <a:solidFill>
                <a:schemeClr val="tx1"/>
              </a:solidFill>
              <a:latin typeface="Microsoft YaHei UI" pitchFamily="34" charset="-122"/>
              <a:ea typeface="Microsoft YaHei UI" pitchFamily="34" charset="-122"/>
            </a:endParaRPr>
          </a:p>
          <a:p>
            <a:r>
              <a:rPr lang="zh-CN" altLang="en-US" b="0" cap="none" spc="0" dirty="0">
                <a:ln w="0"/>
                <a:solidFill>
                  <a:schemeClr val="tx1"/>
                </a:solidFill>
                <a:latin typeface="Microsoft YaHei UI" pitchFamily="34" charset="-122"/>
                <a:ea typeface="Microsoft YaHei UI" pitchFamily="34" charset="-122"/>
              </a:rPr>
              <a:t>平面图</a:t>
            </a:r>
          </a:p>
          <a:p>
            <a:r>
              <a:rPr lang="zh-CN" altLang="en-US" b="0" cap="none" spc="0" dirty="0">
                <a:ln w="0"/>
                <a:solidFill>
                  <a:schemeClr val="tx1"/>
                </a:solidFill>
                <a:latin typeface="Microsoft YaHei UI" pitchFamily="34" charset="-122"/>
                <a:ea typeface="Microsoft YaHei UI" pitchFamily="34" charset="-122"/>
              </a:rPr>
              <a:t>题目杂讲</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向量</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有方向有大小的量叫向量（也叫矢量）</a:t>
                </a:r>
                <a:endParaRPr lang="en-US" altLang="zh-CN" dirty="0"/>
              </a:p>
              <a:p>
                <a:r>
                  <a:rPr lang="zh-CN" altLang="en-US" dirty="0"/>
                  <a:t>在</a:t>
                </a:r>
                <a:r>
                  <a:rPr lang="en-US" altLang="zh-CN" dirty="0"/>
                  <a:t>n</a:t>
                </a:r>
                <a:r>
                  <a:rPr lang="zh-CN" altLang="en-US" dirty="0"/>
                  <a:t>维欧氏空间中表示为 </a:t>
                </a:r>
                <a14:m>
                  <m:oMath xmlns:m="http://schemas.openxmlformats.org/officeDocument/2006/math">
                    <m:r>
                      <a:rPr lang="en-US" altLang="zh-CN" i="1" dirty="0" smtClean="0">
                        <a:latin typeface="Cambria Math" panose="02040503050406030204" pitchFamily="18" charset="0"/>
                      </a:rPr>
                      <m:t>𝑎</m:t>
                    </m:r>
                    <m:r>
                      <a:rPr lang="en-US" altLang="zh-CN" i="1" dirty="0" smtClean="0">
                        <a:latin typeface="Cambria Math" panose="02040503050406030204" pitchFamily="18" charset="0"/>
                      </a:rPr>
                      <m:t> = ( </m:t>
                    </m:r>
                    <m:r>
                      <a:rPr lang="en-US" altLang="zh-CN" i="1" dirty="0" smtClean="0">
                        <a:latin typeface="Cambria Math" panose="02040503050406030204" pitchFamily="18" charset="0"/>
                      </a:rPr>
                      <m:t>𝑎</m:t>
                    </m:r>
                    <m:r>
                      <a:rPr lang="en-US" altLang="zh-CN" i="1" baseline="-25000" dirty="0" smtClean="0">
                        <a:latin typeface="Cambria Math" panose="02040503050406030204" pitchFamily="18" charset="0"/>
                      </a:rPr>
                      <m:t>1</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𝑎</m:t>
                    </m:r>
                    <m:r>
                      <a:rPr lang="en-US" altLang="zh-CN" i="1" baseline="-25000" dirty="0" smtClean="0">
                        <a:latin typeface="Cambria Math" panose="02040503050406030204" pitchFamily="18" charset="0"/>
                      </a:rPr>
                      <m:t>2</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𝑎</m:t>
                    </m:r>
                    <m:r>
                      <a:rPr lang="en-US" altLang="zh-CN" i="1" baseline="-25000" dirty="0" smtClean="0">
                        <a:latin typeface="Cambria Math" panose="02040503050406030204" pitchFamily="18" charset="0"/>
                      </a:rPr>
                      <m:t>3</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𝑎𝑛</m:t>
                    </m:r>
                    <m:r>
                      <a:rPr lang="en-US" altLang="zh-CN" i="1" dirty="0" smtClean="0">
                        <a:latin typeface="Cambria Math" panose="02040503050406030204" pitchFamily="18" charset="0"/>
                      </a:rPr>
                      <m:t> )</m:t>
                    </m:r>
                  </m:oMath>
                </a14:m>
                <a:endParaRPr lang="en-US" altLang="zh-CN" dirty="0"/>
              </a:p>
              <a:p>
                <a:r>
                  <a:rPr lang="zh-CN" altLang="en-US" dirty="0"/>
                  <a:t>向量的加减满足平行四边形法则</a:t>
                </a:r>
                <a:r>
                  <a:rPr lang="en-US" altLang="zh-CN" dirty="0"/>
                  <a:t> </a:t>
                </a:r>
              </a:p>
              <a:p>
                <a:r>
                  <a:rPr lang="zh-CN" altLang="en-US" dirty="0"/>
                  <a:t>在直角坐标系中向量的加减直接将横纵坐标向加减即可</a:t>
                </a:r>
                <a:endParaRPr lang="en-US" altLang="zh-CN" dirty="0"/>
              </a:p>
              <a:p>
                <a14:m>
                  <m:oMath xmlns:m="http://schemas.openxmlformats.org/officeDocument/2006/math">
                    <m:r>
                      <a:rPr lang="en-US" altLang="zh-CN" i="1" dirty="0" smtClean="0">
                        <a:latin typeface="Cambria Math" panose="02040503050406030204" pitchFamily="18" charset="0"/>
                      </a:rPr>
                      <m:t>𝑢</m:t>
                    </m:r>
                    <m:r>
                      <a:rPr lang="en-US" altLang="zh-CN" i="1" dirty="0" smtClean="0">
                        <a:latin typeface="Cambria Math" panose="02040503050406030204" pitchFamily="18" charset="0"/>
                      </a:rPr>
                      <m:t> = ( </m:t>
                    </m:r>
                    <m:r>
                      <a:rPr lang="en-US" altLang="zh-CN" i="1" dirty="0" smtClean="0">
                        <a:latin typeface="Cambria Math" panose="02040503050406030204" pitchFamily="18" charset="0"/>
                      </a:rPr>
                      <m:t>𝑥</m:t>
                    </m:r>
                    <m:r>
                      <a:rPr lang="en-US" altLang="zh-CN" i="1" baseline="-25000" dirty="0" smtClean="0">
                        <a:latin typeface="Cambria Math" panose="02040503050406030204" pitchFamily="18" charset="0"/>
                      </a:rPr>
                      <m:t>1</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𝑦</m:t>
                    </m:r>
                    <m:r>
                      <a:rPr lang="en-US" altLang="zh-CN" i="1" baseline="-25000" dirty="0" smtClean="0">
                        <a:latin typeface="Cambria Math" panose="02040503050406030204" pitchFamily="18" charset="0"/>
                      </a:rPr>
                      <m:t>1</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 = ( </m:t>
                    </m:r>
                    <m:r>
                      <a:rPr lang="en-US" altLang="zh-CN" i="1" dirty="0" smtClean="0">
                        <a:latin typeface="Cambria Math" panose="02040503050406030204" pitchFamily="18" charset="0"/>
                      </a:rPr>
                      <m:t>𝑥</m:t>
                    </m:r>
                    <m:r>
                      <a:rPr lang="en-US" altLang="zh-CN" i="1" baseline="-25000" dirty="0" smtClean="0">
                        <a:latin typeface="Cambria Math" panose="02040503050406030204" pitchFamily="18" charset="0"/>
                      </a:rPr>
                      <m:t>2</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𝑦</m:t>
                    </m:r>
                    <m:r>
                      <a:rPr lang="en-US" altLang="zh-CN" i="1" baseline="-25000" dirty="0" smtClean="0">
                        <a:latin typeface="Cambria Math" panose="02040503050406030204" pitchFamily="18" charset="0"/>
                      </a:rPr>
                      <m:t>2</m:t>
                    </m:r>
                    <m:r>
                      <a:rPr lang="en-US" altLang="zh-CN" i="1" dirty="0" smtClean="0">
                        <a:latin typeface="Cambria Math" panose="02040503050406030204" pitchFamily="18" charset="0"/>
                      </a:rPr>
                      <m:t> )</m:t>
                    </m:r>
                  </m:oMath>
                </a14:m>
                <a:endParaRPr lang="en-US" altLang="zh-CN" dirty="0"/>
              </a:p>
              <a:p>
                <a:r>
                  <a:rPr lang="en-US" altLang="zh-CN" dirty="0"/>
                  <a:t>u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t> v = ( x</a:t>
                </a:r>
                <a:r>
                  <a:rPr lang="en-US" altLang="zh-CN" baseline="-25000" dirty="0"/>
                  <a:t>1</a:t>
                </a:r>
                <a:r>
                  <a:rPr lang="en-US" altLang="zh-CN" dirty="0"/>
                  <a:t>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t> x</a:t>
                </a:r>
                <a:r>
                  <a:rPr lang="en-US" altLang="zh-CN" baseline="-25000" dirty="0"/>
                  <a:t>2</a:t>
                </a:r>
                <a:r>
                  <a:rPr lang="en-US" altLang="zh-CN" dirty="0"/>
                  <a:t>, y</a:t>
                </a:r>
                <a:r>
                  <a:rPr lang="en-US" altLang="zh-CN" baseline="-25000" dirty="0"/>
                  <a:t>1</a:t>
                </a:r>
                <a:r>
                  <a:rPr lang="en-US" altLang="zh-CN" dirty="0"/>
                  <a:t>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t> y</a:t>
                </a:r>
                <a:r>
                  <a:rPr lang="en-US" altLang="zh-CN" baseline="-25000" dirty="0"/>
                  <a:t>2</a:t>
                </a:r>
                <a:r>
                  <a:rPr lang="en-US" altLang="zh-CN" dirty="0"/>
                  <a:t> )</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94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向量</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在直角坐标系中直线表示为 </a:t>
                </a:r>
                <a14:m>
                  <m:oMath xmlns:m="http://schemas.openxmlformats.org/officeDocument/2006/math">
                    <m:r>
                      <a:rPr lang="en-US" altLang="zh-CN" i="1" dirty="0" smtClean="0">
                        <a:latin typeface="Cambria Math" panose="02040503050406030204" pitchFamily="18" charset="0"/>
                      </a:rPr>
                      <m:t>𝑙</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𝑃</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𝑣</m:t>
                    </m:r>
                  </m:oMath>
                </a14:m>
                <a:endParaRPr lang="en-US" altLang="zh-CN" dirty="0"/>
              </a:p>
              <a:p>
                <a:r>
                  <a:rPr lang="zh-CN" altLang="en-US" dirty="0"/>
                  <a:t>若存在直线上的两点 </a:t>
                </a:r>
                <a:r>
                  <a:rPr lang="en-US" altLang="zh-CN" dirty="0"/>
                  <a:t>P, Q, </a:t>
                </a:r>
                <a:r>
                  <a:rPr lang="zh-CN" altLang="en-US" dirty="0"/>
                  <a:t>则直线可表示为 </a:t>
                </a:r>
                <a14:m>
                  <m:oMath xmlns:m="http://schemas.openxmlformats.org/officeDocument/2006/math">
                    <m:r>
                      <a:rPr lang="en-US" altLang="zh-CN" i="1" dirty="0" smtClean="0">
                        <a:latin typeface="Cambria Math" panose="02040503050406030204" pitchFamily="18" charset="0"/>
                      </a:rPr>
                      <m:t>𝑙</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𝑃</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 ∗ ( </m:t>
                    </m:r>
                    <m:r>
                      <a:rPr lang="en-US" altLang="zh-CN" i="1" dirty="0" smtClean="0">
                        <a:latin typeface="Cambria Math" panose="02040503050406030204" pitchFamily="18" charset="0"/>
                      </a:rPr>
                      <m:t>𝑄</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𝑃</m:t>
                    </m:r>
                    <m:r>
                      <a:rPr lang="en-US" altLang="zh-CN" i="1" dirty="0" smtClean="0">
                        <a:latin typeface="Cambria Math" panose="02040503050406030204" pitchFamily="18" charset="0"/>
                      </a:rPr>
                      <m:t> )</m:t>
                    </m:r>
                  </m:oMath>
                </a14:m>
                <a:endParaRPr lang="en-US" altLang="zh-CN" dirty="0"/>
              </a:p>
              <a:p>
                <a:r>
                  <a:rPr lang="zh-CN" altLang="en-US" dirty="0"/>
                  <a:t>当 </a:t>
                </a:r>
                <a:r>
                  <a:rPr lang="en-US" altLang="zh-CN" dirty="0"/>
                  <a:t>t</a:t>
                </a:r>
                <a14:m>
                  <m:oMath xmlns:m="http://schemas.openxmlformats.org/officeDocument/2006/math">
                    <m:r>
                      <a:rPr lang="en-US" altLang="zh-CN" b="0" i="0" smtClean="0">
                        <a:latin typeface="Cambria Math" panose="02040503050406030204" pitchFamily="18" charset="0"/>
                        <a:ea typeface="Cambria Math" panose="02040503050406030204" pitchFamily="18" charset="0"/>
                      </a:rPr>
                      <m:t> </m:t>
                    </m:r>
                    <m:r>
                      <a:rPr lang="en-US" altLang="zh-CN" i="1" smtClean="0">
                        <a:latin typeface="Cambria Math" panose="02040503050406030204" pitchFamily="18" charset="0"/>
                        <a:ea typeface="Cambria Math" panose="02040503050406030204" pitchFamily="18" charset="0"/>
                      </a:rPr>
                      <m:t>∈</m:t>
                    </m:r>
                  </m:oMath>
                </a14:m>
                <a:r>
                  <a:rPr lang="zh-CN" altLang="en-US" dirty="0"/>
                  <a:t> </a:t>
                </a:r>
                <a:r>
                  <a:rPr lang="en-US" altLang="zh-CN" dirty="0"/>
                  <a:t>[ 0, 1 ] </a:t>
                </a:r>
                <a:r>
                  <a:rPr lang="zh-CN" altLang="en-US" dirty="0"/>
                  <a:t>时    表示线段</a:t>
                </a:r>
                <a:endParaRPr lang="en-US" altLang="zh-CN" dirty="0"/>
              </a:p>
              <a:p>
                <a:r>
                  <a:rPr lang="zh-CN" altLang="en-US" dirty="0"/>
                  <a:t>当 </a:t>
                </a:r>
                <a:r>
                  <a:rPr lang="en-US" altLang="zh-CN" dirty="0"/>
                  <a:t>t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zh-CN" altLang="en-US" dirty="0"/>
                  <a:t> </a:t>
                </a:r>
                <a:r>
                  <a:rPr lang="en-US" altLang="zh-CN" dirty="0"/>
                  <a:t>[ 0,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zh-CN" altLang="en-US" dirty="0"/>
                  <a:t> </a:t>
                </a:r>
                <a:r>
                  <a:rPr lang="en-US" altLang="zh-CN" dirty="0"/>
                  <a:t>] </a:t>
                </a:r>
                <a:r>
                  <a:rPr lang="zh-CN" altLang="en-US" dirty="0"/>
                  <a:t>时     表示射线</a:t>
                </a:r>
                <a:endParaRPr lang="en-US" altLang="zh-CN" dirty="0"/>
              </a:p>
              <a:p>
                <a:r>
                  <a:rPr lang="zh-CN" altLang="en-US" dirty="0"/>
                  <a:t>当 </a:t>
                </a:r>
                <a:r>
                  <a:rPr lang="en-US" altLang="zh-CN" dirty="0"/>
                  <a:t>t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zh-CN" altLang="en-US" dirty="0"/>
                  <a:t> </a:t>
                </a:r>
                <a:r>
                  <a:rPr lang="en-US" altLang="zh-CN" dirty="0"/>
                  <a:t> R </a:t>
                </a:r>
                <a:r>
                  <a:rPr lang="zh-CN" altLang="en-US" dirty="0"/>
                  <a:t>时     表示直线</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94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向量</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向量的旋转</a:t>
                </a:r>
                <a:endParaRPr lang="en-US" altLang="zh-CN" dirty="0"/>
              </a:p>
              <a:p>
                <a:r>
                  <a:rPr lang="zh-CN" altLang="en-US" dirty="0"/>
                  <a:t>将 </a:t>
                </a:r>
                <a:r>
                  <a:rPr lang="en-US" altLang="zh-CN" dirty="0"/>
                  <a:t>u = ( x, y ) </a:t>
                </a:r>
                <a:r>
                  <a:rPr lang="zh-CN" altLang="en-US" dirty="0"/>
                  <a:t>旋转 </a:t>
                </a:r>
                <a14:m>
                  <m:oMath xmlns:m="http://schemas.openxmlformats.org/officeDocument/2006/math">
                    <m:r>
                      <a:rPr lang="zh-CN" altLang="en-US" i="1" smtClean="0">
                        <a:latin typeface="Cambria Math" panose="02040503050406030204" pitchFamily="18" charset="0"/>
                      </a:rPr>
                      <m:t>𝜃</m:t>
                    </m:r>
                    <m:r>
                      <a:rPr lang="en-US" altLang="zh-CN" i="1" smtClean="0">
                        <a:latin typeface="Cambria Math" panose="02040503050406030204" pitchFamily="18" charset="0"/>
                        <a:ea typeface="Cambria Math" panose="02040503050406030204" pitchFamily="18" charset="0"/>
                      </a:rPr>
                      <m:t>°</m:t>
                    </m:r>
                  </m:oMath>
                </a14:m>
                <a:endParaRPr lang="en-US" altLang="zh-CN" dirty="0"/>
              </a:p>
              <a:p>
                <a:r>
                  <a:rPr lang="en-US" altLang="zh-CN" dirty="0"/>
                  <a:t>u’ = ( x * cos</a:t>
                </a:r>
                <a14:m>
                  <m:oMath xmlns:m="http://schemas.openxmlformats.org/officeDocument/2006/math">
                    <m:r>
                      <a:rPr lang="zh-CN" altLang="en-US" i="1" smtClean="0">
                        <a:latin typeface="Cambria Math" panose="02040503050406030204" pitchFamily="18" charset="0"/>
                      </a:rPr>
                      <m:t>𝜃</m:t>
                    </m:r>
                  </m:oMath>
                </a14:m>
                <a:r>
                  <a:rPr lang="zh-CN" altLang="en-US" dirty="0"/>
                  <a:t> </a:t>
                </a:r>
                <a:r>
                  <a:rPr lang="en-US" altLang="zh-CN" dirty="0"/>
                  <a:t>– y *</a:t>
                </a:r>
                <a:r>
                  <a:rPr lang="zh-CN" altLang="en-US" dirty="0"/>
                  <a:t> </a:t>
                </a:r>
                <a:r>
                  <a:rPr lang="en-US" altLang="zh-CN" dirty="0"/>
                  <a:t>sin</a:t>
                </a:r>
                <a14:m>
                  <m:oMath xmlns:m="http://schemas.openxmlformats.org/officeDocument/2006/math">
                    <m:r>
                      <a:rPr lang="zh-CN" altLang="en-US" i="1" smtClean="0">
                        <a:latin typeface="Cambria Math" panose="02040503050406030204" pitchFamily="18" charset="0"/>
                      </a:rPr>
                      <m:t>𝜃</m:t>
                    </m:r>
                  </m:oMath>
                </a14:m>
                <a:r>
                  <a:rPr lang="en-US" altLang="zh-CN" dirty="0"/>
                  <a:t>, x * sin</a:t>
                </a:r>
                <a14:m>
                  <m:oMath xmlns:m="http://schemas.openxmlformats.org/officeDocument/2006/math">
                    <m:r>
                      <a:rPr lang="zh-CN" altLang="en-US" i="1" smtClean="0">
                        <a:latin typeface="Cambria Math" panose="02040503050406030204" pitchFamily="18" charset="0"/>
                      </a:rPr>
                      <m:t>𝜃</m:t>
                    </m:r>
                  </m:oMath>
                </a14:m>
                <a:r>
                  <a:rPr lang="zh-CN" altLang="en-US" dirty="0"/>
                  <a:t> </a:t>
                </a:r>
                <a:r>
                  <a:rPr lang="en-US" altLang="zh-CN" dirty="0"/>
                  <a:t>+</a:t>
                </a:r>
                <a:r>
                  <a:rPr lang="zh-CN" altLang="en-US" dirty="0"/>
                  <a:t> </a:t>
                </a:r>
                <a:r>
                  <a:rPr lang="en-US" altLang="zh-CN" dirty="0"/>
                  <a:t>y * cos</a:t>
                </a:r>
                <a14:m>
                  <m:oMath xmlns:m="http://schemas.openxmlformats.org/officeDocument/2006/math">
                    <m:r>
                      <a:rPr lang="zh-CN" altLang="en-US" i="1" smtClean="0">
                        <a:latin typeface="Cambria Math" panose="02040503050406030204" pitchFamily="18" charset="0"/>
                      </a:rPr>
                      <m:t>𝜃</m:t>
                    </m:r>
                  </m:oMath>
                </a14:m>
                <a:r>
                  <a:rPr lang="zh-CN" altLang="en-US" dirty="0"/>
                  <a:t> </a:t>
                </a:r>
                <a:r>
                  <a:rPr lang="en-US" altLang="zh-CN" dirty="0"/>
                  <a:t>)</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94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向量点积</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向量的点积为两个向量的长度的乘积再乘夹角的余弦值</a:t>
                </a:r>
                <a:endParaRPr lang="en-US" altLang="zh-CN" dirty="0"/>
              </a:p>
              <a:p>
                <a:r>
                  <a:rPr lang="zh-CN" altLang="en-US" dirty="0"/>
                  <a:t>在直角坐标系中为对应横纵坐标乘积的和</a:t>
                </a:r>
                <a:endParaRPr lang="en-US" altLang="zh-CN" dirty="0"/>
              </a:p>
              <a:p>
                <a:r>
                  <a:rPr lang="es-ES" altLang="zh-CN" dirty="0"/>
                  <a:t> </a:t>
                </a:r>
                <a14:m>
                  <m:oMath xmlns:m="http://schemas.openxmlformats.org/officeDocument/2006/math">
                    <m:r>
                      <a:rPr lang="es-ES" altLang="zh-CN" i="1" dirty="0" smtClean="0">
                        <a:latin typeface="Cambria Math" panose="02040503050406030204" pitchFamily="18" charset="0"/>
                      </a:rPr>
                      <m:t>𝑢</m:t>
                    </m:r>
                    <m:r>
                      <a:rPr lang="es-ES" altLang="zh-CN" i="1" dirty="0" smtClean="0">
                        <a:latin typeface="Cambria Math" panose="02040503050406030204" pitchFamily="18" charset="0"/>
                      </a:rPr>
                      <m:t> ∙  </m:t>
                    </m:r>
                    <m:r>
                      <a:rPr lang="es-ES" altLang="zh-CN" i="1" dirty="0" smtClean="0">
                        <a:latin typeface="Cambria Math" panose="02040503050406030204" pitchFamily="18" charset="0"/>
                      </a:rPr>
                      <m:t>𝑣</m:t>
                    </m:r>
                    <m:r>
                      <a:rPr lang="es-ES" altLang="zh-CN" i="1" dirty="0" smtClean="0">
                        <a:latin typeface="Cambria Math" panose="02040503050406030204" pitchFamily="18" charset="0"/>
                      </a:rPr>
                      <m:t> = | </m:t>
                    </m:r>
                    <m:r>
                      <a:rPr lang="es-ES" altLang="zh-CN" i="1" dirty="0" smtClean="0">
                        <a:latin typeface="Cambria Math" panose="02040503050406030204" pitchFamily="18" charset="0"/>
                      </a:rPr>
                      <m:t>𝑢</m:t>
                    </m:r>
                    <m:r>
                      <a:rPr lang="es-ES" altLang="zh-CN" i="1" dirty="0" smtClean="0">
                        <a:latin typeface="Cambria Math" panose="02040503050406030204" pitchFamily="18" charset="0"/>
                      </a:rPr>
                      <m:t> | ∗ | </m:t>
                    </m:r>
                    <m:r>
                      <a:rPr lang="es-ES" altLang="zh-CN" i="1" dirty="0" smtClean="0">
                        <a:latin typeface="Cambria Math" panose="02040503050406030204" pitchFamily="18" charset="0"/>
                      </a:rPr>
                      <m:t>𝑣</m:t>
                    </m:r>
                    <m:r>
                      <a:rPr lang="es-ES" altLang="zh-CN" i="1" dirty="0" smtClean="0">
                        <a:latin typeface="Cambria Math" panose="02040503050406030204" pitchFamily="18" charset="0"/>
                      </a:rPr>
                      <m:t> | ∗ </m:t>
                    </m:r>
                    <m:r>
                      <m:rPr>
                        <m:sty m:val="p"/>
                      </m:rPr>
                      <a:rPr lang="es-ES" altLang="zh-CN" i="1" dirty="0" smtClean="0">
                        <a:latin typeface="Cambria Math" panose="02040503050406030204" pitchFamily="18" charset="0"/>
                      </a:rPr>
                      <m:t>cos</m:t>
                    </m:r>
                    <m:r>
                      <a:rPr lang="es-ES" altLang="zh-CN" i="1" dirty="0" smtClean="0">
                        <a:latin typeface="Cambria Math" panose="02040503050406030204" pitchFamily="18" charset="0"/>
                      </a:rPr>
                      <m:t>⁡</m:t>
                    </m:r>
                    <m:r>
                      <a:rPr lang="zh-CN" altLang="es-ES" i="1" dirty="0" smtClean="0">
                        <a:latin typeface="Cambria Math" panose="02040503050406030204" pitchFamily="18" charset="0"/>
                      </a:rPr>
                      <m:t>𝑎</m:t>
                    </m:r>
                    <m:r>
                      <a:rPr lang="zh-CN" altLang="es-ES" i="1" dirty="0" smtClean="0">
                        <a:latin typeface="Cambria Math" panose="02040503050406030204" pitchFamily="18" charset="0"/>
                      </a:rPr>
                      <m:t> </m:t>
                    </m:r>
                  </m:oMath>
                </a14:m>
                <a:r>
                  <a:rPr lang="zh-CN" altLang="es-ES" dirty="0"/>
                  <a:t>或 </a:t>
                </a:r>
                <a14:m>
                  <m:oMath xmlns:m="http://schemas.openxmlformats.org/officeDocument/2006/math">
                    <m:r>
                      <a:rPr lang="es-ES" altLang="zh-CN" i="1" dirty="0" smtClean="0">
                        <a:latin typeface="Cambria Math" panose="02040503050406030204" pitchFamily="18" charset="0"/>
                      </a:rPr>
                      <m:t>𝑢</m:t>
                    </m:r>
                    <m:r>
                      <a:rPr lang="es-ES" altLang="zh-CN" i="1" dirty="0" smtClean="0">
                        <a:latin typeface="Cambria Math" panose="02040503050406030204" pitchFamily="18" charset="0"/>
                      </a:rPr>
                      <m:t> ∙ </m:t>
                    </m:r>
                    <m:r>
                      <a:rPr lang="es-ES" altLang="zh-CN" i="1" dirty="0" smtClean="0">
                        <a:latin typeface="Cambria Math" panose="02040503050406030204" pitchFamily="18" charset="0"/>
                      </a:rPr>
                      <m:t>𝑣</m:t>
                    </m:r>
                    <m:r>
                      <a:rPr lang="es-ES" altLang="zh-CN" i="1" dirty="0" smtClean="0">
                        <a:latin typeface="Cambria Math" panose="02040503050406030204" pitchFamily="18" charset="0"/>
                      </a:rPr>
                      <m:t> = </m:t>
                    </m:r>
                    <m:r>
                      <a:rPr lang="es-ES" altLang="zh-CN" i="1" dirty="0" smtClean="0">
                        <a:latin typeface="Cambria Math" panose="02040503050406030204" pitchFamily="18" charset="0"/>
                      </a:rPr>
                      <m:t>𝑥</m:t>
                    </m:r>
                    <m:r>
                      <a:rPr lang="en-US" altLang="zh-CN" b="0" i="1" baseline="-25000" dirty="0" smtClean="0">
                        <a:latin typeface="Cambria Math" panose="02040503050406030204" pitchFamily="18" charset="0"/>
                      </a:rPr>
                      <m:t>1</m:t>
                    </m:r>
                    <m:r>
                      <a:rPr lang="es-ES" altLang="zh-CN" i="1" dirty="0" smtClean="0">
                        <a:latin typeface="Cambria Math" panose="02040503050406030204" pitchFamily="18" charset="0"/>
                      </a:rPr>
                      <m:t> ∗ </m:t>
                    </m:r>
                    <m:r>
                      <a:rPr lang="es-ES" altLang="zh-CN" i="1" dirty="0" smtClean="0">
                        <a:latin typeface="Cambria Math" panose="02040503050406030204" pitchFamily="18" charset="0"/>
                      </a:rPr>
                      <m:t>𝑥</m:t>
                    </m:r>
                    <m:r>
                      <a:rPr lang="es-ES" altLang="zh-CN" i="1" baseline="-25000" dirty="0" smtClean="0">
                        <a:latin typeface="Cambria Math" panose="02040503050406030204" pitchFamily="18" charset="0"/>
                      </a:rPr>
                      <m:t>2</m:t>
                    </m:r>
                    <m:r>
                      <a:rPr lang="es-ES" altLang="zh-CN" i="1" dirty="0" smtClean="0">
                        <a:latin typeface="Cambria Math" panose="02040503050406030204" pitchFamily="18" charset="0"/>
                      </a:rPr>
                      <m:t> + </m:t>
                    </m:r>
                    <m:r>
                      <a:rPr lang="es-ES" altLang="zh-CN" i="1" dirty="0" smtClean="0">
                        <a:latin typeface="Cambria Math" panose="02040503050406030204" pitchFamily="18" charset="0"/>
                      </a:rPr>
                      <m:t>𝑦</m:t>
                    </m:r>
                    <m:r>
                      <a:rPr lang="es-ES" altLang="zh-CN" i="1" baseline="-25000" dirty="0" smtClean="0">
                        <a:latin typeface="Cambria Math" panose="02040503050406030204" pitchFamily="18" charset="0"/>
                      </a:rPr>
                      <m:t>1</m:t>
                    </m:r>
                    <m:r>
                      <a:rPr lang="es-ES" altLang="zh-CN" i="1" dirty="0" smtClean="0">
                        <a:latin typeface="Cambria Math" panose="02040503050406030204" pitchFamily="18" charset="0"/>
                      </a:rPr>
                      <m:t> ∗ </m:t>
                    </m:r>
                    <m:r>
                      <a:rPr lang="es-ES" altLang="zh-CN" i="1" dirty="0" smtClean="0">
                        <a:latin typeface="Cambria Math" panose="02040503050406030204" pitchFamily="18" charset="0"/>
                      </a:rPr>
                      <m:t>𝑦</m:t>
                    </m:r>
                    <m:r>
                      <a:rPr lang="es-ES" altLang="zh-CN" i="1" baseline="-25000" dirty="0" smtClean="0">
                        <a:latin typeface="Cambria Math" panose="02040503050406030204" pitchFamily="18" charset="0"/>
                      </a:rPr>
                      <m:t>2</m:t>
                    </m:r>
                  </m:oMath>
                </a14:m>
                <a:endParaRPr lang="es-ES" altLang="zh-CN" baseline="-25000" dirty="0"/>
              </a:p>
              <a:p>
                <a:r>
                  <a:rPr lang="zh-CN" altLang="en-US" dirty="0"/>
                  <a:t>向量的点积的实质是 </a:t>
                </a:r>
                <a:r>
                  <a:rPr lang="en-US" altLang="zh-CN" dirty="0"/>
                  <a:t>u </a:t>
                </a:r>
                <a:r>
                  <a:rPr lang="zh-CN" altLang="en-US" dirty="0"/>
                  <a:t>在 </a:t>
                </a:r>
                <a:r>
                  <a:rPr lang="en-US" altLang="zh-CN" dirty="0"/>
                  <a:t>v </a:t>
                </a:r>
                <a:r>
                  <a:rPr lang="zh-CN" altLang="en-US" dirty="0"/>
                  <a:t>上</a:t>
                </a:r>
                <a:r>
                  <a:rPr lang="en-US" altLang="zh-CN" dirty="0"/>
                  <a:t>( </a:t>
                </a:r>
                <a:r>
                  <a:rPr lang="zh-CN" altLang="en-US" dirty="0"/>
                  <a:t>或 </a:t>
                </a:r>
                <a:r>
                  <a:rPr lang="en-US" altLang="zh-CN" dirty="0"/>
                  <a:t>v </a:t>
                </a:r>
                <a:r>
                  <a:rPr lang="zh-CN" altLang="en-US" dirty="0"/>
                  <a:t>在 </a:t>
                </a:r>
                <a:r>
                  <a:rPr lang="en-US" altLang="zh-CN" dirty="0"/>
                  <a:t>u </a:t>
                </a:r>
                <a:r>
                  <a:rPr lang="zh-CN" altLang="en-US" dirty="0"/>
                  <a:t>上 </a:t>
                </a:r>
                <a:r>
                  <a:rPr lang="en-US" altLang="zh-CN" dirty="0"/>
                  <a:t>) </a:t>
                </a:r>
                <a:r>
                  <a:rPr lang="zh-CN" altLang="en-US" dirty="0"/>
                  <a:t>的投影长度乘</a:t>
                </a:r>
                <a:endParaRPr lang="en-US" altLang="zh-CN" dirty="0"/>
              </a:p>
              <a:p>
                <a:pPr marL="0" indent="0">
                  <a:buNone/>
                </a:pPr>
                <a:r>
                  <a:rPr lang="en-US" altLang="zh-CN" dirty="0"/>
                  <a:t>   v ( u )</a:t>
                </a:r>
                <a:r>
                  <a:rPr lang="zh-CN" altLang="en-US" dirty="0"/>
                  <a:t>的长度</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94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向量点积</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向量 </a:t>
                </a:r>
                <a:r>
                  <a:rPr lang="en-US" altLang="zh-CN" dirty="0"/>
                  <a:t>v </a:t>
                </a:r>
                <a:r>
                  <a:rPr lang="zh-CN" altLang="en-US" dirty="0"/>
                  <a:t>在向量 </a:t>
                </a:r>
                <a:r>
                  <a:rPr lang="en-US" altLang="zh-CN" dirty="0"/>
                  <a:t>u </a:t>
                </a:r>
                <a:r>
                  <a:rPr lang="zh-CN" altLang="en-US" dirty="0"/>
                  <a:t>上的</a:t>
                </a:r>
                <a:endParaRPr lang="en-US" altLang="zh-CN" dirty="0"/>
              </a:p>
              <a:p>
                <a:pPr marL="0" indent="0">
                  <a:buNone/>
                </a:pPr>
                <a:r>
                  <a:rPr lang="en-US" altLang="zh-CN" dirty="0"/>
                  <a:t>   </a:t>
                </a:r>
                <a:r>
                  <a:rPr lang="zh-CN" altLang="en-US" dirty="0"/>
                  <a:t>投影即为 </a:t>
                </a:r>
                <a:r>
                  <a:rPr lang="en-US" altLang="zh-CN" dirty="0"/>
                  <a:t>BD</a:t>
                </a:r>
              </a:p>
              <a:p>
                <a:r>
                  <a:rPr lang="zh-CN" altLang="en-US" dirty="0"/>
                  <a:t>向量 </a:t>
                </a:r>
                <a:r>
                  <a:rPr lang="en-US" altLang="zh-CN" dirty="0"/>
                  <a:t>v </a:t>
                </a:r>
                <a:r>
                  <a:rPr lang="zh-CN" altLang="en-US" dirty="0"/>
                  <a:t>与向量 </a:t>
                </a:r>
                <a:r>
                  <a:rPr lang="en-US" altLang="zh-CN" dirty="0"/>
                  <a:t>u </a:t>
                </a:r>
                <a:r>
                  <a:rPr lang="zh-CN" altLang="en-US" dirty="0"/>
                  <a:t>的点积</a:t>
                </a:r>
                <a:endParaRPr lang="en-US" altLang="zh-CN" dirty="0"/>
              </a:p>
              <a:p>
                <a:pPr marL="0" indent="0">
                  <a:buNone/>
                </a:pPr>
                <a:r>
                  <a:rPr lang="en-US" altLang="zh-CN" dirty="0"/>
                  <a:t>   </a:t>
                </a:r>
                <a:r>
                  <a:rPr lang="zh-CN" altLang="en-US" dirty="0"/>
                  <a:t>为</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𝐴𝐵</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𝐵𝐷</m:t>
                    </m:r>
                    <m:r>
                      <a:rPr lang="en-US" altLang="zh-CN" i="1" dirty="0" smtClean="0">
                        <a:latin typeface="Cambria Math" panose="02040503050406030204" pitchFamily="18" charset="0"/>
                      </a:rPr>
                      <m:t>|</m:t>
                    </m:r>
                  </m:oMath>
                </a14:m>
                <a:endParaRPr lang="en-US" altLang="zh-CN" dirty="0"/>
              </a:p>
              <a:p>
                <a:endParaRPr lang="en-US" altLang="zh-CN" dirty="0"/>
              </a:p>
              <a:p>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941"/>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5229455" y="853462"/>
            <a:ext cx="6415374" cy="49405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向量叉积</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向量的叉积为两个向量的长度的乘积再乘夹角的正弦值</a:t>
                </a:r>
                <a:endParaRPr lang="en-US" altLang="zh-CN" dirty="0"/>
              </a:p>
              <a:p>
                <a:r>
                  <a:rPr lang="zh-CN" altLang="en-US" dirty="0"/>
                  <a:t>在直角坐标系中为相对横纵坐标乘积的差</a:t>
                </a:r>
                <a:endParaRPr lang="en-US" altLang="zh-CN" dirty="0"/>
              </a:p>
              <a:p>
                <a:r>
                  <a:rPr lang="es-ES" altLang="zh-CN" dirty="0"/>
                  <a:t> </a:t>
                </a:r>
                <a14:m>
                  <m:oMath xmlns:m="http://schemas.openxmlformats.org/officeDocument/2006/math">
                    <m:r>
                      <a:rPr lang="es-ES" altLang="zh-CN" i="1" dirty="0" smtClean="0">
                        <a:latin typeface="Cambria Math" panose="02040503050406030204" pitchFamily="18" charset="0"/>
                      </a:rPr>
                      <m:t>𝑢</m:t>
                    </m:r>
                    <m:r>
                      <a:rPr lang="es-ES" altLang="zh-CN" i="1" dirty="0" smtClean="0">
                        <a:latin typeface="Cambria Math" panose="02040503050406030204" pitchFamily="18" charset="0"/>
                      </a:rPr>
                      <m:t> ×  </m:t>
                    </m:r>
                    <m:r>
                      <a:rPr lang="es-ES" altLang="zh-CN" i="1" dirty="0" smtClean="0">
                        <a:latin typeface="Cambria Math" panose="02040503050406030204" pitchFamily="18" charset="0"/>
                      </a:rPr>
                      <m:t>𝑣</m:t>
                    </m:r>
                    <m:r>
                      <a:rPr lang="es-ES" altLang="zh-CN" i="1" dirty="0" smtClean="0">
                        <a:latin typeface="Cambria Math" panose="02040503050406030204" pitchFamily="18" charset="0"/>
                      </a:rPr>
                      <m:t> = | </m:t>
                    </m:r>
                    <m:r>
                      <a:rPr lang="es-ES" altLang="zh-CN" i="1" dirty="0" smtClean="0">
                        <a:latin typeface="Cambria Math" panose="02040503050406030204" pitchFamily="18" charset="0"/>
                      </a:rPr>
                      <m:t>𝑢</m:t>
                    </m:r>
                    <m:r>
                      <a:rPr lang="es-ES" altLang="zh-CN" i="1" dirty="0" smtClean="0">
                        <a:latin typeface="Cambria Math" panose="02040503050406030204" pitchFamily="18" charset="0"/>
                      </a:rPr>
                      <m:t> | ∗ | </m:t>
                    </m:r>
                    <m:r>
                      <a:rPr lang="es-ES" altLang="zh-CN" i="1" dirty="0" smtClean="0">
                        <a:latin typeface="Cambria Math" panose="02040503050406030204" pitchFamily="18" charset="0"/>
                      </a:rPr>
                      <m:t>𝑣</m:t>
                    </m:r>
                    <m:r>
                      <a:rPr lang="es-ES" altLang="zh-CN" i="1" dirty="0" smtClean="0">
                        <a:latin typeface="Cambria Math" panose="02040503050406030204" pitchFamily="18" charset="0"/>
                      </a:rPr>
                      <m:t> | ∗ </m:t>
                    </m:r>
                    <m:r>
                      <m:rPr>
                        <m:sty m:val="p"/>
                      </m:rPr>
                      <a:rPr lang="es-ES" altLang="zh-CN" i="1" dirty="0" smtClean="0">
                        <a:latin typeface="Cambria Math" panose="02040503050406030204" pitchFamily="18" charset="0"/>
                      </a:rPr>
                      <m:t>sin</m:t>
                    </m:r>
                    <m:r>
                      <a:rPr lang="zh-CN" altLang="es-ES" i="1" dirty="0" smtClean="0">
                        <a:latin typeface="Cambria Math" panose="02040503050406030204" pitchFamily="18" charset="0"/>
                      </a:rPr>
                      <m:t>𝑎</m:t>
                    </m:r>
                  </m:oMath>
                </a14:m>
                <a:r>
                  <a:rPr lang="zh-CN" altLang="es-ES" dirty="0"/>
                  <a:t> 或 </a:t>
                </a:r>
                <a14:m>
                  <m:oMath xmlns:m="http://schemas.openxmlformats.org/officeDocument/2006/math">
                    <m:r>
                      <a:rPr lang="es-ES" altLang="zh-CN" i="1" dirty="0" smtClean="0">
                        <a:latin typeface="Cambria Math" panose="02040503050406030204" pitchFamily="18" charset="0"/>
                      </a:rPr>
                      <m:t>𝑢</m:t>
                    </m:r>
                    <m:r>
                      <a:rPr lang="es-ES" altLang="zh-CN" i="1" dirty="0" smtClean="0">
                        <a:latin typeface="Cambria Math" panose="02040503050406030204" pitchFamily="18" charset="0"/>
                      </a:rPr>
                      <m:t> ∙ </m:t>
                    </m:r>
                    <m:r>
                      <a:rPr lang="es-ES" altLang="zh-CN" i="1" dirty="0" smtClean="0">
                        <a:latin typeface="Cambria Math" panose="02040503050406030204" pitchFamily="18" charset="0"/>
                      </a:rPr>
                      <m:t>𝑣</m:t>
                    </m:r>
                    <m:r>
                      <a:rPr lang="es-ES" altLang="zh-CN" i="1" dirty="0" smtClean="0">
                        <a:latin typeface="Cambria Math" panose="02040503050406030204" pitchFamily="18" charset="0"/>
                      </a:rPr>
                      <m:t> = </m:t>
                    </m:r>
                    <m:r>
                      <a:rPr lang="es-ES" altLang="zh-CN" i="1" dirty="0" smtClean="0">
                        <a:latin typeface="Cambria Math" panose="02040503050406030204" pitchFamily="18" charset="0"/>
                      </a:rPr>
                      <m:t>𝑥</m:t>
                    </m:r>
                    <m:r>
                      <a:rPr lang="es-ES" altLang="zh-CN" i="1" baseline="-25000" dirty="0" smtClean="0">
                        <a:latin typeface="Cambria Math" panose="02040503050406030204" pitchFamily="18" charset="0"/>
                      </a:rPr>
                      <m:t>1</m:t>
                    </m:r>
                    <m:r>
                      <a:rPr lang="es-ES" altLang="zh-CN" i="1" dirty="0" smtClean="0">
                        <a:latin typeface="Cambria Math" panose="02040503050406030204" pitchFamily="18" charset="0"/>
                      </a:rPr>
                      <m:t> ∗ </m:t>
                    </m:r>
                    <m:r>
                      <a:rPr lang="es-ES" altLang="zh-CN" i="1" dirty="0" smtClean="0">
                        <a:latin typeface="Cambria Math" panose="02040503050406030204" pitchFamily="18" charset="0"/>
                      </a:rPr>
                      <m:t>𝑦</m:t>
                    </m:r>
                    <m:r>
                      <a:rPr lang="es-ES" altLang="zh-CN" i="1" baseline="-25000" dirty="0" smtClean="0">
                        <a:latin typeface="Cambria Math" panose="02040503050406030204" pitchFamily="18" charset="0"/>
                      </a:rPr>
                      <m:t>2</m:t>
                    </m:r>
                    <m:r>
                      <a:rPr lang="es-ES" altLang="zh-CN" i="1" dirty="0" smtClean="0">
                        <a:latin typeface="Cambria Math" panose="02040503050406030204" pitchFamily="18" charset="0"/>
                      </a:rPr>
                      <m:t> </m:t>
                    </m:r>
                    <m:r>
                      <a:rPr lang="en-US" altLang="zh-CN" i="1" dirty="0" smtClean="0">
                        <a:latin typeface="Cambria Math" panose="02040503050406030204" pitchFamily="18" charset="0"/>
                      </a:rPr>
                      <m:t>−</m:t>
                    </m:r>
                    <m:r>
                      <a:rPr lang="es-ES" altLang="zh-CN" i="1" dirty="0" smtClean="0">
                        <a:latin typeface="Cambria Math" panose="02040503050406030204" pitchFamily="18" charset="0"/>
                      </a:rPr>
                      <m:t> </m:t>
                    </m:r>
                    <m:r>
                      <a:rPr lang="es-ES" altLang="zh-CN" i="1" dirty="0" smtClean="0">
                        <a:latin typeface="Cambria Math" panose="02040503050406030204" pitchFamily="18" charset="0"/>
                      </a:rPr>
                      <m:t>𝑦</m:t>
                    </m:r>
                    <m:r>
                      <a:rPr lang="es-ES" altLang="zh-CN" i="1" baseline="-25000" dirty="0" smtClean="0">
                        <a:latin typeface="Cambria Math" panose="02040503050406030204" pitchFamily="18" charset="0"/>
                      </a:rPr>
                      <m:t>1</m:t>
                    </m:r>
                    <m:r>
                      <a:rPr lang="es-ES" altLang="zh-CN" i="1" dirty="0" smtClean="0">
                        <a:latin typeface="Cambria Math" panose="02040503050406030204" pitchFamily="18" charset="0"/>
                      </a:rPr>
                      <m:t> ∗ </m:t>
                    </m:r>
                    <m:r>
                      <a:rPr lang="es-ES" altLang="zh-CN" i="1" dirty="0" smtClean="0">
                        <a:latin typeface="Cambria Math" panose="02040503050406030204" pitchFamily="18" charset="0"/>
                      </a:rPr>
                      <m:t>𝑥</m:t>
                    </m:r>
                    <m:r>
                      <a:rPr lang="es-ES" altLang="zh-CN" i="1" baseline="-25000" dirty="0" smtClean="0">
                        <a:latin typeface="Cambria Math" panose="02040503050406030204" pitchFamily="18" charset="0"/>
                      </a:rPr>
                      <m:t>2</m:t>
                    </m:r>
                  </m:oMath>
                </a14:m>
                <a:endParaRPr lang="es-ES" altLang="zh-CN" baseline="-25000" dirty="0"/>
              </a:p>
              <a:p>
                <a:r>
                  <a:rPr lang="zh-CN" altLang="en-US" dirty="0"/>
                  <a:t>向量的二维叉积的实质是</a:t>
                </a:r>
                <a:r>
                  <a:rPr lang="en-US" altLang="zh-CN" dirty="0"/>
                  <a:t> u </a:t>
                </a:r>
                <a:r>
                  <a:rPr lang="zh-CN" altLang="en-US" dirty="0"/>
                  <a:t>到 </a:t>
                </a:r>
                <a:r>
                  <a:rPr lang="en-US" altLang="zh-CN" dirty="0"/>
                  <a:t>v </a:t>
                </a:r>
                <a:r>
                  <a:rPr lang="zh-CN" altLang="en-US" dirty="0"/>
                  <a:t>的有向面积 </a:t>
                </a:r>
                <a:r>
                  <a:rPr lang="en-US" altLang="zh-CN" dirty="0"/>
                  <a:t>( </a:t>
                </a:r>
                <a:r>
                  <a:rPr lang="zh-CN" altLang="en-US" dirty="0"/>
                  <a:t>逆时针 </a:t>
                </a:r>
                <a:r>
                  <a:rPr lang="en-US" altLang="zh-CN" dirty="0"/>
                  <a:t>)</a:t>
                </a:r>
              </a:p>
              <a:p>
                <a:r>
                  <a:rPr lang="en-US" altLang="zh-CN" dirty="0"/>
                  <a:t> </a:t>
                </a:r>
                <a14:m>
                  <m:oMath xmlns:m="http://schemas.openxmlformats.org/officeDocument/2006/math">
                    <m:r>
                      <a:rPr lang="en-US" altLang="zh-CN" i="1" dirty="0" smtClean="0">
                        <a:latin typeface="Cambria Math" panose="02040503050406030204" pitchFamily="18" charset="0"/>
                      </a:rPr>
                      <m:t>𝑢</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 = </m:t>
                    </m:r>
                    <m:r>
                      <a:rPr lang="zh-CN" altLang="en-US" i="1" dirty="0" smtClean="0">
                        <a:latin typeface="Cambria Math" panose="02040503050406030204" pitchFamily="18" charset="0"/>
                      </a:rPr>
                      <m:t>－</m:t>
                    </m:r>
                    <m:r>
                      <a:rPr lang="zh-CN" altLang="en-US" i="1" dirty="0" smtClean="0">
                        <a:latin typeface="Cambria Math" panose="02040503050406030204" pitchFamily="18" charset="0"/>
                      </a:rPr>
                      <m:t> ( </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𝑢</m:t>
                    </m:r>
                    <m:r>
                      <a:rPr lang="en-US" altLang="zh-CN" i="1" dirty="0" smtClean="0">
                        <a:latin typeface="Cambria Math" panose="02040503050406030204" pitchFamily="18" charset="0"/>
                      </a:rPr>
                      <m:t> )</m:t>
                    </m:r>
                  </m:oMath>
                </a14:m>
                <a:endParaRPr lang="es-ES" altLang="zh-CN"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94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向量叉积</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向量 </a:t>
                </a:r>
                <a:r>
                  <a:rPr lang="en-US" altLang="zh-CN" dirty="0"/>
                  <a:t>v </a:t>
                </a:r>
                <a:r>
                  <a:rPr lang="zh-CN" altLang="en-US" dirty="0"/>
                  <a:t>与向量 </a:t>
                </a:r>
                <a:r>
                  <a:rPr lang="en-US" altLang="zh-CN" dirty="0"/>
                  <a:t>u </a:t>
                </a:r>
                <a:r>
                  <a:rPr lang="zh-CN" altLang="en-US" dirty="0"/>
                  <a:t>的</a:t>
                </a:r>
                <a:endParaRPr lang="en-US" altLang="zh-CN" dirty="0"/>
              </a:p>
              <a:p>
                <a:pPr marL="0" indent="0">
                  <a:buNone/>
                </a:pPr>
                <a:r>
                  <a:rPr lang="en-US" altLang="zh-CN" dirty="0"/>
                  <a:t>   </a:t>
                </a:r>
                <a:r>
                  <a:rPr lang="zh-CN" altLang="en-US" dirty="0"/>
                  <a:t>叉积的数值即为</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t>ABC</a:t>
                </a:r>
              </a:p>
              <a:p>
                <a:pPr marL="0" indent="0">
                  <a:buNone/>
                </a:pPr>
                <a:r>
                  <a:rPr lang="zh-CN" altLang="en-US" dirty="0"/>
                  <a:t>   的面积的</a:t>
                </a:r>
                <a:r>
                  <a:rPr lang="en-US" altLang="zh-CN" dirty="0"/>
                  <a:t>2</a:t>
                </a:r>
                <a:r>
                  <a:rPr lang="zh-CN" altLang="en-US" dirty="0"/>
                  <a:t>倍</a:t>
                </a:r>
                <a:endParaRPr lang="en-US" altLang="zh-CN"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941"/>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4985303" y="791205"/>
            <a:ext cx="6517410" cy="4761296"/>
          </a:xfrm>
          <a:prstGeom prst="rect">
            <a:avLst/>
          </a:prstGeom>
        </p:spPr>
      </p:pic>
      <p:sp>
        <p:nvSpPr>
          <p:cNvPr id="21" name="环形箭头 20"/>
          <p:cNvSpPr/>
          <p:nvPr/>
        </p:nvSpPr>
        <p:spPr>
          <a:xfrm rot="6678198" flipV="1">
            <a:off x="7024276" y="2554767"/>
            <a:ext cx="1327939" cy="1288973"/>
          </a:xfrm>
          <a:prstGeom prst="circular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点积与叉积的应用</a:t>
            </a:r>
          </a:p>
        </p:txBody>
      </p:sp>
      <p:sp>
        <p:nvSpPr>
          <p:cNvPr id="3" name="内容占位符 2"/>
          <p:cNvSpPr>
            <a:spLocks noGrp="1"/>
          </p:cNvSpPr>
          <p:nvPr>
            <p:ph idx="1"/>
          </p:nvPr>
        </p:nvSpPr>
        <p:spPr/>
        <p:txBody>
          <a:bodyPr/>
          <a:lstStyle/>
          <a:p>
            <a:r>
              <a:rPr lang="zh-CN" altLang="en-US" dirty="0"/>
              <a:t>点积用来判断前后</a:t>
            </a:r>
            <a:endParaRPr lang="en-US" altLang="zh-CN" dirty="0"/>
          </a:p>
          <a:p>
            <a:r>
              <a:rPr lang="zh-CN" altLang="en-US" dirty="0"/>
              <a:t>叉积用来判断左右</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基本操作</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直线的交点</a:t>
                </a:r>
                <a:endParaRPr lang="en-US" altLang="zh-CN" dirty="0"/>
              </a:p>
              <a:p>
                <a:r>
                  <a:rPr lang="zh-CN" altLang="en-US" dirty="0"/>
                  <a:t>已知直线 </a:t>
                </a:r>
                <a14:m>
                  <m:oMath xmlns:m="http://schemas.openxmlformats.org/officeDocument/2006/math">
                    <m:r>
                      <a:rPr lang="en-US" altLang="zh-CN" i="1" dirty="0" smtClean="0">
                        <a:latin typeface="Cambria Math" panose="02040503050406030204" pitchFamily="18" charset="0"/>
                      </a:rPr>
                      <m:t>𝐿</m:t>
                    </m:r>
                    <m:r>
                      <a:rPr lang="en-US" altLang="zh-CN" i="1" baseline="-25000" dirty="0" smtClean="0">
                        <a:latin typeface="Cambria Math" panose="02040503050406030204" pitchFamily="18" charset="0"/>
                      </a:rPr>
                      <m:t>1</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𝑃</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𝐿</m:t>
                    </m:r>
                    <m:r>
                      <a:rPr lang="en-US" altLang="zh-CN" i="1" baseline="-25000" dirty="0" smtClean="0">
                        <a:latin typeface="Cambria Math" panose="02040503050406030204" pitchFamily="18" charset="0"/>
                      </a:rPr>
                      <m:t>2</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𝑄</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𝑤</m:t>
                    </m:r>
                  </m:oMath>
                </a14:m>
                <a:endParaRPr lang="en-US" altLang="zh-CN" dirty="0"/>
              </a:p>
              <a:p>
                <a:r>
                  <a:rPr lang="zh-CN" altLang="en-US" dirty="0"/>
                  <a:t>交点在</a:t>
                </a:r>
                <a:r>
                  <a:rPr lang="en-US" altLang="zh-CN" dirty="0"/>
                  <a:t>L</a:t>
                </a:r>
                <a:r>
                  <a:rPr lang="en-US" altLang="zh-CN" baseline="-25000" dirty="0"/>
                  <a:t>1</a:t>
                </a:r>
                <a:r>
                  <a:rPr lang="zh-CN" altLang="en-US" dirty="0"/>
                  <a:t>上的参数 </a:t>
                </a:r>
                <a:r>
                  <a:rPr lang="en-US" altLang="zh-CN" dirty="0"/>
                  <a:t>t </a:t>
                </a:r>
                <a:r>
                  <a:rPr lang="zh-CN" altLang="en-US" dirty="0"/>
                  <a:t>为 </a:t>
                </a:r>
                <a:r>
                  <a:rPr lang="en-US" altLang="zh-CN" dirty="0"/>
                  <a:t>t</a:t>
                </a:r>
                <a:r>
                  <a:rPr lang="en-US" altLang="zh-CN" baseline="-25000" dirty="0"/>
                  <a:t>1</a:t>
                </a:r>
                <a:r>
                  <a:rPr lang="en-US" altLang="zh-CN" dirty="0"/>
                  <a:t>, </a:t>
                </a:r>
                <a:r>
                  <a:rPr lang="zh-CN" altLang="en-US" dirty="0"/>
                  <a:t>在</a:t>
                </a:r>
                <a:r>
                  <a:rPr lang="en-US" altLang="zh-CN" dirty="0"/>
                  <a:t>L</a:t>
                </a:r>
                <a:r>
                  <a:rPr lang="en-US" altLang="zh-CN" baseline="-25000" dirty="0"/>
                  <a:t>2</a:t>
                </a:r>
                <a:r>
                  <a:rPr lang="zh-CN" altLang="en-US" dirty="0"/>
                  <a:t>上的参数 </a:t>
                </a:r>
                <a:r>
                  <a:rPr lang="en-US" altLang="zh-CN" dirty="0"/>
                  <a:t>t </a:t>
                </a:r>
                <a:r>
                  <a:rPr lang="zh-CN" altLang="en-US" dirty="0"/>
                  <a:t>为 </a:t>
                </a:r>
                <a:r>
                  <a:rPr lang="en-US" altLang="zh-CN" dirty="0"/>
                  <a:t>t</a:t>
                </a:r>
                <a:r>
                  <a:rPr lang="en-US" altLang="zh-CN" baseline="-25000" dirty="0"/>
                  <a:t>2</a:t>
                </a:r>
              </a:p>
              <a:p>
                <a:r>
                  <a:rPr lang="zh-CN" altLang="en-US" dirty="0"/>
                  <a:t>令 </a:t>
                </a:r>
                <a14:m>
                  <m:oMath xmlns:m="http://schemas.openxmlformats.org/officeDocument/2006/math">
                    <m:r>
                      <a:rPr lang="en-US" altLang="zh-CN" i="1" dirty="0" smtClean="0">
                        <a:latin typeface="Cambria Math" panose="02040503050406030204" pitchFamily="18" charset="0"/>
                      </a:rPr>
                      <m:t>𝑢</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𝑃</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𝑄</m:t>
                    </m:r>
                  </m:oMath>
                </a14:m>
                <a:endParaRPr lang="en-US" altLang="zh-CN" dirty="0"/>
              </a:p>
              <a:p>
                <a14:m>
                  <m:oMath xmlns:m="http://schemas.openxmlformats.org/officeDocument/2006/math">
                    <m:r>
                      <a:rPr lang="en-US" altLang="zh-CN" i="1" dirty="0" smtClean="0">
                        <a:latin typeface="Cambria Math" panose="02040503050406030204" pitchFamily="18" charset="0"/>
                      </a:rPr>
                      <m:t>𝑡</m:t>
                    </m:r>
                    <m:r>
                      <a:rPr lang="en-US" altLang="zh-CN" i="1" baseline="-25000" dirty="0" smtClean="0">
                        <a:latin typeface="Cambria Math" panose="02040503050406030204" pitchFamily="18" charset="0"/>
                      </a:rPr>
                      <m:t>1</m:t>
                    </m:r>
                    <m:r>
                      <a:rPr lang="en-US" altLang="zh-CN" i="1" dirty="0" smtClean="0">
                        <a:latin typeface="Cambria Math" panose="02040503050406030204" pitchFamily="18" charset="0"/>
                      </a:rPr>
                      <m:t> = </m:t>
                    </m:r>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𝑤</m:t>
                        </m:r>
                        <m:r>
                          <a:rPr lang="en-US" altLang="zh-CN" b="0" i="1" smtClean="0">
                            <a:latin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𝑢</m:t>
                        </m:r>
                      </m:num>
                      <m:den>
                        <m:r>
                          <a:rPr lang="en-US" altLang="zh-CN" b="0" i="1" smtClean="0">
                            <a:latin typeface="Cambria Math" panose="02040503050406030204" pitchFamily="18" charset="0"/>
                          </a:rPr>
                          <m:t>𝑣</m:t>
                        </m:r>
                        <m:r>
                          <a:rPr lang="en-US" altLang="zh-CN" b="0" i="1" smtClean="0">
                            <a:latin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𝑤</m:t>
                        </m:r>
                      </m:den>
                    </m:f>
                  </m:oMath>
                </a14:m>
                <a:endParaRPr lang="en-US" altLang="zh-CN" dirty="0"/>
              </a:p>
              <a:p>
                <a14:m>
                  <m:oMath xmlns:m="http://schemas.openxmlformats.org/officeDocument/2006/math">
                    <m:r>
                      <a:rPr lang="en-US" altLang="zh-CN" i="1" dirty="0" smtClean="0">
                        <a:latin typeface="Cambria Math" panose="02040503050406030204" pitchFamily="18" charset="0"/>
                      </a:rPr>
                      <m:t>𝑡</m:t>
                    </m:r>
                    <m:r>
                      <a:rPr lang="en-US" altLang="zh-CN" i="1" baseline="-25000" dirty="0" smtClean="0">
                        <a:latin typeface="Cambria Math" panose="02040503050406030204" pitchFamily="18" charset="0"/>
                      </a:rPr>
                      <m:t>2</m:t>
                    </m:r>
                    <m:r>
                      <a:rPr lang="en-US" altLang="zh-CN" i="1" dirty="0" smtClean="0">
                        <a:latin typeface="Cambria Math" panose="02040503050406030204" pitchFamily="18" charset="0"/>
                      </a:rPr>
                      <m:t> = </m:t>
                    </m:r>
                    <m:f>
                      <m:fPr>
                        <m:ctrlPr>
                          <a:rPr lang="en-US" altLang="zh-CN" i="1">
                            <a:latin typeface="Cambria Math" panose="02040503050406030204" pitchFamily="18" charset="0"/>
                          </a:rPr>
                        </m:ctrlPr>
                      </m:fPr>
                      <m:num>
                        <m:r>
                          <a:rPr lang="en-US" altLang="zh-CN" b="0" i="1" smtClean="0">
                            <a:latin typeface="Cambria Math" panose="02040503050406030204" pitchFamily="18" charset="0"/>
                          </a:rPr>
                          <m:t>𝑣</m:t>
                        </m:r>
                        <m:r>
                          <a:rPr lang="en-US" altLang="zh-CN" i="1">
                            <a:latin typeface="Cambria Math" panose="02040503050406030204" pitchFamily="18" charset="0"/>
                          </a:rPr>
                          <m:t> ×</m:t>
                        </m:r>
                        <m:r>
                          <a:rPr lang="en-US" altLang="zh-CN" i="1">
                            <a:latin typeface="Cambria Math" panose="02040503050406030204" pitchFamily="18" charset="0"/>
                            <a:ea typeface="Cambria Math" panose="02040503050406030204" pitchFamily="18" charset="0"/>
                          </a:rPr>
                          <m:t>𝑢</m:t>
                        </m:r>
                      </m:num>
                      <m:den>
                        <m:r>
                          <a:rPr lang="en-US" altLang="zh-CN" i="1">
                            <a:latin typeface="Cambria Math" panose="02040503050406030204" pitchFamily="18" charset="0"/>
                          </a:rPr>
                          <m:t>𝑣</m:t>
                        </m:r>
                        <m:r>
                          <a:rPr lang="en-US" altLang="zh-CN" i="1">
                            <a:latin typeface="Cambria Math" panose="02040503050406030204" pitchFamily="18" charset="0"/>
                          </a:rPr>
                          <m:t> ×</m:t>
                        </m:r>
                        <m:r>
                          <a:rPr lang="en-US" altLang="zh-CN" i="1">
                            <a:latin typeface="Cambria Math" panose="02040503050406030204" pitchFamily="18" charset="0"/>
                            <a:ea typeface="Cambria Math" panose="02040503050406030204" pitchFamily="18" charset="0"/>
                          </a:rPr>
                          <m:t>𝑤</m:t>
                        </m:r>
                      </m:den>
                    </m:f>
                  </m:oMath>
                </a14:m>
                <a:endParaRPr lang="en-US" altLang="zh-CN" dirty="0"/>
              </a:p>
              <a:p>
                <a:r>
                  <a:rPr lang="zh-CN" altLang="en-US" dirty="0"/>
                  <a:t>交点为 </a:t>
                </a:r>
                <a14:m>
                  <m:oMath xmlns:m="http://schemas.openxmlformats.org/officeDocument/2006/math">
                    <m:r>
                      <a:rPr lang="en-US" altLang="zh-CN" i="1" dirty="0" smtClean="0">
                        <a:latin typeface="Cambria Math" panose="02040503050406030204" pitchFamily="18" charset="0"/>
                      </a:rPr>
                      <m:t>𝐴</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𝑃</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𝑡</m:t>
                    </m:r>
                    <m:r>
                      <a:rPr lang="en-US" altLang="zh-CN" i="1" baseline="-25000" dirty="0" smtClean="0">
                        <a:latin typeface="Cambria Math" panose="02040503050406030204" pitchFamily="18" charset="0"/>
                      </a:rPr>
                      <m:t>1</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𝐴</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𝑄</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𝑡</m:t>
                    </m:r>
                    <m:r>
                      <a:rPr lang="en-US" altLang="zh-CN" i="1" baseline="-25000" dirty="0" smtClean="0">
                        <a:latin typeface="Cambria Math" panose="02040503050406030204" pitchFamily="18" charset="0"/>
                      </a:rPr>
                      <m:t>2</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𝑤</m:t>
                    </m:r>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94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基本操作</a:t>
            </a:r>
          </a:p>
        </p:txBody>
      </p:sp>
      <p:sp>
        <p:nvSpPr>
          <p:cNvPr id="3" name="内容占位符 2"/>
          <p:cNvSpPr>
            <a:spLocks noGrp="1"/>
          </p:cNvSpPr>
          <p:nvPr>
            <p:ph idx="1"/>
          </p:nvPr>
        </p:nvSpPr>
        <p:spPr/>
        <p:txBody>
          <a:bodyPr/>
          <a:lstStyle/>
          <a:p>
            <a:r>
              <a:rPr lang="zh-CN" altLang="en-US" dirty="0"/>
              <a:t>点到直线的距离</a:t>
            </a:r>
            <a:endParaRPr lang="en-US" altLang="zh-CN" dirty="0"/>
          </a:p>
          <a:p>
            <a:r>
              <a:rPr lang="zh-CN" altLang="en-US" dirty="0"/>
              <a:t>有两种情况</a:t>
            </a:r>
            <a:endParaRPr lang="en-US" altLang="zh-CN" dirty="0"/>
          </a:p>
          <a:p>
            <a:r>
              <a:rPr lang="zh-CN" altLang="en-US" dirty="0"/>
              <a:t>即</a:t>
            </a:r>
            <a:r>
              <a:rPr lang="en-US" altLang="zh-CN" dirty="0"/>
              <a:t>C</a:t>
            </a:r>
            <a:r>
              <a:rPr lang="zh-CN" altLang="en-US" dirty="0"/>
              <a:t>的投影在不在线段</a:t>
            </a:r>
            <a:r>
              <a:rPr lang="en-US" altLang="zh-CN" dirty="0"/>
              <a:t>AB</a:t>
            </a:r>
            <a:r>
              <a:rPr lang="zh-CN" altLang="en-US" dirty="0"/>
              <a:t>上</a:t>
            </a:r>
            <a:endParaRPr lang="en-US" altLang="zh-CN" dirty="0"/>
          </a:p>
          <a:p>
            <a:r>
              <a:rPr lang="zh-CN" altLang="en-US" dirty="0"/>
              <a:t>可以用点积对其进行判断</a:t>
            </a:r>
            <a:endParaRPr lang="en-US" altLang="zh-CN" dirty="0"/>
          </a:p>
          <a:p>
            <a:r>
              <a:rPr lang="zh-CN" altLang="en-US" dirty="0"/>
              <a:t>判断</a:t>
            </a:r>
            <a:r>
              <a:rPr lang="en-US" altLang="zh-CN" dirty="0"/>
              <a:t>AC </a:t>
            </a:r>
            <a:r>
              <a:rPr lang="zh-CN" altLang="en-US" dirty="0"/>
              <a:t>与</a:t>
            </a:r>
            <a:r>
              <a:rPr lang="en-US" altLang="zh-CN" dirty="0"/>
              <a:t>AB</a:t>
            </a:r>
            <a:r>
              <a:rPr lang="zh-CN" altLang="en-US" dirty="0"/>
              <a:t>，</a:t>
            </a:r>
            <a:r>
              <a:rPr lang="en-US" altLang="zh-CN" dirty="0"/>
              <a:t>BC</a:t>
            </a:r>
            <a:r>
              <a:rPr lang="zh-CN" altLang="en-US" dirty="0"/>
              <a:t>与</a:t>
            </a:r>
            <a:r>
              <a:rPr lang="en-US" altLang="zh-CN" dirty="0"/>
              <a:t>AB</a:t>
            </a:r>
            <a:r>
              <a:rPr lang="zh-CN" altLang="en-US" dirty="0"/>
              <a:t>点积的正负即可</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基本操作</a:t>
            </a:r>
          </a:p>
        </p:txBody>
      </p:sp>
      <p:sp>
        <p:nvSpPr>
          <p:cNvPr id="3" name="内容占位符 2"/>
          <p:cNvSpPr>
            <a:spLocks noGrp="1"/>
          </p:cNvSpPr>
          <p:nvPr>
            <p:ph idx="1"/>
          </p:nvPr>
        </p:nvSpPr>
        <p:spPr/>
        <p:txBody>
          <a:bodyPr/>
          <a:lstStyle/>
          <a:p>
            <a:r>
              <a:rPr lang="en-US" altLang="zh-CN" dirty="0"/>
              <a:t>C </a:t>
            </a:r>
            <a:r>
              <a:rPr lang="zh-CN" altLang="en-US" dirty="0"/>
              <a:t>的投影在线段</a:t>
            </a:r>
            <a:r>
              <a:rPr lang="en-US" altLang="zh-CN" dirty="0"/>
              <a:t>AB</a:t>
            </a:r>
            <a:r>
              <a:rPr lang="zh-CN" altLang="en-US" dirty="0"/>
              <a:t>上</a:t>
            </a:r>
            <a:endParaRPr lang="en-US" altLang="zh-CN" dirty="0"/>
          </a:p>
          <a:p>
            <a:r>
              <a:rPr lang="zh-CN" altLang="en-US" dirty="0"/>
              <a:t>求向量</a:t>
            </a:r>
            <a:r>
              <a:rPr lang="en-US" altLang="zh-CN" dirty="0"/>
              <a:t>BC </a:t>
            </a:r>
            <a:r>
              <a:rPr lang="zh-CN" altLang="en-US" dirty="0"/>
              <a:t>和向量</a:t>
            </a:r>
            <a:r>
              <a:rPr lang="en-US" altLang="zh-CN" dirty="0"/>
              <a:t>AB</a:t>
            </a:r>
            <a:r>
              <a:rPr lang="zh-CN" altLang="en-US" dirty="0"/>
              <a:t>的叉积</a:t>
            </a:r>
            <a:endParaRPr lang="en-US" altLang="zh-CN" dirty="0"/>
          </a:p>
          <a:p>
            <a:r>
              <a:rPr lang="zh-CN" altLang="en-US" dirty="0"/>
              <a:t>再除以</a:t>
            </a:r>
            <a:r>
              <a:rPr lang="en-US" altLang="zh-CN" dirty="0"/>
              <a:t>AB</a:t>
            </a:r>
            <a:r>
              <a:rPr lang="zh-CN" altLang="en-US" dirty="0"/>
              <a:t>的长度就可以了</a:t>
            </a:r>
            <a:endParaRPr lang="en-US" altLang="zh-CN" dirty="0"/>
          </a:p>
          <a:p>
            <a:r>
              <a:rPr lang="en-US" altLang="zh-CN" dirty="0"/>
              <a:t>( </a:t>
            </a:r>
            <a:r>
              <a:rPr lang="zh-CN" altLang="en-US" dirty="0"/>
              <a:t>用点积也可以做 </a:t>
            </a:r>
            <a:r>
              <a:rPr lang="en-US" altLang="zh-CN" dirty="0"/>
              <a:t>)</a:t>
            </a:r>
          </a:p>
          <a:p>
            <a:endParaRPr lang="zh-CN" altLang="en-US" dirty="0"/>
          </a:p>
        </p:txBody>
      </p:sp>
      <p:pic>
        <p:nvPicPr>
          <p:cNvPr id="5" name="图片 4"/>
          <p:cNvPicPr>
            <a:picLocks noChangeAspect="1"/>
          </p:cNvPicPr>
          <p:nvPr/>
        </p:nvPicPr>
        <p:blipFill>
          <a:blip r:embed="rId2"/>
          <a:stretch>
            <a:fillRect/>
          </a:stretch>
        </p:blipFill>
        <p:spPr>
          <a:xfrm>
            <a:off x="5732444" y="1395404"/>
            <a:ext cx="5792512" cy="434438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基本操作</a:t>
            </a:r>
          </a:p>
        </p:txBody>
      </p:sp>
      <p:sp>
        <p:nvSpPr>
          <p:cNvPr id="3" name="内容占位符 2"/>
          <p:cNvSpPr>
            <a:spLocks noGrp="1"/>
          </p:cNvSpPr>
          <p:nvPr>
            <p:ph idx="1"/>
          </p:nvPr>
        </p:nvSpPr>
        <p:spPr/>
        <p:txBody>
          <a:bodyPr/>
          <a:lstStyle/>
          <a:p>
            <a:r>
              <a:rPr lang="en-US" altLang="zh-CN" dirty="0"/>
              <a:t>C</a:t>
            </a:r>
            <a:r>
              <a:rPr lang="zh-CN" altLang="en-US" dirty="0"/>
              <a:t>的投影不在线段</a:t>
            </a:r>
            <a:r>
              <a:rPr lang="en-US" altLang="zh-CN" dirty="0"/>
              <a:t>AB</a:t>
            </a:r>
            <a:r>
              <a:rPr lang="zh-CN" altLang="en-US" dirty="0"/>
              <a:t>上</a:t>
            </a:r>
            <a:endParaRPr lang="en-US" altLang="zh-CN" dirty="0"/>
          </a:p>
          <a:p>
            <a:r>
              <a:rPr lang="zh-CN" altLang="en-US" dirty="0"/>
              <a:t>求</a:t>
            </a:r>
            <a:r>
              <a:rPr lang="en-US" altLang="zh-CN" dirty="0"/>
              <a:t>AC </a:t>
            </a:r>
            <a:r>
              <a:rPr lang="zh-CN" altLang="en-US" dirty="0"/>
              <a:t>和</a:t>
            </a:r>
            <a:r>
              <a:rPr lang="en-US" altLang="zh-CN" dirty="0"/>
              <a:t>BC </a:t>
            </a:r>
            <a:r>
              <a:rPr lang="zh-CN" altLang="en-US" dirty="0"/>
              <a:t>中的较小者即可</a:t>
            </a:r>
          </a:p>
        </p:txBody>
      </p:sp>
      <p:pic>
        <p:nvPicPr>
          <p:cNvPr id="4" name="图片 3"/>
          <p:cNvPicPr>
            <a:picLocks noChangeAspect="1"/>
          </p:cNvPicPr>
          <p:nvPr/>
        </p:nvPicPr>
        <p:blipFill>
          <a:blip r:embed="rId2"/>
          <a:stretch>
            <a:fillRect/>
          </a:stretch>
        </p:blipFill>
        <p:spPr>
          <a:xfrm>
            <a:off x="5540566" y="1530196"/>
            <a:ext cx="6133310" cy="447399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基本操作</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分点</a:t>
                </a:r>
                <a:endParaRPr lang="en-US" altLang="zh-CN" dirty="0"/>
              </a:p>
              <a:p>
                <a14:m>
                  <m:oMath xmlns:m="http://schemas.openxmlformats.org/officeDocument/2006/math">
                    <m:r>
                      <a:rPr lang="en-US" altLang="zh-CN" i="1" dirty="0" smtClean="0">
                        <a:latin typeface="Cambria Math" panose="02040503050406030204" pitchFamily="18" charset="0"/>
                      </a:rPr>
                      <m:t>𝐶</m:t>
                    </m:r>
                    <m:r>
                      <a:rPr lang="en-US" altLang="zh-CN" i="1" dirty="0" smtClean="0">
                        <a:latin typeface="Cambria Math" panose="02040503050406030204" pitchFamily="18" charset="0"/>
                      </a:rPr>
                      <m:t>  = </m:t>
                    </m:r>
                    <m:f>
                      <m:fPr>
                        <m:ctrlPr>
                          <a:rPr lang="en-US" altLang="zh-CN" i="1" smtClean="0">
                            <a:latin typeface="Cambria Math" panose="02040503050406030204" pitchFamily="18" charset="0"/>
                          </a:rPr>
                        </m:ctrlPr>
                      </m:fPr>
                      <m:num>
                        <m:r>
                          <a:rPr lang="zh-CN" altLang="en-US" i="1">
                            <a:latin typeface="Cambria Math" panose="02040503050406030204" pitchFamily="18" charset="0"/>
                          </a:rPr>
                          <m:t>𝜆</m:t>
                        </m:r>
                        <m:r>
                          <a:rPr lang="en-US" altLang="zh-CN" b="0" i="1" baseline="-25000" smtClean="0">
                            <a:latin typeface="Cambria Math" panose="02040503050406030204" pitchFamily="18" charset="0"/>
                          </a:rPr>
                          <m:t>2</m:t>
                        </m:r>
                        <m:r>
                          <a:rPr lang="en-US" altLang="zh-CN" b="0" i="1" smtClean="0">
                            <a:latin typeface="Cambria Math" panose="02040503050406030204" pitchFamily="18" charset="0"/>
                          </a:rPr>
                          <m:t>𝐴</m:t>
                        </m:r>
                        <m:r>
                          <a:rPr lang="en-US" altLang="zh-CN" b="0" i="1" smtClean="0">
                            <a:latin typeface="Cambria Math" panose="02040503050406030204" pitchFamily="18" charset="0"/>
                          </a:rPr>
                          <m:t>+</m:t>
                        </m:r>
                        <m:r>
                          <a:rPr lang="zh-CN" altLang="en-US" i="1">
                            <a:latin typeface="Cambria Math" panose="02040503050406030204" pitchFamily="18" charset="0"/>
                          </a:rPr>
                          <m:t>𝜆</m:t>
                        </m:r>
                        <m:r>
                          <a:rPr lang="en-US" altLang="zh-CN" b="0" i="1" baseline="-25000" smtClean="0">
                            <a:latin typeface="Cambria Math" panose="02040503050406030204" pitchFamily="18" charset="0"/>
                          </a:rPr>
                          <m:t>1</m:t>
                        </m:r>
                        <m:r>
                          <a:rPr lang="en-US" altLang="zh-CN" b="0" i="1" smtClean="0">
                            <a:latin typeface="Cambria Math" panose="02040503050406030204" pitchFamily="18" charset="0"/>
                          </a:rPr>
                          <m:t>𝐵</m:t>
                        </m:r>
                      </m:num>
                      <m:den>
                        <m:r>
                          <a:rPr lang="zh-CN" altLang="en-US" i="1">
                            <a:latin typeface="Cambria Math" panose="02040503050406030204" pitchFamily="18" charset="0"/>
                          </a:rPr>
                          <m:t>𝜆</m:t>
                        </m:r>
                        <m:r>
                          <a:rPr lang="en-US" altLang="zh-CN" b="0" i="1" baseline="-25000" smtClean="0">
                            <a:latin typeface="Cambria Math" panose="02040503050406030204" pitchFamily="18" charset="0"/>
                          </a:rPr>
                          <m:t>1</m:t>
                        </m:r>
                        <m:r>
                          <a:rPr lang="en-US" altLang="zh-CN" b="0" i="1" smtClean="0">
                            <a:latin typeface="Cambria Math" panose="02040503050406030204" pitchFamily="18" charset="0"/>
                          </a:rPr>
                          <m:t>+</m:t>
                        </m:r>
                        <m:r>
                          <a:rPr lang="zh-CN" altLang="en-US" i="1">
                            <a:latin typeface="Cambria Math" panose="02040503050406030204" pitchFamily="18" charset="0"/>
                          </a:rPr>
                          <m:t>𝜆</m:t>
                        </m:r>
                        <m:r>
                          <a:rPr lang="en-US" altLang="zh-CN" b="0" i="1" baseline="-25000" smtClean="0">
                            <a:latin typeface="Cambria Math" panose="02040503050406030204" pitchFamily="18" charset="0"/>
                          </a:rPr>
                          <m:t>2</m:t>
                        </m:r>
                      </m:den>
                    </m:f>
                  </m:oMath>
                </a14:m>
                <a:endParaRPr lang="en-US" altLang="zh-CN" dirty="0"/>
              </a:p>
              <a:p>
                <a:r>
                  <a:rPr lang="zh-CN" altLang="en-US" dirty="0"/>
                  <a:t>当</a:t>
                </a:r>
                <a:r>
                  <a:rPr lang="en-US" altLang="zh-CN" dirty="0"/>
                  <a:t>C</a:t>
                </a:r>
                <a:r>
                  <a:rPr lang="zh-CN" altLang="en-US" dirty="0"/>
                  <a:t>不在线段</a:t>
                </a:r>
                <a:r>
                  <a:rPr lang="en-US" altLang="zh-CN" dirty="0"/>
                  <a:t>AB</a:t>
                </a:r>
                <a:r>
                  <a:rPr lang="zh-CN" altLang="en-US" dirty="0"/>
                  <a:t>之内时</a:t>
                </a:r>
                <a:endParaRPr lang="en-US" altLang="zh-CN" dirty="0"/>
              </a:p>
              <a:p>
                <a:pPr marL="0" indent="0">
                  <a:buNone/>
                </a:pPr>
                <a:r>
                  <a:rPr lang="en-US" altLang="zh-CN" dirty="0"/>
                  <a:t>   </a:t>
                </a:r>
                <a:r>
                  <a:rPr lang="zh-CN" altLang="en-US" dirty="0"/>
                  <a:t>上式依然成立</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941"/>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5340771" y="1402479"/>
            <a:ext cx="6147188" cy="467883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基本操作</a:t>
            </a:r>
          </a:p>
        </p:txBody>
      </p:sp>
      <p:sp>
        <p:nvSpPr>
          <p:cNvPr id="3" name="内容占位符 2"/>
          <p:cNvSpPr>
            <a:spLocks noGrp="1"/>
          </p:cNvSpPr>
          <p:nvPr>
            <p:ph idx="1"/>
          </p:nvPr>
        </p:nvSpPr>
        <p:spPr/>
        <p:txBody>
          <a:bodyPr/>
          <a:lstStyle/>
          <a:p>
            <a:r>
              <a:rPr lang="zh-CN" altLang="en-US" dirty="0"/>
              <a:t>多边形是平面上的由有限线段</a:t>
            </a:r>
            <a:r>
              <a:rPr lang="en-US" altLang="zh-CN" dirty="0"/>
              <a:t>( </a:t>
            </a:r>
            <a:r>
              <a:rPr lang="zh-CN" altLang="en-US" dirty="0"/>
              <a:t>大于</a:t>
            </a:r>
            <a:r>
              <a:rPr lang="en-US" altLang="zh-CN" dirty="0"/>
              <a:t>2 )</a:t>
            </a:r>
            <a:r>
              <a:rPr lang="zh-CN" altLang="en-US" dirty="0"/>
              <a:t>组成，</a:t>
            </a:r>
            <a:endParaRPr lang="en-US" altLang="zh-CN" dirty="0"/>
          </a:p>
          <a:p>
            <a:pPr marL="0" indent="0">
              <a:buNone/>
            </a:pPr>
            <a:r>
              <a:rPr lang="zh-CN" altLang="en-US" dirty="0"/>
              <a:t>   且首尾连接起来的封闭图形</a:t>
            </a:r>
            <a:endParaRPr lang="en-US" altLang="zh-CN" dirty="0"/>
          </a:p>
          <a:p>
            <a:r>
              <a:rPr lang="zh-CN" altLang="en-US" dirty="0"/>
              <a:t>后面所讲的多边形一般指简单多边形</a:t>
            </a:r>
            <a:endParaRPr lang="en-US" altLang="zh-CN" dirty="0"/>
          </a:p>
          <a:p>
            <a:r>
              <a:rPr lang="zh-CN" altLang="en-US" dirty="0"/>
              <a:t>简单多边形即为边不自交的多边形</a:t>
            </a:r>
            <a:endParaRPr lang="en-US" altLang="zh-CN" dirty="0"/>
          </a:p>
          <a:p>
            <a:r>
              <a:rPr lang="zh-CN" altLang="en-US" dirty="0"/>
              <a:t>在二维平面内，多边形的表示方法为记录多边形各点</a:t>
            </a:r>
            <a:endParaRPr lang="en-US" altLang="zh-CN" dirty="0"/>
          </a:p>
          <a:p>
            <a:r>
              <a:rPr lang="zh-CN" altLang="en-US" dirty="0"/>
              <a:t>通常为逆时针方向</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基本操作</a:t>
            </a:r>
          </a:p>
        </p:txBody>
      </p:sp>
      <p:sp>
        <p:nvSpPr>
          <p:cNvPr id="3" name="内容占位符 2"/>
          <p:cNvSpPr>
            <a:spLocks noGrp="1"/>
          </p:cNvSpPr>
          <p:nvPr>
            <p:ph idx="1"/>
          </p:nvPr>
        </p:nvSpPr>
        <p:spPr/>
        <p:txBody>
          <a:bodyPr/>
          <a:lstStyle/>
          <a:p>
            <a:r>
              <a:rPr lang="zh-CN" altLang="en-US" dirty="0"/>
              <a:t>判断点是否在多边形内</a:t>
            </a:r>
            <a:endParaRPr lang="en-US" altLang="zh-CN" dirty="0"/>
          </a:p>
          <a:p>
            <a:r>
              <a:rPr lang="zh-CN" altLang="en-US" dirty="0"/>
              <a:t>有该定点向任意方向引一条射线</a:t>
            </a:r>
            <a:endParaRPr lang="en-US" altLang="zh-CN" dirty="0"/>
          </a:p>
          <a:p>
            <a:r>
              <a:rPr lang="zh-CN" altLang="en-US" dirty="0"/>
              <a:t>若射线与多边形的交点个数为奇数则在多边形内</a:t>
            </a:r>
            <a:endParaRPr lang="en-US" altLang="zh-CN" dirty="0"/>
          </a:p>
          <a:p>
            <a:r>
              <a:rPr lang="zh-CN" altLang="en-US" dirty="0"/>
              <a:t>否则在多边形外</a:t>
            </a:r>
          </a:p>
        </p:txBody>
      </p:sp>
      <p:pic>
        <p:nvPicPr>
          <p:cNvPr id="4" name="图片 3"/>
          <p:cNvPicPr>
            <a:picLocks noChangeAspect="1"/>
          </p:cNvPicPr>
          <p:nvPr/>
        </p:nvPicPr>
        <p:blipFill>
          <a:blip r:embed="rId2"/>
          <a:stretch>
            <a:fillRect/>
          </a:stretch>
        </p:blipFill>
        <p:spPr>
          <a:xfrm>
            <a:off x="4552950" y="3502978"/>
            <a:ext cx="6449159" cy="321786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基本操作</a:t>
            </a:r>
          </a:p>
        </p:txBody>
      </p:sp>
      <p:sp>
        <p:nvSpPr>
          <p:cNvPr id="3" name="内容占位符 2"/>
          <p:cNvSpPr>
            <a:spLocks noGrp="1"/>
          </p:cNvSpPr>
          <p:nvPr>
            <p:ph idx="1"/>
          </p:nvPr>
        </p:nvSpPr>
        <p:spPr/>
        <p:txBody>
          <a:bodyPr/>
          <a:lstStyle/>
          <a:p>
            <a:r>
              <a:rPr lang="zh-CN" altLang="en-US" dirty="0"/>
              <a:t>多边形的面积</a:t>
            </a:r>
            <a:endParaRPr lang="en-US" altLang="zh-CN" dirty="0"/>
          </a:p>
          <a:p>
            <a:r>
              <a:rPr lang="zh-CN" altLang="en-US" dirty="0"/>
              <a:t>可将多边形进行</a:t>
            </a:r>
            <a:r>
              <a:rPr lang="x-none" altLang="zh-CN" dirty="0"/>
              <a:t>三角形</a:t>
            </a:r>
            <a:r>
              <a:rPr lang="zh-CN" altLang="en-US" dirty="0"/>
              <a:t>剖分</a:t>
            </a:r>
            <a:endParaRPr lang="en-US" altLang="zh-CN" dirty="0"/>
          </a:p>
          <a:p>
            <a:r>
              <a:rPr lang="zh-CN" altLang="en-US" dirty="0"/>
              <a:t>各三角形的有向面积之和即为多边形的面积</a:t>
            </a:r>
            <a:endParaRPr lang="en-US" altLang="zh-CN" dirty="0"/>
          </a:p>
          <a:p>
            <a:r>
              <a:rPr lang="zh-CN" altLang="en-US" dirty="0"/>
              <a:t>因为三角剖分的定点可任取，所以通常为原点</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HDU 1115 Lifting the Stone</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题目大意：求多边形的重心</a:t>
                </a:r>
                <a:endParaRPr lang="en-US" altLang="zh-CN" dirty="0"/>
              </a:p>
              <a:p>
                <a:endParaRPr lang="en-US" altLang="zh-CN" dirty="0"/>
              </a:p>
              <a:p>
                <a:r>
                  <a:rPr lang="zh-CN" altLang="en-US" dirty="0"/>
                  <a:t>质点组的重心</a:t>
                </a:r>
                <a:endParaRPr lang="en-US" altLang="zh-CN" dirty="0"/>
              </a:p>
              <a:p>
                <a:r>
                  <a:rPr lang="en-US" altLang="zh-CN" dirty="0"/>
                  <a:t>N </a:t>
                </a:r>
                <a:r>
                  <a:rPr lang="zh-CN" altLang="en-US" dirty="0"/>
                  <a:t>个位置为</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1</m:t>
                        </m:r>
                      </m:sub>
                    </m:sSub>
                    <m:r>
                      <a:rPr lang="en-US" altLang="zh-CN" b="0" i="0"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b="0" i="1" smtClean="0">
                            <a:latin typeface="Cambria Math" panose="02040503050406030204" pitchFamily="18" charset="0"/>
                          </a:rPr>
                          <m:t>2</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b="0" i="1" smtClean="0">
                            <a:latin typeface="Cambria Math" panose="02040503050406030204" pitchFamily="18" charset="0"/>
                          </a:rPr>
                          <m:t>3</m:t>
                        </m:r>
                      </m:sub>
                    </m:sSub>
                    <m:r>
                      <a:rPr lang="en-US" altLang="zh-CN" b="0" i="0" smtClean="0">
                        <a:latin typeface="Cambria Math" panose="02040503050406030204" pitchFamily="18" charset="0"/>
                      </a:rPr>
                      <m:t> </m:t>
                    </m:r>
                  </m:oMath>
                </a14:m>
                <a:r>
                  <a:rPr lang="en-US" altLang="zh-CN" dirty="0"/>
                  <a:t>,… ,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b="0" i="1" smtClean="0">
                            <a:latin typeface="Cambria Math" panose="02040503050406030204" pitchFamily="18" charset="0"/>
                          </a:rPr>
                          <m:t>𝑛</m:t>
                        </m:r>
                      </m:sub>
                    </m:sSub>
                  </m:oMath>
                </a14:m>
                <a:r>
                  <a:rPr lang="en-US" altLang="zh-CN" dirty="0"/>
                  <a:t> </a:t>
                </a:r>
                <a:r>
                  <a:rPr lang="zh-CN" altLang="en-US" dirty="0"/>
                  <a:t>质量为</a:t>
                </a:r>
                <a:endParaRPr lang="en-US" altLang="zh-CN" dirty="0"/>
              </a:p>
              <a:p>
                <a:pPr marL="0" indent="0">
                  <a:buNone/>
                </a:pPr>
                <a:r>
                  <a:rPr lang="en-US" altLang="zh-CN" dirty="0"/>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1</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𝑚</m:t>
                        </m:r>
                      </m:e>
                      <m:sub>
                        <m:r>
                          <a:rPr lang="en-US" altLang="zh-CN" b="0" i="1" smtClean="0">
                            <a:latin typeface="Cambria Math" panose="02040503050406030204" pitchFamily="18" charset="0"/>
                          </a:rPr>
                          <m:t>2</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𝑚</m:t>
                        </m:r>
                      </m:e>
                      <m:sub>
                        <m:r>
                          <a:rPr lang="en-US" altLang="zh-CN" b="0" i="1" smtClean="0">
                            <a:latin typeface="Cambria Math" panose="02040503050406030204" pitchFamily="18" charset="0"/>
                          </a:rPr>
                          <m:t>3</m:t>
                        </m:r>
                      </m:sub>
                    </m:sSub>
                  </m:oMath>
                </a14:m>
                <a:r>
                  <a:rPr lang="en-US" altLang="zh-CN" dirty="0"/>
                  <a:t>, … ,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𝑚</m:t>
                        </m:r>
                      </m:e>
                      <m:sub>
                        <m:r>
                          <a:rPr lang="en-US" altLang="zh-CN" b="0" i="1" smtClean="0">
                            <a:latin typeface="Cambria Math" panose="02040503050406030204" pitchFamily="18" charset="0"/>
                          </a:rPr>
                          <m:t>𝑛</m:t>
                        </m:r>
                      </m:sub>
                    </m:sSub>
                  </m:oMath>
                </a14:m>
                <a:r>
                  <a:rPr lang="en-US" altLang="zh-CN" dirty="0"/>
                  <a:t> </a:t>
                </a:r>
                <a:r>
                  <a:rPr lang="zh-CN" altLang="en-US" dirty="0"/>
                  <a:t>的质点的重心为</a:t>
                </a:r>
                <a:endParaRPr lang="en-US" altLang="zh-CN" dirty="0"/>
              </a:p>
              <a:p>
                <a:pPr marL="0" indent="0">
                  <a:buNone/>
                </a:pPr>
                <a:r>
                  <a:rPr lang="en-US" altLang="zh-CN" dirty="0"/>
                  <a:t>	</a:t>
                </a:r>
                <a14:m>
                  <m:oMath xmlns:m="http://schemas.openxmlformats.org/officeDocument/2006/math">
                    <m:r>
                      <a:rPr lang="en-US" altLang="zh-CN" i="1" dirty="0" smtClean="0">
                        <a:latin typeface="Cambria Math" panose="02040503050406030204" pitchFamily="18" charset="0"/>
                      </a:rPr>
                      <m:t>𝐺</m:t>
                    </m:r>
                    <m:r>
                      <a:rPr lang="en-US" altLang="zh-CN" i="1" dirty="0" smtClean="0">
                        <a:latin typeface="Cambria Math" panose="02040503050406030204" pitchFamily="18" charset="0"/>
                      </a:rPr>
                      <m:t> = </m:t>
                    </m:r>
                    <m:f>
                      <m:fPr>
                        <m:ctrlPr>
                          <a:rPr lang="en-US" altLang="zh-CN" i="1" smtClean="0">
                            <a:latin typeface="Cambria Math" panose="02040503050406030204" pitchFamily="18" charset="0"/>
                          </a:rPr>
                        </m:ctrlPr>
                      </m:fPr>
                      <m:num>
                        <m:nary>
                          <m:naryPr>
                            <m:chr m:val="∑"/>
                            <m:limLoc m:val="subSup"/>
                            <m:ctrlPr>
                              <a:rPr lang="en-US" altLang="zh-CN" i="1" smtClean="0">
                                <a:latin typeface="Cambria Math" panose="02040503050406030204" pitchFamily="18" charset="0"/>
                              </a:rPr>
                            </m:ctrlPr>
                          </m:naryPr>
                          <m:sub>
                            <m:r>
                              <m:rPr>
                                <m:brk m:alnAt="25"/>
                              </m:rP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𝑛</m:t>
                            </m:r>
                          </m:sup>
                          <m:e>
                            <m:sSub>
                              <m:sSubPr>
                                <m:ctrlPr>
                                  <a:rPr lang="en-US" altLang="zh-CN" b="0" i="1" smtClean="0">
                                    <a:latin typeface="Cambria Math" panose="02040503050406030204" pitchFamily="18" charset="0"/>
                                  </a:rPr>
                                </m:ctrlPr>
                              </m:sSub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𝑖</m:t>
                                </m:r>
                              </m:sub>
                            </m:sSub>
                          </m:e>
                        </m:nary>
                      </m:num>
                      <m:den>
                        <m:nary>
                          <m:naryPr>
                            <m:chr m:val="∑"/>
                            <m:limLoc m:val="subSup"/>
                            <m:ctrlPr>
                              <a:rPr lang="en-US" altLang="zh-CN" i="1" smtClean="0">
                                <a:latin typeface="Cambria Math" panose="02040503050406030204" pitchFamily="18" charset="0"/>
                              </a:rPr>
                            </m:ctrlPr>
                          </m:naryPr>
                          <m:sub>
                            <m:r>
                              <m:rPr>
                                <m:brk m:alnAt="25"/>
                              </m:rP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𝑛</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m:t>
                                </m:r>
                              </m:sub>
                            </m:sSub>
                          </m:e>
                        </m:nary>
                      </m:den>
                    </m:f>
                  </m:oMath>
                </a14:m>
                <a:endParaRPr lang="en-US" altLang="zh-CN" dirty="0"/>
              </a:p>
              <a:p>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94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HDU 1115 Lifting the Stone</a:t>
            </a:r>
            <a:endParaRPr lang="zh-CN" altLang="en-US" dirty="0"/>
          </a:p>
        </p:txBody>
      </p:sp>
      <p:sp>
        <p:nvSpPr>
          <p:cNvPr id="3" name="内容占位符 2"/>
          <p:cNvSpPr>
            <a:spLocks noGrp="1"/>
          </p:cNvSpPr>
          <p:nvPr>
            <p:ph idx="1"/>
          </p:nvPr>
        </p:nvSpPr>
        <p:spPr/>
        <p:txBody>
          <a:bodyPr/>
          <a:lstStyle/>
          <a:p>
            <a:r>
              <a:rPr lang="zh-CN" altLang="en-US" dirty="0"/>
              <a:t>三角剖分并算出每个三角形的面积</a:t>
            </a:r>
            <a:endParaRPr lang="en-US" altLang="zh-CN" dirty="0"/>
          </a:p>
          <a:p>
            <a:r>
              <a:rPr lang="zh-CN" altLang="en-US" dirty="0"/>
              <a:t>以面积为质点组的质量计算重心</a:t>
            </a:r>
            <a:endParaRPr lang="en-US" altLang="zh-CN" dirty="0"/>
          </a:p>
          <a:p>
            <a:endParaRPr lang="en-US" altLang="zh-CN" dirty="0"/>
          </a:p>
          <a:p>
            <a:r>
              <a:rPr lang="zh-CN" altLang="en-US" dirty="0"/>
              <a:t>若面积为负数，则其质点的质量为负</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6537960" y="3049905"/>
            <a:ext cx="5429817" cy="3629978"/>
          </a:xfrm>
          <a:prstGeom prst="rect">
            <a:avLst/>
          </a:prstGeom>
        </p:spPr>
      </p:pic>
      <p:sp>
        <p:nvSpPr>
          <p:cNvPr id="2" name="标题 1"/>
          <p:cNvSpPr>
            <a:spLocks noGrp="1"/>
          </p:cNvSpPr>
          <p:nvPr>
            <p:ph type="title"/>
          </p:nvPr>
        </p:nvSpPr>
        <p:spPr/>
        <p:txBody>
          <a:bodyPr/>
          <a:lstStyle/>
          <a:p>
            <a:r>
              <a:rPr lang="zh-CN" altLang="en-US" dirty="0"/>
              <a:t>基本操作</a:t>
            </a:r>
          </a:p>
        </p:txBody>
      </p:sp>
      <p:sp>
        <p:nvSpPr>
          <p:cNvPr id="3" name="内容占位符 2"/>
          <p:cNvSpPr>
            <a:spLocks noGrp="1"/>
          </p:cNvSpPr>
          <p:nvPr>
            <p:ph idx="1"/>
          </p:nvPr>
        </p:nvSpPr>
        <p:spPr/>
        <p:txBody>
          <a:bodyPr/>
          <a:lstStyle/>
          <a:p>
            <a:r>
              <a:rPr lang="zh-CN" altLang="en-US" dirty="0"/>
              <a:t>多边形面积的交</a:t>
            </a:r>
            <a:endParaRPr lang="en-US" altLang="zh-CN" dirty="0"/>
          </a:p>
          <a:p>
            <a:r>
              <a:rPr lang="zh-CN" altLang="en-US" dirty="0"/>
              <a:t>计算多边形</a:t>
            </a:r>
            <a:r>
              <a:rPr lang="en-US" altLang="zh-CN" dirty="0"/>
              <a:t>A</a:t>
            </a:r>
            <a:r>
              <a:rPr lang="zh-CN" altLang="en-US" dirty="0"/>
              <a:t>在多边形</a:t>
            </a:r>
            <a:r>
              <a:rPr lang="en-US" altLang="zh-CN" dirty="0"/>
              <a:t>B</a:t>
            </a:r>
            <a:r>
              <a:rPr lang="zh-CN" altLang="en-US" dirty="0"/>
              <a:t>内部的点    </a:t>
            </a:r>
            <a:r>
              <a:rPr lang="en-US" altLang="zh-CN" dirty="0"/>
              <a:t>——( 1 )</a:t>
            </a:r>
          </a:p>
          <a:p>
            <a:r>
              <a:rPr lang="zh-CN" altLang="en-US" dirty="0"/>
              <a:t>计算</a:t>
            </a:r>
            <a:r>
              <a:rPr lang="en-US" altLang="zh-CN" dirty="0"/>
              <a:t>A</a:t>
            </a:r>
            <a:r>
              <a:rPr lang="zh-CN" altLang="en-US" dirty="0"/>
              <a:t>与</a:t>
            </a:r>
            <a:r>
              <a:rPr lang="en-US" altLang="zh-CN" dirty="0"/>
              <a:t>B</a:t>
            </a:r>
            <a:r>
              <a:rPr lang="zh-CN" altLang="en-US" dirty="0"/>
              <a:t>的交点  　</a:t>
            </a:r>
            <a:r>
              <a:rPr lang="en-US" altLang="zh-CN" dirty="0"/>
              <a:t>——( 2</a:t>
            </a:r>
            <a:r>
              <a:rPr lang="zh-CN" altLang="en-US" dirty="0"/>
              <a:t> </a:t>
            </a:r>
            <a:r>
              <a:rPr lang="en-US" altLang="zh-CN" dirty="0"/>
              <a:t>)</a:t>
            </a:r>
          </a:p>
          <a:p>
            <a:r>
              <a:rPr lang="zh-CN" altLang="en-US" dirty="0"/>
              <a:t>计算</a:t>
            </a:r>
            <a:r>
              <a:rPr lang="en-US" altLang="zh-CN" dirty="0"/>
              <a:t>( 1</a:t>
            </a:r>
            <a:r>
              <a:rPr lang="zh-CN" altLang="en-US" dirty="0"/>
              <a:t> </a:t>
            </a:r>
            <a:r>
              <a:rPr lang="en-US" altLang="zh-CN" dirty="0"/>
              <a:t>) </a:t>
            </a:r>
            <a:r>
              <a:rPr lang="zh-CN" altLang="en-US" dirty="0"/>
              <a:t>与 </a:t>
            </a:r>
            <a:r>
              <a:rPr lang="en-US" altLang="zh-CN" dirty="0"/>
              <a:t>( 2 ) </a:t>
            </a:r>
            <a:r>
              <a:rPr lang="zh-CN" altLang="en-US" dirty="0"/>
              <a:t>形成的多边形的面积</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基本操作</a:t>
            </a:r>
          </a:p>
        </p:txBody>
      </p:sp>
      <p:sp>
        <p:nvSpPr>
          <p:cNvPr id="3" name="内容占位符 2"/>
          <p:cNvSpPr>
            <a:spLocks noGrp="1"/>
          </p:cNvSpPr>
          <p:nvPr>
            <p:ph idx="1"/>
          </p:nvPr>
        </p:nvSpPr>
        <p:spPr/>
        <p:txBody>
          <a:bodyPr/>
          <a:lstStyle/>
          <a:p>
            <a:r>
              <a:rPr lang="zh-CN" altLang="en-US" dirty="0"/>
              <a:t>圆的表示多为点</a:t>
            </a:r>
            <a:r>
              <a:rPr lang="en-US" altLang="zh-CN" dirty="0"/>
              <a:t> + </a:t>
            </a:r>
            <a:r>
              <a:rPr lang="zh-CN" altLang="en-US" dirty="0"/>
              <a:t>半径</a:t>
            </a:r>
            <a:endParaRPr lang="en-US" altLang="zh-CN" dirty="0"/>
          </a:p>
          <a:p>
            <a:r>
              <a:rPr lang="zh-CN" altLang="en-US" dirty="0"/>
              <a:t>根据点积可求出直线与圆的交点</a:t>
            </a:r>
            <a:endParaRPr lang="en-US" altLang="zh-CN" dirty="0"/>
          </a:p>
          <a:p>
            <a:r>
              <a:rPr lang="zh-CN" altLang="en-US" dirty="0"/>
              <a:t>根据两圆心与交点形成的三角形可求出圆与圆的交点</a:t>
            </a:r>
          </a:p>
        </p:txBody>
      </p:sp>
      <p:pic>
        <p:nvPicPr>
          <p:cNvPr id="4" name="图片 3"/>
          <p:cNvPicPr>
            <a:picLocks noChangeAspect="1"/>
          </p:cNvPicPr>
          <p:nvPr/>
        </p:nvPicPr>
        <p:blipFill>
          <a:blip r:embed="rId2"/>
          <a:stretch>
            <a:fillRect/>
          </a:stretch>
        </p:blipFill>
        <p:spPr>
          <a:xfrm>
            <a:off x="977265" y="3364230"/>
            <a:ext cx="4407475" cy="2812733"/>
          </a:xfrm>
          <a:prstGeom prst="rect">
            <a:avLst/>
          </a:prstGeom>
        </p:spPr>
      </p:pic>
      <p:pic>
        <p:nvPicPr>
          <p:cNvPr id="5" name="图片 4"/>
          <p:cNvPicPr>
            <a:picLocks noChangeAspect="1"/>
          </p:cNvPicPr>
          <p:nvPr/>
        </p:nvPicPr>
        <p:blipFill>
          <a:blip r:embed="rId3"/>
          <a:stretch>
            <a:fillRect/>
          </a:stretch>
        </p:blipFill>
        <p:spPr>
          <a:xfrm>
            <a:off x="5625020" y="3364230"/>
            <a:ext cx="5488499" cy="31889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基本操作</a:t>
            </a:r>
          </a:p>
        </p:txBody>
      </p:sp>
      <p:sp>
        <p:nvSpPr>
          <p:cNvPr id="3" name="内容占位符 2"/>
          <p:cNvSpPr>
            <a:spLocks noGrp="1"/>
          </p:cNvSpPr>
          <p:nvPr>
            <p:ph idx="1"/>
          </p:nvPr>
        </p:nvSpPr>
        <p:spPr/>
        <p:txBody>
          <a:bodyPr/>
          <a:lstStyle/>
          <a:p>
            <a:r>
              <a:rPr lang="zh-CN" altLang="en-US" dirty="0"/>
              <a:t>圆与圆的并？</a:t>
            </a:r>
            <a:endParaRPr lang="en-US" altLang="zh-CN" dirty="0"/>
          </a:p>
          <a:p>
            <a:r>
              <a:rPr lang="zh-CN" altLang="en-US" dirty="0"/>
              <a:t>叠加有向面积的并多边形</a:t>
            </a:r>
            <a:endParaRPr lang="en-US" altLang="zh-CN" dirty="0"/>
          </a:p>
          <a:p>
            <a:r>
              <a:rPr lang="zh-CN" altLang="en-US" dirty="0"/>
              <a:t>圆与多边形的并？</a:t>
            </a:r>
            <a:endParaRPr lang="en-US" altLang="zh-CN" dirty="0"/>
          </a:p>
          <a:p>
            <a:r>
              <a:rPr lang="zh-CN" altLang="en-US" dirty="0"/>
              <a:t>三角</a:t>
            </a:r>
            <a:r>
              <a:rPr lang="x-none" altLang="zh-CN" dirty="0"/>
              <a:t>形</a:t>
            </a:r>
            <a:r>
              <a:rPr lang="zh-CN" altLang="en-US" dirty="0"/>
              <a:t>剖分并分类讨论</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POJ 2824 Bohemian Rhapsody</a:t>
            </a:r>
            <a:endParaRPr lang="zh-CN" altLang="en-US" dirty="0"/>
          </a:p>
        </p:txBody>
      </p:sp>
      <p:sp>
        <p:nvSpPr>
          <p:cNvPr id="3" name="内容占位符 2"/>
          <p:cNvSpPr>
            <a:spLocks noGrp="1"/>
          </p:cNvSpPr>
          <p:nvPr>
            <p:ph idx="1"/>
          </p:nvPr>
        </p:nvSpPr>
        <p:spPr/>
        <p:txBody>
          <a:bodyPr/>
          <a:lstStyle/>
          <a:p>
            <a:r>
              <a:rPr lang="zh-CN" altLang="en-US" dirty="0"/>
              <a:t>题目大意：给定一个单位圆和若干个向量，每个向量都对应</a:t>
            </a:r>
            <a:endParaRPr lang="en-US" altLang="zh-CN" dirty="0"/>
          </a:p>
          <a:p>
            <a:pPr marL="0" indent="0">
              <a:buNone/>
            </a:pPr>
            <a:r>
              <a:rPr lang="zh-CN" altLang="en-US" dirty="0"/>
              <a:t>   一笔钱，游戏时先在圆中随机选择一个点，然后按顺序将点</a:t>
            </a:r>
            <a:endParaRPr lang="en-US" altLang="zh-CN" dirty="0"/>
          </a:p>
          <a:p>
            <a:pPr marL="0" indent="0">
              <a:buNone/>
            </a:pPr>
            <a:r>
              <a:rPr lang="en-US" altLang="zh-CN" dirty="0"/>
              <a:t>   </a:t>
            </a:r>
            <a:r>
              <a:rPr lang="zh-CN" altLang="en-US" dirty="0"/>
              <a:t>按向量平移，若此点仍在圆内，则可获得该笔钱，否则游戏</a:t>
            </a:r>
            <a:endParaRPr lang="en-US" altLang="zh-CN" dirty="0"/>
          </a:p>
          <a:p>
            <a:pPr marL="0" indent="0">
              <a:buNone/>
            </a:pPr>
            <a:r>
              <a:rPr lang="en-US" altLang="zh-CN" dirty="0"/>
              <a:t>   </a:t>
            </a:r>
            <a:r>
              <a:rPr lang="zh-CN" altLang="en-US" dirty="0"/>
              <a:t>结束，平移后点不移回，求期望获得的金钱数</a:t>
            </a:r>
            <a:endParaRPr lang="en-US" altLang="zh-CN" dirty="0"/>
          </a:p>
          <a:p>
            <a:endParaRPr lang="en-US" altLang="zh-CN" dirty="0"/>
          </a:p>
          <a:p>
            <a:r>
              <a:rPr lang="en-US" altLang="zh-CN" dirty="0"/>
              <a:t>N &lt;= 1000</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POJ 2824 Bohemian Rhapsody</a:t>
            </a:r>
            <a:endParaRPr lang="zh-CN" altLang="en-US" dirty="0"/>
          </a:p>
        </p:txBody>
      </p:sp>
      <p:sp>
        <p:nvSpPr>
          <p:cNvPr id="3" name="内容占位符 2"/>
          <p:cNvSpPr>
            <a:spLocks noGrp="1"/>
          </p:cNvSpPr>
          <p:nvPr>
            <p:ph idx="1"/>
          </p:nvPr>
        </p:nvSpPr>
        <p:spPr/>
        <p:txBody>
          <a:bodyPr/>
          <a:lstStyle/>
          <a:p>
            <a:r>
              <a:rPr lang="zh-CN" altLang="en-US" dirty="0"/>
              <a:t>对于每一个向量，我们将单位圆沿其方向平移，并与</a:t>
            </a:r>
            <a:endParaRPr lang="en-US" altLang="zh-CN" dirty="0"/>
          </a:p>
          <a:p>
            <a:pPr marL="0" indent="0">
              <a:buNone/>
            </a:pPr>
            <a:r>
              <a:rPr lang="zh-CN" altLang="en-US" dirty="0"/>
              <a:t>   之前的圆求交，所得面积即为获得该向量的钱的概率</a:t>
            </a:r>
            <a:endParaRPr lang="en-US" altLang="zh-CN" dirty="0"/>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凸包</a:t>
            </a:r>
          </a:p>
        </p:txBody>
      </p:sp>
      <p:sp>
        <p:nvSpPr>
          <p:cNvPr id="3" name="内容占位符 2"/>
          <p:cNvSpPr>
            <a:spLocks noGrp="1"/>
          </p:cNvSpPr>
          <p:nvPr>
            <p:ph idx="1"/>
          </p:nvPr>
        </p:nvSpPr>
        <p:spPr/>
        <p:txBody>
          <a:bodyPr/>
          <a:lstStyle/>
          <a:p>
            <a:r>
              <a:rPr lang="zh-CN" altLang="en-US" dirty="0"/>
              <a:t>凸包举例</a:t>
            </a:r>
            <a:endParaRPr lang="en-US" altLang="zh-CN" dirty="0"/>
          </a:p>
          <a:p>
            <a:r>
              <a:rPr lang="zh-CN" altLang="en-US" dirty="0"/>
              <a:t>空集，直线，凸多边形，圆</a:t>
            </a:r>
            <a:endParaRPr lang="en-US" altLang="zh-CN" dirty="0"/>
          </a:p>
          <a:p>
            <a:r>
              <a:rPr lang="zh-CN" altLang="en-US" dirty="0"/>
              <a:t>若干种合金，含有</a:t>
            </a:r>
            <a:r>
              <a:rPr lang="en-US" altLang="zh-CN" dirty="0"/>
              <a:t>A</a:t>
            </a:r>
            <a:r>
              <a:rPr lang="zh-CN" altLang="en-US" dirty="0"/>
              <a:t>原料和</a:t>
            </a:r>
            <a:r>
              <a:rPr lang="en-US" altLang="zh-CN" dirty="0"/>
              <a:t>B</a:t>
            </a:r>
            <a:r>
              <a:rPr lang="zh-CN" altLang="en-US" dirty="0"/>
              <a:t>原料成分不同，进行熔合</a:t>
            </a:r>
            <a:endParaRPr lang="en-US" altLang="zh-CN" dirty="0"/>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凸包</a:t>
            </a:r>
          </a:p>
        </p:txBody>
      </p:sp>
      <p:sp>
        <p:nvSpPr>
          <p:cNvPr id="3" name="内容占位符 2"/>
          <p:cNvSpPr>
            <a:spLocks noGrp="1"/>
          </p:cNvSpPr>
          <p:nvPr>
            <p:ph idx="1"/>
          </p:nvPr>
        </p:nvSpPr>
        <p:spPr/>
        <p:txBody>
          <a:bodyPr/>
          <a:lstStyle/>
          <a:p>
            <a:r>
              <a:rPr lang="en-US" altLang="zh-CN" dirty="0"/>
              <a:t>Graham</a:t>
            </a:r>
            <a:r>
              <a:rPr lang="zh-CN" altLang="en-US" dirty="0"/>
              <a:t>扫描</a:t>
            </a:r>
            <a:r>
              <a:rPr lang="en-US" altLang="zh-CN" dirty="0"/>
              <a:t>( </a:t>
            </a:r>
            <a:r>
              <a:rPr lang="zh-CN" altLang="en-US" dirty="0"/>
              <a:t>求凸包 </a:t>
            </a:r>
            <a:r>
              <a:rPr lang="en-US" altLang="zh-CN" dirty="0"/>
              <a:t>)</a:t>
            </a:r>
          </a:p>
          <a:p>
            <a:r>
              <a:rPr lang="en-US" altLang="zh-CN" dirty="0"/>
              <a:t>1.</a:t>
            </a:r>
            <a:r>
              <a:rPr lang="zh-CN" altLang="en-US" dirty="0"/>
              <a:t>按叉积排序</a:t>
            </a:r>
            <a:endParaRPr lang="en-US" altLang="zh-CN" dirty="0"/>
          </a:p>
          <a:p>
            <a:r>
              <a:rPr lang="en-US" altLang="zh-CN" dirty="0"/>
              <a:t>2.</a:t>
            </a:r>
            <a:r>
              <a:rPr lang="zh-CN" altLang="en-US" dirty="0"/>
              <a:t>将第一和第二个点加入栈</a:t>
            </a:r>
            <a:endParaRPr lang="en-US" altLang="zh-CN" dirty="0"/>
          </a:p>
          <a:p>
            <a:r>
              <a:rPr lang="en-US" altLang="zh-CN" dirty="0"/>
              <a:t>3.</a:t>
            </a:r>
            <a:r>
              <a:rPr lang="zh-CN" altLang="en-US" dirty="0"/>
              <a:t>对于点</a:t>
            </a:r>
            <a:r>
              <a:rPr lang="en-US" altLang="zh-CN" dirty="0"/>
              <a:t>P</a:t>
            </a:r>
            <a:r>
              <a:rPr lang="zh-CN" altLang="en-US" dirty="0"/>
              <a:t>看栈顶两个点对于点</a:t>
            </a:r>
            <a:r>
              <a:rPr lang="en-US" altLang="zh-CN" dirty="0"/>
              <a:t>P</a:t>
            </a:r>
            <a:r>
              <a:rPr lang="zh-CN" altLang="en-US" dirty="0"/>
              <a:t>是否满足凸性</a:t>
            </a:r>
            <a:endParaRPr lang="en-US" altLang="zh-CN" dirty="0"/>
          </a:p>
          <a:p>
            <a:pPr marL="0" indent="0">
              <a:buNone/>
            </a:pPr>
            <a:r>
              <a:rPr lang="zh-CN" altLang="en-US" dirty="0"/>
              <a:t>      不满足则退栈</a:t>
            </a:r>
            <a:endParaRPr lang="en-US" altLang="zh-CN" dirty="0"/>
          </a:p>
          <a:p>
            <a:r>
              <a:rPr lang="en-US" altLang="zh-CN" dirty="0"/>
              <a:t>4.</a:t>
            </a:r>
            <a:r>
              <a:rPr lang="zh-CN" altLang="en-US" dirty="0"/>
              <a:t>将</a:t>
            </a:r>
            <a:r>
              <a:rPr lang="en-US" altLang="zh-CN" dirty="0"/>
              <a:t>P</a:t>
            </a:r>
            <a:r>
              <a:rPr lang="zh-CN" altLang="en-US" dirty="0"/>
              <a:t>加入栈</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708785" y="1486694"/>
            <a:ext cx="9278294" cy="5029200"/>
          </a:xfrm>
          <a:prstGeom prst="rect">
            <a:avLst/>
          </a:prstGeom>
        </p:spPr>
      </p:pic>
      <p:sp>
        <p:nvSpPr>
          <p:cNvPr id="2" name="标题 1"/>
          <p:cNvSpPr>
            <a:spLocks noGrp="1"/>
          </p:cNvSpPr>
          <p:nvPr>
            <p:ph type="title"/>
          </p:nvPr>
        </p:nvSpPr>
        <p:spPr/>
        <p:txBody>
          <a:bodyPr/>
          <a:lstStyle/>
          <a:p>
            <a:r>
              <a:rPr lang="zh-CN" altLang="en-US" dirty="0"/>
              <a:t>凸包</a:t>
            </a:r>
          </a:p>
        </p:txBody>
      </p:sp>
      <p:sp>
        <p:nvSpPr>
          <p:cNvPr id="3" name="内容占位符 2"/>
          <p:cNvSpPr>
            <a:spLocks noGrp="1"/>
          </p:cNvSpPr>
          <p:nvPr>
            <p:ph idx="1"/>
          </p:nvPr>
        </p:nvSpPr>
        <p:spPr/>
        <p:txBody>
          <a:bodyPr/>
          <a:lstStyle/>
          <a:p>
            <a:r>
              <a:rPr lang="en-US" altLang="zh-CN" dirty="0"/>
              <a:t>1.</a:t>
            </a:r>
            <a:r>
              <a:rPr lang="zh-CN" altLang="en-US" dirty="0"/>
              <a:t>按叉积排序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708785" y="1486694"/>
            <a:ext cx="9278294" cy="5029200"/>
          </a:xfrm>
          <a:prstGeom prst="rect">
            <a:avLst/>
          </a:prstGeom>
        </p:spPr>
      </p:pic>
      <p:sp>
        <p:nvSpPr>
          <p:cNvPr id="2" name="标题 1"/>
          <p:cNvSpPr>
            <a:spLocks noGrp="1"/>
          </p:cNvSpPr>
          <p:nvPr>
            <p:ph type="title"/>
          </p:nvPr>
        </p:nvSpPr>
        <p:spPr/>
        <p:txBody>
          <a:bodyPr/>
          <a:lstStyle/>
          <a:p>
            <a:r>
              <a:rPr lang="zh-CN" altLang="en-US" dirty="0"/>
              <a:t>凸包</a:t>
            </a:r>
          </a:p>
        </p:txBody>
      </p:sp>
      <p:sp>
        <p:nvSpPr>
          <p:cNvPr id="3" name="内容占位符 2"/>
          <p:cNvSpPr>
            <a:spLocks noGrp="1"/>
          </p:cNvSpPr>
          <p:nvPr>
            <p:ph idx="1"/>
          </p:nvPr>
        </p:nvSpPr>
        <p:spPr/>
        <p:txBody>
          <a:bodyPr/>
          <a:lstStyle/>
          <a:p>
            <a:r>
              <a:rPr lang="en-US" altLang="zh-CN" dirty="0"/>
              <a:t>2.</a:t>
            </a:r>
            <a:r>
              <a:rPr lang="zh-CN" altLang="en-US" dirty="0"/>
              <a:t>将</a:t>
            </a:r>
            <a:r>
              <a:rPr lang="en-US" altLang="zh-CN" dirty="0"/>
              <a:t>A, B</a:t>
            </a:r>
            <a:r>
              <a:rPr lang="zh-CN" altLang="en-US" dirty="0"/>
              <a:t>加入栈</a:t>
            </a:r>
          </a:p>
        </p:txBody>
      </p:sp>
      <p:sp>
        <p:nvSpPr>
          <p:cNvPr id="8" name="矩形 7"/>
          <p:cNvSpPr/>
          <p:nvPr/>
        </p:nvSpPr>
        <p:spPr>
          <a:xfrm rot="19555970">
            <a:off x="3750926" y="3684958"/>
            <a:ext cx="60346" cy="14526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4147820" y="49720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3309620" y="37401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708785" y="1486694"/>
            <a:ext cx="9278294" cy="5029200"/>
          </a:xfrm>
          <a:prstGeom prst="rect">
            <a:avLst/>
          </a:prstGeom>
        </p:spPr>
      </p:pic>
      <p:sp>
        <p:nvSpPr>
          <p:cNvPr id="2" name="标题 1"/>
          <p:cNvSpPr>
            <a:spLocks noGrp="1"/>
          </p:cNvSpPr>
          <p:nvPr>
            <p:ph type="title"/>
          </p:nvPr>
        </p:nvSpPr>
        <p:spPr/>
        <p:txBody>
          <a:bodyPr/>
          <a:lstStyle/>
          <a:p>
            <a:r>
              <a:rPr lang="zh-CN" altLang="en-US" dirty="0"/>
              <a:t>凸包</a:t>
            </a:r>
          </a:p>
        </p:txBody>
      </p:sp>
      <p:sp>
        <p:nvSpPr>
          <p:cNvPr id="3" name="内容占位符 2"/>
          <p:cNvSpPr>
            <a:spLocks noGrp="1"/>
          </p:cNvSpPr>
          <p:nvPr>
            <p:ph idx="1"/>
          </p:nvPr>
        </p:nvSpPr>
        <p:spPr/>
        <p:txBody>
          <a:bodyPr/>
          <a:lstStyle/>
          <a:p>
            <a:r>
              <a:rPr lang="en-US" altLang="zh-CN" dirty="0"/>
              <a:t>3.</a:t>
            </a:r>
            <a:r>
              <a:rPr lang="zh-CN" altLang="en-US" dirty="0"/>
              <a:t>将</a:t>
            </a:r>
            <a:r>
              <a:rPr lang="en-US" altLang="zh-CN" dirty="0"/>
              <a:t>C</a:t>
            </a:r>
            <a:r>
              <a:rPr lang="zh-CN" altLang="en-US" dirty="0"/>
              <a:t>加入栈</a:t>
            </a:r>
            <a:endParaRPr lang="en-US" altLang="zh-CN" dirty="0"/>
          </a:p>
          <a:p>
            <a:pPr marL="0" indent="0">
              <a:buNone/>
            </a:pPr>
            <a:r>
              <a:rPr lang="zh-CN" altLang="en-US" dirty="0"/>
              <a:t>      检查</a:t>
            </a:r>
            <a:r>
              <a:rPr lang="en-US" altLang="zh-CN" dirty="0"/>
              <a:t>A, B</a:t>
            </a:r>
          </a:p>
          <a:p>
            <a:pPr marL="0" indent="0">
              <a:buNone/>
            </a:pPr>
            <a:r>
              <a:rPr lang="zh-CN" altLang="en-US" dirty="0"/>
              <a:t>      满足凸性</a:t>
            </a:r>
          </a:p>
        </p:txBody>
      </p:sp>
      <p:sp>
        <p:nvSpPr>
          <p:cNvPr id="8" name="矩形 7"/>
          <p:cNvSpPr/>
          <p:nvPr/>
        </p:nvSpPr>
        <p:spPr>
          <a:xfrm rot="19555970">
            <a:off x="3750926" y="3684958"/>
            <a:ext cx="60346" cy="14526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rot="3027626" flipH="1">
            <a:off x="4624446" y="4042670"/>
            <a:ext cx="45719" cy="118089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4147820" y="49720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5033366" y="4159247"/>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3309620" y="37401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rot="3027626" flipH="1">
            <a:off x="4618683" y="4041673"/>
            <a:ext cx="45719" cy="1180897"/>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rot="3027626" flipH="1">
            <a:off x="4629811" y="4023013"/>
            <a:ext cx="45719" cy="1180897"/>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rot="3027626" flipH="1">
            <a:off x="4620280" y="4032345"/>
            <a:ext cx="45719" cy="1180897"/>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2"/>
          <a:stretch>
            <a:fillRect/>
          </a:stretch>
        </p:blipFill>
        <p:spPr>
          <a:xfrm>
            <a:off x="1708785" y="1486694"/>
            <a:ext cx="9278294" cy="5029200"/>
          </a:xfrm>
          <a:prstGeom prst="rect">
            <a:avLst/>
          </a:prstGeom>
        </p:spPr>
      </p:pic>
      <p:sp>
        <p:nvSpPr>
          <p:cNvPr id="2" name="标题 1"/>
          <p:cNvSpPr>
            <a:spLocks noGrp="1"/>
          </p:cNvSpPr>
          <p:nvPr>
            <p:ph type="title"/>
          </p:nvPr>
        </p:nvSpPr>
        <p:spPr/>
        <p:txBody>
          <a:bodyPr/>
          <a:lstStyle/>
          <a:p>
            <a:r>
              <a:rPr lang="zh-CN" altLang="en-US" dirty="0"/>
              <a:t>凸包</a:t>
            </a:r>
          </a:p>
        </p:txBody>
      </p:sp>
      <p:sp>
        <p:nvSpPr>
          <p:cNvPr id="3" name="内容占位符 2"/>
          <p:cNvSpPr>
            <a:spLocks noGrp="1"/>
          </p:cNvSpPr>
          <p:nvPr>
            <p:ph idx="1"/>
          </p:nvPr>
        </p:nvSpPr>
        <p:spPr/>
        <p:txBody>
          <a:bodyPr/>
          <a:lstStyle/>
          <a:p>
            <a:r>
              <a:rPr lang="en-US" altLang="zh-CN" dirty="0"/>
              <a:t>3.</a:t>
            </a:r>
            <a:r>
              <a:rPr lang="zh-CN" altLang="en-US" dirty="0"/>
              <a:t>将</a:t>
            </a:r>
            <a:r>
              <a:rPr lang="en-US" altLang="zh-CN" dirty="0"/>
              <a:t>D</a:t>
            </a:r>
            <a:r>
              <a:rPr lang="zh-CN" altLang="en-US" dirty="0"/>
              <a:t>加入栈</a:t>
            </a:r>
            <a:endParaRPr lang="en-US" altLang="zh-CN" dirty="0"/>
          </a:p>
          <a:p>
            <a:pPr marL="0" indent="0">
              <a:buNone/>
            </a:pPr>
            <a:r>
              <a:rPr lang="zh-CN" altLang="en-US" dirty="0"/>
              <a:t>      检查</a:t>
            </a:r>
            <a:r>
              <a:rPr lang="en-US" altLang="zh-CN" dirty="0"/>
              <a:t>B, C</a:t>
            </a:r>
          </a:p>
          <a:p>
            <a:pPr marL="0" indent="0">
              <a:buNone/>
            </a:pPr>
            <a:r>
              <a:rPr lang="zh-CN" altLang="en-US" dirty="0"/>
              <a:t>      不满足凸性</a:t>
            </a:r>
            <a:endParaRPr lang="en-US" altLang="zh-CN" dirty="0"/>
          </a:p>
          <a:p>
            <a:pPr marL="0" indent="0">
              <a:buNone/>
            </a:pPr>
            <a:r>
              <a:rPr lang="en-US" altLang="zh-CN" dirty="0"/>
              <a:t>      </a:t>
            </a:r>
            <a:r>
              <a:rPr lang="zh-CN" altLang="en-US" dirty="0"/>
              <a:t>将</a:t>
            </a:r>
            <a:r>
              <a:rPr lang="en-US" altLang="zh-CN" dirty="0"/>
              <a:t>C</a:t>
            </a:r>
            <a:r>
              <a:rPr lang="zh-CN" altLang="en-US" dirty="0"/>
              <a:t>退栈</a:t>
            </a:r>
          </a:p>
        </p:txBody>
      </p:sp>
      <p:sp>
        <p:nvSpPr>
          <p:cNvPr id="8" name="矩形 7"/>
          <p:cNvSpPr/>
          <p:nvPr/>
        </p:nvSpPr>
        <p:spPr>
          <a:xfrm rot="19555970">
            <a:off x="3750926" y="3684958"/>
            <a:ext cx="60346" cy="14526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rot="3027626" flipH="1">
            <a:off x="4625047" y="4034557"/>
            <a:ext cx="45719" cy="118089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rot="3027626" flipH="1">
            <a:off x="4611355" y="4056077"/>
            <a:ext cx="45719" cy="118089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8154689">
            <a:off x="4793300" y="4701360"/>
            <a:ext cx="75612" cy="15448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rot="20839813" flipH="1">
            <a:off x="5273553" y="4180637"/>
            <a:ext cx="45719" cy="178429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4147820" y="49720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5464227" y="5867611"/>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5033366" y="4159247"/>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3309620" y="3735387"/>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500"/>
                                        <p:tgtEl>
                                          <p:spTgt spid="9"/>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down)">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708785" y="1486694"/>
            <a:ext cx="9278294" cy="5029200"/>
          </a:xfrm>
          <a:prstGeom prst="rect">
            <a:avLst/>
          </a:prstGeom>
        </p:spPr>
      </p:pic>
      <p:sp>
        <p:nvSpPr>
          <p:cNvPr id="2" name="标题 1"/>
          <p:cNvSpPr>
            <a:spLocks noGrp="1"/>
          </p:cNvSpPr>
          <p:nvPr>
            <p:ph type="title"/>
          </p:nvPr>
        </p:nvSpPr>
        <p:spPr/>
        <p:txBody>
          <a:bodyPr/>
          <a:lstStyle/>
          <a:p>
            <a:r>
              <a:rPr lang="zh-CN" altLang="en-US" dirty="0"/>
              <a:t>凸包</a:t>
            </a:r>
          </a:p>
        </p:txBody>
      </p:sp>
      <p:sp>
        <p:nvSpPr>
          <p:cNvPr id="3" name="内容占位符 2"/>
          <p:cNvSpPr>
            <a:spLocks noGrp="1"/>
          </p:cNvSpPr>
          <p:nvPr>
            <p:ph idx="1"/>
          </p:nvPr>
        </p:nvSpPr>
        <p:spPr/>
        <p:txBody>
          <a:bodyPr/>
          <a:lstStyle/>
          <a:p>
            <a:r>
              <a:rPr lang="en-US" altLang="zh-CN" dirty="0"/>
              <a:t>3.</a:t>
            </a:r>
            <a:r>
              <a:rPr lang="zh-CN" altLang="en-US" dirty="0"/>
              <a:t>将</a:t>
            </a:r>
            <a:r>
              <a:rPr lang="en-US" altLang="zh-CN" dirty="0"/>
              <a:t>E</a:t>
            </a:r>
            <a:r>
              <a:rPr lang="zh-CN" altLang="en-US" dirty="0"/>
              <a:t>加入栈</a:t>
            </a:r>
            <a:endParaRPr lang="en-US" altLang="zh-CN" dirty="0"/>
          </a:p>
          <a:p>
            <a:pPr marL="0" indent="0">
              <a:buNone/>
            </a:pPr>
            <a:r>
              <a:rPr lang="zh-CN" altLang="en-US" dirty="0"/>
              <a:t>      检查</a:t>
            </a:r>
            <a:r>
              <a:rPr lang="en-US" altLang="zh-CN" dirty="0"/>
              <a:t>B, D</a:t>
            </a:r>
          </a:p>
          <a:p>
            <a:pPr marL="0" indent="0">
              <a:buNone/>
            </a:pPr>
            <a:r>
              <a:rPr lang="zh-CN" altLang="en-US" dirty="0"/>
              <a:t>      满足凸性</a:t>
            </a:r>
          </a:p>
        </p:txBody>
      </p:sp>
      <p:sp>
        <p:nvSpPr>
          <p:cNvPr id="8" name="矩形 7"/>
          <p:cNvSpPr/>
          <p:nvPr/>
        </p:nvSpPr>
        <p:spPr>
          <a:xfrm rot="19555970">
            <a:off x="3750926" y="3684958"/>
            <a:ext cx="60346" cy="14526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8154689">
            <a:off x="4793300" y="4701360"/>
            <a:ext cx="75612" cy="15448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rot="14487488" flipH="1">
            <a:off x="6187047" y="4748318"/>
            <a:ext cx="55819" cy="156072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4147820" y="49720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5464227" y="5867611"/>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6863650" y="5109136"/>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3309620" y="37401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a:blip r:embed="rId2"/>
          <a:stretch>
            <a:fillRect/>
          </a:stretch>
        </p:blipFill>
        <p:spPr>
          <a:xfrm>
            <a:off x="1708785" y="1486694"/>
            <a:ext cx="9278294" cy="5029200"/>
          </a:xfrm>
          <a:prstGeom prst="rect">
            <a:avLst/>
          </a:prstGeom>
        </p:spPr>
      </p:pic>
      <p:sp>
        <p:nvSpPr>
          <p:cNvPr id="2" name="标题 1"/>
          <p:cNvSpPr>
            <a:spLocks noGrp="1"/>
          </p:cNvSpPr>
          <p:nvPr>
            <p:ph type="title"/>
          </p:nvPr>
        </p:nvSpPr>
        <p:spPr/>
        <p:txBody>
          <a:bodyPr/>
          <a:lstStyle/>
          <a:p>
            <a:r>
              <a:rPr lang="zh-CN" altLang="en-US" dirty="0"/>
              <a:t>凸包</a:t>
            </a:r>
          </a:p>
        </p:txBody>
      </p:sp>
      <p:sp>
        <p:nvSpPr>
          <p:cNvPr id="3" name="内容占位符 2"/>
          <p:cNvSpPr>
            <a:spLocks noGrp="1"/>
          </p:cNvSpPr>
          <p:nvPr>
            <p:ph idx="1"/>
          </p:nvPr>
        </p:nvSpPr>
        <p:spPr/>
        <p:txBody>
          <a:bodyPr/>
          <a:lstStyle/>
          <a:p>
            <a:r>
              <a:rPr lang="en-US" altLang="zh-CN" dirty="0"/>
              <a:t>3.</a:t>
            </a:r>
            <a:r>
              <a:rPr lang="zh-CN" altLang="en-US" dirty="0"/>
              <a:t>将</a:t>
            </a:r>
            <a:r>
              <a:rPr lang="en-US" altLang="zh-CN" dirty="0"/>
              <a:t>F</a:t>
            </a:r>
            <a:r>
              <a:rPr lang="zh-CN" altLang="en-US" dirty="0"/>
              <a:t>加入栈</a:t>
            </a:r>
            <a:endParaRPr lang="en-US" altLang="zh-CN" dirty="0"/>
          </a:p>
          <a:p>
            <a:pPr marL="0" indent="0">
              <a:buNone/>
            </a:pPr>
            <a:r>
              <a:rPr lang="zh-CN" altLang="en-US" dirty="0"/>
              <a:t>      检查</a:t>
            </a:r>
            <a:r>
              <a:rPr lang="en-US" altLang="zh-CN" dirty="0"/>
              <a:t>D, E</a:t>
            </a:r>
          </a:p>
          <a:p>
            <a:pPr marL="0" indent="0">
              <a:buNone/>
            </a:pPr>
            <a:r>
              <a:rPr lang="zh-CN" altLang="en-US" dirty="0"/>
              <a:t>      不满足凸性</a:t>
            </a:r>
            <a:endParaRPr lang="en-US" altLang="zh-CN" dirty="0"/>
          </a:p>
          <a:p>
            <a:pPr marL="0" indent="0">
              <a:buNone/>
            </a:pPr>
            <a:r>
              <a:rPr lang="en-US" altLang="zh-CN" dirty="0"/>
              <a:t>      </a:t>
            </a:r>
            <a:r>
              <a:rPr lang="zh-CN" altLang="en-US" dirty="0"/>
              <a:t>将</a:t>
            </a:r>
            <a:r>
              <a:rPr lang="en-US" altLang="zh-CN" dirty="0"/>
              <a:t>E</a:t>
            </a:r>
            <a:r>
              <a:rPr lang="zh-CN" altLang="en-US" dirty="0"/>
              <a:t>退栈</a:t>
            </a:r>
          </a:p>
        </p:txBody>
      </p:sp>
      <p:sp>
        <p:nvSpPr>
          <p:cNvPr id="8" name="矩形 7"/>
          <p:cNvSpPr/>
          <p:nvPr/>
        </p:nvSpPr>
        <p:spPr>
          <a:xfrm rot="19555970">
            <a:off x="3750926" y="3684958"/>
            <a:ext cx="60346" cy="14526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8154689">
            <a:off x="4793300" y="4701360"/>
            <a:ext cx="75612" cy="15448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14487488" flipH="1">
            <a:off x="6187046" y="4748317"/>
            <a:ext cx="55819" cy="156072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rot="14487488" flipH="1">
            <a:off x="6231885" y="4723476"/>
            <a:ext cx="55819" cy="156072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rot="4883784" flipH="1">
            <a:off x="6702767" y="4538014"/>
            <a:ext cx="48750" cy="236512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5464227" y="5867611"/>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4147820" y="49720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3309620" y="37401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rot="17487898" flipH="1">
            <a:off x="7395567" y="4832010"/>
            <a:ext cx="45719" cy="10401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6863650" y="5109136"/>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7853097" y="5487494"/>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up)">
                                      <p:cBhvr>
                                        <p:cTn id="11" dur="500"/>
                                        <p:tgtEl>
                                          <p:spTgt spid="14"/>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up)">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3" grpId="0" animBg="1"/>
      <p:bldP spid="1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708785" y="1486694"/>
            <a:ext cx="9278294" cy="5029200"/>
          </a:xfrm>
          <a:prstGeom prst="rect">
            <a:avLst/>
          </a:prstGeom>
        </p:spPr>
      </p:pic>
      <p:sp>
        <p:nvSpPr>
          <p:cNvPr id="2" name="标题 1"/>
          <p:cNvSpPr>
            <a:spLocks noGrp="1"/>
          </p:cNvSpPr>
          <p:nvPr>
            <p:ph type="title"/>
          </p:nvPr>
        </p:nvSpPr>
        <p:spPr/>
        <p:txBody>
          <a:bodyPr/>
          <a:lstStyle/>
          <a:p>
            <a:r>
              <a:rPr lang="zh-CN" altLang="en-US" dirty="0"/>
              <a:t>凸包</a:t>
            </a:r>
          </a:p>
        </p:txBody>
      </p:sp>
      <p:sp>
        <p:nvSpPr>
          <p:cNvPr id="3" name="内容占位符 2"/>
          <p:cNvSpPr>
            <a:spLocks noGrp="1"/>
          </p:cNvSpPr>
          <p:nvPr>
            <p:ph idx="1"/>
          </p:nvPr>
        </p:nvSpPr>
        <p:spPr/>
        <p:txBody>
          <a:bodyPr/>
          <a:lstStyle/>
          <a:p>
            <a:r>
              <a:rPr lang="en-US" altLang="zh-CN" dirty="0"/>
              <a:t>4.</a:t>
            </a:r>
            <a:r>
              <a:rPr lang="zh-CN" altLang="en-US" dirty="0"/>
              <a:t>依次加入各点</a:t>
            </a:r>
          </a:p>
        </p:txBody>
      </p:sp>
      <p:sp>
        <p:nvSpPr>
          <p:cNvPr id="8" name="矩形 7"/>
          <p:cNvSpPr/>
          <p:nvPr/>
        </p:nvSpPr>
        <p:spPr>
          <a:xfrm rot="19555970">
            <a:off x="3750926" y="3684958"/>
            <a:ext cx="60346" cy="14526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8154689">
            <a:off x="4793300" y="4701360"/>
            <a:ext cx="75612" cy="15448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rot="4883784" flipH="1">
            <a:off x="6702767" y="4538014"/>
            <a:ext cx="48750" cy="236512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5464227" y="5867611"/>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4147820" y="49720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4079403" flipH="1">
            <a:off x="8712200" y="4294785"/>
            <a:ext cx="45719" cy="178283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7853097" y="5487494"/>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rot="18972458" flipH="1">
            <a:off x="8760748" y="2971654"/>
            <a:ext cx="45719" cy="22065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9519911" y="4799355"/>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rot="18430290" flipH="1">
            <a:off x="7016403" y="1377590"/>
            <a:ext cx="45719" cy="232278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7953427" y="3210963"/>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rot="3863705" flipH="1">
            <a:off x="5384906" y="1421100"/>
            <a:ext cx="45719" cy="14430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6024768" y="1768363"/>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rot="2764621" flipH="1">
            <a:off x="4031469" y="2184211"/>
            <a:ext cx="45719" cy="18799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4697059" y="2397997"/>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3309620" y="37401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down)">
                                      <p:cBhvr>
                                        <p:cTn id="11" dur="500"/>
                                        <p:tgtEl>
                                          <p:spTgt spid="20"/>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down)">
                                      <p:cBhvr>
                                        <p:cTn id="15" dur="500"/>
                                        <p:tgtEl>
                                          <p:spTgt spid="24"/>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up)">
                                      <p:cBhvr>
                                        <p:cTn id="19" dur="500"/>
                                        <p:tgtEl>
                                          <p:spTgt spid="26"/>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wipe(up)">
                                      <p:cBhvr>
                                        <p:cTn id="2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4" grpId="0" animBg="1"/>
      <p:bldP spid="26" grpId="0" animBg="1"/>
      <p:bldP spid="2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CodeForces</a:t>
            </a:r>
            <a:r>
              <a:rPr lang="en-US" altLang="zh-CN" dirty="0"/>
              <a:t> 536C</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题目大意：</a:t>
                </a:r>
                <a:r>
                  <a:rPr lang="en-US" altLang="zh-CN" dirty="0"/>
                  <a:t>n </a:t>
                </a:r>
                <a:r>
                  <a:rPr lang="zh-CN" altLang="en-US" dirty="0"/>
                  <a:t>个人比赛，要游泳</a:t>
                </a:r>
                <a:r>
                  <a:rPr lang="en-US" altLang="zh-CN" dirty="0"/>
                  <a:t>S m</a:t>
                </a:r>
                <a:r>
                  <a:rPr lang="zh-CN" altLang="en-US" dirty="0"/>
                  <a:t>，跑步</a:t>
                </a:r>
                <a:r>
                  <a:rPr lang="en-US" altLang="zh-CN" dirty="0"/>
                  <a:t>R m( S, R </a:t>
                </a:r>
                <a:r>
                  <a:rPr lang="zh-CN" altLang="en-US" dirty="0"/>
                  <a:t>未知 </a:t>
                </a:r>
                <a:r>
                  <a:rPr lang="en-US" altLang="zh-CN" dirty="0"/>
                  <a:t>)</a:t>
                </a:r>
                <a:r>
                  <a:rPr lang="zh-CN" altLang="en-US" dirty="0"/>
                  <a:t>，</a:t>
                </a:r>
                <a:endParaRPr lang="en-US" altLang="zh-CN" dirty="0"/>
              </a:p>
              <a:p>
                <a:pPr marL="0" indent="0">
                  <a:buNone/>
                </a:pPr>
                <a:r>
                  <a:rPr lang="zh-CN" altLang="en-US" dirty="0"/>
                  <a:t>   已知每个人的</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𝑠</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b="0" i="1" smtClean="0">
                            <a:latin typeface="Cambria Math" panose="02040503050406030204" pitchFamily="18" charset="0"/>
                          </a:rPr>
                          <m:t>𝑟</m:t>
                        </m:r>
                      </m:sub>
                    </m:sSub>
                  </m:oMath>
                </a14:m>
                <a:r>
                  <a:rPr lang="zh-CN" altLang="en-US" dirty="0"/>
                  <a:t>，求所有可能取胜的人</a:t>
                </a:r>
                <a:endParaRPr lang="en-US" altLang="zh-CN" dirty="0"/>
              </a:p>
              <a:p>
                <a:endParaRPr lang="en-US" altLang="zh-CN" dirty="0"/>
              </a:p>
              <a:p>
                <a:r>
                  <a:rPr lang="en-US" altLang="zh-CN" dirty="0"/>
                  <a:t>N &lt;= </a:t>
                </a:r>
                <a14:m>
                  <m:oMath xmlns:m="http://schemas.openxmlformats.org/officeDocument/2006/math">
                    <m:r>
                      <a:rPr lang="en-US" altLang="zh-CN" i="1" dirty="0" smtClean="0">
                        <a:latin typeface="Cambria Math" panose="02040503050406030204" pitchFamily="18" charset="0"/>
                      </a:rPr>
                      <m:t>2 ∗ 10</m:t>
                    </m:r>
                    <m:r>
                      <a:rPr lang="en-US" altLang="zh-CN" i="1" baseline="30000" dirty="0" smtClean="0">
                        <a:latin typeface="Cambria Math" panose="02040503050406030204" pitchFamily="18" charset="0"/>
                      </a:rPr>
                      <m:t>5</m:t>
                    </m:r>
                  </m:oMath>
                </a14:m>
                <a:endParaRPr lang="zh-CN" altLang="en-US" baseline="300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94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CodeForces</a:t>
            </a:r>
            <a:r>
              <a:rPr lang="en-US" altLang="zh-CN" dirty="0"/>
              <a:t> 536C</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对于每个人都有</a:t>
                </a:r>
                <a:r>
                  <a:rPr lang="en-US" altLang="zh-CN" dirty="0"/>
                  <a:t> </a:t>
                </a:r>
                <a14:m>
                  <m:oMath xmlns:m="http://schemas.openxmlformats.org/officeDocument/2006/math">
                    <m:r>
                      <a:rPr lang="en-US" altLang="zh-CN" i="1" dirty="0" smtClean="0">
                        <a:latin typeface="Cambria Math" panose="02040503050406030204" pitchFamily="18" charset="0"/>
                      </a:rPr>
                      <m:t>𝑇</m:t>
                    </m:r>
                    <m:r>
                      <a:rPr lang="en-US" altLang="zh-CN" i="1" dirty="0" smtClean="0">
                        <a:latin typeface="Cambria Math" panose="02040503050406030204" pitchFamily="18" charset="0"/>
                      </a:rPr>
                      <m:t> = </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𝑆</m:t>
                        </m:r>
                      </m:num>
                      <m:den>
                        <m:r>
                          <a:rPr lang="en-US" altLang="zh-CN" b="0" i="1" dirty="0" smtClean="0">
                            <a:latin typeface="Cambria Math" panose="02040503050406030204" pitchFamily="18" charset="0"/>
                          </a:rPr>
                          <m:t>𝑉</m:t>
                        </m:r>
                        <m:r>
                          <a:rPr lang="en-US" altLang="zh-CN" b="0" i="1" baseline="-25000" dirty="0" smtClean="0">
                            <a:latin typeface="Cambria Math" panose="02040503050406030204" pitchFamily="18" charset="0"/>
                          </a:rPr>
                          <m:t>𝑠</m:t>
                        </m:r>
                      </m:den>
                    </m:f>
                  </m:oMath>
                </a14:m>
                <a:r>
                  <a:rPr lang="zh-CN" altLang="en-US" baseline="-25000" dirty="0"/>
                  <a:t> </a:t>
                </a:r>
                <a:r>
                  <a:rPr lang="en-US" altLang="zh-CN" dirty="0"/>
                  <a:t>+</a:t>
                </a:r>
                <a14:m>
                  <m:oMath xmlns:m="http://schemas.openxmlformats.org/officeDocument/2006/math">
                    <m:f>
                      <m:fPr>
                        <m:ctrlPr>
                          <a:rPr lang="en-US" altLang="zh-CN" i="1" dirty="0" smtClean="0">
                            <a:latin typeface="Cambria Math" panose="02040503050406030204" pitchFamily="18" charset="0"/>
                          </a:rPr>
                        </m:ctrlPr>
                      </m:fPr>
                      <m:num>
                        <m:r>
                          <a:rPr lang="en-US" altLang="zh-CN" b="0" i="1" dirty="0" smtClean="0">
                            <a:latin typeface="Cambria Math" panose="02040503050406030204" pitchFamily="18" charset="0"/>
                          </a:rPr>
                          <m:t>𝑅</m:t>
                        </m:r>
                      </m:num>
                      <m:den>
                        <m:r>
                          <a:rPr lang="en-US" altLang="zh-CN" b="0" i="1" dirty="0" smtClean="0">
                            <a:latin typeface="Cambria Math" panose="02040503050406030204" pitchFamily="18" charset="0"/>
                          </a:rPr>
                          <m:t>𝑉</m:t>
                        </m:r>
                        <m:r>
                          <a:rPr lang="en-US" altLang="zh-CN" b="0" i="1" baseline="-25000" dirty="0" smtClean="0">
                            <a:latin typeface="Cambria Math" panose="02040503050406030204" pitchFamily="18" charset="0"/>
                          </a:rPr>
                          <m:t>𝑟</m:t>
                        </m:r>
                      </m:den>
                    </m:f>
                  </m:oMath>
                </a14:m>
                <a:endParaRPr lang="en-US" altLang="zh-CN" dirty="0"/>
              </a:p>
              <a:p>
                <a:r>
                  <a:rPr lang="zh-CN" altLang="en-US" dirty="0"/>
                  <a:t>可以看作是</a:t>
                </a:r>
                <a:r>
                  <a:rPr lang="en-US" altLang="zh-CN" dirty="0"/>
                  <a:t>( S, R ) </a:t>
                </a:r>
                <a:r>
                  <a:rPr lang="zh-CN" altLang="en-US" dirty="0"/>
                  <a:t>与 </a:t>
                </a:r>
                <a:r>
                  <a:rPr lang="en-US" altLang="zh-CN" dirty="0"/>
                  <a:t>( </a:t>
                </a:r>
                <a14:m>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𝑉</m:t>
                        </m:r>
                        <m:r>
                          <a:rPr lang="en-US" altLang="zh-CN" b="0" i="1" baseline="-25000" smtClean="0">
                            <a:latin typeface="Cambria Math" panose="02040503050406030204" pitchFamily="18" charset="0"/>
                          </a:rPr>
                          <m:t>𝑠</m:t>
                        </m:r>
                      </m:den>
                    </m:f>
                  </m:oMath>
                </a14:m>
                <a:r>
                  <a:rPr lang="zh-CN" altLang="en-US" dirty="0"/>
                  <a:t> </a:t>
                </a:r>
                <a:r>
                  <a:rPr lang="en-US" altLang="zh-CN" dirty="0"/>
                  <a:t>+ </a:t>
                </a:r>
                <a14:m>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𝑉</m:t>
                        </m:r>
                        <m:r>
                          <a:rPr lang="en-US" altLang="zh-CN" b="0" i="1" baseline="-25000" smtClean="0">
                            <a:latin typeface="Cambria Math" panose="02040503050406030204" pitchFamily="18" charset="0"/>
                          </a:rPr>
                          <m:t>𝑟</m:t>
                        </m:r>
                      </m:den>
                    </m:f>
                  </m:oMath>
                </a14:m>
                <a:r>
                  <a:rPr lang="zh-CN" altLang="en-US" dirty="0"/>
                  <a:t> </a:t>
                </a:r>
                <a:r>
                  <a:rPr lang="en-US" altLang="zh-CN" dirty="0"/>
                  <a:t>) </a:t>
                </a:r>
                <a:r>
                  <a:rPr lang="zh-CN" altLang="en-US" dirty="0"/>
                  <a:t>的点积</a:t>
                </a:r>
                <a:endParaRPr lang="en-US" altLang="zh-CN" dirty="0"/>
              </a:p>
              <a:p>
                <a:r>
                  <a:rPr lang="zh-CN" altLang="en-US" dirty="0"/>
                  <a:t>将每个人看作平面上的一个点</a:t>
                </a:r>
                <a:endParaRPr lang="en-US" altLang="zh-CN" dirty="0"/>
              </a:p>
              <a:p>
                <a:r>
                  <a:rPr lang="zh-CN" altLang="en-US" dirty="0"/>
                  <a:t>求此点集的凸包</a:t>
                </a:r>
                <a:endParaRPr lang="en-US" altLang="zh-CN" dirty="0"/>
              </a:p>
              <a:p>
                <a:r>
                  <a:rPr lang="zh-CN" altLang="en-US" dirty="0"/>
                  <a:t>横坐标最小的点到纵坐标最小点的</a:t>
                </a:r>
                <a:endParaRPr lang="en-US" altLang="zh-CN" dirty="0"/>
              </a:p>
              <a:p>
                <a:pPr marL="0" indent="0">
                  <a:buNone/>
                </a:pPr>
                <a:r>
                  <a:rPr lang="zh-CN" altLang="en-US" dirty="0"/>
                  <a:t>   顺时针方向上经过的点即为所求</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980"/>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凸包</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旋转卡</a:t>
                </a:r>
                <a:r>
                  <a:rPr lang="en-US" altLang="zh-CN" dirty="0"/>
                  <a:t>( </a:t>
                </a:r>
                <a:r>
                  <a:rPr lang="en-US" altLang="zh-CN" dirty="0" err="1"/>
                  <a:t>qia</a:t>
                </a:r>
                <a:r>
                  <a:rPr lang="en-US" altLang="zh-CN" dirty="0"/>
                  <a:t> ) </a:t>
                </a:r>
                <a:r>
                  <a:rPr lang="zh-CN" altLang="en-US" dirty="0"/>
                  <a:t>壳 </a:t>
                </a:r>
                <a:r>
                  <a:rPr lang="en-US" altLang="zh-CN" dirty="0"/>
                  <a:t>( </a:t>
                </a:r>
                <a:r>
                  <a:rPr lang="en-US" altLang="zh-CN" dirty="0" err="1"/>
                  <a:t>ke</a:t>
                </a:r>
                <a:r>
                  <a:rPr lang="en-US" altLang="zh-CN" dirty="0"/>
                  <a:t> )</a:t>
                </a:r>
              </a:p>
              <a:p>
                <a:r>
                  <a:rPr lang="en-US" altLang="zh-CN" dirty="0"/>
                  <a:t>1.</a:t>
                </a:r>
                <a:r>
                  <a:rPr lang="zh-CN" altLang="en-US" dirty="0"/>
                  <a:t>求其凸包，设点集为 </a:t>
                </a:r>
                <a:r>
                  <a:rPr lang="en-US" altLang="zh-CN" dirty="0"/>
                  <a:t>{ A</a:t>
                </a:r>
                <a:r>
                  <a:rPr lang="en-US" altLang="zh-CN" baseline="-25000" dirty="0"/>
                  <a:t>1</a:t>
                </a:r>
                <a:r>
                  <a:rPr lang="en-US" altLang="zh-CN" dirty="0"/>
                  <a:t>, A</a:t>
                </a:r>
                <a:r>
                  <a:rPr lang="en-US" altLang="zh-CN" baseline="-25000" dirty="0"/>
                  <a:t>2</a:t>
                </a:r>
                <a:r>
                  <a:rPr lang="en-US" altLang="zh-CN" dirty="0"/>
                  <a:t>, A</a:t>
                </a:r>
                <a:r>
                  <a:rPr lang="en-US" altLang="zh-CN" baseline="-25000" dirty="0"/>
                  <a:t>3</a:t>
                </a:r>
                <a:r>
                  <a:rPr lang="en-US" altLang="zh-CN" dirty="0"/>
                  <a:t>, … A</a:t>
                </a:r>
                <a:r>
                  <a:rPr lang="en-US" altLang="zh-CN" baseline="-25000" dirty="0"/>
                  <a:t>n</a:t>
                </a:r>
                <a:r>
                  <a:rPr lang="en-US" altLang="zh-CN" dirty="0"/>
                  <a:t> }</a:t>
                </a:r>
              </a:p>
              <a:p>
                <a:r>
                  <a:rPr lang="en-US" altLang="zh-CN" dirty="0"/>
                  <a:t>2.</a:t>
                </a:r>
                <a:r>
                  <a:rPr lang="zh-CN" altLang="en-US" dirty="0"/>
                  <a:t>设指针</a:t>
                </a:r>
                <a:r>
                  <a:rPr lang="en-US" altLang="zh-CN" dirty="0" err="1"/>
                  <a:t>i</a:t>
                </a:r>
                <a:r>
                  <a:rPr lang="en-US" altLang="zh-CN" dirty="0"/>
                  <a:t>, j</a:t>
                </a:r>
                <a:r>
                  <a:rPr lang="zh-CN" altLang="en-US" dirty="0"/>
                  <a:t>，保持他们同向转动</a:t>
                </a:r>
                <a:endParaRPr lang="en-US" altLang="zh-CN" dirty="0"/>
              </a:p>
              <a:p>
                <a:r>
                  <a:rPr lang="en-US" altLang="zh-CN" dirty="0"/>
                  <a:t>3.</a:t>
                </a:r>
                <a:r>
                  <a:rPr lang="zh-CN" altLang="en-US" dirty="0"/>
                  <a:t>对于每一个</a:t>
                </a:r>
                <a:r>
                  <a:rPr lang="en-US" altLang="zh-CN" dirty="0" err="1"/>
                  <a:t>i</a:t>
                </a:r>
                <a:r>
                  <a:rPr lang="zh-CN" altLang="en-US" dirty="0"/>
                  <a:t>，求</a:t>
                </a:r>
                <a:r>
                  <a:rPr lang="en-US" altLang="zh-CN" dirty="0"/>
                  <a:t>j</a:t>
                </a:r>
                <a:r>
                  <a:rPr lang="zh-CN" altLang="en-US" dirty="0"/>
                  <a:t>满足</a:t>
                </a:r>
                <a:endParaRPr lang="en-US" altLang="zh-CN" dirty="0"/>
              </a:p>
              <a:p>
                <a:pPr marL="0" indent="0">
                  <a:buNone/>
                </a:pPr>
                <a:r>
                  <a:rPr lang="en-US" altLang="zh-CN" dirty="0"/>
                  <a:t>      Max { ( A</a:t>
                </a:r>
                <a:r>
                  <a:rPr lang="en-US" altLang="zh-CN" baseline="-25000" dirty="0"/>
                  <a:t>i+1</a:t>
                </a:r>
                <a:r>
                  <a:rPr lang="en-US" altLang="zh-CN" dirty="0"/>
                  <a:t> – A</a:t>
                </a:r>
                <a:r>
                  <a:rPr lang="en-US" altLang="zh-CN" baseline="-25000" dirty="0"/>
                  <a:t>i</a:t>
                </a:r>
                <a:r>
                  <a:rPr lang="en-US" altLang="zh-CN" dirty="0"/>
                  <a:t> )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baseline="-25000" dirty="0"/>
                  <a:t> </a:t>
                </a:r>
                <a:r>
                  <a:rPr lang="en-US" altLang="zh-CN" dirty="0"/>
                  <a:t> ( </a:t>
                </a:r>
                <a:r>
                  <a:rPr lang="en-US" altLang="zh-CN" dirty="0" err="1"/>
                  <a:t>A</a:t>
                </a:r>
                <a:r>
                  <a:rPr lang="en-US" altLang="zh-CN" baseline="-25000" dirty="0" err="1"/>
                  <a:t>j</a:t>
                </a:r>
                <a:r>
                  <a:rPr lang="en-US" altLang="zh-CN" dirty="0"/>
                  <a:t> – A</a:t>
                </a:r>
                <a:r>
                  <a:rPr lang="en-US" altLang="zh-CN" baseline="-25000" dirty="0"/>
                  <a:t>i</a:t>
                </a:r>
                <a:r>
                  <a:rPr lang="en-US" altLang="zh-CN" dirty="0"/>
                  <a:t> ) }</a:t>
                </a:r>
              </a:p>
              <a:p>
                <a:r>
                  <a:rPr lang="en-US" altLang="zh-CN" dirty="0"/>
                  <a:t>4.</a:t>
                </a:r>
                <a:r>
                  <a:rPr lang="zh-CN" altLang="en-US" dirty="0"/>
                  <a:t>比较所有的最大值，获得答案</a:t>
                </a:r>
                <a:endParaRPr lang="en-US" altLang="zh-CN"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94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708785" y="1486694"/>
            <a:ext cx="9278294" cy="5029200"/>
          </a:xfrm>
          <a:prstGeom prst="rect">
            <a:avLst/>
          </a:prstGeom>
        </p:spPr>
      </p:pic>
      <p:sp>
        <p:nvSpPr>
          <p:cNvPr id="2" name="标题 1"/>
          <p:cNvSpPr>
            <a:spLocks noGrp="1"/>
          </p:cNvSpPr>
          <p:nvPr>
            <p:ph type="title"/>
          </p:nvPr>
        </p:nvSpPr>
        <p:spPr/>
        <p:txBody>
          <a:bodyPr/>
          <a:lstStyle/>
          <a:p>
            <a:r>
              <a:rPr lang="zh-CN" altLang="en-US" dirty="0"/>
              <a:t>凸包</a:t>
            </a:r>
          </a:p>
        </p:txBody>
      </p:sp>
      <p:sp>
        <p:nvSpPr>
          <p:cNvPr id="3" name="内容占位符 2"/>
          <p:cNvSpPr>
            <a:spLocks noGrp="1"/>
          </p:cNvSpPr>
          <p:nvPr>
            <p:ph idx="1"/>
          </p:nvPr>
        </p:nvSpPr>
        <p:spPr/>
        <p:txBody>
          <a:bodyPr/>
          <a:lstStyle/>
          <a:p>
            <a:r>
              <a:rPr lang="en-US" altLang="zh-CN" dirty="0"/>
              <a:t>1.</a:t>
            </a:r>
            <a:r>
              <a:rPr lang="zh-CN" altLang="en-US" dirty="0"/>
              <a:t>求其凸包</a:t>
            </a:r>
          </a:p>
        </p:txBody>
      </p:sp>
      <p:sp>
        <p:nvSpPr>
          <p:cNvPr id="8" name="矩形 7"/>
          <p:cNvSpPr/>
          <p:nvPr/>
        </p:nvSpPr>
        <p:spPr>
          <a:xfrm rot="19555970">
            <a:off x="3750926" y="3684958"/>
            <a:ext cx="60346" cy="14526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8154689">
            <a:off x="4793300" y="4701360"/>
            <a:ext cx="75612" cy="15448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rot="4883784" flipH="1">
            <a:off x="6702767" y="4538014"/>
            <a:ext cx="48750" cy="236512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5464227" y="5867611"/>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4147820" y="49720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4079403" flipH="1">
            <a:off x="8712200" y="4294785"/>
            <a:ext cx="45719" cy="178283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7853097" y="5487494"/>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rot="18972458" flipH="1">
            <a:off x="8760748" y="2971654"/>
            <a:ext cx="45719" cy="22065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9519911" y="4799355"/>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rot="18430290" flipH="1">
            <a:off x="7016403" y="1377590"/>
            <a:ext cx="45719" cy="232278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7953427" y="3210963"/>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rot="3863705" flipH="1">
            <a:off x="5384906" y="1421100"/>
            <a:ext cx="45719" cy="14430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6024768" y="1768363"/>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rot="2764621" flipH="1">
            <a:off x="4031469" y="2184211"/>
            <a:ext cx="45719" cy="18799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4697059" y="2397997"/>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3309620" y="37401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708785" y="1486694"/>
            <a:ext cx="9278294" cy="5029200"/>
          </a:xfrm>
          <a:prstGeom prst="rect">
            <a:avLst/>
          </a:prstGeom>
        </p:spPr>
      </p:pic>
      <p:sp>
        <p:nvSpPr>
          <p:cNvPr id="2" name="标题 1"/>
          <p:cNvSpPr>
            <a:spLocks noGrp="1"/>
          </p:cNvSpPr>
          <p:nvPr>
            <p:ph type="title"/>
          </p:nvPr>
        </p:nvSpPr>
        <p:spPr/>
        <p:txBody>
          <a:bodyPr/>
          <a:lstStyle/>
          <a:p>
            <a:r>
              <a:rPr lang="zh-CN" altLang="en-US" dirty="0"/>
              <a:t>凸包</a:t>
            </a:r>
          </a:p>
        </p:txBody>
      </p:sp>
      <p:sp>
        <p:nvSpPr>
          <p:cNvPr id="3" name="内容占位符 2"/>
          <p:cNvSpPr>
            <a:spLocks noGrp="1"/>
          </p:cNvSpPr>
          <p:nvPr>
            <p:ph idx="1"/>
          </p:nvPr>
        </p:nvSpPr>
        <p:spPr/>
        <p:txBody>
          <a:bodyPr/>
          <a:lstStyle/>
          <a:p>
            <a:r>
              <a:rPr lang="en-US" altLang="zh-CN" dirty="0"/>
              <a:t>2.</a:t>
            </a:r>
            <a:r>
              <a:rPr lang="zh-CN" altLang="en-US" dirty="0"/>
              <a:t>设指针</a:t>
            </a:r>
            <a:r>
              <a:rPr lang="en-US" altLang="zh-CN" dirty="0" err="1"/>
              <a:t>i</a:t>
            </a:r>
            <a:r>
              <a:rPr lang="en-US" altLang="zh-CN" dirty="0"/>
              <a:t>, j</a:t>
            </a:r>
          </a:p>
          <a:p>
            <a:pPr marL="0" indent="0">
              <a:buNone/>
            </a:pPr>
            <a:r>
              <a:rPr lang="en-US" altLang="zh-CN" dirty="0"/>
              <a:t>      </a:t>
            </a:r>
            <a:r>
              <a:rPr lang="zh-CN" altLang="en-US" dirty="0"/>
              <a:t>保持他们</a:t>
            </a:r>
            <a:endParaRPr lang="en-US" altLang="zh-CN" dirty="0"/>
          </a:p>
          <a:p>
            <a:pPr marL="0" indent="0">
              <a:buNone/>
            </a:pPr>
            <a:r>
              <a:rPr lang="en-US" altLang="zh-CN" dirty="0"/>
              <a:t>      </a:t>
            </a:r>
            <a:r>
              <a:rPr lang="zh-CN" altLang="en-US" dirty="0"/>
              <a:t>同向转动</a:t>
            </a:r>
          </a:p>
        </p:txBody>
      </p:sp>
      <p:sp>
        <p:nvSpPr>
          <p:cNvPr id="8" name="矩形 7"/>
          <p:cNvSpPr/>
          <p:nvPr/>
        </p:nvSpPr>
        <p:spPr>
          <a:xfrm rot="19555970">
            <a:off x="3750926" y="3684958"/>
            <a:ext cx="60346" cy="14526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8154689">
            <a:off x="4793300" y="4701360"/>
            <a:ext cx="75612" cy="15448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rot="4883784" flipH="1">
            <a:off x="6702767" y="4538014"/>
            <a:ext cx="48750" cy="236512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5464227" y="5867611"/>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4147820" y="49720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4079403" flipH="1">
            <a:off x="8712200" y="4294785"/>
            <a:ext cx="45719" cy="178283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7853097" y="5487494"/>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rot="18972458" flipH="1">
            <a:off x="8760748" y="2971654"/>
            <a:ext cx="45719" cy="22065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9519911" y="4799355"/>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rot="18430290" flipH="1">
            <a:off x="7016403" y="1377590"/>
            <a:ext cx="45719" cy="232278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7953427" y="3210963"/>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rot="3863705" flipH="1">
            <a:off x="5384906" y="1421100"/>
            <a:ext cx="45719" cy="14430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6024768" y="1768363"/>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rot="2764621" flipH="1">
            <a:off x="4031469" y="2184211"/>
            <a:ext cx="45719" cy="18799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4697059" y="2397997"/>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3309620" y="37401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3028516" y="3553367"/>
            <a:ext cx="255198" cy="461665"/>
          </a:xfrm>
          <a:prstGeom prst="rect">
            <a:avLst/>
          </a:prstGeom>
          <a:noFill/>
        </p:spPr>
        <p:txBody>
          <a:bodyPr wrap="none" lIns="91440" tIns="45720" rIns="91440" bIns="45720">
            <a:spAutoFit/>
          </a:bodyPr>
          <a:lstStyle/>
          <a:p>
            <a:pPr algn="ctr"/>
            <a:r>
              <a:rPr lang="en-US" altLang="zh-CN" sz="2400" b="0" cap="none" spc="0" dirty="0" err="1">
                <a:ln w="0"/>
                <a:solidFill>
                  <a:schemeClr val="accent1">
                    <a:lumMod val="75000"/>
                  </a:schemeClr>
                </a:solidFill>
                <a:effectLst>
                  <a:outerShdw blurRad="38100" dist="19050" dir="2700000" algn="tl" rotWithShape="0">
                    <a:schemeClr val="dk1">
                      <a:alpha val="40000"/>
                    </a:schemeClr>
                  </a:outerShdw>
                </a:effectLst>
              </a:rPr>
              <a:t>i</a:t>
            </a:r>
            <a:endParaRPr lang="zh-CN" altLang="en-US" sz="2400" b="0" cap="none" spc="0" dirty="0">
              <a:ln w="0"/>
              <a:solidFill>
                <a:schemeClr val="accent1">
                  <a:lumMod val="75000"/>
                </a:schemeClr>
              </a:solidFill>
              <a:effectLst>
                <a:outerShdw blurRad="38100" dist="19050" dir="2700000" algn="tl" rotWithShape="0">
                  <a:schemeClr val="dk1">
                    <a:alpha val="40000"/>
                  </a:schemeClr>
                </a:outerShdw>
              </a:effectLst>
            </a:endParaRPr>
          </a:p>
        </p:txBody>
      </p:sp>
      <p:sp>
        <p:nvSpPr>
          <p:cNvPr id="22" name="矩形 21"/>
          <p:cNvSpPr/>
          <p:nvPr/>
        </p:nvSpPr>
        <p:spPr>
          <a:xfrm>
            <a:off x="3807052" y="4737628"/>
            <a:ext cx="258404" cy="461665"/>
          </a:xfrm>
          <a:prstGeom prst="rect">
            <a:avLst/>
          </a:prstGeom>
          <a:noFill/>
        </p:spPr>
        <p:txBody>
          <a:bodyPr wrap="none" lIns="91440" tIns="45720" rIns="91440" bIns="45720">
            <a:spAutoFit/>
          </a:bodyPr>
          <a:lstStyle/>
          <a:p>
            <a:pPr algn="ctr"/>
            <a:r>
              <a:rPr lang="en-US" altLang="zh-CN" sz="2400" b="0" cap="none" spc="0" dirty="0">
                <a:ln w="0"/>
                <a:solidFill>
                  <a:schemeClr val="accent1">
                    <a:lumMod val="75000"/>
                  </a:schemeClr>
                </a:solidFill>
                <a:effectLst>
                  <a:outerShdw blurRad="38100" dist="19050" dir="2700000" algn="tl" rotWithShape="0">
                    <a:schemeClr val="dk1">
                      <a:alpha val="40000"/>
                    </a:schemeClr>
                  </a:outerShdw>
                </a:effectLst>
              </a:rPr>
              <a:t>j</a:t>
            </a:r>
            <a:endParaRPr lang="zh-CN" altLang="en-US" sz="2400" b="0" cap="none" spc="0" dirty="0">
              <a:ln w="0"/>
              <a:solidFill>
                <a:schemeClr val="accent1">
                  <a:lumMod val="75000"/>
                </a:schemeClr>
              </a:solidFill>
              <a:effectLst>
                <a:outerShdw blurRad="38100" dist="19050" dir="2700000" algn="tl" rotWithShape="0">
                  <a:schemeClr val="dk1">
                    <a:alpha val="40000"/>
                  </a:schemeClr>
                </a:outerShdw>
              </a:effectLst>
            </a:endParaRPr>
          </a:p>
        </p:txBody>
      </p:sp>
      <p:sp>
        <p:nvSpPr>
          <p:cNvPr id="9" name="环形箭头 8"/>
          <p:cNvSpPr/>
          <p:nvPr/>
        </p:nvSpPr>
        <p:spPr>
          <a:xfrm rot="2772226" flipV="1">
            <a:off x="2925023" y="4621433"/>
            <a:ext cx="969854" cy="908433"/>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708785" y="1486694"/>
            <a:ext cx="9278294" cy="5029200"/>
          </a:xfrm>
          <a:prstGeom prst="rect">
            <a:avLst/>
          </a:prstGeom>
        </p:spPr>
      </p:pic>
      <p:sp>
        <p:nvSpPr>
          <p:cNvPr id="2" name="标题 1"/>
          <p:cNvSpPr>
            <a:spLocks noGrp="1"/>
          </p:cNvSpPr>
          <p:nvPr>
            <p:ph type="title"/>
          </p:nvPr>
        </p:nvSpPr>
        <p:spPr/>
        <p:txBody>
          <a:bodyPr/>
          <a:lstStyle/>
          <a:p>
            <a:r>
              <a:rPr lang="zh-CN" altLang="en-US" dirty="0"/>
              <a:t>凸包</a:t>
            </a:r>
          </a:p>
        </p:txBody>
      </p:sp>
      <p:sp>
        <p:nvSpPr>
          <p:cNvPr id="3" name="内容占位符 2"/>
          <p:cNvSpPr>
            <a:spLocks noGrp="1"/>
          </p:cNvSpPr>
          <p:nvPr>
            <p:ph idx="1"/>
          </p:nvPr>
        </p:nvSpPr>
        <p:spPr/>
        <p:txBody>
          <a:bodyPr/>
          <a:lstStyle/>
          <a:p>
            <a:r>
              <a:rPr lang="en-US" altLang="zh-CN" dirty="0"/>
              <a:t>3.</a:t>
            </a:r>
            <a:r>
              <a:rPr lang="zh-CN" altLang="en-US" dirty="0"/>
              <a:t>对于每一个</a:t>
            </a:r>
            <a:r>
              <a:rPr lang="en-US" altLang="zh-CN" dirty="0"/>
              <a:t>I,</a:t>
            </a:r>
          </a:p>
          <a:p>
            <a:pPr marL="0" indent="0">
              <a:buNone/>
            </a:pPr>
            <a:r>
              <a:rPr lang="en-US" altLang="zh-CN" dirty="0"/>
              <a:t>    </a:t>
            </a:r>
            <a:r>
              <a:rPr lang="zh-CN" altLang="en-US" dirty="0"/>
              <a:t>求</a:t>
            </a:r>
            <a:r>
              <a:rPr lang="en-US" altLang="zh-CN" dirty="0"/>
              <a:t>j</a:t>
            </a:r>
            <a:r>
              <a:rPr lang="zh-CN" altLang="en-US" dirty="0"/>
              <a:t>满足                                                    </a:t>
            </a:r>
            <a:endParaRPr lang="en-US" altLang="zh-CN" dirty="0"/>
          </a:p>
          <a:p>
            <a:pPr marL="0" indent="0">
              <a:buNone/>
            </a:pPr>
            <a:r>
              <a:rPr lang="en-US" altLang="zh-CN" dirty="0"/>
              <a:t>   Max { ( A</a:t>
            </a:r>
            <a:r>
              <a:rPr lang="en-US" altLang="zh-CN" baseline="-25000" dirty="0"/>
              <a:t>i+1</a:t>
            </a:r>
            <a:r>
              <a:rPr lang="en-US" altLang="zh-CN" dirty="0"/>
              <a:t> – A</a:t>
            </a:r>
            <a:r>
              <a:rPr lang="en-US" altLang="zh-CN" baseline="-25000" dirty="0"/>
              <a:t>i</a:t>
            </a:r>
            <a:r>
              <a:rPr lang="en-US" altLang="zh-CN" dirty="0"/>
              <a:t> ) ×  ( </a:t>
            </a:r>
            <a:r>
              <a:rPr lang="en-US" altLang="zh-CN" dirty="0" err="1"/>
              <a:t>A</a:t>
            </a:r>
            <a:r>
              <a:rPr lang="en-US" altLang="zh-CN" baseline="-25000" dirty="0" err="1"/>
              <a:t>j</a:t>
            </a:r>
            <a:r>
              <a:rPr lang="en-US" altLang="zh-CN" dirty="0"/>
              <a:t> – A</a:t>
            </a:r>
            <a:r>
              <a:rPr lang="en-US" altLang="zh-CN" baseline="-25000" dirty="0"/>
              <a:t>i</a:t>
            </a:r>
            <a:r>
              <a:rPr lang="en-US" altLang="zh-CN" dirty="0"/>
              <a:t> ) }</a:t>
            </a:r>
          </a:p>
        </p:txBody>
      </p:sp>
      <p:sp>
        <p:nvSpPr>
          <p:cNvPr id="8" name="矩形 7"/>
          <p:cNvSpPr/>
          <p:nvPr/>
        </p:nvSpPr>
        <p:spPr>
          <a:xfrm rot="19555970">
            <a:off x="3750926" y="3684958"/>
            <a:ext cx="60346" cy="14526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8154689">
            <a:off x="4793300" y="4701360"/>
            <a:ext cx="75612" cy="15448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rot="4883784" flipH="1">
            <a:off x="6702767" y="4538014"/>
            <a:ext cx="48750" cy="236512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5464227" y="5867611"/>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4079403" flipH="1">
            <a:off x="8712200" y="4294785"/>
            <a:ext cx="45719" cy="178283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7853097" y="5487494"/>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rot="18972458" flipH="1">
            <a:off x="8760748" y="2971654"/>
            <a:ext cx="45719" cy="22065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9519911" y="4799355"/>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rot="18430290" flipH="1">
            <a:off x="7016403" y="1377590"/>
            <a:ext cx="45719" cy="232278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7953427" y="3210963"/>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rot="3863705" flipH="1">
            <a:off x="5384906" y="1421100"/>
            <a:ext cx="45719" cy="14430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6024768" y="1768363"/>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rot="2764621" flipH="1">
            <a:off x="4031469" y="2184211"/>
            <a:ext cx="45719" cy="18799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4697059" y="2397997"/>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3028516" y="3553367"/>
            <a:ext cx="255198" cy="461665"/>
          </a:xfrm>
          <a:prstGeom prst="rect">
            <a:avLst/>
          </a:prstGeom>
          <a:noFill/>
        </p:spPr>
        <p:txBody>
          <a:bodyPr wrap="none" lIns="91440" tIns="45720" rIns="91440" bIns="45720">
            <a:spAutoFit/>
          </a:bodyPr>
          <a:lstStyle/>
          <a:p>
            <a:pPr algn="ctr"/>
            <a:r>
              <a:rPr lang="en-US" altLang="zh-CN" sz="2400" b="0" cap="none" spc="0" dirty="0" err="1">
                <a:ln w="0"/>
                <a:solidFill>
                  <a:schemeClr val="accent1">
                    <a:lumMod val="75000"/>
                  </a:schemeClr>
                </a:solidFill>
                <a:effectLst>
                  <a:outerShdw blurRad="38100" dist="19050" dir="2700000" algn="tl" rotWithShape="0">
                    <a:schemeClr val="dk1">
                      <a:alpha val="40000"/>
                    </a:schemeClr>
                  </a:outerShdw>
                </a:effectLst>
              </a:rPr>
              <a:t>i</a:t>
            </a:r>
            <a:endParaRPr lang="zh-CN" altLang="en-US" sz="2400" b="0" cap="none" spc="0" dirty="0">
              <a:ln w="0"/>
              <a:solidFill>
                <a:schemeClr val="accent1">
                  <a:lumMod val="75000"/>
                </a:schemeClr>
              </a:solidFill>
              <a:effectLst>
                <a:outerShdw blurRad="38100" dist="19050" dir="2700000" algn="tl" rotWithShape="0">
                  <a:schemeClr val="dk1">
                    <a:alpha val="40000"/>
                  </a:schemeClr>
                </a:outerShdw>
              </a:effectLst>
            </a:endParaRPr>
          </a:p>
        </p:txBody>
      </p:sp>
      <p:sp>
        <p:nvSpPr>
          <p:cNvPr id="23" name="矩形 22"/>
          <p:cNvSpPr/>
          <p:nvPr/>
        </p:nvSpPr>
        <p:spPr>
          <a:xfrm rot="19555970">
            <a:off x="3761458" y="3686533"/>
            <a:ext cx="60346" cy="145261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3309620" y="37401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4147820" y="49720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3677477" y="5004434"/>
            <a:ext cx="702436" cy="461665"/>
          </a:xfrm>
          <a:prstGeom prst="rect">
            <a:avLst/>
          </a:prstGeom>
          <a:noFill/>
        </p:spPr>
        <p:txBody>
          <a:bodyPr wrap="none" lIns="91440" tIns="45720" rIns="91440" bIns="45720">
            <a:spAutoFit/>
          </a:bodyPr>
          <a:lstStyle/>
          <a:p>
            <a:pPr algn="ctr"/>
            <a:r>
              <a:rPr lang="en-US" altLang="zh-CN" sz="2400" dirty="0" err="1">
                <a:ln w="0"/>
                <a:solidFill>
                  <a:schemeClr val="accent1">
                    <a:lumMod val="75000"/>
                  </a:schemeClr>
                </a:solidFill>
                <a:effectLst>
                  <a:outerShdw blurRad="38100" dist="19050" dir="2700000" algn="tl" rotWithShape="0">
                    <a:schemeClr val="dk1">
                      <a:alpha val="40000"/>
                    </a:schemeClr>
                  </a:outerShdw>
                </a:effectLst>
              </a:rPr>
              <a:t>i</a:t>
            </a:r>
            <a:r>
              <a:rPr lang="en-US" altLang="zh-CN" sz="2400" b="0" cap="none" spc="0" dirty="0">
                <a:ln w="0"/>
                <a:solidFill>
                  <a:schemeClr val="accent1">
                    <a:lumMod val="75000"/>
                  </a:schemeClr>
                </a:solidFill>
                <a:effectLst>
                  <a:outerShdw blurRad="38100" dist="19050" dir="2700000" algn="tl" rotWithShape="0">
                    <a:schemeClr val="dk1">
                      <a:alpha val="40000"/>
                    </a:schemeClr>
                  </a:outerShdw>
                </a:effectLst>
              </a:rPr>
              <a:t> + 1</a:t>
            </a:r>
            <a:endParaRPr lang="zh-CN" altLang="en-US" sz="2400" b="0" cap="none" spc="0" dirty="0">
              <a:ln w="0"/>
              <a:solidFill>
                <a:schemeClr val="accent1">
                  <a:lumMod val="75000"/>
                </a:schemeClr>
              </a:solidFill>
              <a:effectLst>
                <a:outerShdw blurRad="38100" dist="19050" dir="2700000" algn="tl" rotWithShape="0">
                  <a:schemeClr val="dk1">
                    <a:alpha val="40000"/>
                  </a:schemeClr>
                </a:outerShdw>
              </a:effectLst>
            </a:endParaRPr>
          </a:p>
        </p:txBody>
      </p:sp>
      <p:sp>
        <p:nvSpPr>
          <p:cNvPr id="30" name="矩形 29"/>
          <p:cNvSpPr/>
          <p:nvPr/>
        </p:nvSpPr>
        <p:spPr>
          <a:xfrm>
            <a:off x="4350883" y="4510385"/>
            <a:ext cx="258404" cy="461665"/>
          </a:xfrm>
          <a:prstGeom prst="rect">
            <a:avLst/>
          </a:prstGeom>
          <a:noFill/>
        </p:spPr>
        <p:txBody>
          <a:bodyPr wrap="none" lIns="91440" tIns="45720" rIns="91440" bIns="45720">
            <a:spAutoFit/>
          </a:bodyPr>
          <a:lstStyle/>
          <a:p>
            <a:pPr algn="ctr"/>
            <a:r>
              <a:rPr lang="en-US" altLang="zh-CN" sz="2400" dirty="0" err="1">
                <a:ln w="0"/>
                <a:solidFill>
                  <a:schemeClr val="accent1">
                    <a:lumMod val="75000"/>
                  </a:schemeClr>
                </a:solidFill>
                <a:effectLst>
                  <a:outerShdw blurRad="38100" dist="19050" dir="2700000" algn="tl" rotWithShape="0">
                    <a:schemeClr val="dk1">
                      <a:alpha val="40000"/>
                    </a:schemeClr>
                  </a:outerShdw>
                </a:effectLst>
              </a:rPr>
              <a:t>j</a:t>
            </a:r>
            <a:endParaRPr lang="zh-CN" altLang="en-US" sz="2400" b="0" cap="none" spc="0" dirty="0">
              <a:ln w="0"/>
              <a:solidFill>
                <a:schemeClr val="accent1">
                  <a:lumMod val="75000"/>
                </a:schemeClr>
              </a:solidFill>
              <a:effectLst>
                <a:outerShdw blurRad="38100" dist="19050" dir="2700000" algn="tl" rotWithShape="0">
                  <a:schemeClr val="dk1">
                    <a:alpha val="40000"/>
                  </a:schemeClr>
                </a:outerShdw>
              </a:effectLst>
            </a:endParaRPr>
          </a:p>
        </p:txBody>
      </p:sp>
      <p:sp>
        <p:nvSpPr>
          <p:cNvPr id="31" name="矩形 30"/>
          <p:cNvSpPr/>
          <p:nvPr/>
        </p:nvSpPr>
        <p:spPr>
          <a:xfrm rot="19555970">
            <a:off x="3745980" y="3677644"/>
            <a:ext cx="70074" cy="145261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up)">
                                      <p:cBhvr>
                                        <p:cTn id="7" dur="500"/>
                                        <p:tgtEl>
                                          <p:spTgt spid="2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ipe(up)">
                                      <p:cBhvr>
                                        <p:cTn id="1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3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708785" y="1486694"/>
            <a:ext cx="9278294" cy="5029200"/>
          </a:xfrm>
          <a:prstGeom prst="rect">
            <a:avLst/>
          </a:prstGeom>
        </p:spPr>
      </p:pic>
      <p:sp>
        <p:nvSpPr>
          <p:cNvPr id="2" name="标题 1"/>
          <p:cNvSpPr>
            <a:spLocks noGrp="1"/>
          </p:cNvSpPr>
          <p:nvPr>
            <p:ph type="title"/>
          </p:nvPr>
        </p:nvSpPr>
        <p:spPr/>
        <p:txBody>
          <a:bodyPr/>
          <a:lstStyle/>
          <a:p>
            <a:r>
              <a:rPr lang="zh-CN" altLang="en-US" dirty="0"/>
              <a:t>凸包</a:t>
            </a:r>
          </a:p>
        </p:txBody>
      </p:sp>
      <p:sp>
        <p:nvSpPr>
          <p:cNvPr id="3" name="内容占位符 2"/>
          <p:cNvSpPr>
            <a:spLocks noGrp="1"/>
          </p:cNvSpPr>
          <p:nvPr>
            <p:ph idx="1"/>
          </p:nvPr>
        </p:nvSpPr>
        <p:spPr/>
        <p:txBody>
          <a:bodyPr/>
          <a:lstStyle/>
          <a:p>
            <a:r>
              <a:rPr lang="en-US" altLang="zh-CN" dirty="0"/>
              <a:t>3.</a:t>
            </a:r>
            <a:r>
              <a:rPr lang="zh-CN" altLang="en-US" dirty="0"/>
              <a:t>对于每一个</a:t>
            </a:r>
            <a:r>
              <a:rPr lang="en-US" altLang="zh-CN" dirty="0"/>
              <a:t>I,</a:t>
            </a:r>
          </a:p>
          <a:p>
            <a:pPr marL="0" indent="0">
              <a:buNone/>
            </a:pPr>
            <a:r>
              <a:rPr lang="en-US" altLang="zh-CN" dirty="0"/>
              <a:t>    </a:t>
            </a:r>
            <a:r>
              <a:rPr lang="zh-CN" altLang="en-US" dirty="0"/>
              <a:t>求</a:t>
            </a:r>
            <a:r>
              <a:rPr lang="en-US" altLang="zh-CN" dirty="0"/>
              <a:t>j</a:t>
            </a:r>
            <a:r>
              <a:rPr lang="zh-CN" altLang="en-US" dirty="0"/>
              <a:t>满足                                                    </a:t>
            </a:r>
            <a:endParaRPr lang="en-US" altLang="zh-CN" dirty="0"/>
          </a:p>
          <a:p>
            <a:pPr marL="0" indent="0">
              <a:buNone/>
            </a:pPr>
            <a:r>
              <a:rPr lang="en-US" altLang="zh-CN" dirty="0"/>
              <a:t>   Max { ( A</a:t>
            </a:r>
            <a:r>
              <a:rPr lang="en-US" altLang="zh-CN" baseline="-25000" dirty="0"/>
              <a:t>i+1</a:t>
            </a:r>
            <a:r>
              <a:rPr lang="en-US" altLang="zh-CN" dirty="0"/>
              <a:t> – A</a:t>
            </a:r>
            <a:r>
              <a:rPr lang="en-US" altLang="zh-CN" baseline="-25000" dirty="0"/>
              <a:t>i</a:t>
            </a:r>
            <a:r>
              <a:rPr lang="en-US" altLang="zh-CN" dirty="0"/>
              <a:t> ) ×  ( </a:t>
            </a:r>
            <a:r>
              <a:rPr lang="en-US" altLang="zh-CN" dirty="0" err="1"/>
              <a:t>A</a:t>
            </a:r>
            <a:r>
              <a:rPr lang="en-US" altLang="zh-CN" baseline="-25000" dirty="0" err="1"/>
              <a:t>j</a:t>
            </a:r>
            <a:r>
              <a:rPr lang="en-US" altLang="zh-CN" dirty="0"/>
              <a:t> – A</a:t>
            </a:r>
            <a:r>
              <a:rPr lang="en-US" altLang="zh-CN" baseline="-25000" dirty="0"/>
              <a:t>i</a:t>
            </a:r>
            <a:r>
              <a:rPr lang="en-US" altLang="zh-CN" dirty="0"/>
              <a:t> ) }</a:t>
            </a:r>
          </a:p>
        </p:txBody>
      </p:sp>
      <p:sp>
        <p:nvSpPr>
          <p:cNvPr id="8" name="矩形 7"/>
          <p:cNvSpPr/>
          <p:nvPr/>
        </p:nvSpPr>
        <p:spPr>
          <a:xfrm rot="19555970">
            <a:off x="3750926" y="3684958"/>
            <a:ext cx="60346" cy="14526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8154689">
            <a:off x="4793300" y="4701360"/>
            <a:ext cx="75612" cy="15448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rot="4883784" flipH="1">
            <a:off x="6702767" y="4538014"/>
            <a:ext cx="48750" cy="236512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4079403" flipH="1">
            <a:off x="8712200" y="4294785"/>
            <a:ext cx="45719" cy="178283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7853097" y="5487494"/>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rot="18972458" flipH="1">
            <a:off x="8760748" y="2971654"/>
            <a:ext cx="45719" cy="22065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9519911" y="4799355"/>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rot="18430290" flipH="1">
            <a:off x="7016403" y="1377590"/>
            <a:ext cx="45719" cy="232278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7953427" y="3210963"/>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rot="3863705" flipH="1">
            <a:off x="5384906" y="1421100"/>
            <a:ext cx="45719" cy="14430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6024768" y="1768363"/>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rot="2764621" flipH="1">
            <a:off x="4031469" y="2184211"/>
            <a:ext cx="45719" cy="18799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4697059" y="2397997"/>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3028516" y="3553367"/>
            <a:ext cx="255198" cy="461665"/>
          </a:xfrm>
          <a:prstGeom prst="rect">
            <a:avLst/>
          </a:prstGeom>
          <a:noFill/>
        </p:spPr>
        <p:txBody>
          <a:bodyPr wrap="none" lIns="91440" tIns="45720" rIns="91440" bIns="45720">
            <a:spAutoFit/>
          </a:bodyPr>
          <a:lstStyle/>
          <a:p>
            <a:pPr algn="ctr"/>
            <a:r>
              <a:rPr lang="en-US" altLang="zh-CN" sz="2400" b="0" cap="none" spc="0" dirty="0" err="1">
                <a:ln w="0"/>
                <a:solidFill>
                  <a:schemeClr val="accent1">
                    <a:lumMod val="75000"/>
                  </a:schemeClr>
                </a:solidFill>
                <a:effectLst>
                  <a:outerShdw blurRad="38100" dist="19050" dir="2700000" algn="tl" rotWithShape="0">
                    <a:schemeClr val="dk1">
                      <a:alpha val="40000"/>
                    </a:schemeClr>
                  </a:outerShdw>
                </a:effectLst>
              </a:rPr>
              <a:t>i</a:t>
            </a:r>
            <a:endParaRPr lang="zh-CN" altLang="en-US" sz="2400" b="0" cap="none" spc="0" dirty="0">
              <a:ln w="0"/>
              <a:solidFill>
                <a:schemeClr val="accent1">
                  <a:lumMod val="75000"/>
                </a:schemeClr>
              </a:solidFill>
              <a:effectLst>
                <a:outerShdw blurRad="38100" dist="19050" dir="2700000" algn="tl" rotWithShape="0">
                  <a:schemeClr val="dk1">
                    <a:alpha val="40000"/>
                  </a:schemeClr>
                </a:outerShdw>
              </a:effectLst>
            </a:endParaRPr>
          </a:p>
        </p:txBody>
      </p:sp>
      <p:sp>
        <p:nvSpPr>
          <p:cNvPr id="23" name="矩形 22"/>
          <p:cNvSpPr/>
          <p:nvPr/>
        </p:nvSpPr>
        <p:spPr>
          <a:xfrm rot="19555970">
            <a:off x="3761458" y="3686533"/>
            <a:ext cx="60346" cy="145261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4147820" y="49720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3677477" y="5004434"/>
            <a:ext cx="702436" cy="461665"/>
          </a:xfrm>
          <a:prstGeom prst="rect">
            <a:avLst/>
          </a:prstGeom>
          <a:noFill/>
        </p:spPr>
        <p:txBody>
          <a:bodyPr wrap="none" lIns="91440" tIns="45720" rIns="91440" bIns="45720">
            <a:spAutoFit/>
          </a:bodyPr>
          <a:lstStyle/>
          <a:p>
            <a:pPr algn="ctr"/>
            <a:r>
              <a:rPr lang="en-US" altLang="zh-CN" sz="2400" dirty="0" err="1">
                <a:ln w="0"/>
                <a:solidFill>
                  <a:schemeClr val="accent1">
                    <a:lumMod val="75000"/>
                  </a:schemeClr>
                </a:solidFill>
                <a:effectLst>
                  <a:outerShdw blurRad="38100" dist="19050" dir="2700000" algn="tl" rotWithShape="0">
                    <a:schemeClr val="dk1">
                      <a:alpha val="40000"/>
                    </a:schemeClr>
                  </a:outerShdw>
                </a:effectLst>
              </a:rPr>
              <a:t>i</a:t>
            </a:r>
            <a:r>
              <a:rPr lang="en-US" altLang="zh-CN" sz="2400" b="0" cap="none" spc="0" dirty="0">
                <a:ln w="0"/>
                <a:solidFill>
                  <a:schemeClr val="accent1">
                    <a:lumMod val="75000"/>
                  </a:schemeClr>
                </a:solidFill>
                <a:effectLst>
                  <a:outerShdw blurRad="38100" dist="19050" dir="2700000" algn="tl" rotWithShape="0">
                    <a:schemeClr val="dk1">
                      <a:alpha val="40000"/>
                    </a:schemeClr>
                  </a:outerShdw>
                </a:effectLst>
              </a:rPr>
              <a:t> + 1</a:t>
            </a:r>
            <a:endParaRPr lang="zh-CN" altLang="en-US" sz="2400" b="0" cap="none" spc="0" dirty="0">
              <a:ln w="0"/>
              <a:solidFill>
                <a:schemeClr val="accent1">
                  <a:lumMod val="75000"/>
                </a:schemeClr>
              </a:solidFill>
              <a:effectLst>
                <a:outerShdw blurRad="38100" dist="19050" dir="2700000" algn="tl" rotWithShape="0">
                  <a:schemeClr val="dk1">
                    <a:alpha val="40000"/>
                  </a:schemeClr>
                </a:outerShdw>
              </a:effectLst>
            </a:endParaRPr>
          </a:p>
        </p:txBody>
      </p:sp>
      <p:sp>
        <p:nvSpPr>
          <p:cNvPr id="30" name="矩形 29"/>
          <p:cNvSpPr/>
          <p:nvPr/>
        </p:nvSpPr>
        <p:spPr>
          <a:xfrm>
            <a:off x="5500857" y="5231924"/>
            <a:ext cx="258404" cy="461665"/>
          </a:xfrm>
          <a:prstGeom prst="rect">
            <a:avLst/>
          </a:prstGeom>
          <a:noFill/>
        </p:spPr>
        <p:txBody>
          <a:bodyPr wrap="none" lIns="91440" tIns="45720" rIns="91440" bIns="45720">
            <a:spAutoFit/>
          </a:bodyPr>
          <a:lstStyle/>
          <a:p>
            <a:pPr algn="ctr"/>
            <a:r>
              <a:rPr lang="en-US" altLang="zh-CN" sz="2400" dirty="0" err="1">
                <a:ln w="0"/>
                <a:solidFill>
                  <a:schemeClr val="accent1">
                    <a:lumMod val="75000"/>
                  </a:schemeClr>
                </a:solidFill>
                <a:effectLst>
                  <a:outerShdw blurRad="38100" dist="19050" dir="2700000" algn="tl" rotWithShape="0">
                    <a:schemeClr val="dk1">
                      <a:alpha val="40000"/>
                    </a:schemeClr>
                  </a:outerShdw>
                </a:effectLst>
              </a:rPr>
              <a:t>j</a:t>
            </a:r>
            <a:endParaRPr lang="zh-CN" altLang="en-US" sz="2400" b="0" cap="none" spc="0" dirty="0">
              <a:ln w="0"/>
              <a:solidFill>
                <a:schemeClr val="accent1">
                  <a:lumMod val="75000"/>
                </a:schemeClr>
              </a:solidFill>
              <a:effectLst>
                <a:outerShdw blurRad="38100" dist="19050" dir="2700000" algn="tl" rotWithShape="0">
                  <a:schemeClr val="dk1">
                    <a:alpha val="40000"/>
                  </a:schemeClr>
                </a:outerShdw>
              </a:effectLst>
            </a:endParaRPr>
          </a:p>
        </p:txBody>
      </p:sp>
      <p:sp>
        <p:nvSpPr>
          <p:cNvPr id="32" name="矩形 31"/>
          <p:cNvSpPr/>
          <p:nvPr/>
        </p:nvSpPr>
        <p:spPr>
          <a:xfrm rot="18930749">
            <a:off x="4438847" y="3354529"/>
            <a:ext cx="45719" cy="299760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5464227" y="5867611"/>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3309620" y="37401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708785" y="1486694"/>
            <a:ext cx="9278294" cy="5029200"/>
          </a:xfrm>
          <a:prstGeom prst="rect">
            <a:avLst/>
          </a:prstGeom>
        </p:spPr>
      </p:pic>
      <p:sp>
        <p:nvSpPr>
          <p:cNvPr id="2" name="标题 1"/>
          <p:cNvSpPr>
            <a:spLocks noGrp="1"/>
          </p:cNvSpPr>
          <p:nvPr>
            <p:ph type="title"/>
          </p:nvPr>
        </p:nvSpPr>
        <p:spPr/>
        <p:txBody>
          <a:bodyPr/>
          <a:lstStyle/>
          <a:p>
            <a:r>
              <a:rPr lang="zh-CN" altLang="en-US" dirty="0"/>
              <a:t>凸包</a:t>
            </a:r>
          </a:p>
        </p:txBody>
      </p:sp>
      <p:sp>
        <p:nvSpPr>
          <p:cNvPr id="3" name="内容占位符 2"/>
          <p:cNvSpPr>
            <a:spLocks noGrp="1"/>
          </p:cNvSpPr>
          <p:nvPr>
            <p:ph idx="1"/>
          </p:nvPr>
        </p:nvSpPr>
        <p:spPr/>
        <p:txBody>
          <a:bodyPr/>
          <a:lstStyle/>
          <a:p>
            <a:r>
              <a:rPr lang="en-US" altLang="zh-CN" dirty="0"/>
              <a:t>3.</a:t>
            </a:r>
            <a:r>
              <a:rPr lang="zh-CN" altLang="en-US" dirty="0"/>
              <a:t>对于每一个</a:t>
            </a:r>
            <a:r>
              <a:rPr lang="en-US" altLang="zh-CN" dirty="0"/>
              <a:t>I,</a:t>
            </a:r>
          </a:p>
          <a:p>
            <a:pPr marL="0" indent="0">
              <a:buNone/>
            </a:pPr>
            <a:r>
              <a:rPr lang="en-US" altLang="zh-CN" dirty="0"/>
              <a:t>    </a:t>
            </a:r>
            <a:r>
              <a:rPr lang="zh-CN" altLang="en-US" dirty="0"/>
              <a:t>求</a:t>
            </a:r>
            <a:r>
              <a:rPr lang="en-US" altLang="zh-CN" dirty="0"/>
              <a:t>j</a:t>
            </a:r>
            <a:r>
              <a:rPr lang="zh-CN" altLang="en-US" dirty="0"/>
              <a:t>满足                                                    </a:t>
            </a:r>
            <a:endParaRPr lang="en-US" altLang="zh-CN" dirty="0"/>
          </a:p>
          <a:p>
            <a:pPr marL="0" indent="0">
              <a:buNone/>
            </a:pPr>
            <a:r>
              <a:rPr lang="en-US" altLang="zh-CN" dirty="0"/>
              <a:t>   Max { ( A</a:t>
            </a:r>
            <a:r>
              <a:rPr lang="en-US" altLang="zh-CN" baseline="-25000" dirty="0"/>
              <a:t>i+1</a:t>
            </a:r>
            <a:r>
              <a:rPr lang="en-US" altLang="zh-CN" dirty="0"/>
              <a:t> – A</a:t>
            </a:r>
            <a:r>
              <a:rPr lang="en-US" altLang="zh-CN" baseline="-25000" dirty="0"/>
              <a:t>i</a:t>
            </a:r>
            <a:r>
              <a:rPr lang="en-US" altLang="zh-CN" dirty="0"/>
              <a:t> ) ×  ( </a:t>
            </a:r>
            <a:r>
              <a:rPr lang="en-US" altLang="zh-CN" dirty="0" err="1"/>
              <a:t>A</a:t>
            </a:r>
            <a:r>
              <a:rPr lang="en-US" altLang="zh-CN" baseline="-25000" dirty="0" err="1"/>
              <a:t>j</a:t>
            </a:r>
            <a:r>
              <a:rPr lang="en-US" altLang="zh-CN" dirty="0"/>
              <a:t> – A</a:t>
            </a:r>
            <a:r>
              <a:rPr lang="en-US" altLang="zh-CN" baseline="-25000" dirty="0"/>
              <a:t>i</a:t>
            </a:r>
            <a:r>
              <a:rPr lang="en-US" altLang="zh-CN" dirty="0"/>
              <a:t> ) }</a:t>
            </a:r>
          </a:p>
        </p:txBody>
      </p:sp>
      <p:sp>
        <p:nvSpPr>
          <p:cNvPr id="8" name="矩形 7"/>
          <p:cNvSpPr/>
          <p:nvPr/>
        </p:nvSpPr>
        <p:spPr>
          <a:xfrm rot="19555970">
            <a:off x="3750926" y="3684958"/>
            <a:ext cx="60346" cy="14526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8154689">
            <a:off x="4793300" y="4701360"/>
            <a:ext cx="75612" cy="15448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rot="4883784" flipH="1">
            <a:off x="6702767" y="4538014"/>
            <a:ext cx="48750" cy="236512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5464227" y="5867611"/>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4079403" flipH="1">
            <a:off x="8712200" y="4294785"/>
            <a:ext cx="45719" cy="178283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rot="18972458" flipH="1">
            <a:off x="8760748" y="2971654"/>
            <a:ext cx="45719" cy="22065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9519911" y="4799355"/>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rot="18430290" flipH="1">
            <a:off x="7016403" y="1377590"/>
            <a:ext cx="45719" cy="232278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7953427" y="3210963"/>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rot="3863705" flipH="1">
            <a:off x="5384906" y="1421100"/>
            <a:ext cx="45719" cy="14430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6024768" y="1768363"/>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rot="2764621" flipH="1">
            <a:off x="4031469" y="2184211"/>
            <a:ext cx="45719" cy="18799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4697059" y="2397997"/>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3028516" y="3553367"/>
            <a:ext cx="255198" cy="461665"/>
          </a:xfrm>
          <a:prstGeom prst="rect">
            <a:avLst/>
          </a:prstGeom>
          <a:noFill/>
        </p:spPr>
        <p:txBody>
          <a:bodyPr wrap="none" lIns="91440" tIns="45720" rIns="91440" bIns="45720">
            <a:spAutoFit/>
          </a:bodyPr>
          <a:lstStyle/>
          <a:p>
            <a:pPr algn="ctr"/>
            <a:r>
              <a:rPr lang="en-US" altLang="zh-CN" sz="2400" b="0" cap="none" spc="0" dirty="0" err="1">
                <a:ln w="0"/>
                <a:solidFill>
                  <a:schemeClr val="accent1">
                    <a:lumMod val="75000"/>
                  </a:schemeClr>
                </a:solidFill>
                <a:effectLst>
                  <a:outerShdw blurRad="38100" dist="19050" dir="2700000" algn="tl" rotWithShape="0">
                    <a:schemeClr val="dk1">
                      <a:alpha val="40000"/>
                    </a:schemeClr>
                  </a:outerShdw>
                </a:effectLst>
              </a:rPr>
              <a:t>i</a:t>
            </a:r>
            <a:endParaRPr lang="zh-CN" altLang="en-US" sz="2400" b="0" cap="none" spc="0" dirty="0">
              <a:ln w="0"/>
              <a:solidFill>
                <a:schemeClr val="accent1">
                  <a:lumMod val="75000"/>
                </a:schemeClr>
              </a:solidFill>
              <a:effectLst>
                <a:outerShdw blurRad="38100" dist="19050" dir="2700000" algn="tl" rotWithShape="0">
                  <a:schemeClr val="dk1">
                    <a:alpha val="40000"/>
                  </a:schemeClr>
                </a:outerShdw>
              </a:effectLst>
            </a:endParaRPr>
          </a:p>
        </p:txBody>
      </p:sp>
      <p:sp>
        <p:nvSpPr>
          <p:cNvPr id="23" name="矩形 22"/>
          <p:cNvSpPr/>
          <p:nvPr/>
        </p:nvSpPr>
        <p:spPr>
          <a:xfrm rot="19555970">
            <a:off x="3761458" y="3686533"/>
            <a:ext cx="60346" cy="145261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4147820" y="49720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3677477" y="5004434"/>
            <a:ext cx="702436" cy="461665"/>
          </a:xfrm>
          <a:prstGeom prst="rect">
            <a:avLst/>
          </a:prstGeom>
          <a:noFill/>
        </p:spPr>
        <p:txBody>
          <a:bodyPr wrap="none" lIns="91440" tIns="45720" rIns="91440" bIns="45720">
            <a:spAutoFit/>
          </a:bodyPr>
          <a:lstStyle/>
          <a:p>
            <a:pPr algn="ctr"/>
            <a:r>
              <a:rPr lang="en-US" altLang="zh-CN" sz="2400" dirty="0" err="1">
                <a:ln w="0"/>
                <a:solidFill>
                  <a:schemeClr val="accent1">
                    <a:lumMod val="75000"/>
                  </a:schemeClr>
                </a:solidFill>
                <a:effectLst>
                  <a:outerShdw blurRad="38100" dist="19050" dir="2700000" algn="tl" rotWithShape="0">
                    <a:schemeClr val="dk1">
                      <a:alpha val="40000"/>
                    </a:schemeClr>
                  </a:outerShdw>
                </a:effectLst>
              </a:rPr>
              <a:t>i</a:t>
            </a:r>
            <a:r>
              <a:rPr lang="en-US" altLang="zh-CN" sz="2400" b="0" cap="none" spc="0" dirty="0">
                <a:ln w="0"/>
                <a:solidFill>
                  <a:schemeClr val="accent1">
                    <a:lumMod val="75000"/>
                  </a:schemeClr>
                </a:solidFill>
                <a:effectLst>
                  <a:outerShdw blurRad="38100" dist="19050" dir="2700000" algn="tl" rotWithShape="0">
                    <a:schemeClr val="dk1">
                      <a:alpha val="40000"/>
                    </a:schemeClr>
                  </a:outerShdw>
                </a:effectLst>
              </a:rPr>
              <a:t> + 1</a:t>
            </a:r>
            <a:endParaRPr lang="zh-CN" altLang="en-US" sz="2400" b="0" cap="none" spc="0" dirty="0">
              <a:ln w="0"/>
              <a:solidFill>
                <a:schemeClr val="accent1">
                  <a:lumMod val="75000"/>
                </a:schemeClr>
              </a:solidFill>
              <a:effectLst>
                <a:outerShdw blurRad="38100" dist="19050" dir="2700000" algn="tl" rotWithShape="0">
                  <a:schemeClr val="dk1">
                    <a:alpha val="40000"/>
                  </a:schemeClr>
                </a:outerShdw>
              </a:effectLst>
            </a:endParaRPr>
          </a:p>
        </p:txBody>
      </p:sp>
      <p:sp>
        <p:nvSpPr>
          <p:cNvPr id="30" name="矩形 29"/>
          <p:cNvSpPr/>
          <p:nvPr/>
        </p:nvSpPr>
        <p:spPr>
          <a:xfrm>
            <a:off x="7836722" y="4938883"/>
            <a:ext cx="258404" cy="461665"/>
          </a:xfrm>
          <a:prstGeom prst="rect">
            <a:avLst/>
          </a:prstGeom>
          <a:noFill/>
        </p:spPr>
        <p:txBody>
          <a:bodyPr wrap="none" lIns="91440" tIns="45720" rIns="91440" bIns="45720">
            <a:spAutoFit/>
          </a:bodyPr>
          <a:lstStyle/>
          <a:p>
            <a:pPr algn="ctr"/>
            <a:r>
              <a:rPr lang="en-US" altLang="zh-CN" sz="2400" dirty="0" err="1">
                <a:ln w="0"/>
                <a:solidFill>
                  <a:schemeClr val="accent1">
                    <a:lumMod val="75000"/>
                  </a:schemeClr>
                </a:solidFill>
                <a:effectLst>
                  <a:outerShdw blurRad="38100" dist="19050" dir="2700000" algn="tl" rotWithShape="0">
                    <a:schemeClr val="dk1">
                      <a:alpha val="40000"/>
                    </a:schemeClr>
                  </a:outerShdw>
                </a:effectLst>
              </a:rPr>
              <a:t>j</a:t>
            </a:r>
            <a:endParaRPr lang="zh-CN" altLang="en-US" sz="2400" b="0" cap="none" spc="0" dirty="0">
              <a:ln w="0"/>
              <a:solidFill>
                <a:schemeClr val="accent1">
                  <a:lumMod val="75000"/>
                </a:schemeClr>
              </a:solidFill>
              <a:effectLst>
                <a:outerShdw blurRad="38100" dist="19050" dir="2700000" algn="tl" rotWithShape="0">
                  <a:schemeClr val="dk1">
                    <a:alpha val="40000"/>
                  </a:schemeClr>
                </a:outerShdw>
              </a:effectLst>
            </a:endParaRPr>
          </a:p>
        </p:txBody>
      </p:sp>
      <p:sp>
        <p:nvSpPr>
          <p:cNvPr id="32" name="矩形 31"/>
          <p:cNvSpPr/>
          <p:nvPr/>
        </p:nvSpPr>
        <p:spPr>
          <a:xfrm rot="17471791">
            <a:off x="5596334" y="2233869"/>
            <a:ext cx="63730" cy="484867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7853097" y="5487494"/>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3309620" y="37401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708785" y="1486694"/>
            <a:ext cx="9278294" cy="5029200"/>
          </a:xfrm>
          <a:prstGeom prst="rect">
            <a:avLst/>
          </a:prstGeom>
        </p:spPr>
      </p:pic>
      <p:sp>
        <p:nvSpPr>
          <p:cNvPr id="2" name="标题 1"/>
          <p:cNvSpPr>
            <a:spLocks noGrp="1"/>
          </p:cNvSpPr>
          <p:nvPr>
            <p:ph type="title"/>
          </p:nvPr>
        </p:nvSpPr>
        <p:spPr/>
        <p:txBody>
          <a:bodyPr/>
          <a:lstStyle/>
          <a:p>
            <a:r>
              <a:rPr lang="zh-CN" altLang="en-US" dirty="0"/>
              <a:t>凸包</a:t>
            </a:r>
          </a:p>
        </p:txBody>
      </p:sp>
      <p:sp>
        <p:nvSpPr>
          <p:cNvPr id="3" name="内容占位符 2"/>
          <p:cNvSpPr>
            <a:spLocks noGrp="1"/>
          </p:cNvSpPr>
          <p:nvPr>
            <p:ph idx="1"/>
          </p:nvPr>
        </p:nvSpPr>
        <p:spPr/>
        <p:txBody>
          <a:bodyPr/>
          <a:lstStyle/>
          <a:p>
            <a:r>
              <a:rPr lang="en-US" altLang="zh-CN" dirty="0"/>
              <a:t>3.</a:t>
            </a:r>
            <a:r>
              <a:rPr lang="zh-CN" altLang="en-US" dirty="0"/>
              <a:t>对于每一个</a:t>
            </a:r>
            <a:r>
              <a:rPr lang="en-US" altLang="zh-CN" dirty="0"/>
              <a:t>I,</a:t>
            </a:r>
          </a:p>
          <a:p>
            <a:pPr marL="0" indent="0">
              <a:buNone/>
            </a:pPr>
            <a:r>
              <a:rPr lang="en-US" altLang="zh-CN" dirty="0"/>
              <a:t>    </a:t>
            </a:r>
            <a:r>
              <a:rPr lang="zh-CN" altLang="en-US" dirty="0"/>
              <a:t>求</a:t>
            </a:r>
            <a:r>
              <a:rPr lang="en-US" altLang="zh-CN" dirty="0"/>
              <a:t>j</a:t>
            </a:r>
            <a:r>
              <a:rPr lang="zh-CN" altLang="en-US" dirty="0"/>
              <a:t>满足                                                    </a:t>
            </a:r>
            <a:endParaRPr lang="en-US" altLang="zh-CN" dirty="0"/>
          </a:p>
          <a:p>
            <a:pPr marL="0" indent="0">
              <a:buNone/>
            </a:pPr>
            <a:r>
              <a:rPr lang="en-US" altLang="zh-CN" dirty="0"/>
              <a:t>   Max { ( A</a:t>
            </a:r>
            <a:r>
              <a:rPr lang="en-US" altLang="zh-CN" baseline="-25000" dirty="0"/>
              <a:t>i+1</a:t>
            </a:r>
            <a:r>
              <a:rPr lang="en-US" altLang="zh-CN" dirty="0"/>
              <a:t> – A</a:t>
            </a:r>
            <a:r>
              <a:rPr lang="en-US" altLang="zh-CN" baseline="-25000" dirty="0"/>
              <a:t>i</a:t>
            </a:r>
            <a:r>
              <a:rPr lang="en-US" altLang="zh-CN" dirty="0"/>
              <a:t> ) ×  ( </a:t>
            </a:r>
            <a:r>
              <a:rPr lang="en-US" altLang="zh-CN" dirty="0" err="1"/>
              <a:t>A</a:t>
            </a:r>
            <a:r>
              <a:rPr lang="en-US" altLang="zh-CN" baseline="-25000" dirty="0" err="1"/>
              <a:t>j</a:t>
            </a:r>
            <a:r>
              <a:rPr lang="en-US" altLang="zh-CN" dirty="0"/>
              <a:t> – A</a:t>
            </a:r>
            <a:r>
              <a:rPr lang="en-US" altLang="zh-CN" baseline="-25000" dirty="0"/>
              <a:t>i</a:t>
            </a:r>
            <a:r>
              <a:rPr lang="en-US" altLang="zh-CN" dirty="0"/>
              <a:t> ) }</a:t>
            </a:r>
          </a:p>
        </p:txBody>
      </p:sp>
      <p:sp>
        <p:nvSpPr>
          <p:cNvPr id="8" name="矩形 7"/>
          <p:cNvSpPr/>
          <p:nvPr/>
        </p:nvSpPr>
        <p:spPr>
          <a:xfrm rot="19555970">
            <a:off x="3750926" y="3684958"/>
            <a:ext cx="60346" cy="14526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8154689">
            <a:off x="4793300" y="4701360"/>
            <a:ext cx="75612" cy="15448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rot="4883784" flipH="1">
            <a:off x="6702767" y="4538014"/>
            <a:ext cx="48750" cy="236512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5464227" y="5867611"/>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4079403" flipH="1">
            <a:off x="8712200" y="4294785"/>
            <a:ext cx="45719" cy="178283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rot="18972458" flipH="1">
            <a:off x="8760748" y="2971654"/>
            <a:ext cx="45719" cy="22065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rot="18430290" flipH="1">
            <a:off x="7016403" y="1377590"/>
            <a:ext cx="45719" cy="232278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7953427" y="3210963"/>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rot="3863705" flipH="1">
            <a:off x="5384906" y="1421100"/>
            <a:ext cx="45719" cy="14430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6024768" y="1768363"/>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rot="2764621" flipH="1">
            <a:off x="4031469" y="2184211"/>
            <a:ext cx="45719" cy="18799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4697059" y="2397997"/>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3028516" y="3553367"/>
            <a:ext cx="255198" cy="461665"/>
          </a:xfrm>
          <a:prstGeom prst="rect">
            <a:avLst/>
          </a:prstGeom>
          <a:noFill/>
        </p:spPr>
        <p:txBody>
          <a:bodyPr wrap="none" lIns="91440" tIns="45720" rIns="91440" bIns="45720">
            <a:spAutoFit/>
          </a:bodyPr>
          <a:lstStyle/>
          <a:p>
            <a:pPr algn="ctr"/>
            <a:r>
              <a:rPr lang="en-US" altLang="zh-CN" sz="2400" b="0" cap="none" spc="0" dirty="0" err="1">
                <a:ln w="0"/>
                <a:solidFill>
                  <a:schemeClr val="accent1">
                    <a:lumMod val="75000"/>
                  </a:schemeClr>
                </a:solidFill>
                <a:effectLst>
                  <a:outerShdw blurRad="38100" dist="19050" dir="2700000" algn="tl" rotWithShape="0">
                    <a:schemeClr val="dk1">
                      <a:alpha val="40000"/>
                    </a:schemeClr>
                  </a:outerShdw>
                </a:effectLst>
              </a:rPr>
              <a:t>i</a:t>
            </a:r>
            <a:endParaRPr lang="zh-CN" altLang="en-US" sz="2400" b="0" cap="none" spc="0" dirty="0">
              <a:ln w="0"/>
              <a:solidFill>
                <a:schemeClr val="accent1">
                  <a:lumMod val="75000"/>
                </a:schemeClr>
              </a:solidFill>
              <a:effectLst>
                <a:outerShdw blurRad="38100" dist="19050" dir="2700000" algn="tl" rotWithShape="0">
                  <a:schemeClr val="dk1">
                    <a:alpha val="40000"/>
                  </a:schemeClr>
                </a:outerShdw>
              </a:effectLst>
            </a:endParaRPr>
          </a:p>
        </p:txBody>
      </p:sp>
      <p:sp>
        <p:nvSpPr>
          <p:cNvPr id="23" name="矩形 22"/>
          <p:cNvSpPr/>
          <p:nvPr/>
        </p:nvSpPr>
        <p:spPr>
          <a:xfrm rot="19555970">
            <a:off x="3761458" y="3686533"/>
            <a:ext cx="60346" cy="145261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4147820" y="49720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3677477" y="5004434"/>
            <a:ext cx="702436" cy="461665"/>
          </a:xfrm>
          <a:prstGeom prst="rect">
            <a:avLst/>
          </a:prstGeom>
          <a:noFill/>
        </p:spPr>
        <p:txBody>
          <a:bodyPr wrap="none" lIns="91440" tIns="45720" rIns="91440" bIns="45720">
            <a:spAutoFit/>
          </a:bodyPr>
          <a:lstStyle/>
          <a:p>
            <a:pPr algn="ctr"/>
            <a:r>
              <a:rPr lang="en-US" altLang="zh-CN" sz="2400" dirty="0" err="1">
                <a:ln w="0"/>
                <a:solidFill>
                  <a:schemeClr val="accent1">
                    <a:lumMod val="75000"/>
                  </a:schemeClr>
                </a:solidFill>
                <a:effectLst>
                  <a:outerShdw blurRad="38100" dist="19050" dir="2700000" algn="tl" rotWithShape="0">
                    <a:schemeClr val="dk1">
                      <a:alpha val="40000"/>
                    </a:schemeClr>
                  </a:outerShdw>
                </a:effectLst>
              </a:rPr>
              <a:t>i</a:t>
            </a:r>
            <a:r>
              <a:rPr lang="en-US" altLang="zh-CN" sz="2400" b="0" cap="none" spc="0" dirty="0">
                <a:ln w="0"/>
                <a:solidFill>
                  <a:schemeClr val="accent1">
                    <a:lumMod val="75000"/>
                  </a:schemeClr>
                </a:solidFill>
                <a:effectLst>
                  <a:outerShdw blurRad="38100" dist="19050" dir="2700000" algn="tl" rotWithShape="0">
                    <a:schemeClr val="dk1">
                      <a:alpha val="40000"/>
                    </a:schemeClr>
                  </a:outerShdw>
                </a:effectLst>
              </a:rPr>
              <a:t> + 1</a:t>
            </a:r>
            <a:endParaRPr lang="zh-CN" altLang="en-US" sz="2400" b="0" cap="none" spc="0" dirty="0">
              <a:ln w="0"/>
              <a:solidFill>
                <a:schemeClr val="accent1">
                  <a:lumMod val="75000"/>
                </a:schemeClr>
              </a:solidFill>
              <a:effectLst>
                <a:outerShdw blurRad="38100" dist="19050" dir="2700000" algn="tl" rotWithShape="0">
                  <a:schemeClr val="dk1">
                    <a:alpha val="40000"/>
                  </a:schemeClr>
                </a:outerShdw>
              </a:effectLst>
            </a:endParaRPr>
          </a:p>
        </p:txBody>
      </p:sp>
      <p:sp>
        <p:nvSpPr>
          <p:cNvPr id="30" name="矩形 29"/>
          <p:cNvSpPr/>
          <p:nvPr/>
        </p:nvSpPr>
        <p:spPr>
          <a:xfrm>
            <a:off x="9534965" y="4172605"/>
            <a:ext cx="258404" cy="461665"/>
          </a:xfrm>
          <a:prstGeom prst="rect">
            <a:avLst/>
          </a:prstGeom>
          <a:noFill/>
        </p:spPr>
        <p:txBody>
          <a:bodyPr wrap="none" lIns="91440" tIns="45720" rIns="91440" bIns="45720">
            <a:spAutoFit/>
          </a:bodyPr>
          <a:lstStyle/>
          <a:p>
            <a:pPr algn="ctr"/>
            <a:r>
              <a:rPr lang="en-US" altLang="zh-CN" sz="2400" dirty="0" err="1">
                <a:ln w="0"/>
                <a:solidFill>
                  <a:schemeClr val="accent1">
                    <a:lumMod val="75000"/>
                  </a:schemeClr>
                </a:solidFill>
                <a:effectLst>
                  <a:outerShdw blurRad="38100" dist="19050" dir="2700000" algn="tl" rotWithShape="0">
                    <a:schemeClr val="dk1">
                      <a:alpha val="40000"/>
                    </a:schemeClr>
                  </a:outerShdw>
                </a:effectLst>
              </a:rPr>
              <a:t>j</a:t>
            </a:r>
            <a:endParaRPr lang="zh-CN" altLang="en-US" sz="2400" b="0" cap="none" spc="0" dirty="0">
              <a:ln w="0"/>
              <a:solidFill>
                <a:schemeClr val="accent1">
                  <a:lumMod val="75000"/>
                </a:schemeClr>
              </a:solidFill>
              <a:effectLst>
                <a:outerShdw blurRad="38100" dist="19050" dir="2700000" algn="tl" rotWithShape="0">
                  <a:schemeClr val="dk1">
                    <a:alpha val="40000"/>
                  </a:schemeClr>
                </a:outerShdw>
              </a:effectLst>
            </a:endParaRPr>
          </a:p>
        </p:txBody>
      </p:sp>
      <p:sp>
        <p:nvSpPr>
          <p:cNvPr id="32" name="矩形 31"/>
          <p:cNvSpPr/>
          <p:nvPr/>
        </p:nvSpPr>
        <p:spPr>
          <a:xfrm rot="16785142">
            <a:off x="6442908" y="1198357"/>
            <a:ext cx="45719" cy="623942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7853097" y="5487494"/>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3309620" y="37401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9519911" y="4799355"/>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708785" y="1486694"/>
            <a:ext cx="9278294" cy="5029200"/>
          </a:xfrm>
          <a:prstGeom prst="rect">
            <a:avLst/>
          </a:prstGeom>
        </p:spPr>
      </p:pic>
      <p:sp>
        <p:nvSpPr>
          <p:cNvPr id="2" name="标题 1"/>
          <p:cNvSpPr>
            <a:spLocks noGrp="1"/>
          </p:cNvSpPr>
          <p:nvPr>
            <p:ph type="title"/>
          </p:nvPr>
        </p:nvSpPr>
        <p:spPr/>
        <p:txBody>
          <a:bodyPr/>
          <a:lstStyle/>
          <a:p>
            <a:r>
              <a:rPr lang="zh-CN" altLang="en-US" dirty="0"/>
              <a:t>凸包</a:t>
            </a:r>
          </a:p>
        </p:txBody>
      </p:sp>
      <p:sp>
        <p:nvSpPr>
          <p:cNvPr id="3" name="内容占位符 2"/>
          <p:cNvSpPr>
            <a:spLocks noGrp="1"/>
          </p:cNvSpPr>
          <p:nvPr>
            <p:ph idx="1"/>
          </p:nvPr>
        </p:nvSpPr>
        <p:spPr/>
        <p:txBody>
          <a:bodyPr/>
          <a:lstStyle/>
          <a:p>
            <a:r>
              <a:rPr lang="en-US" altLang="zh-CN" dirty="0"/>
              <a:t>4.</a:t>
            </a:r>
            <a:r>
              <a:rPr lang="zh-CN" altLang="en-US" dirty="0"/>
              <a:t>比较最大值</a:t>
            </a:r>
            <a:endParaRPr lang="en-US" altLang="zh-CN" dirty="0"/>
          </a:p>
          <a:p>
            <a:pPr marL="0" indent="0">
              <a:buNone/>
            </a:pPr>
            <a:r>
              <a:rPr lang="zh-CN" altLang="en-US" dirty="0"/>
              <a:t>      获得答案</a:t>
            </a:r>
            <a:endParaRPr lang="en-US" altLang="zh-CN" dirty="0"/>
          </a:p>
        </p:txBody>
      </p:sp>
      <p:sp>
        <p:nvSpPr>
          <p:cNvPr id="8" name="矩形 7"/>
          <p:cNvSpPr/>
          <p:nvPr/>
        </p:nvSpPr>
        <p:spPr>
          <a:xfrm rot="19555970">
            <a:off x="3750926" y="3684958"/>
            <a:ext cx="60346" cy="14526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8154689">
            <a:off x="4793300" y="4701360"/>
            <a:ext cx="75612" cy="15448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rot="4883784" flipH="1">
            <a:off x="6702767" y="4538014"/>
            <a:ext cx="48750" cy="236512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4079403" flipH="1">
            <a:off x="8712200" y="4294785"/>
            <a:ext cx="45719" cy="178283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rot="18972458" flipH="1">
            <a:off x="8760748" y="2971654"/>
            <a:ext cx="45719" cy="22065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rot="18430290" flipH="1">
            <a:off x="7016403" y="1377590"/>
            <a:ext cx="45719" cy="232278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rot="3863705" flipH="1">
            <a:off x="5384906" y="1421100"/>
            <a:ext cx="45719" cy="14430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6024768" y="1768363"/>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rot="2764621" flipH="1">
            <a:off x="4031469" y="2184211"/>
            <a:ext cx="45719" cy="18799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4697059" y="2397997"/>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3881170" y="4989501"/>
            <a:ext cx="255198" cy="461665"/>
          </a:xfrm>
          <a:prstGeom prst="rect">
            <a:avLst/>
          </a:prstGeom>
          <a:noFill/>
        </p:spPr>
        <p:txBody>
          <a:bodyPr wrap="none" lIns="91440" tIns="45720" rIns="91440" bIns="45720">
            <a:spAutoFit/>
          </a:bodyPr>
          <a:lstStyle/>
          <a:p>
            <a:pPr algn="ctr"/>
            <a:r>
              <a:rPr lang="en-US" altLang="zh-CN" sz="2400" b="0" cap="none" spc="0" dirty="0" err="1">
                <a:ln w="0"/>
                <a:solidFill>
                  <a:schemeClr val="accent1">
                    <a:lumMod val="75000"/>
                  </a:schemeClr>
                </a:solidFill>
                <a:effectLst>
                  <a:outerShdw blurRad="38100" dist="19050" dir="2700000" algn="tl" rotWithShape="0">
                    <a:schemeClr val="dk1">
                      <a:alpha val="40000"/>
                    </a:schemeClr>
                  </a:outerShdw>
                </a:effectLst>
              </a:rPr>
              <a:t>i</a:t>
            </a:r>
            <a:endParaRPr lang="zh-CN" altLang="en-US" sz="2400" b="0" cap="none" spc="0" dirty="0">
              <a:ln w="0"/>
              <a:solidFill>
                <a:schemeClr val="accent1">
                  <a:lumMod val="75000"/>
                </a:schemeClr>
              </a:solidFill>
              <a:effectLst>
                <a:outerShdw blurRad="38100" dist="19050" dir="2700000" algn="tl" rotWithShape="0">
                  <a:schemeClr val="dk1">
                    <a:alpha val="40000"/>
                  </a:schemeClr>
                </a:outerShdw>
              </a:effectLst>
            </a:endParaRPr>
          </a:p>
        </p:txBody>
      </p:sp>
      <p:sp>
        <p:nvSpPr>
          <p:cNvPr id="23" name="矩形 22"/>
          <p:cNvSpPr/>
          <p:nvPr/>
        </p:nvSpPr>
        <p:spPr>
          <a:xfrm rot="18122829">
            <a:off x="4803297" y="4698914"/>
            <a:ext cx="75370" cy="156001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4147820" y="49720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5744782" y="5690752"/>
            <a:ext cx="702436" cy="461665"/>
          </a:xfrm>
          <a:prstGeom prst="rect">
            <a:avLst/>
          </a:prstGeom>
          <a:noFill/>
        </p:spPr>
        <p:txBody>
          <a:bodyPr wrap="none" lIns="91440" tIns="45720" rIns="91440" bIns="45720">
            <a:spAutoFit/>
          </a:bodyPr>
          <a:lstStyle/>
          <a:p>
            <a:pPr algn="ctr"/>
            <a:r>
              <a:rPr lang="en-US" altLang="zh-CN" sz="2400" dirty="0" err="1">
                <a:ln w="0"/>
                <a:solidFill>
                  <a:schemeClr val="accent1">
                    <a:lumMod val="75000"/>
                  </a:schemeClr>
                </a:solidFill>
                <a:effectLst>
                  <a:outerShdw blurRad="38100" dist="19050" dir="2700000" algn="tl" rotWithShape="0">
                    <a:schemeClr val="dk1">
                      <a:alpha val="40000"/>
                    </a:schemeClr>
                  </a:outerShdw>
                </a:effectLst>
              </a:rPr>
              <a:t>i</a:t>
            </a:r>
            <a:r>
              <a:rPr lang="en-US" altLang="zh-CN" sz="2400" b="0" cap="none" spc="0" dirty="0">
                <a:ln w="0"/>
                <a:solidFill>
                  <a:schemeClr val="accent1">
                    <a:lumMod val="75000"/>
                  </a:schemeClr>
                </a:solidFill>
                <a:effectLst>
                  <a:outerShdw blurRad="38100" dist="19050" dir="2700000" algn="tl" rotWithShape="0">
                    <a:schemeClr val="dk1">
                      <a:alpha val="40000"/>
                    </a:schemeClr>
                  </a:outerShdw>
                </a:effectLst>
              </a:rPr>
              <a:t> + 1</a:t>
            </a:r>
            <a:endParaRPr lang="zh-CN" altLang="en-US" sz="2400" b="0" cap="none" spc="0" dirty="0">
              <a:ln w="0"/>
              <a:solidFill>
                <a:schemeClr val="accent1">
                  <a:lumMod val="75000"/>
                </a:schemeClr>
              </a:solidFill>
              <a:effectLst>
                <a:outerShdw blurRad="38100" dist="19050" dir="2700000" algn="tl" rotWithShape="0">
                  <a:schemeClr val="dk1">
                    <a:alpha val="40000"/>
                  </a:schemeClr>
                </a:outerShdw>
              </a:effectLst>
            </a:endParaRPr>
          </a:p>
        </p:txBody>
      </p:sp>
      <p:sp>
        <p:nvSpPr>
          <p:cNvPr id="30" name="矩形 29"/>
          <p:cNvSpPr/>
          <p:nvPr/>
        </p:nvSpPr>
        <p:spPr>
          <a:xfrm>
            <a:off x="8155745" y="2471088"/>
            <a:ext cx="258404" cy="461665"/>
          </a:xfrm>
          <a:prstGeom prst="rect">
            <a:avLst/>
          </a:prstGeom>
          <a:noFill/>
        </p:spPr>
        <p:txBody>
          <a:bodyPr wrap="none" lIns="91440" tIns="45720" rIns="91440" bIns="45720">
            <a:spAutoFit/>
          </a:bodyPr>
          <a:lstStyle/>
          <a:p>
            <a:pPr algn="ctr"/>
            <a:r>
              <a:rPr lang="en-US" altLang="zh-CN" sz="2400" dirty="0" err="1">
                <a:ln w="0"/>
                <a:solidFill>
                  <a:schemeClr val="accent1">
                    <a:lumMod val="75000"/>
                  </a:schemeClr>
                </a:solidFill>
                <a:effectLst>
                  <a:outerShdw blurRad="38100" dist="19050" dir="2700000" algn="tl" rotWithShape="0">
                    <a:schemeClr val="dk1">
                      <a:alpha val="40000"/>
                    </a:schemeClr>
                  </a:outerShdw>
                </a:effectLst>
              </a:rPr>
              <a:t>j</a:t>
            </a:r>
            <a:endParaRPr lang="zh-CN" altLang="en-US" sz="2400" b="0" cap="none" spc="0" dirty="0">
              <a:ln w="0"/>
              <a:solidFill>
                <a:schemeClr val="accent1">
                  <a:lumMod val="75000"/>
                </a:schemeClr>
              </a:solidFill>
              <a:effectLst>
                <a:outerShdw blurRad="38100" dist="19050" dir="2700000" algn="tl" rotWithShape="0">
                  <a:schemeClr val="dk1">
                    <a:alpha val="40000"/>
                  </a:schemeClr>
                </a:outerShdw>
              </a:effectLst>
            </a:endParaRPr>
          </a:p>
        </p:txBody>
      </p:sp>
      <p:sp>
        <p:nvSpPr>
          <p:cNvPr id="16" name="椭圆 15"/>
          <p:cNvSpPr/>
          <p:nvPr/>
        </p:nvSpPr>
        <p:spPr>
          <a:xfrm>
            <a:off x="7853097" y="5487494"/>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3309620" y="37401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9519911" y="4799355"/>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5464227" y="5867611"/>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rot="3902697">
            <a:off x="6092092" y="2062178"/>
            <a:ext cx="45719" cy="415713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7953427" y="3210963"/>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up)">
                                      <p:cBhvr>
                                        <p:cTn id="7" dur="500"/>
                                        <p:tgtEl>
                                          <p:spTgt spid="2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down)">
                                      <p:cBhvr>
                                        <p:cTn id="1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3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708785" y="1486694"/>
            <a:ext cx="9278294" cy="5029200"/>
          </a:xfrm>
          <a:prstGeom prst="rect">
            <a:avLst/>
          </a:prstGeom>
        </p:spPr>
      </p:pic>
      <p:sp>
        <p:nvSpPr>
          <p:cNvPr id="2" name="标题 1"/>
          <p:cNvSpPr>
            <a:spLocks noGrp="1"/>
          </p:cNvSpPr>
          <p:nvPr>
            <p:ph type="title"/>
          </p:nvPr>
        </p:nvSpPr>
        <p:spPr/>
        <p:txBody>
          <a:bodyPr/>
          <a:lstStyle/>
          <a:p>
            <a:r>
              <a:rPr lang="zh-CN" altLang="en-US" dirty="0"/>
              <a:t>凸包</a:t>
            </a:r>
          </a:p>
        </p:txBody>
      </p:sp>
      <p:sp>
        <p:nvSpPr>
          <p:cNvPr id="3" name="内容占位符 2"/>
          <p:cNvSpPr>
            <a:spLocks noGrp="1"/>
          </p:cNvSpPr>
          <p:nvPr>
            <p:ph idx="1"/>
          </p:nvPr>
        </p:nvSpPr>
        <p:spPr/>
        <p:txBody>
          <a:bodyPr/>
          <a:lstStyle/>
          <a:p>
            <a:r>
              <a:rPr lang="en-US" altLang="zh-CN" dirty="0"/>
              <a:t>4.</a:t>
            </a:r>
            <a:r>
              <a:rPr lang="zh-CN" altLang="en-US" dirty="0"/>
              <a:t>比较最大值</a:t>
            </a:r>
            <a:endParaRPr lang="en-US" altLang="zh-CN" dirty="0"/>
          </a:p>
          <a:p>
            <a:pPr marL="0" indent="0">
              <a:buNone/>
            </a:pPr>
            <a:r>
              <a:rPr lang="zh-CN" altLang="en-US" dirty="0"/>
              <a:t>      获得答案</a:t>
            </a:r>
            <a:endParaRPr lang="en-US" altLang="zh-CN" dirty="0"/>
          </a:p>
        </p:txBody>
      </p:sp>
      <p:sp>
        <p:nvSpPr>
          <p:cNvPr id="8" name="矩形 7"/>
          <p:cNvSpPr/>
          <p:nvPr/>
        </p:nvSpPr>
        <p:spPr>
          <a:xfrm rot="19555970">
            <a:off x="3750926" y="3684958"/>
            <a:ext cx="60346" cy="14526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8154689">
            <a:off x="4793300" y="4701360"/>
            <a:ext cx="75612" cy="15448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rot="4883784" flipH="1">
            <a:off x="6702767" y="4538014"/>
            <a:ext cx="48750" cy="236512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4079403" flipH="1">
            <a:off x="8712200" y="4294785"/>
            <a:ext cx="45719" cy="178283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rot="18972458" flipH="1">
            <a:off x="8760748" y="2971654"/>
            <a:ext cx="45719" cy="22065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rot="18430290" flipH="1">
            <a:off x="7016403" y="1377590"/>
            <a:ext cx="45719" cy="232278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rot="3863705" flipH="1">
            <a:off x="5384906" y="1421100"/>
            <a:ext cx="45719" cy="14430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rot="2764621" flipH="1">
            <a:off x="4031469" y="2184211"/>
            <a:ext cx="45719" cy="18799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4697059" y="2397997"/>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5483904" y="5414682"/>
            <a:ext cx="255198" cy="461665"/>
          </a:xfrm>
          <a:prstGeom prst="rect">
            <a:avLst/>
          </a:prstGeom>
          <a:noFill/>
        </p:spPr>
        <p:txBody>
          <a:bodyPr wrap="none" lIns="91440" tIns="45720" rIns="91440" bIns="45720">
            <a:spAutoFit/>
          </a:bodyPr>
          <a:lstStyle/>
          <a:p>
            <a:pPr algn="ctr"/>
            <a:r>
              <a:rPr lang="en-US" altLang="zh-CN" sz="2400" b="0" cap="none" spc="0" dirty="0" err="1">
                <a:ln w="0"/>
                <a:solidFill>
                  <a:schemeClr val="accent1">
                    <a:lumMod val="75000"/>
                  </a:schemeClr>
                </a:solidFill>
                <a:effectLst>
                  <a:outerShdw blurRad="38100" dist="19050" dir="2700000" algn="tl" rotWithShape="0">
                    <a:schemeClr val="dk1">
                      <a:alpha val="40000"/>
                    </a:schemeClr>
                  </a:outerShdw>
                </a:effectLst>
              </a:rPr>
              <a:t>i</a:t>
            </a:r>
            <a:endParaRPr lang="zh-CN" altLang="en-US" sz="2400" b="0" cap="none" spc="0" dirty="0">
              <a:ln w="0"/>
              <a:solidFill>
                <a:schemeClr val="accent1">
                  <a:lumMod val="75000"/>
                </a:schemeClr>
              </a:solidFill>
              <a:effectLst>
                <a:outerShdw blurRad="38100" dist="19050" dir="2700000" algn="tl" rotWithShape="0">
                  <a:schemeClr val="dk1">
                    <a:alpha val="40000"/>
                  </a:schemeClr>
                </a:outerShdw>
              </a:effectLst>
            </a:endParaRPr>
          </a:p>
        </p:txBody>
      </p:sp>
      <p:sp>
        <p:nvSpPr>
          <p:cNvPr id="23" name="矩形 22"/>
          <p:cNvSpPr/>
          <p:nvPr/>
        </p:nvSpPr>
        <p:spPr>
          <a:xfrm rot="15676133">
            <a:off x="6673030" y="4520384"/>
            <a:ext cx="70720" cy="240038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4147820" y="49720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815616" y="4974305"/>
            <a:ext cx="702436" cy="461665"/>
          </a:xfrm>
          <a:prstGeom prst="rect">
            <a:avLst/>
          </a:prstGeom>
          <a:noFill/>
        </p:spPr>
        <p:txBody>
          <a:bodyPr wrap="none" lIns="91440" tIns="45720" rIns="91440" bIns="45720">
            <a:spAutoFit/>
          </a:bodyPr>
          <a:lstStyle/>
          <a:p>
            <a:pPr algn="ctr"/>
            <a:r>
              <a:rPr lang="en-US" altLang="zh-CN" sz="2400" dirty="0" err="1">
                <a:ln w="0"/>
                <a:solidFill>
                  <a:schemeClr val="accent1">
                    <a:lumMod val="75000"/>
                  </a:schemeClr>
                </a:solidFill>
                <a:effectLst>
                  <a:outerShdw blurRad="38100" dist="19050" dir="2700000" algn="tl" rotWithShape="0">
                    <a:schemeClr val="dk1">
                      <a:alpha val="40000"/>
                    </a:schemeClr>
                  </a:outerShdw>
                </a:effectLst>
              </a:rPr>
              <a:t>i</a:t>
            </a:r>
            <a:r>
              <a:rPr lang="en-US" altLang="zh-CN" sz="2400" b="0" cap="none" spc="0" dirty="0">
                <a:ln w="0"/>
                <a:solidFill>
                  <a:schemeClr val="accent1">
                    <a:lumMod val="75000"/>
                  </a:schemeClr>
                </a:solidFill>
                <a:effectLst>
                  <a:outerShdw blurRad="38100" dist="19050" dir="2700000" algn="tl" rotWithShape="0">
                    <a:schemeClr val="dk1">
                      <a:alpha val="40000"/>
                    </a:schemeClr>
                  </a:outerShdw>
                </a:effectLst>
              </a:rPr>
              <a:t> + 1</a:t>
            </a:r>
            <a:endParaRPr lang="zh-CN" altLang="en-US" sz="2400" b="0" cap="none" spc="0" dirty="0">
              <a:ln w="0"/>
              <a:solidFill>
                <a:schemeClr val="accent1">
                  <a:lumMod val="75000"/>
                </a:schemeClr>
              </a:solidFill>
              <a:effectLst>
                <a:outerShdw blurRad="38100" dist="19050" dir="2700000" algn="tl" rotWithShape="0">
                  <a:schemeClr val="dk1">
                    <a:alpha val="40000"/>
                  </a:schemeClr>
                </a:outerShdw>
              </a:effectLst>
            </a:endParaRPr>
          </a:p>
        </p:txBody>
      </p:sp>
      <p:sp>
        <p:nvSpPr>
          <p:cNvPr id="30" name="矩形 29"/>
          <p:cNvSpPr/>
          <p:nvPr/>
        </p:nvSpPr>
        <p:spPr>
          <a:xfrm>
            <a:off x="6179256" y="1313007"/>
            <a:ext cx="258404" cy="461665"/>
          </a:xfrm>
          <a:prstGeom prst="rect">
            <a:avLst/>
          </a:prstGeom>
          <a:noFill/>
        </p:spPr>
        <p:txBody>
          <a:bodyPr wrap="none" lIns="91440" tIns="45720" rIns="91440" bIns="45720">
            <a:spAutoFit/>
          </a:bodyPr>
          <a:lstStyle/>
          <a:p>
            <a:pPr algn="ctr"/>
            <a:r>
              <a:rPr lang="en-US" altLang="zh-CN" sz="2400" dirty="0" err="1">
                <a:ln w="0"/>
                <a:solidFill>
                  <a:schemeClr val="accent1">
                    <a:lumMod val="75000"/>
                  </a:schemeClr>
                </a:solidFill>
                <a:effectLst>
                  <a:outerShdw blurRad="38100" dist="19050" dir="2700000" algn="tl" rotWithShape="0">
                    <a:schemeClr val="dk1">
                      <a:alpha val="40000"/>
                    </a:schemeClr>
                  </a:outerShdw>
                </a:effectLst>
              </a:rPr>
              <a:t>j</a:t>
            </a:r>
            <a:endParaRPr lang="zh-CN" altLang="en-US" sz="2400" b="0" cap="none" spc="0" dirty="0">
              <a:ln w="0"/>
              <a:solidFill>
                <a:schemeClr val="accent1">
                  <a:lumMod val="75000"/>
                </a:schemeClr>
              </a:solidFill>
              <a:effectLst>
                <a:outerShdw blurRad="38100" dist="19050" dir="2700000" algn="tl" rotWithShape="0">
                  <a:schemeClr val="dk1">
                    <a:alpha val="40000"/>
                  </a:schemeClr>
                </a:outerShdw>
              </a:effectLst>
            </a:endParaRPr>
          </a:p>
        </p:txBody>
      </p:sp>
      <p:sp>
        <p:nvSpPr>
          <p:cNvPr id="16" name="椭圆 15"/>
          <p:cNvSpPr/>
          <p:nvPr/>
        </p:nvSpPr>
        <p:spPr>
          <a:xfrm>
            <a:off x="7853097" y="5487494"/>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3309620" y="3740150"/>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9519911" y="4799355"/>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5464227" y="5867611"/>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rot="458002">
            <a:off x="5775802" y="1831454"/>
            <a:ext cx="45719" cy="4088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7953427" y="3210963"/>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6024768" y="1768363"/>
            <a:ext cx="100330" cy="107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down)">
                                      <p:cBhvr>
                                        <p:cTn id="7" dur="500"/>
                                        <p:tgtEl>
                                          <p:spTgt spid="2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down)">
                                      <p:cBhvr>
                                        <p:cTn id="1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3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POJ 2079 Triangle</a:t>
            </a:r>
            <a:endParaRPr lang="zh-CN" altLang="en-US" dirty="0"/>
          </a:p>
        </p:txBody>
      </p:sp>
      <p:sp>
        <p:nvSpPr>
          <p:cNvPr id="3" name="内容占位符 2"/>
          <p:cNvSpPr>
            <a:spLocks noGrp="1"/>
          </p:cNvSpPr>
          <p:nvPr>
            <p:ph idx="1"/>
          </p:nvPr>
        </p:nvSpPr>
        <p:spPr/>
        <p:txBody>
          <a:bodyPr/>
          <a:lstStyle/>
          <a:p>
            <a:r>
              <a:rPr lang="zh-CN" altLang="en-US" dirty="0"/>
              <a:t>题目大意：给定平面上一个点集，求其所</a:t>
            </a:r>
            <a:endParaRPr lang="en-US" altLang="zh-CN" dirty="0"/>
          </a:p>
          <a:p>
            <a:pPr marL="0" indent="0">
              <a:buNone/>
            </a:pPr>
            <a:r>
              <a:rPr lang="en-US" altLang="zh-CN" dirty="0"/>
              <a:t>   </a:t>
            </a:r>
            <a:r>
              <a:rPr lang="zh-CN" altLang="en-US" dirty="0"/>
              <a:t>形成的三角形的面积最大</a:t>
            </a:r>
            <a:r>
              <a:rPr lang="en-US" altLang="zh-CN" dirty="0"/>
              <a:t>( N &lt;= 5000)</a:t>
            </a:r>
          </a:p>
          <a:p>
            <a:endParaRPr lang="en-US" altLang="zh-CN" dirty="0"/>
          </a:p>
          <a:p>
            <a:r>
              <a:rPr lang="zh-CN" altLang="en-US" dirty="0"/>
              <a:t>枚举一条边并以一个端点为起点进行旋转卡壳</a:t>
            </a:r>
            <a:endParaRPr lang="en-US" altLang="zh-CN" dirty="0"/>
          </a:p>
          <a:p>
            <a:r>
              <a:rPr lang="zh-CN" altLang="en-US" dirty="0"/>
              <a:t>若要求四边形最大面积？</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半平面交</a:t>
            </a:r>
          </a:p>
        </p:txBody>
      </p:sp>
      <p:sp>
        <p:nvSpPr>
          <p:cNvPr id="3" name="内容占位符 2"/>
          <p:cNvSpPr>
            <a:spLocks noGrp="1"/>
          </p:cNvSpPr>
          <p:nvPr>
            <p:ph idx="1"/>
          </p:nvPr>
        </p:nvSpPr>
        <p:spPr/>
        <p:txBody>
          <a:bodyPr/>
          <a:lstStyle/>
          <a:p>
            <a:r>
              <a:rPr lang="zh-CN" altLang="en-US" dirty="0"/>
              <a:t>半平面指一条直线一侧的点构成的点集，一般</a:t>
            </a:r>
            <a:endParaRPr lang="en-US" altLang="zh-CN" dirty="0"/>
          </a:p>
          <a:p>
            <a:pPr marL="0" indent="0">
              <a:buNone/>
            </a:pPr>
            <a:r>
              <a:rPr lang="en-US" altLang="zh-CN" dirty="0"/>
              <a:t>   </a:t>
            </a:r>
            <a:r>
              <a:rPr lang="zh-CN" altLang="en-US" dirty="0"/>
              <a:t>包含直线上的点</a:t>
            </a:r>
            <a:endParaRPr lang="en-US" altLang="zh-CN" dirty="0"/>
          </a:p>
          <a:p>
            <a:r>
              <a:rPr lang="zh-CN" altLang="en-US" dirty="0"/>
              <a:t>在计算几何中，半平面的表示方法一般是一条</a:t>
            </a:r>
            <a:endParaRPr lang="en-US" altLang="zh-CN" dirty="0"/>
          </a:p>
          <a:p>
            <a:pPr marL="0" indent="0">
              <a:buNone/>
            </a:pPr>
            <a:r>
              <a:rPr lang="zh-CN" altLang="en-US" dirty="0"/>
              <a:t>   有向直线的左手边</a:t>
            </a:r>
            <a:endParaRPr lang="en-US" altLang="zh-CN" dirty="0"/>
          </a:p>
          <a:p>
            <a:r>
              <a:rPr lang="zh-CN" altLang="en-US" dirty="0"/>
              <a:t>半平面为凸集，所以半平面交也为凸集</a:t>
            </a:r>
            <a:endParaRPr lang="en-US" altLang="zh-CN" dirty="0"/>
          </a:p>
          <a:p>
            <a:r>
              <a:rPr lang="zh-CN" altLang="en-US" dirty="0"/>
              <a:t>凸集包括空集，点，直线，凸多边形，半平面</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半平面交</a:t>
            </a:r>
          </a:p>
        </p:txBody>
      </p:sp>
      <p:sp>
        <p:nvSpPr>
          <p:cNvPr id="3" name="内容占位符 2"/>
          <p:cNvSpPr>
            <a:spLocks noGrp="1"/>
          </p:cNvSpPr>
          <p:nvPr>
            <p:ph idx="1"/>
          </p:nvPr>
        </p:nvSpPr>
        <p:spPr/>
        <p:txBody>
          <a:bodyPr/>
          <a:lstStyle/>
          <a:p>
            <a:r>
              <a:rPr lang="zh-CN" altLang="en-US" dirty="0"/>
              <a:t>求半平面交的算法   </a:t>
            </a:r>
            <a:r>
              <a:rPr lang="en-US" altLang="zh-CN" dirty="0"/>
              <a:t>By </a:t>
            </a:r>
            <a:r>
              <a:rPr lang="zh-CN" altLang="en-US" dirty="0"/>
              <a:t>朱泽园</a:t>
            </a:r>
            <a:endParaRPr lang="en-US" altLang="zh-CN" dirty="0"/>
          </a:p>
          <a:p>
            <a:r>
              <a:rPr lang="en-US" altLang="zh-CN" dirty="0"/>
              <a:t>1.</a:t>
            </a:r>
            <a:r>
              <a:rPr lang="zh-CN" altLang="en-US" dirty="0"/>
              <a:t>按极角排序，并去掉平行的半平面</a:t>
            </a:r>
            <a:endParaRPr lang="en-US" altLang="zh-CN" dirty="0"/>
          </a:p>
          <a:p>
            <a:r>
              <a:rPr lang="en-US" altLang="zh-CN" dirty="0"/>
              <a:t>2.</a:t>
            </a:r>
            <a:r>
              <a:rPr lang="zh-CN" altLang="en-US" dirty="0"/>
              <a:t>建立双端队列，将第一，第二个半平面加入队列</a:t>
            </a:r>
            <a:endParaRPr lang="en-US" altLang="zh-CN" dirty="0"/>
          </a:p>
          <a:p>
            <a:r>
              <a:rPr lang="en-US" altLang="zh-CN" dirty="0"/>
              <a:t>3.</a:t>
            </a:r>
            <a:r>
              <a:rPr lang="zh-CN" altLang="en-US" dirty="0"/>
              <a:t>从小到大依次加入半平面</a:t>
            </a:r>
            <a:endParaRPr lang="en-US" altLang="zh-CN" dirty="0"/>
          </a:p>
          <a:p>
            <a:r>
              <a:rPr lang="en-US" altLang="zh-CN" dirty="0"/>
              <a:t>4.</a:t>
            </a:r>
            <a:r>
              <a:rPr lang="zh-CN" altLang="en-US" dirty="0"/>
              <a:t>对于每个新加入的半平面，求对尾两个半平面的交点</a:t>
            </a:r>
            <a:endParaRPr lang="en-US" altLang="zh-CN" dirty="0"/>
          </a:p>
          <a:p>
            <a:pPr marL="0" indent="0">
              <a:buNone/>
            </a:pPr>
            <a:r>
              <a:rPr lang="zh-CN" altLang="en-US" dirty="0"/>
              <a:t>      是否在新加入的半平面的左侧</a:t>
            </a:r>
            <a:r>
              <a:rPr lang="en-US" altLang="zh-CN" dirty="0"/>
              <a:t>( </a:t>
            </a:r>
            <a:r>
              <a:rPr lang="zh-CN" altLang="en-US" dirty="0"/>
              <a:t>或其直线上 </a:t>
            </a:r>
            <a:r>
              <a:rPr lang="en-US" altLang="zh-CN" dirty="0"/>
              <a:t>)</a:t>
            </a:r>
            <a:r>
              <a:rPr lang="zh-CN" altLang="en-US" dirty="0"/>
              <a:t>，若不是，</a:t>
            </a:r>
            <a:endParaRPr lang="en-US" altLang="zh-CN" dirty="0"/>
          </a:p>
          <a:p>
            <a:pPr marL="0" indent="0">
              <a:buNone/>
            </a:pPr>
            <a:r>
              <a:rPr lang="zh-CN" altLang="en-US" dirty="0"/>
              <a:t>      则退掉队尾的半平面，再对队首的两个半平面进行如上</a:t>
            </a:r>
            <a:endParaRPr lang="en-US" altLang="zh-CN" dirty="0"/>
          </a:p>
          <a:p>
            <a:pPr marL="0" indent="0">
              <a:buNone/>
            </a:pPr>
            <a:r>
              <a:rPr lang="zh-CN" altLang="en-US" dirty="0"/>
              <a:t>      判断</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2619375" y="210361"/>
            <a:ext cx="8594725" cy="6152339"/>
          </a:xfrm>
          <a:prstGeom prst="rect">
            <a:avLst/>
          </a:prstGeom>
        </p:spPr>
      </p:pic>
      <p:sp>
        <p:nvSpPr>
          <p:cNvPr id="2" name="标题 1"/>
          <p:cNvSpPr>
            <a:spLocks noGrp="1"/>
          </p:cNvSpPr>
          <p:nvPr>
            <p:ph type="title"/>
          </p:nvPr>
        </p:nvSpPr>
        <p:spPr/>
        <p:txBody>
          <a:bodyPr/>
          <a:lstStyle/>
          <a:p>
            <a:r>
              <a:rPr lang="zh-CN" altLang="en-US" dirty="0"/>
              <a:t>半平面交</a:t>
            </a:r>
          </a:p>
        </p:txBody>
      </p:sp>
      <p:sp>
        <p:nvSpPr>
          <p:cNvPr id="3" name="内容占位符 2"/>
          <p:cNvSpPr>
            <a:spLocks noGrp="1"/>
          </p:cNvSpPr>
          <p:nvPr>
            <p:ph idx="1"/>
          </p:nvPr>
        </p:nvSpPr>
        <p:spPr/>
        <p:txBody>
          <a:bodyPr/>
          <a:lstStyle/>
          <a:p>
            <a:r>
              <a:rPr lang="en-US" altLang="zh-CN" dirty="0"/>
              <a:t>1.</a:t>
            </a:r>
            <a:r>
              <a:rPr lang="zh-CN" altLang="en-US" dirty="0"/>
              <a:t>按极角排序，</a:t>
            </a:r>
            <a:endParaRPr lang="en-US" altLang="zh-CN" dirty="0"/>
          </a:p>
          <a:p>
            <a:pPr marL="0" indent="0">
              <a:buNone/>
            </a:pPr>
            <a:r>
              <a:rPr lang="en-US" altLang="zh-CN" dirty="0"/>
              <a:t>      </a:t>
            </a:r>
            <a:r>
              <a:rPr lang="zh-CN" altLang="en-US" dirty="0"/>
              <a:t>并去掉平行的半平面</a:t>
            </a:r>
          </a:p>
        </p:txBody>
      </p:sp>
      <p:sp>
        <p:nvSpPr>
          <p:cNvPr id="6" name="矩形 5"/>
          <p:cNvSpPr/>
          <p:nvPr/>
        </p:nvSpPr>
        <p:spPr>
          <a:xfrm rot="18902454">
            <a:off x="6877522" y="-47181"/>
            <a:ext cx="45719" cy="75675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75000"/>
                </a:schemeClr>
              </a:solidFill>
            </a:endParaRPr>
          </a:p>
        </p:txBody>
      </p:sp>
      <p:sp>
        <p:nvSpPr>
          <p:cNvPr id="11" name="矩形 10"/>
          <p:cNvSpPr/>
          <p:nvPr/>
        </p:nvSpPr>
        <p:spPr>
          <a:xfrm rot="2717129">
            <a:off x="2903902" y="-2404937"/>
            <a:ext cx="12578453" cy="6992042"/>
          </a:xfrm>
          <a:prstGeom prst="rect">
            <a:avLst/>
          </a:prstGeom>
          <a:solidFill>
            <a:schemeClr val="accent4">
              <a:lumMod val="40000"/>
              <a:lumOff val="60000"/>
              <a:alpha val="5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rot="18902454">
            <a:off x="7601422" y="-675831"/>
            <a:ext cx="45719" cy="75675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75000"/>
                </a:schemeClr>
              </a:solidFill>
            </a:endParaRPr>
          </a:p>
        </p:txBody>
      </p:sp>
      <p:sp>
        <p:nvSpPr>
          <p:cNvPr id="9" name="等腰三角形 8"/>
          <p:cNvSpPr/>
          <p:nvPr/>
        </p:nvSpPr>
        <p:spPr>
          <a:xfrm rot="8052286">
            <a:off x="7265997" y="4127777"/>
            <a:ext cx="170667" cy="118528"/>
          </a:xfrm>
          <a:prstGeom prst="triangle">
            <a:avLst/>
          </a:prstGeom>
          <a:solidFill>
            <a:schemeClr val="accent2">
              <a:lumMod val="7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rot="8052286">
            <a:off x="7923222" y="3422927"/>
            <a:ext cx="170667" cy="118528"/>
          </a:xfrm>
          <a:prstGeom prst="triangle">
            <a:avLst/>
          </a:prstGeom>
          <a:solidFill>
            <a:schemeClr val="accent2">
              <a:lumMod val="7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rot="2717129">
            <a:off x="4823474" y="-2239128"/>
            <a:ext cx="12108833" cy="7108189"/>
          </a:xfrm>
          <a:prstGeom prst="rect">
            <a:avLst/>
          </a:prstGeom>
          <a:solidFill>
            <a:schemeClr val="accent4">
              <a:lumMod val="40000"/>
              <a:lumOff val="60000"/>
              <a:alpha val="5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下箭头 14"/>
          <p:cNvSpPr/>
          <p:nvPr/>
        </p:nvSpPr>
        <p:spPr>
          <a:xfrm rot="4277118">
            <a:off x="5563665" y="3017475"/>
            <a:ext cx="249721" cy="1805940"/>
          </a:xfrm>
          <a:prstGeom prst="downArrow">
            <a:avLst>
              <a:gd name="adj1" fmla="val 50000"/>
              <a:gd name="adj2" fmla="val 158100"/>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232411" y="3966367"/>
            <a:ext cx="1569660" cy="646331"/>
          </a:xfrm>
          <a:prstGeom prst="rect">
            <a:avLst/>
          </a:prstGeom>
          <a:noFill/>
        </p:spPr>
        <p:txBody>
          <a:bodyPr wrap="none" lIns="91440" tIns="45720" rIns="91440" bIns="45720">
            <a:spAutoFit/>
          </a:bodyPr>
          <a:lstStyle/>
          <a:p>
            <a:pPr algn="ctr"/>
            <a:r>
              <a:rPr lang="zh-CN" altLang="en-US" sz="3600" b="0" cap="none" spc="0" dirty="0">
                <a:ln w="0"/>
                <a:solidFill>
                  <a:schemeClr val="tx1"/>
                </a:solidFill>
                <a:effectLst>
                  <a:outerShdw blurRad="38100" dist="19050" dir="2700000" algn="tl" rotWithShape="0">
                    <a:schemeClr val="dk1">
                      <a:alpha val="40000"/>
                    </a:schemeClr>
                  </a:outerShdw>
                </a:effectLst>
              </a:rPr>
              <a:t>可去掉</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2619375" y="210361"/>
            <a:ext cx="8594725" cy="6152339"/>
          </a:xfrm>
          <a:prstGeom prst="rect">
            <a:avLst/>
          </a:prstGeom>
        </p:spPr>
      </p:pic>
      <p:sp>
        <p:nvSpPr>
          <p:cNvPr id="2" name="标题 1"/>
          <p:cNvSpPr>
            <a:spLocks noGrp="1"/>
          </p:cNvSpPr>
          <p:nvPr>
            <p:ph type="title"/>
          </p:nvPr>
        </p:nvSpPr>
        <p:spPr/>
        <p:txBody>
          <a:bodyPr/>
          <a:lstStyle/>
          <a:p>
            <a:r>
              <a:rPr lang="zh-CN" altLang="en-US" dirty="0"/>
              <a:t>半平面交</a:t>
            </a:r>
          </a:p>
        </p:txBody>
      </p:sp>
      <p:sp>
        <p:nvSpPr>
          <p:cNvPr id="3" name="内容占位符 2"/>
          <p:cNvSpPr>
            <a:spLocks noGrp="1"/>
          </p:cNvSpPr>
          <p:nvPr>
            <p:ph idx="1"/>
          </p:nvPr>
        </p:nvSpPr>
        <p:spPr/>
        <p:txBody>
          <a:bodyPr/>
          <a:lstStyle/>
          <a:p>
            <a:r>
              <a:rPr lang="en-US" altLang="zh-CN" dirty="0"/>
              <a:t>2.</a:t>
            </a:r>
            <a:r>
              <a:rPr lang="zh-CN" altLang="en-US" dirty="0"/>
              <a:t>建立双端队列</a:t>
            </a:r>
            <a:endParaRPr lang="en-US" altLang="zh-CN" dirty="0"/>
          </a:p>
          <a:p>
            <a:pPr marL="0" indent="0">
              <a:buNone/>
            </a:pPr>
            <a:r>
              <a:rPr lang="en-US" altLang="zh-CN" dirty="0"/>
              <a:t>      </a:t>
            </a:r>
            <a:r>
              <a:rPr lang="zh-CN" altLang="en-US" dirty="0"/>
              <a:t>将第一，第二个</a:t>
            </a:r>
            <a:endParaRPr lang="en-US" altLang="zh-CN" dirty="0"/>
          </a:p>
          <a:p>
            <a:pPr marL="0" indent="0">
              <a:buNone/>
            </a:pPr>
            <a:r>
              <a:rPr lang="en-US" altLang="zh-CN" dirty="0"/>
              <a:t>      </a:t>
            </a:r>
            <a:r>
              <a:rPr lang="zh-CN" altLang="en-US" dirty="0"/>
              <a:t>半平面加入队列</a:t>
            </a:r>
          </a:p>
        </p:txBody>
      </p:sp>
      <p:sp>
        <p:nvSpPr>
          <p:cNvPr id="6" name="矩形 5"/>
          <p:cNvSpPr/>
          <p:nvPr/>
        </p:nvSpPr>
        <p:spPr>
          <a:xfrm rot="18902454">
            <a:off x="6877522" y="-47181"/>
            <a:ext cx="45719" cy="75675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75000"/>
                </a:schemeClr>
              </a:solidFill>
            </a:endParaRPr>
          </a:p>
        </p:txBody>
      </p:sp>
      <p:sp>
        <p:nvSpPr>
          <p:cNvPr id="7" name="等腰三角形 6"/>
          <p:cNvSpPr/>
          <p:nvPr/>
        </p:nvSpPr>
        <p:spPr>
          <a:xfrm rot="8052286">
            <a:off x="7265997" y="4127777"/>
            <a:ext cx="170667" cy="118528"/>
          </a:xfrm>
          <a:prstGeom prst="triangle">
            <a:avLst/>
          </a:prstGeom>
          <a:solidFill>
            <a:schemeClr val="accent2">
              <a:lumMod val="7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rot="20006902">
            <a:off x="6547346" y="-433885"/>
            <a:ext cx="45719" cy="75675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75000"/>
                </a:schemeClr>
              </a:solidFill>
            </a:endParaRPr>
          </a:p>
        </p:txBody>
      </p:sp>
      <p:sp>
        <p:nvSpPr>
          <p:cNvPr id="9" name="等腰三角形 8"/>
          <p:cNvSpPr/>
          <p:nvPr/>
        </p:nvSpPr>
        <p:spPr>
          <a:xfrm rot="9425946">
            <a:off x="6979866" y="4252389"/>
            <a:ext cx="170667" cy="118528"/>
          </a:xfrm>
          <a:prstGeom prst="triangle">
            <a:avLst/>
          </a:prstGeom>
          <a:solidFill>
            <a:schemeClr val="accent2">
              <a:lumMod val="7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up)">
                                      <p:cBhvr>
                                        <p:cTn id="14" dur="500"/>
                                        <p:tgtEl>
                                          <p:spTgt spid="6"/>
                                        </p:tgtEl>
                                      </p:cBhvr>
                                    </p:animEffect>
                                  </p:childTnLst>
                                </p:cTn>
                              </p:par>
                            </p:childTnLst>
                          </p:cTn>
                        </p:par>
                        <p:par>
                          <p:cTn id="15" fill="hold">
                            <p:stCondLst>
                              <p:cond delay="1000"/>
                            </p:stCondLst>
                            <p:childTnLst>
                              <p:par>
                                <p:cTn id="16" presetID="1"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2619375" y="210361"/>
            <a:ext cx="8594725" cy="6152339"/>
          </a:xfrm>
          <a:prstGeom prst="rect">
            <a:avLst/>
          </a:prstGeom>
        </p:spPr>
      </p:pic>
      <p:sp>
        <p:nvSpPr>
          <p:cNvPr id="2" name="标题 1"/>
          <p:cNvSpPr>
            <a:spLocks noGrp="1"/>
          </p:cNvSpPr>
          <p:nvPr>
            <p:ph type="title"/>
          </p:nvPr>
        </p:nvSpPr>
        <p:spPr/>
        <p:txBody>
          <a:bodyPr/>
          <a:lstStyle/>
          <a:p>
            <a:r>
              <a:rPr lang="zh-CN" altLang="en-US" dirty="0"/>
              <a:t>半平面交</a:t>
            </a:r>
          </a:p>
        </p:txBody>
      </p:sp>
      <p:sp>
        <p:nvSpPr>
          <p:cNvPr id="3" name="内容占位符 2"/>
          <p:cNvSpPr>
            <a:spLocks noGrp="1"/>
          </p:cNvSpPr>
          <p:nvPr>
            <p:ph idx="1"/>
          </p:nvPr>
        </p:nvSpPr>
        <p:spPr/>
        <p:txBody>
          <a:bodyPr/>
          <a:lstStyle/>
          <a:p>
            <a:r>
              <a:rPr lang="en-US" altLang="zh-CN" dirty="0"/>
              <a:t>3.</a:t>
            </a:r>
            <a:r>
              <a:rPr lang="zh-CN" altLang="en-US" dirty="0"/>
              <a:t>从小到大依次</a:t>
            </a:r>
            <a:endParaRPr lang="en-US" altLang="zh-CN" dirty="0"/>
          </a:p>
          <a:p>
            <a:pPr marL="0" indent="0">
              <a:buNone/>
            </a:pPr>
            <a:r>
              <a:rPr lang="zh-CN" altLang="en-US" dirty="0"/>
              <a:t>      加入半平面</a:t>
            </a:r>
          </a:p>
        </p:txBody>
      </p:sp>
      <p:sp>
        <p:nvSpPr>
          <p:cNvPr id="6" name="矩形 5"/>
          <p:cNvSpPr/>
          <p:nvPr/>
        </p:nvSpPr>
        <p:spPr>
          <a:xfrm rot="18902454">
            <a:off x="6877522" y="-47181"/>
            <a:ext cx="45719" cy="75675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75000"/>
                </a:schemeClr>
              </a:solidFill>
            </a:endParaRPr>
          </a:p>
        </p:txBody>
      </p:sp>
      <p:sp>
        <p:nvSpPr>
          <p:cNvPr id="7" name="等腰三角形 6"/>
          <p:cNvSpPr/>
          <p:nvPr/>
        </p:nvSpPr>
        <p:spPr>
          <a:xfrm rot="8052286">
            <a:off x="7265997" y="4127777"/>
            <a:ext cx="170667" cy="118528"/>
          </a:xfrm>
          <a:prstGeom prst="triangle">
            <a:avLst/>
          </a:prstGeom>
          <a:solidFill>
            <a:schemeClr val="accent2">
              <a:lumMod val="7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rot="20006902">
            <a:off x="6547346" y="-433885"/>
            <a:ext cx="45719" cy="75675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75000"/>
                </a:schemeClr>
              </a:solidFill>
            </a:endParaRPr>
          </a:p>
        </p:txBody>
      </p:sp>
      <p:sp>
        <p:nvSpPr>
          <p:cNvPr id="9" name="等腰三角形 8"/>
          <p:cNvSpPr/>
          <p:nvPr/>
        </p:nvSpPr>
        <p:spPr>
          <a:xfrm rot="9425946">
            <a:off x="6979866" y="4252389"/>
            <a:ext cx="170667" cy="118528"/>
          </a:xfrm>
          <a:prstGeom prst="triangle">
            <a:avLst/>
          </a:prstGeom>
          <a:solidFill>
            <a:schemeClr val="accent2">
              <a:lumMod val="7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rot="17655870">
            <a:off x="7040907" y="757291"/>
            <a:ext cx="48584" cy="75675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75000"/>
                </a:schemeClr>
              </a:solidFill>
            </a:endParaRPr>
          </a:p>
        </p:txBody>
      </p:sp>
      <p:sp>
        <p:nvSpPr>
          <p:cNvPr id="12" name="等腰三角形 11"/>
          <p:cNvSpPr/>
          <p:nvPr/>
        </p:nvSpPr>
        <p:spPr>
          <a:xfrm rot="7189344">
            <a:off x="9031113" y="5400317"/>
            <a:ext cx="170667" cy="118528"/>
          </a:xfrm>
          <a:prstGeom prst="triangle">
            <a:avLst/>
          </a:prstGeom>
          <a:solidFill>
            <a:schemeClr val="accent2">
              <a:lumMod val="7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2619375" y="210361"/>
            <a:ext cx="8594725" cy="6152339"/>
          </a:xfrm>
          <a:prstGeom prst="rect">
            <a:avLst/>
          </a:prstGeom>
        </p:spPr>
      </p:pic>
      <p:sp>
        <p:nvSpPr>
          <p:cNvPr id="2" name="标题 1"/>
          <p:cNvSpPr>
            <a:spLocks noGrp="1"/>
          </p:cNvSpPr>
          <p:nvPr>
            <p:ph type="title"/>
          </p:nvPr>
        </p:nvSpPr>
        <p:spPr/>
        <p:txBody>
          <a:bodyPr/>
          <a:lstStyle/>
          <a:p>
            <a:r>
              <a:rPr lang="zh-CN" altLang="en-US" dirty="0"/>
              <a:t>半平面交</a:t>
            </a:r>
          </a:p>
        </p:txBody>
      </p:sp>
      <p:sp>
        <p:nvSpPr>
          <p:cNvPr id="3" name="内容占位符 2"/>
          <p:cNvSpPr>
            <a:spLocks noGrp="1"/>
          </p:cNvSpPr>
          <p:nvPr>
            <p:ph idx="1"/>
          </p:nvPr>
        </p:nvSpPr>
        <p:spPr/>
        <p:txBody>
          <a:bodyPr/>
          <a:lstStyle/>
          <a:p>
            <a:r>
              <a:rPr lang="en-US" altLang="zh-CN" dirty="0"/>
              <a:t>4.</a:t>
            </a:r>
            <a:r>
              <a:rPr lang="zh-CN" altLang="en-US" dirty="0"/>
              <a:t>比较交点</a:t>
            </a:r>
            <a:endParaRPr lang="en-US" altLang="zh-CN" dirty="0"/>
          </a:p>
          <a:p>
            <a:pPr marL="0" indent="0">
              <a:buNone/>
            </a:pPr>
            <a:r>
              <a:rPr lang="zh-CN" altLang="en-US" dirty="0"/>
              <a:t>      若在左侧则不动</a:t>
            </a:r>
          </a:p>
        </p:txBody>
      </p:sp>
      <p:sp>
        <p:nvSpPr>
          <p:cNvPr id="6" name="矩形 5"/>
          <p:cNvSpPr/>
          <p:nvPr/>
        </p:nvSpPr>
        <p:spPr>
          <a:xfrm rot="18902454">
            <a:off x="6877522" y="-47181"/>
            <a:ext cx="45719" cy="75675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75000"/>
                </a:schemeClr>
              </a:solidFill>
            </a:endParaRPr>
          </a:p>
        </p:txBody>
      </p:sp>
      <p:sp>
        <p:nvSpPr>
          <p:cNvPr id="7" name="等腰三角形 6"/>
          <p:cNvSpPr/>
          <p:nvPr/>
        </p:nvSpPr>
        <p:spPr>
          <a:xfrm rot="8052286">
            <a:off x="7265997" y="4127777"/>
            <a:ext cx="170667" cy="118528"/>
          </a:xfrm>
          <a:prstGeom prst="triangle">
            <a:avLst/>
          </a:prstGeom>
          <a:solidFill>
            <a:schemeClr val="accent2">
              <a:lumMod val="7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rot="20006902">
            <a:off x="6547346" y="-433885"/>
            <a:ext cx="45719" cy="75675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75000"/>
                </a:schemeClr>
              </a:solidFill>
            </a:endParaRPr>
          </a:p>
        </p:txBody>
      </p:sp>
      <p:sp>
        <p:nvSpPr>
          <p:cNvPr id="9" name="等腰三角形 8"/>
          <p:cNvSpPr/>
          <p:nvPr/>
        </p:nvSpPr>
        <p:spPr>
          <a:xfrm rot="9425946">
            <a:off x="6979866" y="4252389"/>
            <a:ext cx="170667" cy="118528"/>
          </a:xfrm>
          <a:prstGeom prst="triangle">
            <a:avLst/>
          </a:prstGeom>
          <a:solidFill>
            <a:schemeClr val="accent2">
              <a:lumMod val="7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rot="17655870">
            <a:off x="7040907" y="757291"/>
            <a:ext cx="48584" cy="75675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75000"/>
                </a:schemeClr>
              </a:solidFill>
            </a:endParaRPr>
          </a:p>
        </p:txBody>
      </p:sp>
      <p:sp>
        <p:nvSpPr>
          <p:cNvPr id="12" name="等腰三角形 11"/>
          <p:cNvSpPr/>
          <p:nvPr/>
        </p:nvSpPr>
        <p:spPr>
          <a:xfrm rot="7189344">
            <a:off x="9031113" y="5400317"/>
            <a:ext cx="170667" cy="118528"/>
          </a:xfrm>
          <a:prstGeom prst="triangle">
            <a:avLst/>
          </a:prstGeom>
          <a:solidFill>
            <a:schemeClr val="accent2">
              <a:lumMod val="7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6545580" y="3383280"/>
            <a:ext cx="213360" cy="1905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下箭头 10"/>
          <p:cNvSpPr/>
          <p:nvPr/>
        </p:nvSpPr>
        <p:spPr>
          <a:xfrm rot="12567729">
            <a:off x="6393207" y="3580739"/>
            <a:ext cx="121070" cy="575793"/>
          </a:xfrm>
          <a:prstGeom prst="downArrow">
            <a:avLst>
              <a:gd name="adj1" fmla="val 50000"/>
              <a:gd name="adj2" fmla="val 16665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2619375" y="210361"/>
            <a:ext cx="8594725" cy="6152339"/>
          </a:xfrm>
          <a:prstGeom prst="rect">
            <a:avLst/>
          </a:prstGeom>
        </p:spPr>
      </p:pic>
      <p:sp>
        <p:nvSpPr>
          <p:cNvPr id="2" name="标题 1"/>
          <p:cNvSpPr>
            <a:spLocks noGrp="1"/>
          </p:cNvSpPr>
          <p:nvPr>
            <p:ph type="title"/>
          </p:nvPr>
        </p:nvSpPr>
        <p:spPr/>
        <p:txBody>
          <a:bodyPr/>
          <a:lstStyle/>
          <a:p>
            <a:r>
              <a:rPr lang="zh-CN" altLang="en-US" dirty="0"/>
              <a:t>半平面交</a:t>
            </a:r>
          </a:p>
        </p:txBody>
      </p:sp>
      <p:sp>
        <p:nvSpPr>
          <p:cNvPr id="3" name="内容占位符 2"/>
          <p:cNvSpPr>
            <a:spLocks noGrp="1"/>
          </p:cNvSpPr>
          <p:nvPr>
            <p:ph idx="1"/>
          </p:nvPr>
        </p:nvSpPr>
        <p:spPr/>
        <p:txBody>
          <a:bodyPr/>
          <a:lstStyle/>
          <a:p>
            <a:r>
              <a:rPr lang="en-US" altLang="zh-CN" dirty="0"/>
              <a:t>4.</a:t>
            </a:r>
            <a:r>
              <a:rPr lang="zh-CN" altLang="en-US" dirty="0"/>
              <a:t>若在右侧，</a:t>
            </a:r>
            <a:endParaRPr lang="en-US" altLang="zh-CN" dirty="0"/>
          </a:p>
          <a:p>
            <a:pPr marL="0" indent="0">
              <a:buNone/>
            </a:pPr>
            <a:r>
              <a:rPr lang="zh-CN" altLang="en-US" dirty="0"/>
              <a:t>       则出队</a:t>
            </a:r>
          </a:p>
        </p:txBody>
      </p:sp>
      <p:sp>
        <p:nvSpPr>
          <p:cNvPr id="6" name="矩形 5"/>
          <p:cNvSpPr/>
          <p:nvPr/>
        </p:nvSpPr>
        <p:spPr>
          <a:xfrm rot="18902454">
            <a:off x="6877522" y="-47181"/>
            <a:ext cx="45719" cy="75675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75000"/>
                </a:schemeClr>
              </a:solidFill>
            </a:endParaRPr>
          </a:p>
        </p:txBody>
      </p:sp>
      <p:sp>
        <p:nvSpPr>
          <p:cNvPr id="7" name="等腰三角形 6"/>
          <p:cNvSpPr/>
          <p:nvPr/>
        </p:nvSpPr>
        <p:spPr>
          <a:xfrm rot="8052286">
            <a:off x="7265997" y="4127777"/>
            <a:ext cx="170667" cy="118528"/>
          </a:xfrm>
          <a:prstGeom prst="triangle">
            <a:avLst/>
          </a:prstGeom>
          <a:solidFill>
            <a:schemeClr val="accent2">
              <a:lumMod val="7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rot="20006902">
            <a:off x="6547346" y="-433885"/>
            <a:ext cx="45719" cy="75675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75000"/>
                </a:schemeClr>
              </a:solidFill>
            </a:endParaRPr>
          </a:p>
        </p:txBody>
      </p:sp>
      <p:sp>
        <p:nvSpPr>
          <p:cNvPr id="9" name="等腰三角形 8"/>
          <p:cNvSpPr/>
          <p:nvPr/>
        </p:nvSpPr>
        <p:spPr>
          <a:xfrm rot="9425946">
            <a:off x="6979866" y="4252389"/>
            <a:ext cx="170667" cy="118528"/>
          </a:xfrm>
          <a:prstGeom prst="triangle">
            <a:avLst/>
          </a:prstGeom>
          <a:solidFill>
            <a:schemeClr val="accent2">
              <a:lumMod val="7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rot="17655870">
            <a:off x="7512001" y="-1502730"/>
            <a:ext cx="45719" cy="899465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75000"/>
                </a:schemeClr>
              </a:solidFill>
            </a:endParaRPr>
          </a:p>
        </p:txBody>
      </p:sp>
      <p:sp>
        <p:nvSpPr>
          <p:cNvPr id="12" name="等腰三角形 11"/>
          <p:cNvSpPr/>
          <p:nvPr/>
        </p:nvSpPr>
        <p:spPr>
          <a:xfrm rot="7189344">
            <a:off x="9462960" y="3862319"/>
            <a:ext cx="170667" cy="118528"/>
          </a:xfrm>
          <a:prstGeom prst="triangle">
            <a:avLst/>
          </a:prstGeom>
          <a:solidFill>
            <a:schemeClr val="accent2">
              <a:lumMod val="7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6545580" y="3383280"/>
            <a:ext cx="213360" cy="1905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下箭头 10"/>
          <p:cNvSpPr/>
          <p:nvPr/>
        </p:nvSpPr>
        <p:spPr>
          <a:xfrm rot="1617137">
            <a:off x="6820216" y="2801940"/>
            <a:ext cx="121070" cy="575793"/>
          </a:xfrm>
          <a:prstGeom prst="downArrow">
            <a:avLst>
              <a:gd name="adj1" fmla="val 50000"/>
              <a:gd name="adj2" fmla="val 16665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up)">
                                      <p:cBhvr>
                                        <p:cTn id="11" dur="500"/>
                                        <p:tgtEl>
                                          <p:spTgt spid="11"/>
                                        </p:tgtEl>
                                      </p:cBhvr>
                                    </p:animEffect>
                                  </p:childTnLst>
                                </p:cTn>
                              </p:par>
                            </p:childTnLst>
                          </p:cTn>
                        </p:par>
                        <p:par>
                          <p:cTn id="12" fill="hold">
                            <p:stCondLst>
                              <p:cond delay="1000"/>
                            </p:stCondLst>
                            <p:childTnLst>
                              <p:par>
                                <p:cTn id="13" presetID="22" presetClass="exit" presetSubtype="4" fill="hold" grpId="0" nodeType="afterEffect">
                                  <p:stCondLst>
                                    <p:cond delay="0"/>
                                  </p:stCondLst>
                                  <p:childTnLst>
                                    <p:animEffect transition="out" filter="wipe(down)">
                                      <p:cBhvr>
                                        <p:cTn id="14" dur="500"/>
                                        <p:tgtEl>
                                          <p:spTgt spid="8"/>
                                        </p:tgtEl>
                                      </p:cBhvr>
                                    </p:animEffect>
                                    <p:set>
                                      <p:cBhvr>
                                        <p:cTn id="15" dur="1" fill="hold">
                                          <p:stCondLst>
                                            <p:cond delay="499"/>
                                          </p:stCondLst>
                                        </p:cTn>
                                        <p:tgtEl>
                                          <p:spTgt spid="8"/>
                                        </p:tgtEl>
                                        <p:attrNameLst>
                                          <p:attrName>style.visibility</p:attrName>
                                        </p:attrNameLst>
                                      </p:cBhvr>
                                      <p:to>
                                        <p:strVal val="hidden"/>
                                      </p:to>
                                    </p:set>
                                  </p:childTnLst>
                                </p:cTn>
                              </p:par>
                            </p:childTnLst>
                          </p:cTn>
                        </p:par>
                        <p:par>
                          <p:cTn id="16" fill="hold">
                            <p:stCondLst>
                              <p:cond delay="1500"/>
                            </p:stCondLst>
                            <p:childTnLst>
                              <p:par>
                                <p:cTn id="17" presetID="1" presetClass="exit"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5" grpId="0" animBg="1"/>
      <p:bldP spid="11"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POJ 3384 Feng </a:t>
            </a:r>
            <a:r>
              <a:rPr lang="en-US" altLang="zh-CN" dirty="0" err="1"/>
              <a:t>Shui</a:t>
            </a:r>
            <a:endParaRPr lang="zh-CN" altLang="en-US" dirty="0"/>
          </a:p>
        </p:txBody>
      </p:sp>
      <p:sp>
        <p:nvSpPr>
          <p:cNvPr id="3" name="内容占位符 2"/>
          <p:cNvSpPr>
            <a:spLocks noGrp="1"/>
          </p:cNvSpPr>
          <p:nvPr>
            <p:ph idx="1"/>
          </p:nvPr>
        </p:nvSpPr>
        <p:spPr/>
        <p:txBody>
          <a:bodyPr/>
          <a:lstStyle/>
          <a:p>
            <a:r>
              <a:rPr lang="zh-CN" altLang="en-US" dirty="0"/>
              <a:t>题目大意：求在凸多边形内部放两个半径大小为 </a:t>
            </a:r>
            <a:r>
              <a:rPr lang="en-US" altLang="zh-CN" dirty="0"/>
              <a:t>r </a:t>
            </a:r>
            <a:r>
              <a:rPr lang="zh-CN" altLang="en-US" dirty="0"/>
              <a:t>的圆所能</a:t>
            </a:r>
            <a:endParaRPr lang="en-US" altLang="zh-CN" dirty="0"/>
          </a:p>
          <a:p>
            <a:pPr marL="0" indent="0">
              <a:buNone/>
            </a:pPr>
            <a:r>
              <a:rPr lang="zh-CN" altLang="en-US" dirty="0"/>
              <a:t>   覆盖的最大面积，两圆可以重叠，但不可以与多边形相交</a:t>
            </a:r>
            <a:endParaRPr lang="en-US" altLang="zh-CN" dirty="0"/>
          </a:p>
          <a:p>
            <a:endParaRPr lang="en-US" altLang="zh-CN" dirty="0"/>
          </a:p>
          <a:p>
            <a:r>
              <a:rPr lang="zh-CN" altLang="en-US" dirty="0"/>
              <a:t>将凸多边形相内推进 </a:t>
            </a:r>
            <a:r>
              <a:rPr lang="en-US" altLang="zh-CN" dirty="0"/>
              <a:t>r </a:t>
            </a:r>
            <a:r>
              <a:rPr lang="zh-CN" altLang="en-US" dirty="0"/>
              <a:t>后求其半平面交的凸多边形</a:t>
            </a:r>
            <a:endParaRPr lang="en-US" altLang="zh-CN" dirty="0"/>
          </a:p>
          <a:p>
            <a:r>
              <a:rPr lang="zh-CN" altLang="en-US" dirty="0"/>
              <a:t>在其上面进行旋转卡壳，最远点对即为所求</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6677025" y="376238"/>
            <a:ext cx="5514975" cy="5800725"/>
          </a:xfrm>
          <a:prstGeom prst="rect">
            <a:avLst/>
          </a:prstGeom>
        </p:spPr>
      </p:pic>
      <p:sp>
        <p:nvSpPr>
          <p:cNvPr id="2" name="标题 1"/>
          <p:cNvSpPr>
            <a:spLocks noGrp="1"/>
          </p:cNvSpPr>
          <p:nvPr>
            <p:ph type="title"/>
          </p:nvPr>
        </p:nvSpPr>
        <p:spPr/>
        <p:txBody>
          <a:bodyPr/>
          <a:lstStyle/>
          <a:p>
            <a:r>
              <a:rPr lang="en-US" altLang="zh-CN" dirty="0"/>
              <a:t>BZOJ 2732 </a:t>
            </a:r>
            <a:r>
              <a:rPr lang="zh-CN" altLang="en-US" dirty="0"/>
              <a:t>射箭</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题目大意：一个人站在</a:t>
                </a:r>
                <a:r>
                  <a:rPr lang="en-US" altLang="zh-CN" dirty="0"/>
                  <a:t>( 0, 0 )</a:t>
                </a:r>
                <a:r>
                  <a:rPr lang="zh-CN" altLang="en-US" dirty="0"/>
                  <a:t>处，</a:t>
                </a:r>
                <a:endParaRPr lang="en-US" altLang="zh-CN" dirty="0"/>
              </a:p>
              <a:p>
                <a:pPr marL="0" indent="0">
                  <a:buNone/>
                </a:pPr>
                <a:r>
                  <a:rPr lang="zh-CN" altLang="en-US" dirty="0"/>
                  <a:t>  射出一只极角</a:t>
                </a:r>
                <a14:m>
                  <m:oMath xmlns:m="http://schemas.openxmlformats.org/officeDocument/2006/math">
                    <m:r>
                      <a:rPr lang="zh-CN" altLang="en-US" i="1" smtClean="0">
                        <a:latin typeface="Cambria Math" panose="02040503050406030204" pitchFamily="18" charset="0"/>
                      </a:rPr>
                      <m:t>∈</m:t>
                    </m:r>
                  </m:oMath>
                </a14:m>
                <a:r>
                  <a:rPr lang="zh-CN" altLang="en-US" dirty="0"/>
                  <a:t> </a:t>
                </a:r>
                <a:r>
                  <a:rPr lang="en-US" altLang="zh-CN" dirty="0"/>
                  <a:t>( 0, </a:t>
                </a:r>
                <a14:m>
                  <m:oMath xmlns:m="http://schemas.openxmlformats.org/officeDocument/2006/math">
                    <m:f>
                      <m:fPr>
                        <m:ctrlPr>
                          <a:rPr lang="en-US" altLang="zh-CN" i="1" smtClean="0">
                            <a:latin typeface="Cambria Math" panose="02040503050406030204" pitchFamily="18" charset="0"/>
                          </a:rPr>
                        </m:ctrlPr>
                      </m:fPr>
                      <m:num>
                        <m:r>
                          <a:rPr lang="zh-CN" altLang="en-US" i="1" smtClean="0">
                            <a:latin typeface="Cambria Math" panose="02040503050406030204" pitchFamily="18" charset="0"/>
                          </a:rPr>
                          <m:t>𝜋</m:t>
                        </m:r>
                      </m:num>
                      <m:den>
                        <m:r>
                          <a:rPr lang="en-US" altLang="zh-CN" b="0" i="1" smtClean="0">
                            <a:latin typeface="Cambria Math" panose="02040503050406030204" pitchFamily="18" charset="0"/>
                          </a:rPr>
                          <m:t>2</m:t>
                        </m:r>
                      </m:den>
                    </m:f>
                  </m:oMath>
                </a14:m>
                <a:r>
                  <a:rPr lang="zh-CN" altLang="en-US" dirty="0"/>
                  <a:t> </a:t>
                </a:r>
                <a:r>
                  <a:rPr lang="en-US" altLang="zh-CN" dirty="0"/>
                  <a:t>)</a:t>
                </a:r>
                <a:r>
                  <a:rPr lang="zh-CN" altLang="en-US" dirty="0"/>
                  <a:t>，轨迹为二次函数的</a:t>
                </a:r>
                <a:endParaRPr lang="en-US" altLang="zh-CN" dirty="0"/>
              </a:p>
              <a:p>
                <a:pPr marL="0" indent="0">
                  <a:buNone/>
                </a:pPr>
                <a:r>
                  <a:rPr lang="zh-CN" altLang="en-US" dirty="0"/>
                  <a:t>   箭，在第一象限上有若干竖直障碍物，</a:t>
                </a:r>
                <a:endParaRPr lang="en-US" altLang="zh-CN" dirty="0"/>
              </a:p>
              <a:p>
                <a:pPr marL="0" indent="0">
                  <a:buNone/>
                </a:pPr>
                <a:r>
                  <a:rPr lang="zh-CN" altLang="en-US" dirty="0"/>
                  <a:t>   障碍物的出现有顺序，求其射一只箭</a:t>
                </a:r>
                <a:endParaRPr lang="en-US" altLang="zh-CN" dirty="0"/>
              </a:p>
              <a:p>
                <a:pPr marL="0" indent="0">
                  <a:buNone/>
                </a:pPr>
                <a:r>
                  <a:rPr lang="en-US" altLang="zh-CN" dirty="0"/>
                  <a:t>   </a:t>
                </a:r>
                <a:r>
                  <a:rPr lang="zh-CN" altLang="en-US" dirty="0"/>
                  <a:t>最多能穿过几个障碍物</a:t>
                </a:r>
                <a:endParaRPr lang="en-US" altLang="zh-CN" dirty="0"/>
              </a:p>
              <a:p>
                <a:endParaRPr lang="en-US" altLang="zh-CN" dirty="0"/>
              </a:p>
              <a:p>
                <a:r>
                  <a:rPr lang="en-US" altLang="zh-CN" dirty="0"/>
                  <a:t>N &lt;= 100000, |x</a:t>
                </a:r>
                <a:r>
                  <a:rPr lang="en-US" altLang="zh-CN" baseline="-25000" dirty="0"/>
                  <a:t>i</a:t>
                </a:r>
                <a:r>
                  <a:rPr lang="en-US" altLang="zh-CN" dirty="0"/>
                  <a:t>|, |</a:t>
                </a:r>
                <a:r>
                  <a:rPr lang="en-US" altLang="zh-CN" dirty="0" err="1"/>
                  <a:t>y</a:t>
                </a:r>
                <a:r>
                  <a:rPr lang="en-US" altLang="zh-CN" baseline="-25000" dirty="0" err="1"/>
                  <a:t>i</a:t>
                </a:r>
                <a:r>
                  <a:rPr lang="en-US" altLang="zh-CN" dirty="0"/>
                  <a:t>| &lt;= 10</a:t>
                </a:r>
                <a:r>
                  <a:rPr lang="en-US" altLang="zh-CN" baseline="30000" dirty="0"/>
                  <a:t>9</a:t>
                </a:r>
                <a:endParaRPr lang="zh-CN" altLang="en-US" baseline="300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l="-1043" t="-294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BZOJ 2732 </a:t>
            </a:r>
            <a:r>
              <a:rPr lang="zh-CN" altLang="en-US" dirty="0"/>
              <a:t>射箭</a:t>
            </a:r>
          </a:p>
        </p:txBody>
      </p:sp>
      <p:sp>
        <p:nvSpPr>
          <p:cNvPr id="3" name="内容占位符 2"/>
          <p:cNvSpPr>
            <a:spLocks noGrp="1"/>
          </p:cNvSpPr>
          <p:nvPr>
            <p:ph idx="1"/>
          </p:nvPr>
        </p:nvSpPr>
        <p:spPr/>
        <p:txBody>
          <a:bodyPr/>
          <a:lstStyle/>
          <a:p>
            <a:r>
              <a:rPr lang="zh-CN" altLang="en-US" dirty="0"/>
              <a:t>对于每个障碍物，我们可以列出不等式</a:t>
            </a:r>
            <a:endParaRPr lang="en-US" altLang="zh-CN" dirty="0"/>
          </a:p>
          <a:p>
            <a:pPr marL="0" indent="0">
              <a:buNone/>
            </a:pPr>
            <a:r>
              <a:rPr lang="en-US" altLang="zh-CN" dirty="0"/>
              <a:t>                  </a:t>
            </a:r>
            <a:r>
              <a:rPr lang="en-US" altLang="zh-CN" dirty="0" err="1"/>
              <a:t>y</a:t>
            </a:r>
            <a:r>
              <a:rPr lang="en-US" altLang="zh-CN" baseline="-25000" dirty="0" err="1"/>
              <a:t>l</a:t>
            </a:r>
            <a:r>
              <a:rPr lang="en-US" altLang="zh-CN" dirty="0"/>
              <a:t> &lt;= ax</a:t>
            </a:r>
            <a:r>
              <a:rPr lang="en-US" altLang="zh-CN" baseline="30000" dirty="0"/>
              <a:t>2</a:t>
            </a:r>
            <a:r>
              <a:rPr lang="en-US" altLang="zh-CN" dirty="0"/>
              <a:t> + </a:t>
            </a:r>
            <a:r>
              <a:rPr lang="en-US" altLang="zh-CN" dirty="0" err="1"/>
              <a:t>bx</a:t>
            </a:r>
            <a:r>
              <a:rPr lang="en-US" altLang="zh-CN" dirty="0"/>
              <a:t> &lt;= </a:t>
            </a:r>
            <a:r>
              <a:rPr lang="en-US" altLang="zh-CN" dirty="0" err="1"/>
              <a:t>y</a:t>
            </a:r>
            <a:r>
              <a:rPr lang="en-US" altLang="zh-CN" baseline="-25000" dirty="0" err="1"/>
              <a:t>r</a:t>
            </a:r>
            <a:endParaRPr lang="en-US" altLang="zh-CN" baseline="-25000" dirty="0"/>
          </a:p>
          <a:p>
            <a:r>
              <a:rPr lang="zh-CN" altLang="en-US" dirty="0"/>
              <a:t>对于每个障碍物，我们可以得到两个半平面</a:t>
            </a:r>
            <a:endParaRPr lang="en-US" altLang="zh-CN" dirty="0"/>
          </a:p>
          <a:p>
            <a:r>
              <a:rPr lang="zh-CN" altLang="en-US" dirty="0"/>
              <a:t>二分最多穿过障碍物的个数，求其半平面交</a:t>
            </a:r>
            <a:endParaRPr lang="en-US" altLang="zh-CN" dirty="0"/>
          </a:p>
          <a:p>
            <a:r>
              <a:rPr lang="zh-CN" altLang="en-US" dirty="0"/>
              <a:t>看是否为空</a:t>
            </a:r>
            <a:endParaRPr lang="en-US" altLang="zh-CN" dirty="0"/>
          </a:p>
          <a:p>
            <a:endParaRPr lang="en-US" altLang="zh-CN" dirty="0"/>
          </a:p>
          <a:p>
            <a:r>
              <a:rPr lang="zh-CN" altLang="en-US" dirty="0"/>
              <a:t>前面</a:t>
            </a:r>
            <a:r>
              <a:rPr lang="en-US" altLang="zh-CN" dirty="0"/>
              <a:t>CF 536C </a:t>
            </a:r>
            <a:r>
              <a:rPr lang="zh-CN" altLang="en-US" dirty="0"/>
              <a:t>也可以用半平面交做</a:t>
            </a:r>
            <a:endParaRPr lang="en-US" altLang="zh-CN" dirty="0"/>
          </a:p>
          <a:p>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反演</a:t>
            </a:r>
          </a:p>
        </p:txBody>
      </p:sp>
      <p:sp>
        <p:nvSpPr>
          <p:cNvPr id="3" name="内容占位符 2"/>
          <p:cNvSpPr>
            <a:spLocks noGrp="1"/>
          </p:cNvSpPr>
          <p:nvPr>
            <p:ph idx="1"/>
          </p:nvPr>
        </p:nvSpPr>
        <p:spPr/>
        <p:txBody>
          <a:bodyPr>
            <a:normAutofit/>
          </a:bodyPr>
          <a:lstStyle/>
          <a:p>
            <a:r>
              <a:rPr lang="zh-CN" altLang="en-US" dirty="0"/>
              <a:t>反演是一种几何变换。</a:t>
            </a:r>
            <a:endParaRPr lang="en-US" altLang="zh-CN" dirty="0"/>
          </a:p>
          <a:p>
            <a:r>
              <a:rPr lang="zh-CN" altLang="en-US" dirty="0"/>
              <a:t>给定点</a:t>
            </a:r>
            <a:r>
              <a:rPr lang="en-US" altLang="zh-CN" i="1" dirty="0"/>
              <a:t>O</a:t>
            </a:r>
            <a:r>
              <a:rPr lang="zh-CN" altLang="en-US" dirty="0"/>
              <a:t>、常数</a:t>
            </a:r>
            <a:r>
              <a:rPr lang="en-US" altLang="zh-CN" i="1" dirty="0"/>
              <a:t>k</a:t>
            </a:r>
            <a:r>
              <a:rPr lang="zh-CN" altLang="en-US" dirty="0"/>
              <a:t>，点</a:t>
            </a:r>
            <a:r>
              <a:rPr lang="en-US" altLang="zh-CN" i="1" dirty="0"/>
              <a:t>P</a:t>
            </a:r>
            <a:r>
              <a:rPr lang="zh-CN" altLang="en-US" dirty="0"/>
              <a:t>的变换对应点就是在以</a:t>
            </a:r>
            <a:r>
              <a:rPr lang="en-US" altLang="zh-CN" i="1" dirty="0"/>
              <a:t>O</a:t>
            </a:r>
            <a:r>
              <a:rPr lang="zh-CN" altLang="en-US" dirty="0"/>
              <a:t>开始的射线</a:t>
            </a:r>
            <a:r>
              <a:rPr lang="en-US" altLang="zh-CN" i="1" dirty="0"/>
              <a:t>OP</a:t>
            </a:r>
            <a:r>
              <a:rPr lang="zh-CN" altLang="en-US" dirty="0"/>
              <a:t>上的一点</a:t>
            </a:r>
            <a:r>
              <a:rPr lang="en-US" altLang="zh-CN" i="1" dirty="0"/>
              <a:t>P'</a:t>
            </a:r>
            <a:r>
              <a:rPr lang="zh-CN" altLang="en-US" dirty="0"/>
              <a:t>使得</a:t>
            </a:r>
            <a:r>
              <a:rPr lang="en-US" altLang="zh-CN" dirty="0"/>
              <a:t>|</a:t>
            </a:r>
            <a:r>
              <a:rPr lang="en-US" altLang="zh-CN" i="1" dirty="0"/>
              <a:t>OP</a:t>
            </a:r>
            <a:r>
              <a:rPr lang="en-US" altLang="zh-CN" dirty="0"/>
              <a:t>||</a:t>
            </a:r>
            <a:r>
              <a:rPr lang="en-US" altLang="zh-CN" i="1" dirty="0"/>
              <a:t>OP'</a:t>
            </a:r>
            <a:r>
              <a:rPr lang="zh-CN" altLang="en-US" dirty="0"/>
              <a:t> </a:t>
            </a:r>
            <a:r>
              <a:rPr lang="en-US" altLang="zh-CN" dirty="0"/>
              <a:t>| = </a:t>
            </a:r>
            <a:r>
              <a:rPr lang="en-US" altLang="zh-CN" i="1" dirty="0"/>
              <a:t>k</a:t>
            </a:r>
            <a:r>
              <a:rPr lang="en-US" altLang="zh-CN" baseline="30000" dirty="0"/>
              <a:t>2</a:t>
            </a:r>
            <a:r>
              <a:rPr lang="zh-CN" altLang="en-US" dirty="0"/>
              <a:t>。</a:t>
            </a:r>
            <a:endParaRPr lang="en-US" altLang="zh-CN" dirty="0"/>
          </a:p>
          <a:p>
            <a:endParaRPr lang="en-US" altLang="zh-CN" dirty="0"/>
          </a:p>
          <a:p>
            <a:r>
              <a:rPr lang="zh-CN" altLang="en-US" dirty="0"/>
              <a:t>点→点</a:t>
            </a:r>
            <a:endParaRPr lang="en-US" altLang="zh-CN" dirty="0"/>
          </a:p>
          <a:p>
            <a:r>
              <a:rPr lang="zh-CN" altLang="en-US" dirty="0"/>
              <a:t>过</a:t>
            </a:r>
            <a:r>
              <a:rPr lang="en-US" altLang="zh-CN" dirty="0"/>
              <a:t>O</a:t>
            </a:r>
            <a:r>
              <a:rPr lang="zh-CN" altLang="en-US" dirty="0"/>
              <a:t>的直线→过</a:t>
            </a:r>
            <a:r>
              <a:rPr lang="en-US" altLang="zh-CN" dirty="0"/>
              <a:t>O</a:t>
            </a:r>
            <a:r>
              <a:rPr lang="zh-CN" altLang="en-US" dirty="0"/>
              <a:t>的直线；不过</a:t>
            </a:r>
            <a:r>
              <a:rPr lang="en-US" altLang="zh-CN" dirty="0"/>
              <a:t>O</a:t>
            </a:r>
            <a:r>
              <a:rPr lang="zh-CN" altLang="en-US" dirty="0"/>
              <a:t>的直线→过</a:t>
            </a:r>
            <a:r>
              <a:rPr lang="en-US" altLang="zh-CN" dirty="0"/>
              <a:t>O</a:t>
            </a:r>
            <a:r>
              <a:rPr lang="zh-CN" altLang="en-US" dirty="0"/>
              <a:t>的圆</a:t>
            </a:r>
            <a:endParaRPr lang="en-US" altLang="zh-CN" dirty="0"/>
          </a:p>
          <a:p>
            <a:r>
              <a:rPr lang="zh-CN" altLang="en-US" dirty="0"/>
              <a:t>过</a:t>
            </a:r>
            <a:r>
              <a:rPr lang="en-US" altLang="zh-CN" dirty="0"/>
              <a:t>O</a:t>
            </a:r>
            <a:r>
              <a:rPr lang="zh-CN" altLang="en-US" dirty="0"/>
              <a:t>的圆→不过</a:t>
            </a:r>
            <a:r>
              <a:rPr lang="en-US" altLang="zh-CN" dirty="0"/>
              <a:t>O</a:t>
            </a:r>
            <a:r>
              <a:rPr lang="zh-CN" altLang="en-US" dirty="0"/>
              <a:t>的直线；不过</a:t>
            </a:r>
            <a:r>
              <a:rPr lang="en-US" altLang="zh-CN" dirty="0"/>
              <a:t>O</a:t>
            </a:r>
            <a:r>
              <a:rPr lang="zh-CN" altLang="en-US" dirty="0"/>
              <a:t>的圆→不过</a:t>
            </a:r>
            <a:r>
              <a:rPr lang="en-US" altLang="zh-CN" dirty="0"/>
              <a:t>O</a:t>
            </a:r>
            <a:r>
              <a:rPr lang="zh-CN" altLang="en-US" dirty="0"/>
              <a:t>的圆</a:t>
            </a:r>
            <a:endParaRPr lang="en-US" altLang="zh-CN" dirty="0"/>
          </a:p>
          <a:p>
            <a:r>
              <a:rPr lang="zh-CN" altLang="en-US" dirty="0"/>
              <a:t>过</a:t>
            </a:r>
            <a:r>
              <a:rPr lang="en-US" altLang="zh-CN" dirty="0"/>
              <a:t>O</a:t>
            </a:r>
            <a:r>
              <a:rPr lang="zh-CN" altLang="en-US" dirty="0"/>
              <a:t>的球→不过</a:t>
            </a:r>
            <a:r>
              <a:rPr lang="en-US" altLang="zh-CN" dirty="0"/>
              <a:t>O</a:t>
            </a:r>
            <a:r>
              <a:rPr lang="zh-CN" altLang="en-US" dirty="0"/>
              <a:t>的平面</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HDU4773 Problem of Apollonius</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t>给定两个相离的圆和一个在两圆外的一点</a:t>
                </a:r>
                <a:r>
                  <a:rPr lang="en-US" altLang="zh-CN" dirty="0"/>
                  <a:t>P</a:t>
                </a:r>
                <a:r>
                  <a:rPr lang="zh-CN" altLang="en-US" dirty="0"/>
                  <a:t>，求过</a:t>
                </a:r>
                <a:r>
                  <a:rPr lang="en-US" altLang="zh-CN" dirty="0"/>
                  <a:t>P</a:t>
                </a:r>
                <a:r>
                  <a:rPr lang="zh-CN" altLang="en-US" dirty="0"/>
                  <a:t>点且与两已知圆外切的圆的个数及其圆心坐标与半径。</a:t>
                </a:r>
                <a:endParaRPr lang="en-US" altLang="zh-CN" dirty="0"/>
              </a:p>
              <a:p>
                <a:endParaRPr lang="en-US" altLang="zh-CN" dirty="0"/>
              </a:p>
              <a:p>
                <a:r>
                  <a:rPr lang="zh-CN" altLang="en-US" dirty="0"/>
                  <a:t>设两已知圆的圆心坐标为</a:t>
                </a:r>
                <a14:m>
                  <m:oMath xmlns:m="http://schemas.openxmlformats.org/officeDocument/2006/math">
                    <m:d>
                      <m:dPr>
                        <m:begChr m:val="（"/>
                        <m:endChr m:val="）"/>
                        <m:ctrlPr>
                          <a:rPr lang="zh-CN" altLang="en-US"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𝑥</m:t>
                            </m:r>
                          </m:e>
                          <m:sub>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𝑦</m:t>
                            </m:r>
                          </m:e>
                          <m:sub>
                            <m:r>
                              <a:rPr lang="en-US" altLang="zh-CN" b="0" i="1" dirty="0" smtClean="0">
                                <a:latin typeface="Cambria Math" panose="02040503050406030204" pitchFamily="18" charset="0"/>
                              </a:rPr>
                              <m:t>1</m:t>
                            </m:r>
                          </m:sub>
                        </m:sSub>
                      </m:e>
                    </m:d>
                  </m:oMath>
                </a14:m>
                <a:r>
                  <a:rPr lang="zh-CN" altLang="en-US" b="0" dirty="0"/>
                  <a:t>和</a:t>
                </a:r>
                <a14:m>
                  <m:oMath xmlns:m="http://schemas.openxmlformats.org/officeDocument/2006/math">
                    <m:d>
                      <m:dPr>
                        <m:begChr m:val="（"/>
                        <m:endChr m:val="）"/>
                        <m:ctrlPr>
                          <a:rPr lang="zh-CN" altLang="en-US"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𝑥</m:t>
                            </m:r>
                          </m:e>
                          <m:sub>
                            <m:r>
                              <a:rPr lang="en-US" altLang="zh-CN" b="0" i="1" dirty="0" smtClean="0">
                                <a:latin typeface="Cambria Math" panose="02040503050406030204" pitchFamily="18" charset="0"/>
                              </a:rPr>
                              <m:t>2</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𝑦</m:t>
                            </m:r>
                          </m:e>
                          <m:sub>
                            <m:r>
                              <a:rPr lang="en-US" altLang="zh-CN" b="0" i="1" dirty="0" smtClean="0">
                                <a:latin typeface="Cambria Math" panose="02040503050406030204" pitchFamily="18" charset="0"/>
                              </a:rPr>
                              <m:t>2</m:t>
                            </m:r>
                          </m:sub>
                        </m:sSub>
                      </m:e>
                    </m:d>
                  </m:oMath>
                </a14:m>
                <a:r>
                  <a:rPr lang="zh-CN" altLang="en-US" b="0" dirty="0"/>
                  <a:t>，半径为</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1</m:t>
                        </m:r>
                      </m:sub>
                    </m:sSub>
                  </m:oMath>
                </a14:m>
                <a:r>
                  <a:rPr lang="zh-CN" altLang="en-US" b="0" dirty="0"/>
                  <a:t>和</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𝑟</m:t>
                        </m:r>
                      </m:e>
                      <m:sub>
                        <m:r>
                          <a:rPr lang="en-US" altLang="zh-CN" b="0" i="1" dirty="0" smtClean="0">
                            <a:latin typeface="Cambria Math" panose="02040503050406030204" pitchFamily="18" charset="0"/>
                          </a:rPr>
                          <m:t>2</m:t>
                        </m:r>
                      </m:sub>
                    </m:sSub>
                  </m:oMath>
                </a14:m>
                <a:r>
                  <a:rPr lang="zh-CN" altLang="en-US" b="0" dirty="0"/>
                  <a:t>，</a:t>
                </a:r>
                <a:r>
                  <a:rPr lang="en-US" altLang="zh-CN" b="0" dirty="0"/>
                  <a:t>P</a:t>
                </a:r>
                <a:r>
                  <a:rPr lang="zh-CN" altLang="en-US" b="0" dirty="0"/>
                  <a:t>点坐标为</a:t>
                </a:r>
                <a14:m>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oMath>
                </a14:m>
                <a:r>
                  <a:rPr lang="zh-CN" altLang="en-US" b="0" dirty="0"/>
                  <a:t>，所求的圆的圆心坐标为</a:t>
                </a:r>
                <a14:m>
                  <m:oMath xmlns:m="http://schemas.openxmlformats.org/officeDocument/2006/math">
                    <m:d>
                      <m:dPr>
                        <m:begChr m:val="（"/>
                        <m:endChr m:val="）"/>
                        <m:ctrlPr>
                          <a:rPr lang="zh-CN" altLang="en-US" b="0" i="1" dirty="0" smtClean="0">
                            <a:latin typeface="Cambria Math" panose="02040503050406030204" pitchFamily="18" charset="0"/>
                          </a:rPr>
                        </m:ctrlPr>
                      </m:dPr>
                      <m:e>
                        <m:r>
                          <a:rPr lang="en-US" altLang="zh-CN" b="0" i="1" dirty="0" smtClean="0">
                            <a:latin typeface="Cambria Math" panose="02040503050406030204" pitchFamily="18" charset="0"/>
                          </a:rPr>
                          <m:t>𝑥</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𝑦</m:t>
                        </m:r>
                      </m:e>
                    </m:d>
                  </m:oMath>
                </a14:m>
                <a:r>
                  <a:rPr lang="zh-CN" altLang="en-US" b="0" dirty="0"/>
                  <a:t>，半径为</a:t>
                </a:r>
                <a14:m>
                  <m:oMath xmlns:m="http://schemas.openxmlformats.org/officeDocument/2006/math">
                    <m:r>
                      <m:rPr>
                        <m:sty m:val="p"/>
                      </m:rPr>
                      <a:rPr lang="en-US" altLang="zh-CN" dirty="0">
                        <a:latin typeface="Cambria Math" panose="02040503050406030204" pitchFamily="18" charset="0"/>
                      </a:rPr>
                      <m:t>r</m:t>
                    </m:r>
                  </m:oMath>
                </a14:m>
                <a:r>
                  <a:rPr lang="zh-CN" altLang="en-US" b="0" dirty="0"/>
                  <a:t>。</a:t>
                </a:r>
                <a:r>
                  <a:rPr lang="zh-CN" altLang="en-US" dirty="0"/>
                  <a:t>那么可以得到以下方程组。</a:t>
                </a:r>
                <a:endParaRPr lang="en-US" altLang="zh-CN" dirty="0"/>
              </a:p>
              <a:p>
                <a14:m>
                  <m:oMath xmlns:m="http://schemas.openxmlformats.org/officeDocument/2006/math">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ad>
                              <m:radPr>
                                <m:degHide m:val="on"/>
                                <m:ctrlPr>
                                  <a:rPr lang="en-US" altLang="zh-CN" i="1">
                                    <a:latin typeface="Cambria Math" panose="02040503050406030204" pitchFamily="18" charset="0"/>
                                  </a:rPr>
                                </m:ctrlPr>
                              </m:radPr>
                              <m:deg/>
                              <m:e>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e>
                                    </m:d>
                                  </m:e>
                                  <m:sup>
                                    <m:r>
                                      <a:rPr lang="en-US" altLang="zh-CN" i="1">
                                        <a:latin typeface="Cambria Math" panose="02040503050406030204" pitchFamily="18" charset="0"/>
                                      </a:rPr>
                                      <m:t>2</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r>
                                          <a:rPr lang="en-US" altLang="zh-CN" i="1">
                                            <a:latin typeface="Cambria Math" panose="02040503050406030204" pitchFamily="18" charset="0"/>
                                          </a:rPr>
                                          <m:t>𝑦</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1</m:t>
                                            </m:r>
                                          </m:sub>
                                        </m:sSub>
                                      </m:e>
                                    </m:d>
                                  </m:e>
                                  <m:sup>
                                    <m:r>
                                      <a:rPr lang="en-US" altLang="zh-CN" i="1">
                                        <a:latin typeface="Cambria Math" panose="02040503050406030204" pitchFamily="18" charset="0"/>
                                      </a:rPr>
                                      <m:t>2</m:t>
                                    </m:r>
                                  </m:sup>
                                </m:sSup>
                              </m:e>
                            </m:rad>
                            <m:r>
                              <a:rPr lang="en-US" altLang="zh-CN" i="1">
                                <a:latin typeface="Cambria Math" panose="02040503050406030204" pitchFamily="18" charset="0"/>
                              </a:rPr>
                              <m:t>−</m:t>
                            </m:r>
                            <m:rad>
                              <m:radPr>
                                <m:degHide m:val="on"/>
                                <m:ctrlPr>
                                  <a:rPr lang="en-US" altLang="zh-CN" i="1">
                                    <a:latin typeface="Cambria Math" panose="02040503050406030204" pitchFamily="18" charset="0"/>
                                  </a:rPr>
                                </m:ctrlPr>
                              </m:radPr>
                              <m:deg/>
                              <m:e>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0</m:t>
                                            </m:r>
                                          </m:sub>
                                        </m:sSub>
                                      </m:e>
                                    </m:d>
                                  </m:e>
                                  <m:sup>
                                    <m:r>
                                      <a:rPr lang="en-US" altLang="zh-CN" i="1">
                                        <a:latin typeface="Cambria Math" panose="02040503050406030204" pitchFamily="18" charset="0"/>
                                      </a:rPr>
                                      <m:t>2</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r>
                                          <a:rPr lang="en-US" altLang="zh-CN" i="1">
                                            <a:latin typeface="Cambria Math" panose="02040503050406030204" pitchFamily="18" charset="0"/>
                                          </a:rPr>
                                          <m:t>𝑦</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0</m:t>
                                            </m:r>
                                          </m:sub>
                                        </m:sSub>
                                      </m:e>
                                    </m:d>
                                  </m:e>
                                  <m:sup>
                                    <m:r>
                                      <a:rPr lang="en-US" altLang="zh-CN" i="1">
                                        <a:latin typeface="Cambria Math" panose="02040503050406030204" pitchFamily="18" charset="0"/>
                                      </a:rPr>
                                      <m:t>2</m:t>
                                    </m:r>
                                  </m:sup>
                                </m:sSup>
                              </m:e>
                            </m:ra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1</m:t>
                                </m:r>
                              </m:sub>
                            </m:sSub>
                            <m:r>
                              <m:rPr>
                                <m:nor/>
                              </m:rPr>
                              <a:rPr lang="en-US" altLang="zh-CN" dirty="0"/>
                              <m:t> </m:t>
                            </m:r>
                          </m:e>
                          <m:e>
                            <m:rad>
                              <m:radPr>
                                <m:degHide m:val="on"/>
                                <m:ctrlPr>
                                  <a:rPr lang="en-US" altLang="zh-CN" i="1">
                                    <a:latin typeface="Cambria Math" panose="02040503050406030204" pitchFamily="18" charset="0"/>
                                  </a:rPr>
                                </m:ctrlPr>
                              </m:radPr>
                              <m:deg/>
                              <m:e>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e>
                                    </m:d>
                                  </m:e>
                                  <m:sup>
                                    <m:r>
                                      <a:rPr lang="en-US" altLang="zh-CN" i="1">
                                        <a:latin typeface="Cambria Math" panose="02040503050406030204" pitchFamily="18" charset="0"/>
                                      </a:rPr>
                                      <m:t>2</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r>
                                          <a:rPr lang="en-US" altLang="zh-CN" i="1">
                                            <a:latin typeface="Cambria Math" panose="02040503050406030204" pitchFamily="18" charset="0"/>
                                          </a:rPr>
                                          <m:t>𝑦</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2</m:t>
                                            </m:r>
                                          </m:sub>
                                        </m:sSub>
                                      </m:e>
                                    </m:d>
                                  </m:e>
                                  <m:sup>
                                    <m:r>
                                      <a:rPr lang="en-US" altLang="zh-CN" i="1">
                                        <a:latin typeface="Cambria Math" panose="02040503050406030204" pitchFamily="18" charset="0"/>
                                      </a:rPr>
                                      <m:t>2</m:t>
                                    </m:r>
                                  </m:sup>
                                </m:sSup>
                              </m:e>
                            </m:rad>
                            <m:r>
                              <a:rPr lang="en-US" altLang="zh-CN" i="1">
                                <a:latin typeface="Cambria Math" panose="02040503050406030204" pitchFamily="18" charset="0"/>
                              </a:rPr>
                              <m:t>−</m:t>
                            </m:r>
                            <m:rad>
                              <m:radPr>
                                <m:degHide m:val="on"/>
                                <m:ctrlPr>
                                  <a:rPr lang="en-US" altLang="zh-CN" i="1">
                                    <a:latin typeface="Cambria Math" panose="02040503050406030204" pitchFamily="18" charset="0"/>
                                  </a:rPr>
                                </m:ctrlPr>
                              </m:radPr>
                              <m:deg/>
                              <m:e>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0</m:t>
                                            </m:r>
                                          </m:sub>
                                        </m:sSub>
                                      </m:e>
                                    </m:d>
                                  </m:e>
                                  <m:sup>
                                    <m:r>
                                      <a:rPr lang="en-US" altLang="zh-CN" i="1">
                                        <a:latin typeface="Cambria Math" panose="02040503050406030204" pitchFamily="18" charset="0"/>
                                      </a:rPr>
                                      <m:t>2</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r>
                                          <a:rPr lang="en-US" altLang="zh-CN" i="1">
                                            <a:latin typeface="Cambria Math" panose="02040503050406030204" pitchFamily="18" charset="0"/>
                                          </a:rPr>
                                          <m:t>𝑦</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0</m:t>
                                            </m:r>
                                          </m:sub>
                                        </m:sSub>
                                      </m:e>
                                    </m:d>
                                  </m:e>
                                  <m:sup>
                                    <m:r>
                                      <a:rPr lang="en-US" altLang="zh-CN" i="1">
                                        <a:latin typeface="Cambria Math" panose="02040503050406030204" pitchFamily="18" charset="0"/>
                                      </a:rPr>
                                      <m:t>2</m:t>
                                    </m:r>
                                  </m:sup>
                                </m:sSup>
                              </m:e>
                            </m:ra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2</m:t>
                                </m:r>
                              </m:sub>
                            </m:sSub>
                          </m:e>
                        </m:eqArr>
                      </m:e>
                    </m:d>
                  </m:oMath>
                </a14:m>
                <a:endParaRPr lang="en-US" altLang="zh-CN" dirty="0"/>
              </a:p>
              <a:p>
                <a:endParaRPr lang="en-US" altLang="zh-CN" b="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94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HDU4773 Problem of Apollonius</a:t>
            </a:r>
            <a:endParaRPr lang="zh-CN" altLang="en-US" dirty="0"/>
          </a:p>
        </p:txBody>
      </p:sp>
      <p:sp>
        <p:nvSpPr>
          <p:cNvPr id="3" name="内容占位符 2"/>
          <p:cNvSpPr>
            <a:spLocks noGrp="1"/>
          </p:cNvSpPr>
          <p:nvPr>
            <p:ph idx="1"/>
          </p:nvPr>
        </p:nvSpPr>
        <p:spPr/>
        <p:txBody>
          <a:bodyPr/>
          <a:lstStyle/>
          <a:p>
            <a:r>
              <a:rPr lang="zh-CN" altLang="en-US" dirty="0"/>
              <a:t>但是这个方程十分难解。</a:t>
            </a:r>
            <a:endParaRPr lang="en-US" altLang="zh-CN" dirty="0"/>
          </a:p>
          <a:p>
            <a:endParaRPr lang="en-US" altLang="zh-CN" dirty="0"/>
          </a:p>
          <a:p>
            <a:r>
              <a:rPr lang="zh-CN" altLang="en-US" dirty="0"/>
              <a:t>如果以</a:t>
            </a:r>
            <a:r>
              <a:rPr lang="en-US" altLang="zh-CN" dirty="0"/>
              <a:t>P</a:t>
            </a:r>
            <a:r>
              <a:rPr lang="zh-CN" altLang="en-US" dirty="0"/>
              <a:t>点为反演中心，将两已知圆和所求圆反演，可以发现已知圆反演后还是圆，所求圆反演后为直线，且该直线为已知圆反演后的圆的公切线。</a:t>
            </a:r>
            <a:endParaRPr lang="en-US" altLang="zh-CN" dirty="0"/>
          </a:p>
          <a:p>
            <a:r>
              <a:rPr lang="zh-CN" altLang="en-US" dirty="0"/>
              <a:t>那么只需将已知圆反演并求出其公切线，再将公切线反演回来判断是否是外切即可。</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三维计算几何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三维计算几何的很多东西都可以从二维类比过来。</a:t>
                </a:r>
                <a:endParaRPr lang="en-US" altLang="zh-CN" dirty="0"/>
              </a:p>
              <a:p>
                <a:endParaRPr lang="en-US" altLang="zh-CN" dirty="0"/>
              </a:p>
              <a:p>
                <a:r>
                  <a:rPr lang="zh-CN" altLang="en-US" dirty="0"/>
                  <a:t>三维向量用</a:t>
                </a:r>
                <a14:m>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𝑧</m:t>
                        </m:r>
                      </m:e>
                    </m:d>
                  </m:oMath>
                </a14:m>
                <a:r>
                  <a:rPr lang="zh-CN" altLang="en-US" dirty="0"/>
                  <a:t>表示。</a:t>
                </a:r>
                <a:endParaRPr lang="en-US" altLang="zh-CN" dirty="0"/>
              </a:p>
              <a:p>
                <a:endParaRPr lang="en-US" altLang="zh-CN" dirty="0"/>
              </a:p>
              <a:p>
                <a14:m>
                  <m:oMath xmlns:m="http://schemas.openxmlformats.org/officeDocument/2006/math">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1</m:t>
                            </m:r>
                          </m:sub>
                        </m:sSub>
                      </m:e>
                    </m:d>
                    <m:r>
                      <a:rPr lang="en-US" altLang="zh-CN" i="1">
                        <a:latin typeface="Cambria Math" panose="02040503050406030204" pitchFamily="18" charset="0"/>
                        <a:ea typeface="Cambria Math" panose="02040503050406030204" pitchFamily="18" charset="0"/>
                      </a:rPr>
                      <m:t>±</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2</m:t>
                            </m:r>
                          </m:sub>
                        </m:sSub>
                      </m:e>
                    </m:d>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2</m:t>
                            </m:r>
                          </m:sub>
                        </m:sSub>
                      </m:e>
                    </m:d>
                  </m:oMath>
                </a14:m>
                <a:endParaRPr lang="en-US" altLang="zh-CN" dirty="0"/>
              </a:p>
              <a:p>
                <a14:m>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𝑧</m:t>
                        </m:r>
                      </m:e>
                    </m:d>
                    <m:r>
                      <a:rPr lang="en-US" altLang="zh-CN" b="0" i="1" smtClean="0">
                        <a:latin typeface="Cambria Math" panose="02040503050406030204" pitchFamily="18" charset="0"/>
                      </a:rPr>
                      <m:t>∗</m:t>
                    </m:r>
                    <m:r>
                      <a:rPr lang="zh-CN" altLang="en-US" b="0" i="1" smtClean="0">
                        <a:latin typeface="Cambria Math" panose="02040503050406030204" pitchFamily="18" charset="0"/>
                      </a:rPr>
                      <m:t>𝜆</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zh-CN" altLang="en-US" i="1">
                        <a:latin typeface="Cambria Math" panose="02040503050406030204" pitchFamily="18" charset="0"/>
                      </a:rPr>
                      <m:t>𝜆</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zh-CN" altLang="en-US" i="1">
                        <a:latin typeface="Cambria Math" panose="02040503050406030204" pitchFamily="18" charset="0"/>
                      </a:rPr>
                      <m:t>𝜆</m:t>
                    </m:r>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z</m:t>
                    </m:r>
                    <m:r>
                      <a:rPr lang="en-US" altLang="zh-CN" b="0" i="0" smtClean="0">
                        <a:latin typeface="Cambria Math" panose="02040503050406030204" pitchFamily="18" charset="0"/>
                      </a:rPr>
                      <m:t>∗</m:t>
                    </m:r>
                    <m:r>
                      <m:rPr>
                        <m:sty m:val="p"/>
                      </m:rPr>
                      <a:rPr lang="el-GR" altLang="zh-CN" b="0" i="1" smtClean="0">
                        <a:latin typeface="Cambria Math" panose="02040503050406030204" pitchFamily="18" charset="0"/>
                        <a:ea typeface="Cambria Math" panose="02040503050406030204" pitchFamily="18" charset="0"/>
                      </a:rPr>
                      <m:t>λ</m:t>
                    </m:r>
                    <m:r>
                      <a:rPr lang="en-US" altLang="zh-CN" b="0" i="1" smtClean="0">
                        <a:latin typeface="Cambria Math" panose="02040503050406030204" pitchFamily="18" charset="0"/>
                        <a:ea typeface="Cambria Math" panose="02040503050406030204" pitchFamily="18" charset="0"/>
                      </a:rPr>
                      <m:t>)</m:t>
                    </m:r>
                  </m:oMath>
                </a14:m>
                <a:endParaRPr lang="en-US" altLang="zh-CN" dirty="0"/>
              </a:p>
              <a:p>
                <a:endParaRPr lang="en-US" altLang="zh-CN" dirty="0"/>
              </a:p>
              <a:p>
                <a:r>
                  <a:rPr lang="zh-CN" altLang="en-US" dirty="0"/>
                  <a:t>向量</a:t>
                </a:r>
                <a14:m>
                  <m:oMath xmlns:m="http://schemas.openxmlformats.org/officeDocument/2006/math">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1</m:t>
                            </m:r>
                          </m:sub>
                        </m:sSub>
                      </m:e>
                    </m:d>
                  </m:oMath>
                </a14:m>
                <a:r>
                  <a:rPr lang="zh-CN" altLang="en-US" dirty="0"/>
                  <a:t>和</a:t>
                </a:r>
                <a14:m>
                  <m:oMath xmlns:m="http://schemas.openxmlformats.org/officeDocument/2006/math">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𝑥</m:t>
                        </m:r>
                      </m:e>
                      <m:sub>
                        <m:r>
                          <a:rPr lang="en-US" altLang="zh-CN" b="0" i="1" dirty="0" smtClean="0">
                            <a:latin typeface="Cambria Math" panose="02040503050406030204" pitchFamily="18" charset="0"/>
                          </a:rPr>
                          <m:t>2</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𝑦</m:t>
                        </m:r>
                      </m:e>
                      <m:sub>
                        <m:r>
                          <a:rPr lang="en-US" altLang="zh-CN" b="0" i="1" dirty="0" smtClean="0">
                            <a:latin typeface="Cambria Math" panose="02040503050406030204" pitchFamily="18" charset="0"/>
                          </a:rPr>
                          <m:t>2</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𝑧</m:t>
                        </m:r>
                      </m:e>
                      <m:sub>
                        <m:r>
                          <a:rPr lang="en-US" altLang="zh-CN" b="0" i="1" dirty="0" smtClean="0">
                            <a:latin typeface="Cambria Math" panose="02040503050406030204" pitchFamily="18" charset="0"/>
                          </a:rPr>
                          <m:t>2</m:t>
                        </m:r>
                      </m:sub>
                    </m:sSub>
                    <m:r>
                      <a:rPr lang="en-US" altLang="zh-CN" b="0" i="1" dirty="0" smtClean="0">
                        <a:latin typeface="Cambria Math" panose="02040503050406030204" pitchFamily="18" charset="0"/>
                      </a:rPr>
                      <m:t>)</m:t>
                    </m:r>
                  </m:oMath>
                </a14:m>
                <a:r>
                  <a:rPr lang="zh-CN" altLang="en-US" dirty="0"/>
                  <a:t>的点积为</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2</m:t>
                        </m:r>
                      </m:sub>
                    </m:sSub>
                    <m:r>
                      <a:rPr lang="zh-CN" altLang="en-US" b="0" i="1" smtClean="0">
                        <a:latin typeface="Cambria Math" panose="02040503050406030204" pitchFamily="18" charset="0"/>
                      </a:rPr>
                      <m:t>。</m:t>
                    </m:r>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94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三维叉积</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与二维叉积是一个数不同，三维叉积是一个三维向量。</a:t>
                </a:r>
                <a:endParaRPr lang="en-US" altLang="zh-CN" dirty="0"/>
              </a:p>
              <a:p>
                <a14:m>
                  <m:oMath xmlns:m="http://schemas.openxmlformats.org/officeDocument/2006/math">
                    <m:r>
                      <a:rPr lang="en-US" altLang="zh-CN" b="0" i="1" smtClean="0">
                        <a:latin typeface="Cambria Math" panose="02040503050406030204" pitchFamily="18" charset="0"/>
                      </a:rPr>
                      <m:t>     </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1</m:t>
                            </m:r>
                          </m:sub>
                        </m:sSub>
                      </m:e>
                    </m:d>
                    <m:r>
                      <a:rPr lang="en-US" altLang="zh-CN" i="1">
                        <a:latin typeface="Cambria Math" panose="02040503050406030204" pitchFamily="18" charset="0"/>
                        <a:ea typeface="Cambria Math" panose="02040503050406030204" pitchFamily="18" charset="0"/>
                      </a:rPr>
                      <m:t>×</m:t>
                    </m:r>
                    <m:d>
                      <m:dPr>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2</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𝑦</m:t>
                            </m:r>
                          </m:e>
                          <m:sub>
                            <m:r>
                              <a:rPr lang="en-US" altLang="zh-CN" b="0" i="1" smtClean="0">
                                <a:latin typeface="Cambria Math" panose="02040503050406030204" pitchFamily="18" charset="0"/>
                                <a:ea typeface="Cambria Math" panose="02040503050406030204" pitchFamily="18" charset="0"/>
                              </a:rPr>
                              <m:t>2</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𝑧</m:t>
                            </m:r>
                          </m:e>
                          <m:sub>
                            <m:r>
                              <a:rPr lang="en-US" altLang="zh-CN" b="0" i="1" smtClean="0">
                                <a:latin typeface="Cambria Math" panose="02040503050406030204" pitchFamily="18" charset="0"/>
                                <a:ea typeface="Cambria Math" panose="02040503050406030204" pitchFamily="18" charset="0"/>
                              </a:rPr>
                              <m:t>2</m:t>
                            </m:r>
                          </m:sub>
                        </m:sSub>
                      </m:e>
                    </m:d>
                  </m:oMath>
                </a14:m>
                <a:endParaRPr lang="en-US" altLang="zh-CN" b="0" i="1" dirty="0">
                  <a:latin typeface="Cambria Math" panose="02040503050406030204" pitchFamily="18" charset="0"/>
                  <a:ea typeface="Cambria Math" panose="02040503050406030204" pitchFamily="18" charset="0"/>
                </a:endParaRPr>
              </a:p>
              <a:p>
                <a14:m>
                  <m:oMath xmlns:m="http://schemas.openxmlformats.org/officeDocument/2006/math">
                    <m:r>
                      <a:rPr lang="en-US" altLang="zh-CN" b="0" i="1" smtClean="0">
                        <a:latin typeface="Cambria Math" panose="02040503050406030204" pitchFamily="18" charset="0"/>
                        <a:ea typeface="Cambria Math" panose="02040503050406030204" pitchFamily="18" charset="0"/>
                      </a:rPr>
                      <m:t>=</m:t>
                    </m:r>
                    <m:d>
                      <m:dPr>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𝑦</m:t>
                            </m:r>
                          </m:e>
                          <m:sub>
                            <m:r>
                              <a:rPr lang="en-US" altLang="zh-CN" b="0" i="1" smtClean="0">
                                <a:latin typeface="Cambria Math" panose="02040503050406030204" pitchFamily="18" charset="0"/>
                                <a:ea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𝑧</m:t>
                            </m:r>
                          </m:e>
                          <m:sub>
                            <m:r>
                              <a:rPr lang="en-US" altLang="zh-CN" b="0" i="1" smtClean="0">
                                <a:latin typeface="Cambria Math" panose="02040503050406030204" pitchFamily="18" charset="0"/>
                                <a:ea typeface="Cambria Math" panose="02040503050406030204" pitchFamily="18" charset="0"/>
                              </a:rPr>
                              <m:t>2</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𝑧</m:t>
                            </m:r>
                          </m:e>
                          <m:sub>
                            <m:r>
                              <a:rPr lang="en-US" altLang="zh-CN" b="0" i="1" smtClean="0">
                                <a:latin typeface="Cambria Math" panose="02040503050406030204" pitchFamily="18" charset="0"/>
                                <a:ea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𝑦</m:t>
                            </m:r>
                          </m:e>
                          <m:sub>
                            <m:r>
                              <a:rPr lang="en-US" altLang="zh-CN" b="0" i="1" smtClean="0">
                                <a:latin typeface="Cambria Math" panose="02040503050406030204" pitchFamily="18" charset="0"/>
                                <a:ea typeface="Cambria Math" panose="02040503050406030204" pitchFamily="18" charset="0"/>
                              </a:rPr>
                              <m:t>2</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𝑧</m:t>
                            </m:r>
                          </m:e>
                          <m:sub>
                            <m:r>
                              <a:rPr lang="en-US" altLang="zh-CN" b="0" i="1" smtClean="0">
                                <a:latin typeface="Cambria Math" panose="02040503050406030204" pitchFamily="18" charset="0"/>
                                <a:ea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2</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𝑧</m:t>
                            </m:r>
                          </m:e>
                          <m:sub>
                            <m:r>
                              <a:rPr lang="en-US" altLang="zh-CN" b="0" i="1" smtClean="0">
                                <a:latin typeface="Cambria Math" panose="02040503050406030204" pitchFamily="18" charset="0"/>
                                <a:ea typeface="Cambria Math" panose="02040503050406030204" pitchFamily="18" charset="0"/>
                              </a:rPr>
                              <m:t>2</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𝑦</m:t>
                            </m:r>
                          </m:e>
                          <m:sub>
                            <m:r>
                              <a:rPr lang="en-US" altLang="zh-CN" b="0" i="1" smtClean="0">
                                <a:latin typeface="Cambria Math" panose="02040503050406030204" pitchFamily="18" charset="0"/>
                                <a:ea typeface="Cambria Math" panose="02040503050406030204" pitchFamily="18" charset="0"/>
                              </a:rPr>
                              <m:t>2</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𝑦</m:t>
                            </m:r>
                          </m:e>
                          <m:sub>
                            <m:r>
                              <a:rPr lang="en-US" altLang="zh-CN" b="0" i="1" smtClean="0">
                                <a:latin typeface="Cambria Math" panose="02040503050406030204" pitchFamily="18" charset="0"/>
                                <a:ea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2</m:t>
                            </m:r>
                          </m:sub>
                        </m:sSub>
                      </m:e>
                    </m:d>
                  </m:oMath>
                </a14:m>
                <a:endParaRPr lang="en-US" altLang="zh-CN" b="0" dirty="0">
                  <a:ea typeface="Cambria Math" panose="02040503050406030204" pitchFamily="18" charset="0"/>
                </a:endParaRPr>
              </a:p>
              <a:p>
                <a:r>
                  <a:rPr lang="zh-CN" altLang="en-US" dirty="0"/>
                  <a:t>用矩阵的行列式来表示是</a:t>
                </a:r>
                <a14:m>
                  <m:oMath xmlns:m="http://schemas.openxmlformats.org/officeDocument/2006/math">
                    <m:d>
                      <m:dPr>
                        <m:begChr m:val="|"/>
                        <m:endChr m:val="|"/>
                        <m:ctrlPr>
                          <a:rPr lang="en-US" altLang="zh-CN" i="1" smtClean="0">
                            <a:latin typeface="Cambria Math" panose="02040503050406030204" pitchFamily="18" charset="0"/>
                          </a:rPr>
                        </m:ctrlPr>
                      </m:dPr>
                      <m:e>
                        <m:m>
                          <m:mPr>
                            <m:mcs>
                              <m:mc>
                                <m:mcPr>
                                  <m:count m:val="3"/>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𝑖</m:t>
                              </m:r>
                            </m:e>
                            <m:e>
                              <m:r>
                                <a:rPr lang="en-US" altLang="zh-CN" b="0" i="1" smtClean="0">
                                  <a:latin typeface="Cambria Math" panose="02040503050406030204" pitchFamily="18" charset="0"/>
                                </a:rPr>
                                <m:t>𝑗</m:t>
                              </m:r>
                            </m:e>
                            <m:e>
                              <m:r>
                                <a:rPr lang="en-US" altLang="zh-CN" b="0" i="1" smtClean="0">
                                  <a:latin typeface="Cambria Math" panose="02040503050406030204" pitchFamily="18" charset="0"/>
                                </a:rPr>
                                <m:t>𝑘</m:t>
                              </m:r>
                            </m:e>
                          </m:mr>
                          <m:m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1</m:t>
                                  </m:r>
                                </m:sub>
                              </m:sSub>
                            </m:e>
                          </m:mr>
                          <m:m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2</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2</m:t>
                                  </m:r>
                                </m:sub>
                              </m:sSub>
                            </m:e>
                          </m:mr>
                        </m:m>
                      </m:e>
                    </m:d>
                  </m:oMath>
                </a14:m>
                <a:r>
                  <a:rPr lang="zh-CN" altLang="en-US" dirty="0"/>
                  <a:t>。</a:t>
                </a:r>
                <a:endParaRPr lang="en-US" altLang="zh-CN" dirty="0"/>
              </a:p>
              <a:p>
                <a:r>
                  <a:rPr lang="zh-CN" altLang="en-US" dirty="0"/>
                  <a:t>若</a:t>
                </a:r>
                <a14:m>
                  <m:oMath xmlns:m="http://schemas.openxmlformats.org/officeDocument/2006/math">
                    <m:r>
                      <a:rPr lang="en-US" altLang="zh-CN" i="1">
                        <a:latin typeface="Cambria Math" panose="02040503050406030204" pitchFamily="18" charset="0"/>
                      </a:rPr>
                      <m:t>𝑎</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𝑏</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𝑐</m:t>
                    </m:r>
                  </m:oMath>
                </a14:m>
                <a:r>
                  <a:rPr lang="zh-CN" altLang="en-US" dirty="0"/>
                  <a:t>，则</a:t>
                </a:r>
                <a14:m>
                  <m:oMath xmlns:m="http://schemas.openxmlformats.org/officeDocument/2006/math">
                    <m:r>
                      <a:rPr lang="en-US" altLang="zh-CN" i="1">
                        <a:latin typeface="Cambria Math" panose="02040503050406030204" pitchFamily="18" charset="0"/>
                      </a:rPr>
                      <m:t>𝑎</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𝑐</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𝑏</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𝑐</m:t>
                    </m:r>
                    <m:r>
                      <a:rPr lang="en-US" altLang="zh-CN" i="1">
                        <a:latin typeface="Cambria Math" panose="02040503050406030204" pitchFamily="18" charset="0"/>
                        <a:ea typeface="Cambria Math" panose="02040503050406030204" pitchFamily="18" charset="0"/>
                      </a:rPr>
                      <m:t>=0</m:t>
                    </m:r>
                  </m:oMath>
                </a14:m>
                <a:r>
                  <a:rPr lang="zh-CN" altLang="en-US" dirty="0"/>
                  <a:t>，即叉积的结果与原向量垂直。</a:t>
                </a:r>
                <a:endParaRPr lang="en-US" altLang="zh-CN" dirty="0"/>
              </a:p>
              <a:p>
                <a14:m>
                  <m:oMath xmlns:m="http://schemas.openxmlformats.org/officeDocument/2006/math">
                    <m:r>
                      <a:rPr lang="en-US" altLang="zh-CN" i="1">
                        <a:latin typeface="Cambria Math" panose="02040503050406030204" pitchFamily="18" charset="0"/>
                      </a:rPr>
                      <m:t>𝑎</m:t>
                    </m:r>
                  </m:oMath>
                </a14:m>
                <a:r>
                  <a:rPr lang="zh-CN" altLang="en-US" dirty="0"/>
                  <a:t>，</a:t>
                </a:r>
                <a14:m>
                  <m:oMath xmlns:m="http://schemas.openxmlformats.org/officeDocument/2006/math">
                    <m:r>
                      <a:rPr lang="en-US" altLang="zh-CN" i="1" dirty="0">
                        <a:latin typeface="Cambria Math" panose="02040503050406030204" pitchFamily="18" charset="0"/>
                      </a:rPr>
                      <m:t>𝑏</m:t>
                    </m:r>
                  </m:oMath>
                </a14:m>
                <a:r>
                  <a:rPr lang="zh-CN" altLang="en-US" dirty="0"/>
                  <a:t>和</a:t>
                </a:r>
                <a14:m>
                  <m:oMath xmlns:m="http://schemas.openxmlformats.org/officeDocument/2006/math">
                    <m:r>
                      <m:rPr>
                        <m:sty m:val="p"/>
                      </m:rPr>
                      <a:rPr lang="en-US" altLang="zh-CN" dirty="0">
                        <a:latin typeface="Cambria Math" panose="02040503050406030204" pitchFamily="18" charset="0"/>
                      </a:rPr>
                      <m:t>a</m:t>
                    </m:r>
                    <m:r>
                      <a:rPr lang="zh-CN" altLang="en-US" i="1" dirty="0">
                        <a:latin typeface="Cambria Math" panose="02040503050406030204" pitchFamily="18" charset="0"/>
                      </a:rPr>
                      <m:t>×</m:t>
                    </m:r>
                    <m:r>
                      <a:rPr lang="en-US" altLang="zh-CN" i="1" dirty="0">
                        <a:latin typeface="Cambria Math" panose="02040503050406030204" pitchFamily="18" charset="0"/>
                      </a:rPr>
                      <m:t>𝑏</m:t>
                    </m:r>
                  </m:oMath>
                </a14:m>
                <a:r>
                  <a:rPr lang="zh-CN" altLang="en-US" dirty="0"/>
                  <a:t>应该满足右手系。</a:t>
                </a:r>
                <a:endParaRPr lang="en-US" altLang="zh-CN" dirty="0"/>
              </a:p>
              <a:p>
                <a14:m>
                  <m:oMath xmlns:m="http://schemas.openxmlformats.org/officeDocument/2006/math">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𝑎</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𝑏</m:t>
                        </m:r>
                      </m:e>
                    </m:d>
                  </m:oMath>
                </a14:m>
                <a:r>
                  <a:rPr lang="zh-CN" altLang="en-US" dirty="0"/>
                  <a:t>在数值上等于</a:t>
                </a:r>
                <a14:m>
                  <m:oMath xmlns:m="http://schemas.openxmlformats.org/officeDocument/2006/math">
                    <m:r>
                      <a:rPr lang="en-US" altLang="zh-CN" i="1" dirty="0">
                        <a:latin typeface="Cambria Math" panose="02040503050406030204" pitchFamily="18" charset="0"/>
                      </a:rPr>
                      <m:t>𝑎</m:t>
                    </m:r>
                  </m:oMath>
                </a14:m>
                <a:r>
                  <a:rPr lang="zh-CN" altLang="en-US" dirty="0"/>
                  <a:t>与</a:t>
                </a:r>
                <a14:m>
                  <m:oMath xmlns:m="http://schemas.openxmlformats.org/officeDocument/2006/math">
                    <m:r>
                      <a:rPr lang="en-US" altLang="zh-CN" i="1" dirty="0">
                        <a:latin typeface="Cambria Math" panose="02040503050406030204" pitchFamily="18" charset="0"/>
                      </a:rPr>
                      <m:t>𝑏</m:t>
                    </m:r>
                  </m:oMath>
                </a14:m>
                <a:r>
                  <a:rPr lang="zh-CN" altLang="en-US" dirty="0"/>
                  <a:t>所夹平行四边形的面积。</a:t>
                </a: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941" b="-840"/>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左手系与右手系</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𝑧</m:t>
                    </m:r>
                    <m:r>
                      <a:rPr lang="en-US" altLang="zh-CN" b="0" i="1" smtClean="0">
                        <a:latin typeface="Cambria Math" panose="02040503050406030204" pitchFamily="18" charset="0"/>
                      </a:rPr>
                      <m:t>)</m:t>
                    </m:r>
                  </m:oMath>
                </a14:m>
                <a:r>
                  <a:rPr lang="zh-CN" altLang="en-US" dirty="0"/>
                  <a:t>满足右手系的定义为伸出右手，将四指由</a:t>
                </a:r>
                <a14:m>
                  <m:oMath xmlns:m="http://schemas.openxmlformats.org/officeDocument/2006/math">
                    <m:r>
                      <a:rPr lang="en-US" altLang="zh-CN" i="1" dirty="0" smtClean="0">
                        <a:latin typeface="Cambria Math" panose="02040503050406030204" pitchFamily="18" charset="0"/>
                      </a:rPr>
                      <m:t>𝑥</m:t>
                    </m:r>
                  </m:oMath>
                </a14:m>
                <a:r>
                  <a:rPr lang="zh-CN" altLang="en-US" dirty="0"/>
                  <a:t>轴指向沿小于平角的叫转到</a:t>
                </a:r>
                <a14:m>
                  <m:oMath xmlns:m="http://schemas.openxmlformats.org/officeDocument/2006/math">
                    <m:r>
                      <a:rPr lang="en-US" altLang="zh-CN" i="1" dirty="0" smtClean="0">
                        <a:latin typeface="Cambria Math" panose="02040503050406030204" pitchFamily="18" charset="0"/>
                      </a:rPr>
                      <m:t>𝑦</m:t>
                    </m:r>
                  </m:oMath>
                </a14:m>
                <a:r>
                  <a:rPr lang="zh-CN" altLang="en-US" dirty="0"/>
                  <a:t>轴指向，拇指所指的方向为</a:t>
                </a:r>
                <a14:m>
                  <m:oMath xmlns:m="http://schemas.openxmlformats.org/officeDocument/2006/math">
                    <m:r>
                      <m:rPr>
                        <m:sty m:val="p"/>
                      </m:rPr>
                      <a:rPr lang="en-US" altLang="zh-CN" dirty="0">
                        <a:latin typeface="Cambria Math" panose="02040503050406030204" pitchFamily="18" charset="0"/>
                      </a:rPr>
                      <m:t>z</m:t>
                    </m:r>
                  </m:oMath>
                </a14:m>
                <a:r>
                  <a:rPr lang="zh-CN" altLang="en-US" dirty="0"/>
                  <a:t>轴方向。</a:t>
                </a:r>
                <a:endParaRPr lang="en-US" altLang="zh-CN" dirty="0"/>
              </a:p>
              <a:p>
                <a:r>
                  <a:rPr lang="zh-CN" altLang="en-US" dirty="0"/>
                  <a:t>左手系也可类似定义。</a:t>
                </a:r>
                <a:endParaRPr lang="en-US" altLang="zh-CN"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661"/>
                </a:stretch>
              </a:blipFill>
            </p:spPr>
            <p:txBody>
              <a:bodyPr/>
              <a:lstStyle/>
              <a:p>
                <a:r>
                  <a:rPr lang="zh-CN" altLang="en-US">
                    <a:noFill/>
                  </a:rPr>
                  <a:t> </a:t>
                </a:r>
              </a:p>
            </p:txBody>
          </p:sp>
        </mc:Fallback>
      </mc:AlternateContent>
      <p:pic>
        <p:nvPicPr>
          <p:cNvPr id="1031" name="Picture 7" descr="http://d.hiphotos.baidu.com/baike/c0%3Dbaike72%2C5%2C5%2C72%2C24/sign=af6ff0cda1cc7cd9ee203c8b58684a5a/962bd40735fae6cd784940410db30f2442a70f1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1962" y="3795713"/>
            <a:ext cx="3648075" cy="2381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31"/>
                                        </p:tgtEl>
                                        <p:attrNameLst>
                                          <p:attrName>style.visibility</p:attrName>
                                        </p:attrNameLst>
                                      </p:cBhvr>
                                      <p:to>
                                        <p:strVal val="visible"/>
                                      </p:to>
                                    </p:set>
                                    <p:animEffect transition="in" filter="fade">
                                      <p:cBhvr>
                                        <p:cTn id="15" dur="500"/>
                                        <p:tgtEl>
                                          <p:spTgt spid="1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混合积</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199" y="1825625"/>
                <a:ext cx="10515601" cy="4351338"/>
              </a:xfrm>
            </p:spPr>
            <p:txBody>
              <a:bodyPr/>
              <a:lstStyle/>
              <a:p>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𝑏</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𝑐</m:t>
                    </m:r>
                  </m:oMath>
                </a14:m>
                <a:r>
                  <a:rPr lang="zh-CN" altLang="en-US" dirty="0"/>
                  <a:t>叫做向量</a:t>
                </a:r>
                <a14:m>
                  <m:oMath xmlns:m="http://schemas.openxmlformats.org/officeDocument/2006/math">
                    <m:r>
                      <a:rPr lang="en-US" altLang="zh-CN" i="1" dirty="0" smtClean="0">
                        <a:latin typeface="Cambria Math" panose="02040503050406030204" pitchFamily="18" charset="0"/>
                      </a:rPr>
                      <m:t>𝑎</m:t>
                    </m:r>
                    <m:r>
                      <a:rPr lang="en-US" altLang="zh-CN" b="0" i="1" dirty="0" smtClean="0">
                        <a:latin typeface="Cambria Math" panose="02040503050406030204" pitchFamily="18" charset="0"/>
                      </a:rPr>
                      <m:t>,</m:t>
                    </m:r>
                    <m:r>
                      <a:rPr lang="en-US" altLang="zh-CN" i="1" dirty="0" smtClean="0">
                        <a:latin typeface="Cambria Math" panose="02040503050406030204" pitchFamily="18" charset="0"/>
                      </a:rPr>
                      <m:t>𝑏</m:t>
                    </m:r>
                    <m:r>
                      <a:rPr lang="en-US" altLang="zh-CN" b="0" i="1" dirty="0" smtClean="0">
                        <a:latin typeface="Cambria Math" panose="02040503050406030204" pitchFamily="18" charset="0"/>
                      </a:rPr>
                      <m:t>,</m:t>
                    </m:r>
                    <m:r>
                      <a:rPr lang="en-US" altLang="zh-CN" i="1" dirty="0" smtClean="0">
                        <a:latin typeface="Cambria Math" panose="02040503050406030204" pitchFamily="18" charset="0"/>
                      </a:rPr>
                      <m:t>𝑐</m:t>
                    </m:r>
                  </m:oMath>
                </a14:m>
                <a:r>
                  <a:rPr lang="zh-CN" altLang="en-US" dirty="0"/>
                  <a:t>的混合积，记做</a:t>
                </a:r>
                <a14:m>
                  <m:oMath xmlns:m="http://schemas.openxmlformats.org/officeDocument/2006/math">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𝑎</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𝑏</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𝑐</m:t>
                    </m:r>
                    <m:r>
                      <a:rPr lang="en-US" altLang="zh-CN" i="1" dirty="0" smtClean="0">
                        <a:latin typeface="Cambria Math" panose="02040503050406030204" pitchFamily="18" charset="0"/>
                      </a:rPr>
                      <m:t>)</m:t>
                    </m:r>
                  </m:oMath>
                </a14:m>
                <a:r>
                  <a:rPr lang="zh-CN" altLang="en-US" dirty="0"/>
                  <a:t>。</a:t>
                </a:r>
                <a:endParaRPr lang="en-US" altLang="zh-CN" dirty="0"/>
              </a:p>
              <a:p>
                <a:r>
                  <a:rPr lang="zh-CN" altLang="en-US" dirty="0"/>
                  <a:t>当</a:t>
                </a:r>
                <a14:m>
                  <m:oMath xmlns:m="http://schemas.openxmlformats.org/officeDocument/2006/math">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oMath>
                </a14:m>
                <a:r>
                  <a:rPr lang="zh-CN" altLang="en-US" dirty="0"/>
                  <a:t>满足右手系时，混合积为正。</a:t>
                </a:r>
                <a:endParaRPr lang="en-US" altLang="zh-CN" dirty="0"/>
              </a:p>
              <a:p>
                <a14:m>
                  <m:oMath xmlns:m="http://schemas.openxmlformats.org/officeDocument/2006/math">
                    <m:d>
                      <m:dPr>
                        <m:begChr m:val="|"/>
                        <m:endChr m:val="|"/>
                        <m:ctrlPr>
                          <a:rPr lang="en-US" altLang="zh-CN" b="0" i="1" dirty="0" smtClean="0">
                            <a:latin typeface="Cambria Math" panose="02040503050406030204" pitchFamily="18" charset="0"/>
                          </a:rPr>
                        </m:ctrlPr>
                      </m:dPr>
                      <m:e>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𝑎</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𝑏</m:t>
                            </m:r>
                          </m:e>
                        </m:d>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𝑐</m:t>
                        </m:r>
                      </m:e>
                    </m:d>
                  </m:oMath>
                </a14:m>
                <a:r>
                  <a:rPr lang="zh-CN" altLang="en-US" dirty="0"/>
                  <a:t>的几何意义是</a:t>
                </a:r>
                <a14:m>
                  <m:oMath xmlns:m="http://schemas.openxmlformats.org/officeDocument/2006/math">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oMath>
                </a14:m>
                <a:r>
                  <a:rPr lang="zh-CN" altLang="en-US" dirty="0"/>
                  <a:t>所成的平行六面体的体积。</a:t>
                </a:r>
                <a:endParaRPr lang="en-US" altLang="zh-CN" dirty="0"/>
              </a:p>
              <a:p>
                <a:endParaRPr lang="en-US" altLang="zh-CN" dirty="0"/>
              </a:p>
              <a:p>
                <a14:m>
                  <m:oMath xmlns:m="http://schemas.openxmlformats.org/officeDocument/2006/math">
                    <m:r>
                      <a:rPr lang="pt-BR" altLang="zh-CN" i="1" dirty="0" smtClean="0">
                        <a:latin typeface="Cambria Math" panose="02040503050406030204" pitchFamily="18" charset="0"/>
                      </a:rPr>
                      <m:t>(</m:t>
                    </m:r>
                    <m:r>
                      <a:rPr lang="pt-BR" altLang="zh-CN" b="0" i="1" dirty="0" smtClean="0">
                        <a:latin typeface="Cambria Math" panose="02040503050406030204" pitchFamily="18" charset="0"/>
                      </a:rPr>
                      <m:t>𝑎</m:t>
                    </m:r>
                    <m:r>
                      <a:rPr lang="pt-BR" altLang="zh-CN" b="0" i="1" dirty="0" smtClean="0">
                        <a:latin typeface="Cambria Math" panose="02040503050406030204" pitchFamily="18" charset="0"/>
                      </a:rPr>
                      <m:t>,</m:t>
                    </m:r>
                    <m:r>
                      <a:rPr lang="pt-BR" altLang="zh-CN" b="0" i="1" dirty="0" smtClean="0">
                        <a:latin typeface="Cambria Math" panose="02040503050406030204" pitchFamily="18" charset="0"/>
                      </a:rPr>
                      <m:t>𝑏</m:t>
                    </m:r>
                    <m:r>
                      <a:rPr lang="pt-BR" altLang="zh-CN" b="0" i="1" dirty="0" smtClean="0">
                        <a:latin typeface="Cambria Math" panose="02040503050406030204" pitchFamily="18" charset="0"/>
                      </a:rPr>
                      <m:t>,</m:t>
                    </m:r>
                    <m:r>
                      <a:rPr lang="pt-BR" altLang="zh-CN" b="0" i="1" dirty="0" smtClean="0">
                        <a:latin typeface="Cambria Math" panose="02040503050406030204" pitchFamily="18" charset="0"/>
                      </a:rPr>
                      <m:t>𝑐</m:t>
                    </m:r>
                    <m:r>
                      <a:rPr lang="pt-BR" altLang="zh-CN" b="0" i="1" dirty="0" smtClean="0">
                        <a:latin typeface="Cambria Math" panose="02040503050406030204" pitchFamily="18" charset="0"/>
                      </a:rPr>
                      <m:t>)=(</m:t>
                    </m:r>
                    <m:r>
                      <a:rPr lang="pt-BR" altLang="zh-CN" b="0" i="1" dirty="0">
                        <a:latin typeface="Cambria Math" panose="02040503050406030204" pitchFamily="18" charset="0"/>
                      </a:rPr>
                      <m:t>𝑏</m:t>
                    </m:r>
                    <m:r>
                      <a:rPr lang="pt-BR" altLang="zh-CN" b="0" i="1" dirty="0">
                        <a:latin typeface="Cambria Math" panose="02040503050406030204" pitchFamily="18" charset="0"/>
                      </a:rPr>
                      <m:t>,</m:t>
                    </m:r>
                    <m:r>
                      <a:rPr lang="pt-BR" altLang="zh-CN" b="0" i="1" dirty="0">
                        <a:latin typeface="Cambria Math" panose="02040503050406030204" pitchFamily="18" charset="0"/>
                      </a:rPr>
                      <m:t>𝑐</m:t>
                    </m:r>
                    <m:r>
                      <a:rPr lang="pt-BR" altLang="zh-CN" b="0" i="1" dirty="0">
                        <a:latin typeface="Cambria Math" panose="02040503050406030204" pitchFamily="18" charset="0"/>
                      </a:rPr>
                      <m:t>,</m:t>
                    </m:r>
                    <m:r>
                      <a:rPr lang="pt-BR" altLang="zh-CN" b="0" i="1" dirty="0">
                        <a:latin typeface="Cambria Math" panose="02040503050406030204" pitchFamily="18" charset="0"/>
                      </a:rPr>
                      <m:t>𝑎</m:t>
                    </m:r>
                    <m:r>
                      <a:rPr lang="pt-BR" altLang="zh-CN" b="0" i="1" dirty="0">
                        <a:latin typeface="Cambria Math" panose="02040503050406030204" pitchFamily="18" charset="0"/>
                      </a:rPr>
                      <m:t>)=(</m:t>
                    </m:r>
                    <m:r>
                      <a:rPr lang="pt-BR" altLang="zh-CN" b="0" i="1" dirty="0">
                        <a:latin typeface="Cambria Math" panose="02040503050406030204" pitchFamily="18" charset="0"/>
                      </a:rPr>
                      <m:t>𝑐</m:t>
                    </m:r>
                    <m:r>
                      <a:rPr lang="pt-BR" altLang="zh-CN" b="0" i="1" dirty="0">
                        <a:latin typeface="Cambria Math" panose="02040503050406030204" pitchFamily="18" charset="0"/>
                      </a:rPr>
                      <m:t>,</m:t>
                    </m:r>
                    <m:r>
                      <a:rPr lang="pt-BR" altLang="zh-CN" b="0" i="1" dirty="0">
                        <a:latin typeface="Cambria Math" panose="02040503050406030204" pitchFamily="18" charset="0"/>
                      </a:rPr>
                      <m:t>𝑎</m:t>
                    </m:r>
                    <m:r>
                      <a:rPr lang="pt-BR" altLang="zh-CN" b="0" i="1" dirty="0">
                        <a:latin typeface="Cambria Math" panose="02040503050406030204" pitchFamily="18" charset="0"/>
                      </a:rPr>
                      <m:t>,</m:t>
                    </m:r>
                    <m:r>
                      <a:rPr lang="pt-BR" altLang="zh-CN" b="0" i="1" dirty="0">
                        <a:latin typeface="Cambria Math" panose="02040503050406030204" pitchFamily="18" charset="0"/>
                      </a:rPr>
                      <m:t>𝑏</m:t>
                    </m:r>
                    <m:r>
                      <a:rPr lang="pt-BR" altLang="zh-CN" b="0" i="1" dirty="0">
                        <a:latin typeface="Cambria Math" panose="02040503050406030204" pitchFamily="18" charset="0"/>
                      </a:rPr>
                      <m:t>)=−(</m:t>
                    </m:r>
                    <m:r>
                      <a:rPr lang="pt-BR" altLang="zh-CN" b="0" i="1" dirty="0">
                        <a:latin typeface="Cambria Math" panose="02040503050406030204" pitchFamily="18" charset="0"/>
                      </a:rPr>
                      <m:t>𝑏</m:t>
                    </m:r>
                    <m:r>
                      <a:rPr lang="pt-BR" altLang="zh-CN" b="0" i="1" dirty="0">
                        <a:latin typeface="Cambria Math" panose="02040503050406030204" pitchFamily="18" charset="0"/>
                      </a:rPr>
                      <m:t>,</m:t>
                    </m:r>
                    <m:r>
                      <a:rPr lang="pt-BR" altLang="zh-CN" b="0" i="1" dirty="0">
                        <a:latin typeface="Cambria Math" panose="02040503050406030204" pitchFamily="18" charset="0"/>
                      </a:rPr>
                      <m:t>𝑎</m:t>
                    </m:r>
                    <m:r>
                      <a:rPr lang="pt-BR" altLang="zh-CN" b="0" i="1" dirty="0">
                        <a:latin typeface="Cambria Math" panose="02040503050406030204" pitchFamily="18" charset="0"/>
                      </a:rPr>
                      <m:t>,</m:t>
                    </m:r>
                    <m:r>
                      <a:rPr lang="pt-BR" altLang="zh-CN" b="0" i="1" dirty="0">
                        <a:latin typeface="Cambria Math" panose="02040503050406030204" pitchFamily="18" charset="0"/>
                      </a:rPr>
                      <m:t>𝑐</m:t>
                    </m:r>
                    <m:r>
                      <a:rPr lang="pt-BR" altLang="zh-CN" b="0" i="1" dirty="0">
                        <a:latin typeface="Cambria Math" panose="02040503050406030204" pitchFamily="18" charset="0"/>
                      </a:rPr>
                      <m:t>)=−(</m:t>
                    </m:r>
                    <m:r>
                      <a:rPr lang="pt-BR" altLang="zh-CN" b="0" i="1" dirty="0">
                        <a:latin typeface="Cambria Math" panose="02040503050406030204" pitchFamily="18" charset="0"/>
                      </a:rPr>
                      <m:t>𝑎</m:t>
                    </m:r>
                    <m:r>
                      <a:rPr lang="pt-BR" altLang="zh-CN" b="0" i="1" dirty="0">
                        <a:latin typeface="Cambria Math" panose="02040503050406030204" pitchFamily="18" charset="0"/>
                      </a:rPr>
                      <m:t>,</m:t>
                    </m:r>
                    <m:r>
                      <a:rPr lang="pt-BR" altLang="zh-CN" b="0" i="1" dirty="0">
                        <a:latin typeface="Cambria Math" panose="02040503050406030204" pitchFamily="18" charset="0"/>
                      </a:rPr>
                      <m:t>𝑐</m:t>
                    </m:r>
                    <m:r>
                      <a:rPr lang="pt-BR" altLang="zh-CN" b="0" i="1" dirty="0">
                        <a:latin typeface="Cambria Math" panose="02040503050406030204" pitchFamily="18" charset="0"/>
                      </a:rPr>
                      <m:t>,</m:t>
                    </m:r>
                    <m:r>
                      <a:rPr lang="pt-BR" altLang="zh-CN" b="0" i="1" dirty="0">
                        <a:latin typeface="Cambria Math" panose="02040503050406030204" pitchFamily="18" charset="0"/>
                      </a:rPr>
                      <m:t>𝑏</m:t>
                    </m:r>
                    <m:r>
                      <a:rPr lang="pt-BR" altLang="zh-CN" b="0" i="1" dirty="0">
                        <a:latin typeface="Cambria Math" panose="02040503050406030204" pitchFamily="18" charset="0"/>
                      </a:rPr>
                      <m:t>)=−(</m:t>
                    </m:r>
                    <m:r>
                      <a:rPr lang="pt-BR" altLang="zh-CN" b="0" i="1" dirty="0">
                        <a:latin typeface="Cambria Math" panose="02040503050406030204" pitchFamily="18" charset="0"/>
                      </a:rPr>
                      <m:t>𝑐</m:t>
                    </m:r>
                    <m:r>
                      <a:rPr lang="pt-BR" altLang="zh-CN" b="0" i="1" dirty="0">
                        <a:latin typeface="Cambria Math" panose="02040503050406030204" pitchFamily="18" charset="0"/>
                      </a:rPr>
                      <m:t>,</m:t>
                    </m:r>
                    <m:r>
                      <a:rPr lang="pt-BR" altLang="zh-CN" b="0" i="1" dirty="0">
                        <a:latin typeface="Cambria Math" panose="02040503050406030204" pitchFamily="18" charset="0"/>
                      </a:rPr>
                      <m:t>𝑏</m:t>
                    </m:r>
                    <m:r>
                      <a:rPr lang="pt-BR" altLang="zh-CN" b="0" i="1" dirty="0">
                        <a:latin typeface="Cambria Math" panose="02040503050406030204" pitchFamily="18" charset="0"/>
                      </a:rPr>
                      <m:t>,</m:t>
                    </m:r>
                    <m:r>
                      <a:rPr lang="pt-BR" altLang="zh-CN" b="0" i="1" dirty="0">
                        <a:latin typeface="Cambria Math" panose="02040503050406030204" pitchFamily="18" charset="0"/>
                      </a:rPr>
                      <m:t>𝑎</m:t>
                    </m:r>
                    <m:r>
                      <a:rPr lang="pt-BR" altLang="zh-CN" b="0" i="1" dirty="0">
                        <a:latin typeface="Cambria Math" panose="02040503050406030204" pitchFamily="18" charset="0"/>
                      </a:rPr>
                      <m:t>)</m:t>
                    </m:r>
                  </m:oMath>
                </a14:m>
                <a:endParaRPr lang="en-US" altLang="zh-CN" dirty="0"/>
              </a:p>
              <a:p>
                <a14:m>
                  <m:oMath xmlns:m="http://schemas.openxmlformats.org/officeDocument/2006/math">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oMath>
                </a14:m>
                <a:r>
                  <a:rPr lang="zh-CN" altLang="en-US" dirty="0"/>
                  <a:t>共面的冲要条件为</a:t>
                </a:r>
                <a14:m>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e>
                    </m:d>
                    <m:r>
                      <a:rPr lang="en-US" altLang="zh-CN" b="0" i="1" smtClean="0">
                        <a:latin typeface="Cambria Math" panose="02040503050406030204" pitchFamily="18" charset="0"/>
                      </a:rPr>
                      <m:t>=0</m:t>
                    </m:r>
                  </m:oMath>
                </a14:m>
                <a:r>
                  <a:rPr lang="zh-CN" altLang="en-US" dirty="0"/>
                  <a:t>。</a:t>
                </a:r>
                <a:endParaRPr lang="en-US" altLang="zh-CN" dirty="0"/>
              </a:p>
              <a:p>
                <a:r>
                  <a:rPr lang="zh-CN" altLang="en-US" dirty="0"/>
                  <a:t>如果</a:t>
                </a:r>
                <a14:m>
                  <m:oMath xmlns:m="http://schemas.openxmlformats.org/officeDocument/2006/math">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oMath>
                </a14:m>
                <a:r>
                  <a:rPr lang="zh-CN" altLang="en-US" dirty="0"/>
                  <a:t>中至少有两个向量共线，那么</a:t>
                </a:r>
                <a14:m>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e>
                    </m:d>
                    <m:r>
                      <a:rPr lang="en-US" altLang="zh-CN" b="0" i="1" smtClean="0">
                        <a:latin typeface="Cambria Math" panose="02040503050406030204" pitchFamily="18" charset="0"/>
                      </a:rPr>
                      <m:t>=0</m:t>
                    </m:r>
                  </m:oMath>
                </a14:m>
                <a:r>
                  <a:rPr lang="zh-CN" altLang="en-US" dirty="0"/>
                  <a:t>。</a:t>
                </a: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199" y="1825625"/>
                <a:ext cx="10515601" cy="4351338"/>
              </a:xfrm>
              <a:blipFill rotWithShape="0">
                <a:blip r:embed="rId2"/>
                <a:stretch>
                  <a:fillRect l="-985" t="-294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三维直线</a:t>
            </a:r>
          </a:p>
        </p:txBody>
      </p:sp>
      <p:sp>
        <p:nvSpPr>
          <p:cNvPr id="3" name="内容占位符 2"/>
          <p:cNvSpPr>
            <a:spLocks noGrp="1"/>
          </p:cNvSpPr>
          <p:nvPr>
            <p:ph idx="1"/>
          </p:nvPr>
        </p:nvSpPr>
        <p:spPr/>
        <p:txBody>
          <a:bodyPr/>
          <a:lstStyle/>
          <a:p>
            <a:r>
              <a:rPr lang="zh-CN" altLang="en-US" dirty="0"/>
              <a:t>表示方法和二维情况类似，有两点式和参数式两种。</a:t>
            </a:r>
            <a:endParaRPr lang="en-US" altLang="zh-CN" dirty="0"/>
          </a:p>
          <a:p>
            <a:endParaRPr lang="en-US" altLang="zh-CN" dirty="0"/>
          </a:p>
          <a:p>
            <a:r>
              <a:rPr lang="zh-CN" altLang="en-US" dirty="0"/>
              <a:t>计算点到直线距离的方法也和二维情况类似。</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空间直线的距离</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t>如果两直线有交点，则距离为</a:t>
                </a:r>
                <a14:m>
                  <m:oMath xmlns:m="http://schemas.openxmlformats.org/officeDocument/2006/math">
                    <m:r>
                      <a:rPr lang="en-US" altLang="zh-CN" i="1" dirty="0" smtClean="0">
                        <a:latin typeface="Cambria Math" panose="02040503050406030204" pitchFamily="18" charset="0"/>
                      </a:rPr>
                      <m:t>0</m:t>
                    </m:r>
                  </m:oMath>
                </a14:m>
                <a:r>
                  <a:rPr lang="zh-CN" altLang="en-US" dirty="0"/>
                  <a:t>。</a:t>
                </a:r>
                <a:endParaRPr lang="en-US" altLang="zh-CN" dirty="0"/>
              </a:p>
              <a:p>
                <a:r>
                  <a:rPr lang="zh-CN" altLang="en-US" dirty="0"/>
                  <a:t>如果两直线平行，距离也很好求，就相当于是点到直线的距离。</a:t>
                </a:r>
                <a:endParaRPr lang="en-US" altLang="zh-CN" dirty="0"/>
              </a:p>
              <a:p>
                <a:r>
                  <a:rPr lang="zh-CN" altLang="en-US" dirty="0"/>
                  <a:t>但是如果这两直线异面。。。</a:t>
                </a:r>
                <a:endParaRPr lang="en-US" altLang="zh-CN" dirty="0"/>
              </a:p>
              <a:p>
                <a:endParaRPr lang="en-US" altLang="zh-CN" dirty="0"/>
              </a:p>
              <a:p>
                <a:r>
                  <a:rPr lang="zh-CN" altLang="en-US" dirty="0"/>
                  <a:t>设两直线的方向向量为</a:t>
                </a:r>
                <a14:m>
                  <m:oMath xmlns:m="http://schemas.openxmlformats.org/officeDocument/2006/math">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𝑏</m:t>
                    </m:r>
                  </m:oMath>
                </a14:m>
                <a:r>
                  <a:rPr lang="zh-CN" altLang="en-US" dirty="0"/>
                  <a:t>。并且在直线上各任取一点</a:t>
                </a:r>
                <a14:m>
                  <m:oMath xmlns:m="http://schemas.openxmlformats.org/officeDocument/2006/math">
                    <m:r>
                      <a:rPr lang="en-US" altLang="zh-CN" i="1" dirty="0" smtClean="0">
                        <a:latin typeface="Cambria Math" panose="02040503050406030204" pitchFamily="18" charset="0"/>
                      </a:rPr>
                      <m:t>𝐴</m:t>
                    </m:r>
                  </m:oMath>
                </a14:m>
                <a:r>
                  <a:rPr lang="zh-CN" altLang="en-US" dirty="0"/>
                  <a:t>和</a:t>
                </a:r>
                <a14:m>
                  <m:oMath xmlns:m="http://schemas.openxmlformats.org/officeDocument/2006/math">
                    <m:r>
                      <a:rPr lang="en-US" altLang="zh-CN" i="1" dirty="0" smtClean="0">
                        <a:latin typeface="Cambria Math" panose="02040503050406030204" pitchFamily="18" charset="0"/>
                      </a:rPr>
                      <m:t>𝐵</m:t>
                    </m:r>
                  </m:oMath>
                </a14:m>
                <a:r>
                  <a:rPr lang="zh-CN" altLang="en-US" dirty="0"/>
                  <a:t>，那么</a:t>
                </a:r>
                <a14:m>
                  <m:oMath xmlns:m="http://schemas.openxmlformats.org/officeDocument/2006/math">
                    <m:r>
                      <m:rPr>
                        <m:sty m:val="p"/>
                      </m:rPr>
                      <a:rPr lang="en-US" altLang="zh-CN" b="0" i="0" smtClean="0">
                        <a:latin typeface="Cambria Math" panose="02040503050406030204" pitchFamily="18" charset="0"/>
                      </a:rPr>
                      <m:t>B</m:t>
                    </m:r>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A</m:t>
                    </m:r>
                  </m:oMath>
                </a14:m>
                <a:r>
                  <a:rPr lang="zh-CN" altLang="en-US" dirty="0"/>
                  <a:t>在</a:t>
                </a:r>
                <a14:m>
                  <m:oMath xmlns:m="http://schemas.openxmlformats.org/officeDocument/2006/math">
                    <m:r>
                      <a:rPr lang="en-US" altLang="zh-CN" b="0" i="1" dirty="0" smtClean="0">
                        <a:latin typeface="Cambria Math" panose="02040503050406030204" pitchFamily="18" charset="0"/>
                      </a:rPr>
                      <m:t>𝑎</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𝑏</m:t>
                    </m:r>
                  </m:oMath>
                </a14:m>
                <a:r>
                  <a:rPr lang="zh-CN" altLang="en-US" dirty="0"/>
                  <a:t>上的投影的模即为距离。</a:t>
                </a:r>
                <a:endParaRPr lang="en-US" altLang="zh-CN" dirty="0"/>
              </a:p>
              <a:p>
                <a:r>
                  <a:rPr lang="zh-CN" altLang="en-US" dirty="0"/>
                  <a:t>即</a:t>
                </a:r>
                <a14:m>
                  <m:oMath xmlns:m="http://schemas.openxmlformats.org/officeDocument/2006/math">
                    <m:r>
                      <m:rPr>
                        <m:sty m:val="p"/>
                      </m:rPr>
                      <a:rPr lang="en-US" altLang="zh-CN" dirty="0">
                        <a:latin typeface="Cambria Math" panose="02040503050406030204" pitchFamily="18" charset="0"/>
                      </a:rPr>
                      <m:t>d</m:t>
                    </m:r>
                    <m:r>
                      <a:rPr lang="en-US" altLang="zh-CN" b="0" i="0" dirty="0" smtClean="0">
                        <a:latin typeface="Cambria Math" panose="02040503050406030204" pitchFamily="18" charset="0"/>
                      </a:rPr>
                      <m:t>=</m:t>
                    </m:r>
                    <m:d>
                      <m:dPr>
                        <m:begChr m:val="|"/>
                        <m:endChr m:val="|"/>
                        <m:ctrlPr>
                          <a:rPr lang="en-US" altLang="zh-CN" b="0" i="1" dirty="0" smtClean="0">
                            <a:latin typeface="Cambria Math" panose="02040503050406030204" pitchFamily="18" charset="0"/>
                          </a:rPr>
                        </m:ctrlPr>
                      </m:dPr>
                      <m:e>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𝑎</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𝑏</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𝐵</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𝐴</m:t>
                            </m:r>
                            <m:r>
                              <a:rPr lang="en-US" altLang="zh-CN" b="0" i="1" dirty="0" smtClean="0">
                                <a:latin typeface="Cambria Math" panose="02040503050406030204" pitchFamily="18" charset="0"/>
                                <a:ea typeface="Cambria Math" panose="02040503050406030204" pitchFamily="18" charset="0"/>
                              </a:rPr>
                              <m:t>)</m:t>
                            </m:r>
                          </m:num>
                          <m:den>
                            <m:d>
                              <m:dPr>
                                <m:begChr m:val="|"/>
                                <m:endChr m:val="|"/>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𝑎</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𝑏</m:t>
                                </m:r>
                              </m:e>
                            </m:d>
                          </m:den>
                        </m:f>
                      </m:e>
                    </m:d>
                  </m:oMath>
                </a14:m>
                <a:r>
                  <a:rPr lang="zh-CN" altLang="en-US" dirty="0"/>
                  <a:t>。</a:t>
                </a:r>
                <a:endParaRPr lang="en-US" altLang="zh-CN"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94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三维平面</a:t>
            </a:r>
          </a:p>
        </p:txBody>
      </p:sp>
      <p:sp>
        <p:nvSpPr>
          <p:cNvPr id="3" name="内容占位符 2"/>
          <p:cNvSpPr>
            <a:spLocks noGrp="1"/>
          </p:cNvSpPr>
          <p:nvPr>
            <p:ph idx="1"/>
          </p:nvPr>
        </p:nvSpPr>
        <p:spPr/>
        <p:txBody>
          <a:bodyPr/>
          <a:lstStyle/>
          <a:p>
            <a:r>
              <a:rPr lang="zh-CN" altLang="en-US" dirty="0"/>
              <a:t>三维平面可以用点法式表示，也可以用一般式来表示。</a:t>
            </a:r>
            <a:endParaRPr lang="en-US" altLang="zh-CN" dirty="0"/>
          </a:p>
          <a:p>
            <a:endParaRPr lang="en-US" altLang="zh-CN" dirty="0"/>
          </a:p>
          <a:p>
            <a:r>
              <a:rPr lang="zh-CN" altLang="en-US" dirty="0"/>
              <a:t>因为一个平面将整个空间分成了两个半空间，所以可以用平面的表示形式来表示半空间。</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基础计算</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lnSpcReduction="10000"/>
              </a:bodyPr>
              <a:lstStyle/>
              <a:p>
                <a:r>
                  <a:rPr lang="zh-CN" altLang="en-US" dirty="0"/>
                  <a:t>点到平面的距离：点</a:t>
                </a:r>
                <a14:m>
                  <m:oMath xmlns:m="http://schemas.openxmlformats.org/officeDocument/2006/math">
                    <m:r>
                      <a:rPr lang="en-US" altLang="zh-CN" i="1" dirty="0" smtClean="0">
                        <a:latin typeface="Cambria Math" panose="02040503050406030204" pitchFamily="18" charset="0"/>
                      </a:rPr>
                      <m:t>𝐴</m:t>
                    </m:r>
                  </m:oMath>
                </a14:m>
                <a:r>
                  <a:rPr lang="zh-CN" altLang="en-US" dirty="0"/>
                  <a:t>到平面</a:t>
                </a:r>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𝑣</m:t>
                    </m:r>
                    <m:r>
                      <a:rPr lang="en-US" altLang="zh-CN" b="0" i="1" smtClean="0">
                        <a:latin typeface="Cambria Math" panose="02040503050406030204" pitchFamily="18" charset="0"/>
                      </a:rPr>
                      <m:t>)</m:t>
                    </m:r>
                  </m:oMath>
                </a14:m>
                <a:r>
                  <a:rPr lang="zh-CN" altLang="en-US" dirty="0"/>
                  <a:t>的距离，就是向量</a:t>
                </a:r>
                <a14:m>
                  <m:oMath xmlns:m="http://schemas.openxmlformats.org/officeDocument/2006/math">
                    <m:r>
                      <a:rPr lang="en-US" altLang="zh-CN" i="1" dirty="0" smtClean="0">
                        <a:latin typeface="Cambria Math" panose="02040503050406030204" pitchFamily="18" charset="0"/>
                      </a:rPr>
                      <m:t>𝐴𝑃</m:t>
                    </m:r>
                  </m:oMath>
                </a14:m>
                <a:r>
                  <a:rPr lang="zh-CN" altLang="en-US" dirty="0"/>
                  <a:t>在</a:t>
                </a:r>
                <a14:m>
                  <m:oMath xmlns:m="http://schemas.openxmlformats.org/officeDocument/2006/math">
                    <m:r>
                      <a:rPr lang="en-US" altLang="zh-CN" i="1" dirty="0" smtClean="0">
                        <a:latin typeface="Cambria Math" panose="02040503050406030204" pitchFamily="18" charset="0"/>
                      </a:rPr>
                      <m:t>𝑣</m:t>
                    </m:r>
                  </m:oMath>
                </a14:m>
                <a:r>
                  <a:rPr lang="zh-CN" altLang="en-US" dirty="0"/>
                  <a:t>上的投影长度。</a:t>
                </a:r>
                <a:endParaRPr lang="en-US" altLang="zh-CN" dirty="0"/>
              </a:p>
              <a:p>
                <a:r>
                  <a:rPr lang="zh-CN" altLang="en-US" dirty="0"/>
                  <a:t>直线与平面的交点：设直线过点</a:t>
                </a:r>
                <a14:m>
                  <m:oMath xmlns:m="http://schemas.openxmlformats.org/officeDocument/2006/math">
                    <m:r>
                      <a:rPr lang="en-US" altLang="zh-CN" i="1" dirty="0" smtClean="0">
                        <a:latin typeface="Cambria Math" panose="02040503050406030204" pitchFamily="18" charset="0"/>
                      </a:rPr>
                      <m:t>𝐴</m:t>
                    </m:r>
                  </m:oMath>
                </a14:m>
                <a:r>
                  <a:rPr lang="zh-CN" altLang="en-US" dirty="0"/>
                  <a:t>，方向向量为</a:t>
                </a:r>
                <a14:m>
                  <m:oMath xmlns:m="http://schemas.openxmlformats.org/officeDocument/2006/math">
                    <m:r>
                      <a:rPr lang="en-US" altLang="zh-CN" i="1" dirty="0" smtClean="0">
                        <a:latin typeface="Cambria Math" panose="02040503050406030204" pitchFamily="18" charset="0"/>
                      </a:rPr>
                      <m:t>𝑣</m:t>
                    </m:r>
                  </m:oMath>
                </a14:m>
                <a:r>
                  <a:rPr lang="zh-CN" altLang="en-US" dirty="0"/>
                  <a:t>，点</a:t>
                </a:r>
                <a14:m>
                  <m:oMath xmlns:m="http://schemas.openxmlformats.org/officeDocument/2006/math">
                    <m:r>
                      <a:rPr lang="en-US" altLang="zh-CN" i="1" dirty="0" smtClean="0">
                        <a:latin typeface="Cambria Math" panose="02040503050406030204" pitchFamily="18" charset="0"/>
                      </a:rPr>
                      <m:t>𝐴</m:t>
                    </m:r>
                  </m:oMath>
                </a14:m>
                <a:r>
                  <a:rPr lang="zh-CN" altLang="en-US" dirty="0"/>
                  <a:t>到平面的垂直向量为</a:t>
                </a:r>
                <a14:m>
                  <m:oMath xmlns:m="http://schemas.openxmlformats.org/officeDocument/2006/math">
                    <m:r>
                      <a:rPr lang="en-US" altLang="zh-CN" i="1" dirty="0" smtClean="0">
                        <a:latin typeface="Cambria Math" panose="02040503050406030204" pitchFamily="18" charset="0"/>
                      </a:rPr>
                      <m:t>h</m:t>
                    </m:r>
                  </m:oMath>
                </a14:m>
                <a:r>
                  <a:rPr lang="zh-CN" altLang="en-US" dirty="0"/>
                  <a:t>。若</a:t>
                </a:r>
                <a14:m>
                  <m:oMath xmlns:m="http://schemas.openxmlformats.org/officeDocument/2006/math">
                    <m:r>
                      <a:rPr lang="en-US" altLang="zh-CN" b="0" i="1" dirty="0" smtClean="0">
                        <a:latin typeface="Cambria Math" panose="02040503050406030204" pitchFamily="18" charset="0"/>
                        <a:ea typeface="Cambria Math" panose="02040503050406030204" pitchFamily="18" charset="0"/>
                      </a:rPr>
                      <m:t>𝑣</m:t>
                    </m:r>
                    <m:r>
                      <a:rPr lang="en-US" altLang="zh-CN"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h</m:t>
                    </m:r>
                    <m:r>
                      <a:rPr lang="en-US" altLang="zh-CN" b="0" i="1" dirty="0" smtClean="0">
                        <a:latin typeface="Cambria Math" panose="02040503050406030204" pitchFamily="18" charset="0"/>
                        <a:ea typeface="Cambria Math" panose="02040503050406030204" pitchFamily="18" charset="0"/>
                      </a:rPr>
                      <m:t>=0</m:t>
                    </m:r>
                  </m:oMath>
                </a14:m>
                <a:r>
                  <a:rPr lang="zh-CN" altLang="en-US" dirty="0"/>
                  <a:t>，则直线与平面平行。否则，可以通过缩放</a:t>
                </a:r>
                <a14:m>
                  <m:oMath xmlns:m="http://schemas.openxmlformats.org/officeDocument/2006/math">
                    <m:r>
                      <a:rPr lang="en-US" altLang="zh-CN" i="1" dirty="0" smtClean="0">
                        <a:latin typeface="Cambria Math" panose="02040503050406030204" pitchFamily="18" charset="0"/>
                      </a:rPr>
                      <m:t>𝑣</m:t>
                    </m:r>
                  </m:oMath>
                </a14:m>
                <a:r>
                  <a:rPr lang="zh-CN" altLang="en-US" dirty="0"/>
                  <a:t>得到</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𝑣</m:t>
                        </m:r>
                      </m:e>
                      <m:sub>
                        <m:r>
                          <a:rPr lang="en-US" altLang="zh-CN" b="0" i="1" dirty="0" smtClean="0">
                            <a:latin typeface="Cambria Math" panose="02040503050406030204" pitchFamily="18" charset="0"/>
                          </a:rPr>
                          <m:t>0</m:t>
                        </m:r>
                      </m:sub>
                    </m:sSub>
                  </m:oMath>
                </a14:m>
                <a:r>
                  <a:rPr lang="zh-CN" altLang="en-US" dirty="0"/>
                  <a:t>，使得</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0</m:t>
                        </m:r>
                      </m:sub>
                    </m:sSub>
                  </m:oMath>
                </a14:m>
                <a:r>
                  <a:rPr lang="zh-CN" altLang="en-US" dirty="0"/>
                  <a:t>在</a:t>
                </a:r>
                <a14:m>
                  <m:oMath xmlns:m="http://schemas.openxmlformats.org/officeDocument/2006/math">
                    <m:r>
                      <a:rPr lang="en-US" altLang="zh-CN" i="1" dirty="0" smtClean="0">
                        <a:latin typeface="Cambria Math" panose="02040503050406030204" pitchFamily="18" charset="0"/>
                      </a:rPr>
                      <m:t>h</m:t>
                    </m:r>
                  </m:oMath>
                </a14:m>
                <a:r>
                  <a:rPr lang="zh-CN" altLang="en-US" dirty="0"/>
                  <a:t>上的投影对于</a:t>
                </a:r>
                <a14:m>
                  <m:oMath xmlns:m="http://schemas.openxmlformats.org/officeDocument/2006/math">
                    <m:r>
                      <a:rPr lang="en-US" altLang="zh-CN" i="1" dirty="0" smtClean="0">
                        <a:latin typeface="Cambria Math" panose="02040503050406030204" pitchFamily="18" charset="0"/>
                      </a:rPr>
                      <m:t>h</m:t>
                    </m:r>
                  </m:oMath>
                </a14:m>
                <a:r>
                  <a:rPr lang="zh-CN" altLang="en-US" dirty="0"/>
                  <a:t>。即</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h</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h</m:t>
                        </m:r>
                      </m:e>
                      <m:sup>
                        <m:r>
                          <a:rPr lang="en-US" altLang="zh-CN" b="0" i="1" smtClean="0">
                            <a:latin typeface="Cambria Math" panose="02040503050406030204" pitchFamily="18" charset="0"/>
                            <a:ea typeface="Cambria Math" panose="02040503050406030204" pitchFamily="18" charset="0"/>
                          </a:rPr>
                          <m:t>2</m:t>
                        </m:r>
                      </m:sup>
                    </m:sSup>
                  </m:oMath>
                </a14:m>
                <a:r>
                  <a:rPr lang="zh-CN" altLang="en-US" dirty="0"/>
                  <a:t>，故</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𝑣</m:t>
                    </m:r>
                    <m:f>
                      <m:fPr>
                        <m:ctrlPr>
                          <a:rPr lang="en-US" altLang="zh-CN" b="0" i="1" smtClean="0">
                            <a:latin typeface="Cambria Math" panose="02040503050406030204" pitchFamily="18" charset="0"/>
                          </a:rPr>
                        </m:ctrlPr>
                      </m:fPr>
                      <m:num>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h</m:t>
                            </m:r>
                          </m:e>
                          <m:sup>
                            <m:r>
                              <a:rPr lang="en-US" altLang="zh-CN" b="0" i="1" smtClean="0">
                                <a:latin typeface="Cambria Math" panose="02040503050406030204" pitchFamily="18" charset="0"/>
                              </a:rPr>
                              <m:t>2</m:t>
                            </m:r>
                          </m:sup>
                        </m:sSup>
                      </m:num>
                      <m:den>
                        <m:r>
                          <a:rPr lang="en-US" altLang="zh-CN" b="0" i="1" smtClean="0">
                            <a:latin typeface="Cambria Math" panose="02040503050406030204" pitchFamily="18" charset="0"/>
                          </a:rPr>
                          <m:t>𝑣</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h</m:t>
                        </m:r>
                      </m:den>
                    </m:f>
                  </m:oMath>
                </a14:m>
                <a:r>
                  <a:rPr lang="zh-CN" altLang="en-US" dirty="0"/>
                  <a:t>，那么</a:t>
                </a:r>
                <a14:m>
                  <m:oMath xmlns:m="http://schemas.openxmlformats.org/officeDocument/2006/math">
                    <m:r>
                      <a:rPr lang="en-US" altLang="zh-CN" b="0" i="1" smtClean="0">
                        <a:latin typeface="Cambria Math" panose="02040503050406030204" pitchFamily="18" charset="0"/>
                      </a:rPr>
                      <m:t>𝐴</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0</m:t>
                        </m:r>
                      </m:sub>
                    </m:sSub>
                  </m:oMath>
                </a14:m>
                <a:r>
                  <a:rPr lang="zh-CN" altLang="en-US" dirty="0"/>
                  <a:t>为交点。</a:t>
                </a:r>
                <a:endParaRPr lang="en-US" altLang="zh-CN" dirty="0"/>
              </a:p>
              <a:p>
                <a:r>
                  <a:rPr lang="zh-CN" altLang="en-US" dirty="0"/>
                  <a:t>平面与平面的交线：设两平面的法向量为</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2</m:t>
                        </m:r>
                      </m:sub>
                    </m:sSub>
                  </m:oMath>
                </a14:m>
                <a:r>
                  <a:rPr lang="zh-CN" altLang="en-US" b="0" dirty="0"/>
                  <a:t>。若它们平行，则两平面平行或重合。否则，交线的方向向量与</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2</m:t>
                        </m:r>
                      </m:sub>
                    </m:sSub>
                  </m:oMath>
                </a14:m>
                <a:r>
                  <a:rPr lang="zh-CN" altLang="en-US" b="0" dirty="0"/>
                  <a:t>垂直，即为</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h</m:t>
                        </m:r>
                      </m:e>
                      <m:sub>
                        <m:r>
                          <a:rPr lang="en-US" altLang="zh-CN" b="0" i="1" smtClean="0">
                            <a:latin typeface="Cambria Math" panose="02040503050406030204" pitchFamily="18" charset="0"/>
                            <a:ea typeface="Cambria Math" panose="02040503050406030204" pitchFamily="18" charset="0"/>
                          </a:rPr>
                          <m:t>2</m:t>
                        </m:r>
                      </m:sub>
                    </m:sSub>
                  </m:oMath>
                </a14:m>
                <a:r>
                  <a:rPr lang="zh-CN" altLang="en-US" b="0" dirty="0"/>
                  <a:t>，那么就只需求出交线上的一点即可。可以随机生成一条在第一平面内，但不与第二平面平行的直线，求它与第二平面的交点。</a:t>
                </a:r>
                <a:endParaRPr lang="en-US" altLang="zh-CN" b="0"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043" t="-3641" r="-812" b="-196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三维凸包</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根据二维凸包的定义类比可得三维凸包就是包含三维空间中的所有给定点的最小凸多面体。</a:t>
                </a:r>
                <a:endParaRPr lang="en-US" altLang="zh-CN" dirty="0"/>
              </a:p>
              <a:p>
                <a:endParaRPr lang="en-US" altLang="zh-CN" dirty="0"/>
              </a:p>
              <a:p>
                <a:r>
                  <a:rPr lang="zh-CN" altLang="en-US" dirty="0"/>
                  <a:t>为了方便起见，假定没有四点共面的情况。</a:t>
                </a:r>
                <a:endParaRPr lang="en-US" altLang="zh-CN" dirty="0"/>
              </a:p>
              <a:p>
                <a:endParaRPr lang="en-US" altLang="zh-CN" dirty="0"/>
              </a:p>
              <a:p>
                <a:r>
                  <a:rPr lang="zh-CN" altLang="en-US" dirty="0"/>
                  <a:t>显然有一个</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𝑛</m:t>
                        </m:r>
                      </m:e>
                      <m:sup>
                        <m:r>
                          <a:rPr lang="en-US" altLang="zh-CN" b="0" i="1" smtClean="0">
                            <a:latin typeface="Cambria Math" panose="02040503050406030204" pitchFamily="18" charset="0"/>
                          </a:rPr>
                          <m:t>4</m:t>
                        </m:r>
                      </m:sup>
                    </m:sSup>
                    <m:r>
                      <a:rPr lang="en-US" altLang="zh-CN" b="0" i="1" smtClean="0">
                        <a:latin typeface="Cambria Math" panose="02040503050406030204" pitchFamily="18" charset="0"/>
                      </a:rPr>
                      <m:t>)</m:t>
                    </m:r>
                  </m:oMath>
                </a14:m>
                <a:r>
                  <a:rPr lang="zh-CN" altLang="en-US" dirty="0"/>
                  <a:t>的方法，枚举所有点的三元组，将其看成一个半空间，如果所有点都在这个半空间内，则这个面为凸包的一个面。</a:t>
                </a: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38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增量法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lnSpcReduction="10000"/>
              </a:bodyPr>
              <a:lstStyle/>
              <a:p>
                <a:r>
                  <a:rPr lang="zh-CN" altLang="en-US" dirty="0"/>
                  <a:t>先取出点集中的四个点，这四个点组成的四面体为初始凸包。</a:t>
                </a:r>
                <a:endParaRPr lang="en-US" altLang="zh-CN" dirty="0"/>
              </a:p>
              <a:p>
                <a:r>
                  <a:rPr lang="zh-CN" altLang="en-US" dirty="0"/>
                  <a:t>然后添加其他各点。如果这个点在已知凸包内部，则直接跳过。否则，找出可视部分与不可视部分的分界线，删去所有的可视面，然后将所有分界线上的边与该点构成的面作为新凸包的面。</a:t>
                </a:r>
                <a:endParaRPr lang="en-US" altLang="zh-CN" dirty="0"/>
              </a:p>
              <a:p>
                <a:endParaRPr lang="en-US" altLang="zh-CN" dirty="0"/>
              </a:p>
              <a:p>
                <a:r>
                  <a:rPr lang="zh-CN" altLang="en-US" dirty="0"/>
                  <a:t>要注意的是一个面上的点的顺序，两个不同的顺序代表的是两个不同的半空间。</a:t>
                </a:r>
                <a:endParaRPr lang="en-US" altLang="zh-CN" dirty="0"/>
              </a:p>
              <a:p>
                <a:endParaRPr lang="en-US" altLang="zh-CN" dirty="0"/>
              </a:p>
              <a:p>
                <a:r>
                  <a:rPr lang="zh-CN" altLang="en-US" dirty="0"/>
                  <a:t>可以证明，该算法的平均复杂度为</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ad>
                      <m:radPr>
                        <m:degHide m:val="on"/>
                        <m:ctrlPr>
                          <a:rPr lang="en-US" altLang="zh-CN" b="0" i="1" smtClean="0">
                            <a:latin typeface="Cambria Math" panose="02040503050406030204" pitchFamily="18" charset="0"/>
                          </a:rPr>
                        </m:ctrlPr>
                      </m:radPr>
                      <m:deg/>
                      <m:e>
                        <m:r>
                          <a:rPr lang="en-US" altLang="zh-CN" b="0" i="1" smtClean="0">
                            <a:latin typeface="Cambria Math" panose="02040503050406030204" pitchFamily="18" charset="0"/>
                          </a:rPr>
                          <m:t>𝑛</m:t>
                        </m:r>
                      </m:e>
                    </m:rad>
                    <m:r>
                      <a:rPr lang="en-US" altLang="zh-CN" b="0" i="1" smtClean="0">
                        <a:latin typeface="Cambria Math" panose="02040503050406030204" pitchFamily="18" charset="0"/>
                      </a:rPr>
                      <m:t>)</m:t>
                    </m:r>
                  </m:oMath>
                </a14:m>
                <a:r>
                  <a:rPr lang="zh-CN" altLang="en-US" dirty="0"/>
                  <a:t>，最坏复杂度为</a:t>
                </a:r>
                <a14:m>
                  <m:oMath xmlns:m="http://schemas.openxmlformats.org/officeDocument/2006/math">
                    <m:r>
                      <a:rPr lang="en-US" altLang="zh-CN" b="0" i="1" smtClean="0">
                        <a:latin typeface="Cambria Math" panose="02040503050406030204" pitchFamily="18" charset="0"/>
                      </a:rPr>
                      <m:t>𝑂</m:t>
                    </m:r>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𝑛</m:t>
                            </m:r>
                          </m:e>
                          <m:sup>
                            <m:r>
                              <a:rPr lang="en-US" altLang="zh-CN" b="0" i="1" smtClean="0">
                                <a:latin typeface="Cambria Math" panose="02040503050406030204" pitchFamily="18" charset="0"/>
                              </a:rPr>
                              <m:t>2</m:t>
                            </m:r>
                          </m:sup>
                        </m:sSup>
                      </m:e>
                    </m:d>
                  </m:oMath>
                </a14:m>
                <a:r>
                  <a:rPr lang="zh-CN" altLang="en-US" dirty="0"/>
                  <a:t>。所以可以先随机打乱初始点顺序来得到期望复杂度。</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3922" r="-4580"/>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Voronoi</a:t>
            </a:r>
            <a:r>
              <a:rPr lang="zh-CN" altLang="en-US" dirty="0"/>
              <a:t>图</a:t>
            </a:r>
          </a:p>
        </p:txBody>
      </p:sp>
      <p:sp>
        <p:nvSpPr>
          <p:cNvPr id="3" name="内容占位符 2"/>
          <p:cNvSpPr>
            <a:spLocks noGrp="1"/>
          </p:cNvSpPr>
          <p:nvPr>
            <p:ph idx="1"/>
          </p:nvPr>
        </p:nvSpPr>
        <p:spPr/>
        <p:txBody>
          <a:bodyPr/>
          <a:lstStyle/>
          <a:p>
            <a:r>
              <a:rPr lang="zh-CN" altLang="en-US" dirty="0"/>
              <a:t>在计算几何中，</a:t>
            </a:r>
            <a:r>
              <a:rPr lang="en-US" altLang="zh-CN" dirty="0" err="1"/>
              <a:t>Voronoi</a:t>
            </a:r>
            <a:r>
              <a:rPr lang="zh-CN" altLang="en-US" dirty="0"/>
              <a:t>图是仅次于凸包的一个重要的几何结构。因为</a:t>
            </a:r>
            <a:r>
              <a:rPr lang="en-US" altLang="zh-CN" dirty="0" err="1"/>
              <a:t>Voronoi</a:t>
            </a:r>
            <a:r>
              <a:rPr lang="zh-CN" altLang="en-US" dirty="0"/>
              <a:t>图在求解点集或其他几何对象在与距离有关的问题上起了重要作用。</a:t>
            </a:r>
            <a:endParaRPr lang="en-US" altLang="zh-CN" dirty="0"/>
          </a:p>
          <a:p>
            <a:r>
              <a:rPr lang="zh-CN" altLang="en-US" dirty="0"/>
              <a:t>常见的问题有谁离谁最近，谁离谁最远，等等。</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Voronoi</a:t>
            </a:r>
            <a:r>
              <a:rPr lang="zh-CN" altLang="en-US" dirty="0"/>
              <a:t>图的定义</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定义</a:t>
                </a:r>
                <a14:m>
                  <m:oMath xmlns:m="http://schemas.openxmlformats.org/officeDocument/2006/math">
                    <m:r>
                      <a:rPr lang="en-US" altLang="zh-CN" i="1" dirty="0" smtClean="0">
                        <a:latin typeface="Cambria Math" panose="02040503050406030204" pitchFamily="18" charset="0"/>
                      </a:rPr>
                      <m:t>𝐻</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𝑃</m:t>
                        </m:r>
                      </m:e>
                      <m:sub>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𝑃</m:t>
                        </m:r>
                      </m:e>
                      <m:sub>
                        <m:r>
                          <a:rPr lang="en-US" altLang="zh-CN" b="0" i="1" dirty="0" smtClean="0">
                            <a:latin typeface="Cambria Math" panose="02040503050406030204" pitchFamily="18" charset="0"/>
                          </a:rPr>
                          <m:t>2</m:t>
                        </m:r>
                      </m:sub>
                    </m:sSub>
                    <m:r>
                      <a:rPr lang="en-US" altLang="zh-CN" b="0" i="1" dirty="0" smtClean="0">
                        <a:latin typeface="Cambria Math" panose="02040503050406030204" pitchFamily="18" charset="0"/>
                      </a:rPr>
                      <m:t>)</m:t>
                    </m:r>
                  </m:oMath>
                </a14:m>
                <a:r>
                  <a:rPr lang="zh-CN" altLang="en-US" dirty="0"/>
                  <a:t>为到</a:t>
                </a:r>
                <a14:m>
                  <m:oMath xmlns:m="http://schemas.openxmlformats.org/officeDocument/2006/math">
                    <m:sSub>
                      <m:sSubPr>
                        <m:ctrlPr>
                          <a:rPr lang="en-US" altLang="zh-CN" i="1" dirty="0">
                            <a:latin typeface="Cambria Math" panose="02040503050406030204" pitchFamily="18" charset="0"/>
                          </a:rPr>
                        </m:ctrlPr>
                      </m:sSubPr>
                      <m:e>
                        <m:r>
                          <m:rPr>
                            <m:sty m:val="p"/>
                          </m:rPr>
                          <a:rPr lang="en-US" altLang="zh-CN" dirty="0">
                            <a:latin typeface="Cambria Math" panose="02040503050406030204" pitchFamily="18" charset="0"/>
                          </a:rPr>
                          <m:t>P</m:t>
                        </m:r>
                      </m:e>
                      <m:sub>
                        <m:r>
                          <a:rPr lang="en-US" altLang="zh-CN" dirty="0">
                            <a:latin typeface="Cambria Math" panose="02040503050406030204" pitchFamily="18" charset="0"/>
                          </a:rPr>
                          <m:t>1</m:t>
                        </m:r>
                      </m:sub>
                    </m:sSub>
                  </m:oMath>
                </a14:m>
                <a:r>
                  <a:rPr lang="zh-CN" altLang="en-US" dirty="0"/>
                  <a:t>点比到</a:t>
                </a:r>
                <a14:m>
                  <m:oMath xmlns:m="http://schemas.openxmlformats.org/officeDocument/2006/math">
                    <m:sSub>
                      <m:sSubPr>
                        <m:ctrlPr>
                          <a:rPr lang="en-US" altLang="zh-CN" i="1" dirty="0">
                            <a:latin typeface="Cambria Math" panose="02040503050406030204" pitchFamily="18" charset="0"/>
                          </a:rPr>
                        </m:ctrlPr>
                      </m:sSubPr>
                      <m:e>
                        <m:r>
                          <m:rPr>
                            <m:sty m:val="p"/>
                          </m:rPr>
                          <a:rPr lang="en-US" altLang="zh-CN" dirty="0">
                            <a:latin typeface="Cambria Math" panose="02040503050406030204" pitchFamily="18" charset="0"/>
                          </a:rPr>
                          <m:t>P</m:t>
                        </m:r>
                      </m:e>
                      <m:sub>
                        <m:r>
                          <a:rPr lang="en-US" altLang="zh-CN" dirty="0">
                            <a:latin typeface="Cambria Math" panose="02040503050406030204" pitchFamily="18" charset="0"/>
                          </a:rPr>
                          <m:t>2</m:t>
                        </m:r>
                      </m:sub>
                    </m:sSub>
                  </m:oMath>
                </a14:m>
                <a:r>
                  <a:rPr lang="zh-CN" altLang="en-US" dirty="0"/>
                  <a:t>点距离近的点的集合。</a:t>
                </a:r>
                <a:endParaRPr lang="en-US" altLang="zh-CN" dirty="0"/>
              </a:p>
              <a:p>
                <a:endParaRPr lang="en-US" altLang="zh-CN" dirty="0"/>
              </a:p>
              <a:p>
                <a:r>
                  <a:rPr lang="zh-CN" altLang="en-US" dirty="0"/>
                  <a:t>对于平面上</a:t>
                </a:r>
                <a14:m>
                  <m:oMath xmlns:m="http://schemas.openxmlformats.org/officeDocument/2006/math">
                    <m:r>
                      <a:rPr lang="en-US" altLang="zh-CN" i="1" dirty="0" smtClean="0">
                        <a:latin typeface="Cambria Math" panose="02040503050406030204" pitchFamily="18" charset="0"/>
                      </a:rPr>
                      <m:t>𝑛</m:t>
                    </m:r>
                  </m:oMath>
                </a14:m>
                <a:r>
                  <a:rPr lang="zh-CN" altLang="en-US" dirty="0"/>
                  <a:t>个点的点集</a:t>
                </a:r>
                <a14:m>
                  <m:oMath xmlns:m="http://schemas.openxmlformats.org/officeDocument/2006/math">
                    <m:r>
                      <a:rPr lang="en-US" altLang="zh-CN" i="1" dirty="0" smtClean="0">
                        <a:latin typeface="Cambria Math" panose="02040503050406030204" pitchFamily="18" charset="0"/>
                      </a:rPr>
                      <m:t>𝑆</m:t>
                    </m:r>
                  </m:oMath>
                </a14:m>
                <a:r>
                  <a:rPr lang="zh-CN" altLang="en-US" dirty="0"/>
                  <a:t>，定义</a:t>
                </a:r>
                <a14:m>
                  <m:oMath xmlns:m="http://schemas.openxmlformats.org/officeDocument/2006/math">
                    <m:r>
                      <a:rPr lang="en-US" altLang="zh-CN" b="0" i="1" smtClean="0">
                        <a:latin typeface="Cambria Math" panose="02040503050406030204" pitchFamily="18" charset="0"/>
                      </a:rPr>
                      <m:t>𝑉</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𝑖</m:t>
                            </m:r>
                          </m:sub>
                        </m:sSub>
                      </m:e>
                    </m:d>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𝑗</m:t>
                        </m:r>
                      </m:sub>
                      <m:sup/>
                      <m:e>
                        <m:r>
                          <a:rPr lang="en-US" altLang="zh-CN" b="0" i="1" smtClean="0">
                            <a:latin typeface="Cambria Math" panose="02040503050406030204" pitchFamily="18" charset="0"/>
                          </a:rPr>
                          <m:t>𝐻</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e>
                    </m:nary>
                  </m:oMath>
                </a14:m>
                <a:r>
                  <a:rPr lang="zh-CN" altLang="en-US" dirty="0"/>
                  <a:t>，即</a:t>
                </a:r>
                <a14:m>
                  <m:oMath xmlns:m="http://schemas.openxmlformats.org/officeDocument/2006/math">
                    <m:r>
                      <a:rPr lang="en-US" altLang="zh-CN" b="0" i="1" smtClean="0">
                        <a:latin typeface="Cambria Math" panose="02040503050406030204" pitchFamily="18" charset="0"/>
                      </a:rPr>
                      <m:t>𝑉</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oMath>
                </a14:m>
                <a:r>
                  <a:rPr lang="zh-CN" altLang="en-US" dirty="0"/>
                  <a:t>表示到</a:t>
                </a:r>
                <a14:m>
                  <m:oMath xmlns:m="http://schemas.openxmlformats.org/officeDocument/2006/math">
                    <m:sSub>
                      <m:sSubPr>
                        <m:ctrlPr>
                          <a:rPr lang="en-US" altLang="zh-CN" i="1" dirty="0">
                            <a:latin typeface="Cambria Math" panose="02040503050406030204" pitchFamily="18" charset="0"/>
                          </a:rPr>
                        </m:ctrlPr>
                      </m:sSubPr>
                      <m:e>
                        <m:r>
                          <m:rPr>
                            <m:sty m:val="p"/>
                          </m:rPr>
                          <a:rPr lang="en-US" altLang="zh-CN" dirty="0">
                            <a:latin typeface="Cambria Math" panose="02040503050406030204" pitchFamily="18" charset="0"/>
                          </a:rPr>
                          <m:t>P</m:t>
                        </m:r>
                      </m:e>
                      <m:sub>
                        <m:r>
                          <m:rPr>
                            <m:sty m:val="p"/>
                          </m:rPr>
                          <a:rPr lang="en-US" altLang="zh-CN" dirty="0">
                            <a:latin typeface="Cambria Math" panose="02040503050406030204" pitchFamily="18" charset="0"/>
                          </a:rPr>
                          <m:t>i</m:t>
                        </m:r>
                      </m:sub>
                    </m:sSub>
                  </m:oMath>
                </a14:m>
                <a:r>
                  <a:rPr lang="zh-CN" altLang="en-US" dirty="0"/>
                  <a:t>点的距离小于其他所有点的距离的点的集合，这显然是一个不多于</a:t>
                </a:r>
                <a14:m>
                  <m:oMath xmlns:m="http://schemas.openxmlformats.org/officeDocument/2006/math">
                    <m:r>
                      <m:rPr>
                        <m:sty m:val="p"/>
                      </m:rPr>
                      <a:rPr lang="en-US" altLang="zh-CN" dirty="0">
                        <a:latin typeface="Cambria Math" panose="02040503050406030204" pitchFamily="18" charset="0"/>
                      </a:rPr>
                      <m:t>n</m:t>
                    </m:r>
                    <m:r>
                      <a:rPr lang="en-US" altLang="zh-CN" dirty="0">
                        <a:latin typeface="Cambria Math" panose="02040503050406030204" pitchFamily="18" charset="0"/>
                      </a:rPr>
                      <m:t>−1</m:t>
                    </m:r>
                  </m:oMath>
                </a14:m>
                <a:r>
                  <a:rPr lang="zh-CN" altLang="en-US" dirty="0"/>
                  <a:t>条边的凸多边形区域（有可能不闭合），称为关联与</a:t>
                </a:r>
                <a14:m>
                  <m:oMath xmlns:m="http://schemas.openxmlformats.org/officeDocument/2006/math">
                    <m:sSub>
                      <m:sSubPr>
                        <m:ctrlPr>
                          <a:rPr lang="en-US" altLang="zh-CN" i="1" dirty="0">
                            <a:latin typeface="Cambria Math" panose="02040503050406030204" pitchFamily="18" charset="0"/>
                          </a:rPr>
                        </m:ctrlPr>
                      </m:sSubPr>
                      <m:e>
                        <m:r>
                          <m:rPr>
                            <m:sty m:val="p"/>
                          </m:rPr>
                          <a:rPr lang="en-US" altLang="zh-CN" dirty="0">
                            <a:latin typeface="Cambria Math" panose="02040503050406030204" pitchFamily="18" charset="0"/>
                          </a:rPr>
                          <m:t>P</m:t>
                        </m:r>
                      </m:e>
                      <m:sub>
                        <m:r>
                          <m:rPr>
                            <m:sty m:val="p"/>
                          </m:rPr>
                          <a:rPr lang="en-US" altLang="zh-CN" dirty="0">
                            <a:latin typeface="Cambria Math" panose="02040503050406030204" pitchFamily="18" charset="0"/>
                          </a:rPr>
                          <m:t>i</m:t>
                        </m:r>
                      </m:sub>
                    </m:sSub>
                  </m:oMath>
                </a14:m>
                <a:r>
                  <a:rPr lang="zh-CN" altLang="en-US" dirty="0"/>
                  <a:t>的</a:t>
                </a:r>
                <a:r>
                  <a:rPr lang="en-US" altLang="zh-CN" dirty="0" err="1"/>
                  <a:t>Voronoi</a:t>
                </a:r>
                <a:r>
                  <a:rPr lang="zh-CN" altLang="en-US" dirty="0"/>
                  <a:t>多边形或关联与</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p</m:t>
                        </m:r>
                      </m:e>
                      <m:sub>
                        <m:r>
                          <m:rPr>
                            <m:sty m:val="p"/>
                          </m:rPr>
                          <a:rPr lang="en-US" altLang="zh-CN">
                            <a:latin typeface="Cambria Math" panose="02040503050406030204" pitchFamily="18" charset="0"/>
                          </a:rPr>
                          <m:t>i</m:t>
                        </m:r>
                      </m:sub>
                    </m:sSub>
                  </m:oMath>
                </a14:m>
                <a:r>
                  <a:rPr lang="zh-CN" altLang="en-US" dirty="0"/>
                  <a:t>的</a:t>
                </a:r>
                <a:r>
                  <a:rPr lang="en-US" altLang="zh-CN" dirty="0" err="1"/>
                  <a:t>Voronoi</a:t>
                </a:r>
                <a:r>
                  <a:rPr lang="zh-CN" altLang="en-US" dirty="0"/>
                  <a:t>多边形域。</a:t>
                </a:r>
                <a:endParaRPr lang="en-US" altLang="zh-CN" dirty="0"/>
              </a:p>
              <a:p>
                <a:endParaRPr lang="en-US" altLang="zh-CN" dirty="0"/>
              </a:p>
              <a:p>
                <a:r>
                  <a:rPr lang="zh-CN" altLang="en-US" dirty="0"/>
                  <a:t>对于点集</a:t>
                </a:r>
                <a14:m>
                  <m:oMath xmlns:m="http://schemas.openxmlformats.org/officeDocument/2006/math">
                    <m:r>
                      <a:rPr lang="en-US" altLang="zh-CN" b="0" i="1" smtClean="0">
                        <a:latin typeface="Cambria Math" panose="02040503050406030204" pitchFamily="18" charset="0"/>
                      </a:rPr>
                      <m:t>𝑆</m:t>
                    </m:r>
                  </m:oMath>
                </a14:m>
                <a:r>
                  <a:rPr lang="zh-CN" altLang="en-US" dirty="0"/>
                  <a:t>中的每个点都可以做一个</a:t>
                </a:r>
                <a:r>
                  <a:rPr lang="en-US" altLang="zh-CN" dirty="0" err="1"/>
                  <a:t>Voronoi</a:t>
                </a:r>
                <a:r>
                  <a:rPr lang="zh-CN" altLang="en-US" dirty="0"/>
                  <a:t>多边形（域），这样</a:t>
                </a:r>
                <a14:m>
                  <m:oMath xmlns:m="http://schemas.openxmlformats.org/officeDocument/2006/math">
                    <m:r>
                      <a:rPr lang="en-US" altLang="zh-CN" i="1" dirty="0" smtClean="0">
                        <a:latin typeface="Cambria Math" panose="02040503050406030204" pitchFamily="18" charset="0"/>
                      </a:rPr>
                      <m:t>𝑛</m:t>
                    </m:r>
                  </m:oMath>
                </a14:m>
                <a:r>
                  <a:rPr lang="zh-CN" altLang="en-US" dirty="0"/>
                  <a:t>个</a:t>
                </a:r>
                <a:r>
                  <a:rPr lang="en-US" altLang="zh-CN" dirty="0" err="1"/>
                  <a:t>Voronoi</a:t>
                </a:r>
                <a:r>
                  <a:rPr lang="zh-CN" altLang="en-US" dirty="0"/>
                  <a:t>多边形（域）组成的图形叫做</a:t>
                </a:r>
                <a:r>
                  <a:rPr lang="en-US" altLang="zh-CN" dirty="0" err="1"/>
                  <a:t>Voronoi</a:t>
                </a:r>
                <a:r>
                  <a:rPr lang="zh-CN" altLang="en-US" dirty="0"/>
                  <a:t>图。</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941" r="-522"/>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Voronoi</a:t>
            </a:r>
            <a:r>
              <a:rPr lang="zh-CN" altLang="en-US" dirty="0"/>
              <a:t>图的构造</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暴力构造法：对于每个点，求出所有的</a:t>
                </a:r>
                <a14:m>
                  <m:oMath xmlns:m="http://schemas.openxmlformats.org/officeDocument/2006/math">
                    <m:r>
                      <a:rPr lang="en-US" altLang="zh-CN" b="0" i="1" smtClean="0">
                        <a:latin typeface="Cambria Math" panose="02040503050406030204" pitchFamily="18" charset="0"/>
                      </a:rPr>
                      <m:t>𝐻</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oMath>
                </a14:m>
                <a:r>
                  <a:rPr lang="zh-CN" altLang="en-US" dirty="0"/>
                  <a:t>，然后对于</a:t>
                </a:r>
                <a14:m>
                  <m:oMath xmlns:m="http://schemas.openxmlformats.org/officeDocument/2006/math">
                    <m:r>
                      <a:rPr lang="en-US" altLang="zh-CN" i="1" dirty="0" smtClean="0">
                        <a:latin typeface="Cambria Math" panose="02040503050406030204" pitchFamily="18" charset="0"/>
                      </a:rPr>
                      <m:t>𝑛</m:t>
                    </m:r>
                    <m:r>
                      <a:rPr lang="en-US" altLang="zh-CN" i="1" dirty="0" smtClean="0">
                        <a:latin typeface="Cambria Math" panose="02040503050406030204" pitchFamily="18" charset="0"/>
                      </a:rPr>
                      <m:t>−1</m:t>
                    </m:r>
                  </m:oMath>
                </a14:m>
                <a:r>
                  <a:rPr lang="zh-CN" altLang="en-US" dirty="0"/>
                  <a:t>个半平面求交。</a:t>
                </a:r>
                <a14:m>
                  <m:oMath xmlns:m="http://schemas.openxmlformats.org/officeDocument/2006/math">
                    <m:r>
                      <m:rPr>
                        <m:sty m:val="p"/>
                      </m:rPr>
                      <a:rPr lang="en-US" altLang="zh-CN" dirty="0">
                        <a:latin typeface="Cambria Math" panose="02040503050406030204" pitchFamily="18" charset="0"/>
                      </a:rPr>
                      <m:t>O</m:t>
                    </m:r>
                    <m:r>
                      <a:rPr lang="en-US" altLang="zh-CN" dirty="0">
                        <a:latin typeface="Cambria Math" panose="02040503050406030204" pitchFamily="18" charset="0"/>
                      </a:rPr>
                      <m:t>(</m:t>
                    </m:r>
                    <m:r>
                      <m:rPr>
                        <m:sty m:val="p"/>
                      </m:rPr>
                      <a:rPr lang="en-US" altLang="zh-CN" dirty="0">
                        <a:latin typeface="Cambria Math" panose="02040503050406030204" pitchFamily="18" charset="0"/>
                      </a:rPr>
                      <m:t>nlogn</m:t>
                    </m:r>
                    <m:r>
                      <a:rPr lang="en-US" altLang="zh-CN" dirty="0">
                        <a:latin typeface="Cambria Math" panose="02040503050406030204" pitchFamily="18" charset="0"/>
                      </a:rPr>
                      <m:t>)</m:t>
                    </m:r>
                  </m:oMath>
                </a14:m>
                <a:r>
                  <a:rPr lang="zh-CN" altLang="en-US" dirty="0"/>
                  <a:t>。</a:t>
                </a:r>
                <a:endParaRPr lang="en-US" altLang="zh-CN" dirty="0"/>
              </a:p>
              <a:p>
                <a:r>
                  <a:rPr lang="zh-CN" altLang="en-US" dirty="0"/>
                  <a:t>传统直接构造法：编写麻烦，难于理解</a:t>
                </a:r>
                <a:endParaRPr lang="en-US" altLang="zh-CN" dirty="0"/>
              </a:p>
              <a:p>
                <a:endParaRPr lang="en-US" altLang="zh-CN" dirty="0"/>
              </a:p>
              <a:p>
                <a:r>
                  <a:rPr lang="zh-CN" altLang="en-US" dirty="0"/>
                  <a:t>可以证明</a:t>
                </a:r>
                <a:r>
                  <a:rPr lang="en-US" altLang="zh-CN" dirty="0" err="1"/>
                  <a:t>Voronoi</a:t>
                </a:r>
                <a:r>
                  <a:rPr lang="zh-CN" altLang="en-US" dirty="0"/>
                  <a:t>图与</a:t>
                </a:r>
                <a:r>
                  <a:rPr lang="en-US" altLang="zh-CN" dirty="0"/>
                  <a:t>Delaunay</a:t>
                </a:r>
                <a:r>
                  <a:rPr lang="zh-CN" altLang="en-US" dirty="0"/>
                  <a:t>三角剖分互为对偶图，所以可以先求出点集的</a:t>
                </a:r>
                <a:r>
                  <a:rPr lang="en-US" altLang="zh-CN" dirty="0"/>
                  <a:t>Delaunay</a:t>
                </a:r>
                <a:r>
                  <a:rPr lang="zh-CN" altLang="en-US" dirty="0"/>
                  <a:t>三角剖分，然后将图形对偶，这样就得到了</a:t>
                </a:r>
                <a:r>
                  <a:rPr lang="en-US" altLang="zh-CN" dirty="0" err="1"/>
                  <a:t>Voronoi</a:t>
                </a:r>
                <a:r>
                  <a:rPr lang="zh-CN" altLang="en-US" dirty="0"/>
                  <a:t>图。</a:t>
                </a: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661"/>
                </a:stretch>
              </a:blipFill>
            </p:spPr>
            <p:txBody>
              <a:bodyPr/>
              <a:lstStyle/>
              <a:p>
                <a:r>
                  <a:rPr lang="zh-CN" altLang="en-US">
                    <a:noFill/>
                  </a:rPr>
                  <a:t> </a:t>
                </a:r>
              </a:p>
            </p:txBody>
          </p:sp>
        </mc:Fallback>
      </mc:AlternateContent>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15450" y="4561114"/>
            <a:ext cx="2876550" cy="228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三角剖分</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假设</a:t>
                </a:r>
                <a14:m>
                  <m:oMath xmlns:m="http://schemas.openxmlformats.org/officeDocument/2006/math">
                    <m:r>
                      <a:rPr lang="en-US" altLang="zh-CN" i="1" dirty="0" smtClean="0">
                        <a:latin typeface="Cambria Math" panose="02040503050406030204" pitchFamily="18" charset="0"/>
                      </a:rPr>
                      <m:t>𝑉</m:t>
                    </m:r>
                  </m:oMath>
                </a14:m>
                <a:r>
                  <a:rPr lang="zh-CN" altLang="en-US" dirty="0"/>
                  <a:t>是二维实数域上的有限点集，边</a:t>
                </a:r>
                <a14:m>
                  <m:oMath xmlns:m="http://schemas.openxmlformats.org/officeDocument/2006/math">
                    <m:r>
                      <a:rPr lang="en-US" altLang="zh-CN" i="1" dirty="0" smtClean="0">
                        <a:latin typeface="Cambria Math" panose="02040503050406030204" pitchFamily="18" charset="0"/>
                      </a:rPr>
                      <m:t>𝑒</m:t>
                    </m:r>
                  </m:oMath>
                </a14:m>
                <a:r>
                  <a:rPr lang="zh-CN" altLang="en-US" dirty="0"/>
                  <a:t>是由点集中的点作为端点构成的封闭线段，</a:t>
                </a:r>
                <a14:m>
                  <m:oMath xmlns:m="http://schemas.openxmlformats.org/officeDocument/2006/math">
                    <m:r>
                      <a:rPr lang="en-US" altLang="zh-CN" i="1" dirty="0" smtClean="0">
                        <a:latin typeface="Cambria Math" panose="02040503050406030204" pitchFamily="18" charset="0"/>
                      </a:rPr>
                      <m:t>𝐸</m:t>
                    </m:r>
                  </m:oMath>
                </a14:m>
                <a:r>
                  <a:rPr lang="zh-CN" altLang="en-US" dirty="0"/>
                  <a:t>为</a:t>
                </a:r>
                <a14:m>
                  <m:oMath xmlns:m="http://schemas.openxmlformats.org/officeDocument/2006/math">
                    <m:r>
                      <a:rPr lang="en-US" altLang="zh-CN" i="1" dirty="0" smtClean="0">
                        <a:latin typeface="Cambria Math" panose="02040503050406030204" pitchFamily="18" charset="0"/>
                      </a:rPr>
                      <m:t>𝑒</m:t>
                    </m:r>
                  </m:oMath>
                </a14:m>
                <a:r>
                  <a:rPr lang="zh-CN" altLang="en-US" dirty="0"/>
                  <a:t>的集合。那么该点集</a:t>
                </a:r>
                <a14:m>
                  <m:oMath xmlns:m="http://schemas.openxmlformats.org/officeDocument/2006/math">
                    <m:r>
                      <a:rPr lang="en-US" altLang="zh-CN" i="1" dirty="0" smtClean="0">
                        <a:latin typeface="Cambria Math" panose="02040503050406030204" pitchFamily="18" charset="0"/>
                      </a:rPr>
                      <m:t>𝑉</m:t>
                    </m:r>
                  </m:oMath>
                </a14:m>
                <a:r>
                  <a:rPr lang="zh-CN" altLang="en-US" dirty="0"/>
                  <a:t>的一个三角剖分</a:t>
                </a:r>
                <a14:m>
                  <m:oMath xmlns:m="http://schemas.openxmlformats.org/officeDocument/2006/math">
                    <m:r>
                      <a:rPr lang="en-US" altLang="zh-CN" i="1" dirty="0" smtClean="0">
                        <a:latin typeface="Cambria Math" panose="02040503050406030204" pitchFamily="18" charset="0"/>
                      </a:rPr>
                      <m:t>𝑇</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𝑉</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𝐸</m:t>
                    </m:r>
                    <m:r>
                      <a:rPr lang="en-US" altLang="zh-CN" i="1" dirty="0" smtClean="0">
                        <a:latin typeface="Cambria Math" panose="02040503050406030204" pitchFamily="18" charset="0"/>
                      </a:rPr>
                      <m:t>)</m:t>
                    </m:r>
                  </m:oMath>
                </a14:m>
                <a:r>
                  <a:rPr lang="zh-CN" altLang="en-US" dirty="0"/>
                  <a:t>是一个平面图</a:t>
                </a:r>
                <a14:m>
                  <m:oMath xmlns:m="http://schemas.openxmlformats.org/officeDocument/2006/math">
                    <m:r>
                      <a:rPr lang="en-US" altLang="zh-CN" i="1" dirty="0" smtClean="0">
                        <a:latin typeface="Cambria Math" panose="02040503050406030204" pitchFamily="18" charset="0"/>
                      </a:rPr>
                      <m:t>𝐺</m:t>
                    </m:r>
                  </m:oMath>
                </a14:m>
                <a:r>
                  <a:rPr lang="zh-CN" altLang="en-US" dirty="0"/>
                  <a:t>，该平面图满足条件：</a:t>
                </a:r>
              </a:p>
              <a:p>
                <a:pPr marL="971550" lvl="1" indent="-514350">
                  <a:buFont typeface="+mj-lt"/>
                  <a:buAutoNum type="arabicPeriod"/>
                </a:pPr>
                <a:r>
                  <a:rPr lang="zh-CN" altLang="en-US" dirty="0"/>
                  <a:t>除了端点，平面图中的边不包含点集中的任何点。</a:t>
                </a:r>
              </a:p>
              <a:p>
                <a:pPr marL="971550" lvl="1" indent="-514350">
                  <a:buFont typeface="+mj-lt"/>
                  <a:buAutoNum type="arabicPeriod"/>
                </a:pPr>
                <a:r>
                  <a:rPr lang="zh-CN" altLang="en-US" dirty="0"/>
                  <a:t>没有相交边。</a:t>
                </a:r>
              </a:p>
              <a:p>
                <a:pPr marL="971550" lvl="1" indent="-514350">
                  <a:buFont typeface="+mj-lt"/>
                  <a:buAutoNum type="arabicPeriod"/>
                </a:pPr>
                <a:r>
                  <a:rPr lang="zh-CN" altLang="en-US" dirty="0"/>
                  <a:t>平面图中所有的面都是三角面，且所有三角面的合集是点集</a:t>
                </a:r>
                <a14:m>
                  <m:oMath xmlns:m="http://schemas.openxmlformats.org/officeDocument/2006/math">
                    <m:r>
                      <a:rPr lang="en-US" altLang="zh-CN" i="1" dirty="0" smtClean="0">
                        <a:latin typeface="Cambria Math" panose="02040503050406030204" pitchFamily="18" charset="0"/>
                      </a:rPr>
                      <m:t>𝑉</m:t>
                    </m:r>
                  </m:oMath>
                </a14:m>
                <a:r>
                  <a:rPr lang="zh-CN" altLang="en-US" dirty="0"/>
                  <a:t>的凸包。</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661" r="-696"/>
                </a:stretch>
              </a:blipFill>
            </p:spPr>
            <p:txBody>
              <a:bodyPr/>
              <a:lstStyle/>
              <a:p>
                <a:r>
                  <a:rPr lang="zh-CN" altLang="en-US">
                    <a:noFill/>
                  </a:rPr>
                  <a:t> </a:t>
                </a:r>
              </a:p>
            </p:txBody>
          </p:sp>
        </mc:Fallback>
      </mc:AlternateContent>
      <p:pic>
        <p:nvPicPr>
          <p:cNvPr id="13" name="图片 12"/>
          <p:cNvPicPr>
            <a:picLocks noChangeAspect="1"/>
          </p:cNvPicPr>
          <p:nvPr/>
        </p:nvPicPr>
        <p:blipFill>
          <a:blip r:embed="rId3"/>
          <a:stretch>
            <a:fillRect/>
          </a:stretch>
        </p:blipFill>
        <p:spPr>
          <a:xfrm>
            <a:off x="8945880" y="4526280"/>
            <a:ext cx="3246120" cy="2331720"/>
          </a:xfrm>
          <a:prstGeom prst="rect">
            <a:avLst/>
          </a:prstGeom>
        </p:spPr>
      </p:pic>
      <p:pic>
        <p:nvPicPr>
          <p:cNvPr id="14" name="图片 13"/>
          <p:cNvPicPr>
            <a:picLocks noChangeAspect="1"/>
          </p:cNvPicPr>
          <p:nvPr/>
        </p:nvPicPr>
        <p:blipFill>
          <a:blip r:embed="rId4"/>
          <a:stretch>
            <a:fillRect/>
          </a:stretch>
        </p:blipFill>
        <p:spPr>
          <a:xfrm>
            <a:off x="8945880" y="4526280"/>
            <a:ext cx="3246120" cy="2331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Delaunay</a:t>
            </a:r>
            <a:r>
              <a:rPr lang="zh-CN" altLang="en-US" dirty="0"/>
              <a:t>三角剖分</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8200" y="1825625"/>
                <a:ext cx="10515600" cy="4351338"/>
              </a:xfrm>
            </p:spPr>
            <p:txBody>
              <a:bodyPr/>
              <a:lstStyle/>
              <a:p>
                <a:r>
                  <a:rPr lang="en-US" altLang="zh-CN" dirty="0"/>
                  <a:t>Delaunay</a:t>
                </a:r>
                <a:r>
                  <a:rPr lang="zh-CN" altLang="en-US" dirty="0"/>
                  <a:t>三角剖分是一种特殊的三角剖分。</a:t>
                </a:r>
                <a:endParaRPr lang="en-US" altLang="zh-CN" dirty="0"/>
              </a:p>
              <a:p>
                <a:endParaRPr lang="en-US" altLang="zh-CN" dirty="0"/>
              </a:p>
              <a:p>
                <a:r>
                  <a:rPr lang="en-US" altLang="zh-CN" dirty="0"/>
                  <a:t>Delaunay</a:t>
                </a:r>
                <a:r>
                  <a:rPr lang="zh-CN" altLang="en-US" dirty="0"/>
                  <a:t>边：</a:t>
                </a:r>
                <a:r>
                  <a:rPr lang="zh-CN" altLang="zh-CN" dirty="0">
                    <a:solidFill>
                      <a:srgbClr val="333333"/>
                    </a:solidFill>
                    <a:latin typeface="Arial" panose="020B0604020202020204" pitchFamily="34" charset="0"/>
                    <a:cs typeface="Arial" panose="020B0604020202020204" pitchFamily="34" charset="0"/>
                  </a:rPr>
                  <a:t>假设</a:t>
                </a:r>
                <a14:m>
                  <m:oMath xmlns:m="http://schemas.openxmlformats.org/officeDocument/2006/math">
                    <m:r>
                      <a:rPr lang="en-US" altLang="zh-CN" i="1" dirty="0" smtClean="0">
                        <a:solidFill>
                          <a:srgbClr val="333333"/>
                        </a:solidFill>
                        <a:latin typeface="Cambria Math" panose="02040503050406030204" pitchFamily="18" charset="0"/>
                        <a:cs typeface="Arial" panose="020B0604020202020204" pitchFamily="34" charset="0"/>
                      </a:rPr>
                      <m:t>𝐸</m:t>
                    </m:r>
                  </m:oMath>
                </a14:m>
                <a:r>
                  <a:rPr lang="zh-CN" altLang="zh-CN" dirty="0">
                    <a:solidFill>
                      <a:srgbClr val="333333"/>
                    </a:solidFill>
                    <a:latin typeface="Arial" panose="020B0604020202020204" pitchFamily="34" charset="0"/>
                    <a:cs typeface="Arial" panose="020B0604020202020204" pitchFamily="34" charset="0"/>
                  </a:rPr>
                  <a:t>中的一条边</a:t>
                </a:r>
                <a14:m>
                  <m:oMath xmlns:m="http://schemas.openxmlformats.org/officeDocument/2006/math">
                    <m:r>
                      <a:rPr lang="zh-CN" altLang="zh-CN" i="1" dirty="0" smtClean="0">
                        <a:solidFill>
                          <a:srgbClr val="333333"/>
                        </a:solidFill>
                        <a:latin typeface="Cambria Math" panose="02040503050406030204" pitchFamily="18" charset="0"/>
                        <a:cs typeface="Arial" panose="020B0604020202020204" pitchFamily="34" charset="0"/>
                      </a:rPr>
                      <m:t>𝑒</m:t>
                    </m:r>
                  </m:oMath>
                </a14:m>
                <a:r>
                  <a:rPr lang="zh-CN" altLang="zh-CN" dirty="0">
                    <a:solidFill>
                      <a:srgbClr val="333333"/>
                    </a:solidFill>
                    <a:latin typeface="Arial" panose="020B0604020202020204" pitchFamily="34" charset="0"/>
                    <a:cs typeface="Arial" panose="020B0604020202020204" pitchFamily="34" charset="0"/>
                  </a:rPr>
                  <a:t>（两个端点为</a:t>
                </a:r>
                <a14:m>
                  <m:oMath xmlns:m="http://schemas.openxmlformats.org/officeDocument/2006/math">
                    <m:r>
                      <a:rPr lang="en-US" altLang="zh-CN" b="0" i="1" smtClean="0">
                        <a:solidFill>
                          <a:srgbClr val="333333"/>
                        </a:solidFill>
                        <a:latin typeface="Cambria Math" panose="02040503050406030204" pitchFamily="18" charset="0"/>
                        <a:cs typeface="Arial" panose="020B0604020202020204" pitchFamily="34" charset="0"/>
                      </a:rPr>
                      <m:t>𝐴</m:t>
                    </m:r>
                    <m:r>
                      <a:rPr lang="en-US" altLang="zh-CN" b="0" i="1" smtClean="0">
                        <a:solidFill>
                          <a:srgbClr val="333333"/>
                        </a:solidFill>
                        <a:latin typeface="Cambria Math" panose="02040503050406030204" pitchFamily="18" charset="0"/>
                        <a:cs typeface="Arial" panose="020B0604020202020204" pitchFamily="34" charset="0"/>
                      </a:rPr>
                      <m:t>,</m:t>
                    </m:r>
                    <m:r>
                      <a:rPr lang="en-US" altLang="zh-CN" b="0" i="1" smtClean="0">
                        <a:solidFill>
                          <a:srgbClr val="333333"/>
                        </a:solidFill>
                        <a:latin typeface="Cambria Math" panose="02040503050406030204" pitchFamily="18" charset="0"/>
                        <a:cs typeface="Arial" panose="020B0604020202020204" pitchFamily="34" charset="0"/>
                      </a:rPr>
                      <m:t>𝐵</m:t>
                    </m:r>
                  </m:oMath>
                </a14:m>
                <a:r>
                  <a:rPr lang="zh-CN" altLang="en-US" dirty="0">
                    <a:solidFill>
                      <a:srgbClr val="333333"/>
                    </a:solidFill>
                    <a:latin typeface="Arial" panose="020B0604020202020204" pitchFamily="34" charset="0"/>
                    <a:cs typeface="Arial" panose="020B0604020202020204" pitchFamily="34" charset="0"/>
                  </a:rPr>
                  <a:t>），</a:t>
                </a:r>
                <a14:m>
                  <m:oMath xmlns:m="http://schemas.openxmlformats.org/officeDocument/2006/math">
                    <m:r>
                      <a:rPr lang="en-US" altLang="zh-CN" b="0" i="1" dirty="0" smtClean="0">
                        <a:solidFill>
                          <a:srgbClr val="333333"/>
                        </a:solidFill>
                        <a:latin typeface="Cambria Math" panose="02040503050406030204" pitchFamily="18" charset="0"/>
                        <a:cs typeface="Arial" panose="020B0604020202020204" pitchFamily="34" charset="0"/>
                      </a:rPr>
                      <m:t>𝑒</m:t>
                    </m:r>
                  </m:oMath>
                </a14:m>
                <a:r>
                  <a:rPr lang="zh-CN" altLang="zh-CN" dirty="0">
                    <a:solidFill>
                      <a:srgbClr val="333333"/>
                    </a:solidFill>
                    <a:latin typeface="Arial" panose="020B0604020202020204" pitchFamily="34" charset="0"/>
                    <a:cs typeface="Arial" panose="020B0604020202020204" pitchFamily="34" charset="0"/>
                  </a:rPr>
                  <a:t>若满足下列条件，则称之为Delaunay边：存在一个圆经过</a:t>
                </a:r>
                <a14:m>
                  <m:oMath xmlns:m="http://schemas.openxmlformats.org/officeDocument/2006/math">
                    <m:r>
                      <m:rPr>
                        <m:sty m:val="p"/>
                      </m:rPr>
                      <a:rPr lang="en-US" altLang="zh-CN" b="0" i="0" dirty="0" smtClean="0">
                        <a:solidFill>
                          <a:srgbClr val="333333"/>
                        </a:solidFill>
                        <a:latin typeface="Cambria Math" panose="02040503050406030204" pitchFamily="18" charset="0"/>
                        <a:cs typeface="Arial" panose="020B0604020202020204" pitchFamily="34" charset="0"/>
                      </a:rPr>
                      <m:t>A</m:t>
                    </m:r>
                    <m:r>
                      <a:rPr lang="zh-CN" altLang="zh-CN" i="1" dirty="0" smtClean="0">
                        <a:solidFill>
                          <a:srgbClr val="333333"/>
                        </a:solidFill>
                        <a:latin typeface="Cambria Math" panose="02040503050406030204" pitchFamily="18" charset="0"/>
                        <a:cs typeface="Arial" panose="020B0604020202020204" pitchFamily="34" charset="0"/>
                      </a:rPr>
                      <m:t>,</m:t>
                    </m:r>
                    <m:r>
                      <a:rPr lang="en-US" altLang="zh-CN" b="0" i="1" dirty="0" smtClean="0">
                        <a:solidFill>
                          <a:srgbClr val="333333"/>
                        </a:solidFill>
                        <a:latin typeface="Cambria Math" panose="02040503050406030204" pitchFamily="18" charset="0"/>
                        <a:cs typeface="Arial" panose="020B0604020202020204" pitchFamily="34" charset="0"/>
                      </a:rPr>
                      <m:t>𝐵</m:t>
                    </m:r>
                  </m:oMath>
                </a14:m>
                <a:r>
                  <a:rPr lang="zh-CN" altLang="zh-CN" dirty="0">
                    <a:solidFill>
                      <a:srgbClr val="333333"/>
                    </a:solidFill>
                    <a:latin typeface="Arial" panose="020B0604020202020204" pitchFamily="34" charset="0"/>
                    <a:cs typeface="Arial" panose="020B0604020202020204" pitchFamily="34" charset="0"/>
                  </a:rPr>
                  <a:t>两点，圆内(注意是圆内，圆上最多三点共圆)不含点集</a:t>
                </a:r>
                <a14:m>
                  <m:oMath xmlns:m="http://schemas.openxmlformats.org/officeDocument/2006/math">
                    <m:r>
                      <a:rPr lang="zh-CN" altLang="zh-CN" i="1" dirty="0" smtClean="0">
                        <a:solidFill>
                          <a:srgbClr val="333333"/>
                        </a:solidFill>
                        <a:latin typeface="Cambria Math" panose="02040503050406030204" pitchFamily="18" charset="0"/>
                        <a:cs typeface="Arial" panose="020B0604020202020204" pitchFamily="34" charset="0"/>
                      </a:rPr>
                      <m:t>𝑉</m:t>
                    </m:r>
                  </m:oMath>
                </a14:m>
                <a:r>
                  <a:rPr lang="zh-CN" altLang="zh-CN" dirty="0">
                    <a:solidFill>
                      <a:srgbClr val="333333"/>
                    </a:solidFill>
                    <a:latin typeface="Arial" panose="020B0604020202020204" pitchFamily="34" charset="0"/>
                    <a:cs typeface="Arial" panose="020B0604020202020204" pitchFamily="34" charset="0"/>
                  </a:rPr>
                  <a:t>中任何其他的点，这一特性又称空圆特性。</a:t>
                </a:r>
                <a:r>
                  <a:rPr lang="zh-CN" altLang="zh-CN" sz="2400" dirty="0"/>
                  <a:t> </a:t>
                </a:r>
                <a:endParaRPr lang="zh-CN" altLang="zh-CN" sz="9600" dirty="0">
                  <a:solidFill>
                    <a:srgbClr val="136EC2"/>
                  </a:solidFill>
                  <a:latin typeface="Arial" panose="020B0604020202020204" pitchFamily="34" charset="0"/>
                  <a:cs typeface="Arial" panose="020B0604020202020204" pitchFamily="34" charset="0"/>
                </a:endParaRPr>
              </a:p>
              <a:p>
                <a:endParaRPr lang="en-US" altLang="zh-CN" dirty="0"/>
              </a:p>
              <a:p>
                <a:r>
                  <a:rPr lang="en-US" altLang="zh-CN" dirty="0"/>
                  <a:t>Delaunay</a:t>
                </a:r>
                <a:r>
                  <a:rPr lang="zh-CN" altLang="en-US" dirty="0"/>
                  <a:t>三角剖分：如果点集</a:t>
                </a:r>
                <a14:m>
                  <m:oMath xmlns:m="http://schemas.openxmlformats.org/officeDocument/2006/math">
                    <m:r>
                      <a:rPr lang="en-US" altLang="zh-CN" i="1" dirty="0" smtClean="0">
                        <a:latin typeface="Cambria Math" panose="02040503050406030204" pitchFamily="18" charset="0"/>
                      </a:rPr>
                      <m:t>𝑉</m:t>
                    </m:r>
                  </m:oMath>
                </a14:m>
                <a:r>
                  <a:rPr lang="zh-CN" altLang="en-US" dirty="0"/>
                  <a:t>的一个三角剖分</a:t>
                </a:r>
                <a14:m>
                  <m:oMath xmlns:m="http://schemas.openxmlformats.org/officeDocument/2006/math">
                    <m:r>
                      <a:rPr lang="en-US" altLang="zh-CN" i="1" dirty="0" smtClean="0">
                        <a:latin typeface="Cambria Math" panose="02040503050406030204" pitchFamily="18" charset="0"/>
                      </a:rPr>
                      <m:t>𝑇</m:t>
                    </m:r>
                  </m:oMath>
                </a14:m>
                <a:r>
                  <a:rPr lang="zh-CN" altLang="en-US" dirty="0"/>
                  <a:t>只包含</a:t>
                </a:r>
                <a:r>
                  <a:rPr lang="en-US" altLang="zh-CN" dirty="0"/>
                  <a:t>Delaunay</a:t>
                </a:r>
                <a:r>
                  <a:rPr lang="zh-CN" altLang="en-US" dirty="0"/>
                  <a:t>边，那么该三角剖分称为</a:t>
                </a:r>
                <a:r>
                  <a:rPr lang="en-US" altLang="zh-CN" dirty="0"/>
                  <a:t>Delaunay</a:t>
                </a:r>
                <a:r>
                  <a:rPr lang="zh-CN" altLang="en-US" dirty="0"/>
                  <a:t>三角剖分。</a:t>
                </a: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l="-1043" t="-2941" r="-580"/>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3543300" y="3029744"/>
            <a:ext cx="2705100" cy="1943100"/>
          </a:xfrm>
          <a:prstGeom prst="rect">
            <a:avLst/>
          </a:prstGeom>
        </p:spPr>
      </p:pic>
      <p:pic>
        <p:nvPicPr>
          <p:cNvPr id="4" name="图片 3"/>
          <p:cNvPicPr>
            <a:picLocks noChangeAspect="1"/>
          </p:cNvPicPr>
          <p:nvPr/>
        </p:nvPicPr>
        <p:blipFill>
          <a:blip r:embed="rId3"/>
          <a:stretch>
            <a:fillRect/>
          </a:stretch>
        </p:blipFill>
        <p:spPr>
          <a:xfrm>
            <a:off x="838200" y="3029744"/>
            <a:ext cx="2705100" cy="1943100"/>
          </a:xfrm>
          <a:prstGeom prst="rect">
            <a:avLst/>
          </a:prstGeom>
        </p:spPr>
      </p:pic>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首先对点集按</a:t>
                </a:r>
                <a14:m>
                  <m:oMath xmlns:m="http://schemas.openxmlformats.org/officeDocument/2006/math">
                    <m:r>
                      <a:rPr lang="en-US" altLang="zh-CN" i="1" dirty="0" smtClean="0">
                        <a:latin typeface="Cambria Math" panose="02040503050406030204" pitchFamily="18" charset="0"/>
                      </a:rPr>
                      <m:t>𝑋</m:t>
                    </m:r>
                  </m:oMath>
                </a14:m>
                <a:r>
                  <a:rPr lang="zh-CN" altLang="en-US" dirty="0"/>
                  <a:t>坐标排序。如果点集内点的个数小于等于</a:t>
                </a:r>
                <a:r>
                  <a:rPr lang="en-US" altLang="zh-CN" dirty="0"/>
                  <a:t>3</a:t>
                </a:r>
                <a:r>
                  <a:rPr lang="zh-CN" altLang="en-US" dirty="0"/>
                  <a:t>，那么直接构造，否则将点集拆分成两个大小差不多的点集进行构造，最后合并两点集的</a:t>
                </a:r>
                <a:r>
                  <a:rPr lang="en-US" altLang="zh-CN" dirty="0"/>
                  <a:t>Delaunay</a:t>
                </a:r>
                <a:r>
                  <a:rPr lang="zh-CN" altLang="en-US" dirty="0"/>
                  <a:t>三角剖分。</a:t>
                </a:r>
                <a:endParaRPr lang="en-US" altLang="zh-CN" dirty="0"/>
              </a:p>
              <a:p>
                <a:endParaRPr lang="en-US" altLang="zh-CN" dirty="0"/>
              </a:p>
              <a:p>
                <a:endParaRPr lang="en-US" altLang="zh-CN" dirty="0"/>
              </a:p>
              <a:p>
                <a:endParaRPr lang="en-US" altLang="zh-CN" dirty="0"/>
              </a:p>
              <a:p>
                <a:endParaRPr lang="en-US" altLang="zh-CN" dirty="0"/>
              </a:p>
              <a:p>
                <a:r>
                  <a:rPr lang="zh-CN" altLang="en-US" dirty="0"/>
                  <a:t>怎么合并呢？</a:t>
                </a: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4"/>
                <a:stretch>
                  <a:fillRect l="-1043" t="-2941" r="-116"/>
                </a:stretch>
              </a:blipFill>
            </p:spPr>
            <p:txBody>
              <a:bodyPr/>
              <a:lstStyle/>
              <a:p>
                <a:r>
                  <a:rPr lang="zh-CN" altLang="en-US">
                    <a:noFill/>
                  </a:rPr>
                  <a:t> </a:t>
                </a:r>
              </a:p>
            </p:txBody>
          </p:sp>
        </mc:Fallback>
      </mc:AlternateContent>
      <p:sp>
        <p:nvSpPr>
          <p:cNvPr id="2" name="标题 1"/>
          <p:cNvSpPr>
            <a:spLocks noGrp="1"/>
          </p:cNvSpPr>
          <p:nvPr>
            <p:ph type="title"/>
          </p:nvPr>
        </p:nvSpPr>
        <p:spPr/>
        <p:txBody>
          <a:bodyPr/>
          <a:lstStyle/>
          <a:p>
            <a:r>
              <a:rPr lang="zh-CN" altLang="en-US" dirty="0"/>
              <a:t>分治法构建</a:t>
            </a:r>
            <a:r>
              <a:rPr lang="en-US" altLang="zh-CN" dirty="0"/>
              <a:t>Delaunay</a:t>
            </a:r>
            <a:r>
              <a:rPr lang="zh-CN" altLang="en-US" dirty="0"/>
              <a:t>三角剖分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分治法构建</a:t>
            </a:r>
            <a:r>
              <a:rPr lang="en-US" altLang="zh-CN" dirty="0"/>
              <a:t>Delaunay</a:t>
            </a:r>
            <a:r>
              <a:rPr lang="zh-CN" altLang="en-US" dirty="0"/>
              <a:t>三角剖分</a:t>
            </a:r>
          </a:p>
        </p:txBody>
      </p:sp>
      <p:sp>
        <p:nvSpPr>
          <p:cNvPr id="3" name="内容占位符 2"/>
          <p:cNvSpPr>
            <a:spLocks noGrp="1"/>
          </p:cNvSpPr>
          <p:nvPr>
            <p:ph idx="1"/>
          </p:nvPr>
        </p:nvSpPr>
        <p:spPr/>
        <p:txBody>
          <a:bodyPr/>
          <a:lstStyle/>
          <a:p>
            <a:endParaRPr lang="zh-CN" altLang="en-US" dirty="0"/>
          </a:p>
        </p:txBody>
      </p:sp>
      <p:pic>
        <p:nvPicPr>
          <p:cNvPr id="6" name="图片 5"/>
          <p:cNvPicPr>
            <a:picLocks noChangeAspect="1"/>
          </p:cNvPicPr>
          <p:nvPr/>
        </p:nvPicPr>
        <p:blipFill>
          <a:blip r:embed="rId2"/>
          <a:stretch>
            <a:fillRect/>
          </a:stretch>
        </p:blipFill>
        <p:spPr>
          <a:xfrm>
            <a:off x="3390900" y="2971800"/>
            <a:ext cx="5410200" cy="3886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分治法构建</a:t>
            </a:r>
            <a:r>
              <a:rPr lang="en-US" altLang="zh-CN" dirty="0"/>
              <a:t>Delaunay</a:t>
            </a:r>
            <a:r>
              <a:rPr lang="zh-CN" altLang="en-US" dirty="0"/>
              <a:t>三角剖分</a:t>
            </a:r>
          </a:p>
        </p:txBody>
      </p:sp>
      <p:sp>
        <p:nvSpPr>
          <p:cNvPr id="3" name="内容占位符 2"/>
          <p:cNvSpPr>
            <a:spLocks noGrp="1"/>
          </p:cNvSpPr>
          <p:nvPr>
            <p:ph idx="1"/>
          </p:nvPr>
        </p:nvSpPr>
        <p:spPr/>
        <p:txBody>
          <a:bodyPr/>
          <a:lstStyle/>
          <a:p>
            <a:r>
              <a:rPr lang="zh-CN" altLang="en-US" dirty="0"/>
              <a:t>首先，求解两个点集的凸包的最下方的正切线,并连接两端点</a:t>
            </a:r>
            <a:r>
              <a:rPr lang="en-US" altLang="zh-CN" dirty="0"/>
              <a:t>。</a:t>
            </a:r>
          </a:p>
        </p:txBody>
      </p:sp>
      <p:pic>
        <p:nvPicPr>
          <p:cNvPr id="9" name="图片 8"/>
          <p:cNvPicPr>
            <a:picLocks noChangeAspect="1"/>
          </p:cNvPicPr>
          <p:nvPr/>
        </p:nvPicPr>
        <p:blipFill>
          <a:blip r:embed="rId2"/>
          <a:stretch>
            <a:fillRect/>
          </a:stretch>
        </p:blipFill>
        <p:spPr>
          <a:xfrm>
            <a:off x="3390900" y="2971800"/>
            <a:ext cx="5410200" cy="3886200"/>
          </a:xfrm>
          <a:prstGeom prst="rect">
            <a:avLst/>
          </a:prstGeom>
        </p:spPr>
      </p:pic>
      <p:pic>
        <p:nvPicPr>
          <p:cNvPr id="11" name="图片 10"/>
          <p:cNvPicPr>
            <a:picLocks noChangeAspect="1"/>
          </p:cNvPicPr>
          <p:nvPr/>
        </p:nvPicPr>
        <p:blipFill>
          <a:blip r:embed="rId3"/>
          <a:stretch>
            <a:fillRect/>
          </a:stretch>
        </p:blipFill>
        <p:spPr>
          <a:xfrm>
            <a:off x="3390900" y="2971800"/>
            <a:ext cx="5410200" cy="3886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3390900" y="2971800"/>
            <a:ext cx="5410200" cy="3886200"/>
          </a:xfrm>
          <a:prstGeom prst="rect">
            <a:avLst/>
          </a:prstGeom>
        </p:spPr>
      </p:pic>
      <p:sp>
        <p:nvSpPr>
          <p:cNvPr id="2" name="标题 1"/>
          <p:cNvSpPr>
            <a:spLocks noGrp="1"/>
          </p:cNvSpPr>
          <p:nvPr>
            <p:ph type="title"/>
          </p:nvPr>
        </p:nvSpPr>
        <p:spPr/>
        <p:txBody>
          <a:bodyPr/>
          <a:lstStyle/>
          <a:p>
            <a:r>
              <a:rPr lang="zh-CN" altLang="en-US" dirty="0"/>
              <a:t>分治法构建</a:t>
            </a:r>
            <a:r>
              <a:rPr lang="en-US" altLang="zh-CN" dirty="0"/>
              <a:t>Delaunay</a:t>
            </a:r>
            <a:r>
              <a:rPr lang="zh-CN" altLang="en-US" dirty="0"/>
              <a:t>三角剖分</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接下来，如图所示，</a:t>
                </a:r>
                <a14:m>
                  <m:oMath xmlns:m="http://schemas.openxmlformats.org/officeDocument/2006/math">
                    <m:r>
                      <a:rPr lang="en-US" altLang="zh-CN" i="1" dirty="0" smtClean="0">
                        <a:latin typeface="Cambria Math" panose="02040503050406030204" pitchFamily="18" charset="0"/>
                      </a:rPr>
                      <m:t>𝐶𝐷</m:t>
                    </m:r>
                  </m:oMath>
                </a14:m>
                <a:r>
                  <a:rPr lang="zh-CN" altLang="en-US" dirty="0"/>
                  <a:t>为两个凸包的正切线，求出它们的中垂线</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𝐿</m:t>
                        </m:r>
                      </m:e>
                      <m:sub>
                        <m:r>
                          <a:rPr lang="en-US" altLang="zh-CN" b="0" i="1" dirty="0" smtClean="0">
                            <a:latin typeface="Cambria Math" panose="02040503050406030204" pitchFamily="18" charset="0"/>
                          </a:rPr>
                          <m:t>𝐶𝐷</m:t>
                        </m:r>
                      </m:sub>
                    </m:sSub>
                  </m:oMath>
                </a14:m>
                <a:r>
                  <a:rPr lang="en-US" altLang="zh-CN" dirty="0"/>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l="-1043" t="-2661" r="-580"/>
                </a:stretch>
              </a:blipFill>
            </p:spPr>
            <p:txBody>
              <a:bodyPr/>
              <a:lstStyle/>
              <a:p>
                <a:r>
                  <a:rPr lang="zh-CN" altLang="en-US">
                    <a:noFill/>
                  </a:rPr>
                  <a:t> </a:t>
                </a:r>
              </a:p>
            </p:txBody>
          </p:sp>
        </mc:Fallback>
      </mc:AlternateContent>
      <p:pic>
        <p:nvPicPr>
          <p:cNvPr id="8" name="图片 7"/>
          <p:cNvPicPr>
            <a:picLocks noChangeAspect="1"/>
          </p:cNvPicPr>
          <p:nvPr/>
        </p:nvPicPr>
        <p:blipFill>
          <a:blip r:embed="rId4"/>
          <a:stretch>
            <a:fillRect/>
          </a:stretch>
        </p:blipFill>
        <p:spPr>
          <a:xfrm>
            <a:off x="3390900" y="2971800"/>
            <a:ext cx="5410200" cy="3886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分治法构建</a:t>
            </a:r>
            <a:r>
              <a:rPr lang="en-US" altLang="zh-CN" dirty="0"/>
              <a:t>Delaunay</a:t>
            </a:r>
            <a:r>
              <a:rPr lang="zh-CN" altLang="en-US" dirty="0"/>
              <a:t>三角剖分</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然后找到与</a:t>
                </a:r>
                <a14:m>
                  <m:oMath xmlns:m="http://schemas.openxmlformats.org/officeDocument/2006/math">
                    <m:r>
                      <a:rPr lang="en-US" altLang="zh-CN" i="1" dirty="0" smtClean="0">
                        <a:latin typeface="Cambria Math" panose="02040503050406030204" pitchFamily="18" charset="0"/>
                      </a:rPr>
                      <m:t>𝐶</m:t>
                    </m:r>
                  </m:oMath>
                </a14:m>
                <a:r>
                  <a:rPr lang="zh-CN" altLang="en-US" dirty="0"/>
                  <a:t>或</a:t>
                </a:r>
                <a14:m>
                  <m:oMath xmlns:m="http://schemas.openxmlformats.org/officeDocument/2006/math">
                    <m:r>
                      <a:rPr lang="en-US" altLang="zh-CN" i="1" dirty="0" smtClean="0">
                        <a:latin typeface="Cambria Math" panose="02040503050406030204" pitchFamily="18" charset="0"/>
                      </a:rPr>
                      <m:t>𝐷</m:t>
                    </m:r>
                  </m:oMath>
                </a14:m>
                <a:r>
                  <a:rPr lang="zh-CN" altLang="en-US" dirty="0"/>
                  <a:t>相连的边中，中垂线与</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𝐶𝐷</m:t>
                        </m:r>
                      </m:sub>
                    </m:sSub>
                  </m:oMath>
                </a14:m>
                <a:r>
                  <a:rPr lang="zh-CN" altLang="en-US" dirty="0"/>
                  <a:t>有交点的边，如果有多个边，那么选择交点</a:t>
                </a:r>
                <a14:m>
                  <m:oMath xmlns:m="http://schemas.openxmlformats.org/officeDocument/2006/math">
                    <m:r>
                      <a:rPr lang="en-US" altLang="zh-CN" i="1" dirty="0" smtClean="0">
                        <a:latin typeface="Cambria Math" panose="02040503050406030204" pitchFamily="18" charset="0"/>
                      </a:rPr>
                      <m:t>𝑌</m:t>
                    </m:r>
                  </m:oMath>
                </a14:m>
                <a:r>
                  <a:rPr lang="zh-CN" altLang="en-US" dirty="0"/>
                  <a:t>坐标最小的点所关联边</a:t>
                </a:r>
                <a:r>
                  <a:rPr lang="en-US" altLang="zh-CN" dirty="0"/>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661"/>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3390900" y="2971800"/>
            <a:ext cx="5410200" cy="3886200"/>
          </a:xfrm>
          <a:prstGeom prst="rect">
            <a:avLst/>
          </a:prstGeom>
        </p:spPr>
      </p:pic>
      <p:pic>
        <p:nvPicPr>
          <p:cNvPr id="5" name="图片 4"/>
          <p:cNvPicPr>
            <a:picLocks noChangeAspect="1"/>
          </p:cNvPicPr>
          <p:nvPr/>
        </p:nvPicPr>
        <p:blipFill>
          <a:blip r:embed="rId4"/>
          <a:stretch>
            <a:fillRect/>
          </a:stretch>
        </p:blipFill>
        <p:spPr>
          <a:xfrm>
            <a:off x="3390900" y="2971800"/>
            <a:ext cx="5410200" cy="3886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分治法构建</a:t>
            </a:r>
            <a:r>
              <a:rPr lang="en-US" altLang="zh-CN" dirty="0"/>
              <a:t>Delaunay</a:t>
            </a:r>
            <a:r>
              <a:rPr lang="zh-CN" altLang="en-US" dirty="0"/>
              <a:t>三角剖分</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如图所示，选择的边为</a:t>
                </a:r>
                <a14:m>
                  <m:oMath xmlns:m="http://schemas.openxmlformats.org/officeDocument/2006/math">
                    <m:r>
                      <a:rPr lang="en-US" altLang="zh-CN" i="1" dirty="0" smtClean="0">
                        <a:latin typeface="Cambria Math" panose="02040503050406030204" pitchFamily="18" charset="0"/>
                      </a:rPr>
                      <m:t>𝐵𝐶</m:t>
                    </m:r>
                  </m:oMath>
                </a14:m>
                <a:r>
                  <a:rPr lang="en-US" altLang="zh-CN" dirty="0"/>
                  <a:t>，</a:t>
                </a:r>
                <a:r>
                  <a:rPr lang="zh-CN" altLang="en-US" dirty="0"/>
                  <a:t>那么连接</a:t>
                </a:r>
                <a14:m>
                  <m:oMath xmlns:m="http://schemas.openxmlformats.org/officeDocument/2006/math">
                    <m:r>
                      <a:rPr lang="en-US" altLang="zh-CN" i="1" dirty="0" smtClean="0">
                        <a:latin typeface="Cambria Math" panose="02040503050406030204" pitchFamily="18" charset="0"/>
                      </a:rPr>
                      <m:t>𝐵𝐷</m:t>
                    </m:r>
                  </m:oMath>
                </a14:m>
                <a:r>
                  <a:rPr lang="en-US" altLang="zh-CN" dirty="0"/>
                  <a:t>，</a:t>
                </a:r>
                <a:r>
                  <a:rPr lang="zh-CN" altLang="en-US" dirty="0"/>
                  <a:t>并且删除与</a:t>
                </a:r>
                <a14:m>
                  <m:oMath xmlns:m="http://schemas.openxmlformats.org/officeDocument/2006/math">
                    <m:r>
                      <a:rPr lang="en-US" altLang="zh-CN" i="1" dirty="0" smtClean="0">
                        <a:latin typeface="Cambria Math" panose="02040503050406030204" pitchFamily="18" charset="0"/>
                      </a:rPr>
                      <m:t>𝐵𝐷</m:t>
                    </m:r>
                  </m:oMath>
                </a14:m>
                <a:r>
                  <a:rPr lang="zh-CN" altLang="en-US" dirty="0"/>
                  <a:t>相交的边。设</a:t>
                </a:r>
                <a14:m>
                  <m:oMath xmlns:m="http://schemas.openxmlformats.org/officeDocument/2006/math">
                    <m:r>
                      <a:rPr lang="en-US" altLang="zh-CN" i="1" dirty="0" smtClean="0">
                        <a:latin typeface="Cambria Math" panose="02040503050406030204" pitchFamily="18" charset="0"/>
                      </a:rPr>
                      <m:t>𝐵𝐷</m:t>
                    </m:r>
                  </m:oMath>
                </a14:m>
                <a:r>
                  <a:rPr lang="zh-CN" altLang="en-US" dirty="0"/>
                  <a:t>为新产生的正切线。</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661"/>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3390900" y="2971800"/>
            <a:ext cx="5410200" cy="3886200"/>
          </a:xfrm>
          <a:prstGeom prst="rect">
            <a:avLst/>
          </a:prstGeom>
        </p:spPr>
      </p:pic>
      <p:pic>
        <p:nvPicPr>
          <p:cNvPr id="7" name="图片 6"/>
          <p:cNvPicPr>
            <a:picLocks noChangeAspect="1"/>
          </p:cNvPicPr>
          <p:nvPr/>
        </p:nvPicPr>
        <p:blipFill>
          <a:blip r:embed="rId4"/>
          <a:stretch>
            <a:fillRect/>
          </a:stretch>
        </p:blipFill>
        <p:spPr>
          <a:xfrm>
            <a:off x="3390900" y="2971800"/>
            <a:ext cx="5410200" cy="3886200"/>
          </a:xfrm>
          <a:prstGeom prst="rect">
            <a:avLst/>
          </a:prstGeom>
        </p:spPr>
      </p:pic>
      <p:pic>
        <p:nvPicPr>
          <p:cNvPr id="8" name="图片 7"/>
          <p:cNvPicPr>
            <a:picLocks noChangeAspect="1"/>
          </p:cNvPicPr>
          <p:nvPr/>
        </p:nvPicPr>
        <p:blipFill>
          <a:blip r:embed="rId5"/>
          <a:stretch>
            <a:fillRect/>
          </a:stretch>
        </p:blipFill>
        <p:spPr>
          <a:xfrm>
            <a:off x="3390900" y="2971800"/>
            <a:ext cx="5410200" cy="3886200"/>
          </a:xfrm>
          <a:prstGeom prst="rect">
            <a:avLst/>
          </a:prstGeom>
        </p:spPr>
      </p:pic>
      <p:pic>
        <p:nvPicPr>
          <p:cNvPr id="10" name="图片 9"/>
          <p:cNvPicPr>
            <a:picLocks noChangeAspect="1"/>
          </p:cNvPicPr>
          <p:nvPr/>
        </p:nvPicPr>
        <p:blipFill>
          <a:blip r:embed="rId6"/>
          <a:stretch>
            <a:fillRect/>
          </a:stretch>
        </p:blipFill>
        <p:spPr>
          <a:xfrm>
            <a:off x="3390900" y="2971800"/>
            <a:ext cx="5410200" cy="3886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分治法构建</a:t>
            </a:r>
            <a:r>
              <a:rPr lang="en-US" altLang="zh-CN" dirty="0"/>
              <a:t>Delaunay</a:t>
            </a:r>
            <a:r>
              <a:rPr lang="zh-CN" altLang="en-US" dirty="0"/>
              <a:t>三角剖分</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然后将</a:t>
                </a:r>
                <a14:m>
                  <m:oMath xmlns:m="http://schemas.openxmlformats.org/officeDocument/2006/math">
                    <m:r>
                      <a:rPr lang="en-US" altLang="zh-CN" i="1" dirty="0" smtClean="0">
                        <a:latin typeface="Cambria Math" panose="02040503050406030204" pitchFamily="18" charset="0"/>
                      </a:rPr>
                      <m:t>𝐵𝐷</m:t>
                    </m:r>
                  </m:oMath>
                </a14:m>
                <a:r>
                  <a:rPr lang="zh-CN" altLang="en-US" dirty="0"/>
                  <a:t>像</a:t>
                </a:r>
                <a14:m>
                  <m:oMath xmlns:m="http://schemas.openxmlformats.org/officeDocument/2006/math">
                    <m:r>
                      <a:rPr lang="en-US" altLang="zh-CN" i="1" dirty="0" smtClean="0">
                        <a:latin typeface="Cambria Math" panose="02040503050406030204" pitchFamily="18" charset="0"/>
                      </a:rPr>
                      <m:t>𝐶𝐷</m:t>
                    </m:r>
                  </m:oMath>
                </a14:m>
                <a:r>
                  <a:rPr lang="zh-CN" altLang="en-US" dirty="0"/>
                  <a:t>一样不断重复以上步骤，就可以合并两个点集的</a:t>
                </a:r>
                <a:r>
                  <a:rPr lang="en-US" altLang="zh-CN" dirty="0"/>
                  <a:t>Delaunay</a:t>
                </a:r>
                <a:r>
                  <a:rPr lang="zh-CN" altLang="en-US" dirty="0"/>
                  <a:t>三角剖分了。</a:t>
                </a: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661"/>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3390900" y="2971800"/>
            <a:ext cx="5410200" cy="3886200"/>
          </a:xfrm>
          <a:prstGeom prst="rect">
            <a:avLst/>
          </a:prstGeom>
        </p:spPr>
      </p:pic>
      <p:pic>
        <p:nvPicPr>
          <p:cNvPr id="5" name="图片 4"/>
          <p:cNvPicPr>
            <a:picLocks noChangeAspect="1"/>
          </p:cNvPicPr>
          <p:nvPr/>
        </p:nvPicPr>
        <p:blipFill>
          <a:blip r:embed="rId4"/>
          <a:stretch>
            <a:fillRect/>
          </a:stretch>
        </p:blipFill>
        <p:spPr>
          <a:xfrm>
            <a:off x="3390900" y="2971800"/>
            <a:ext cx="5410200" cy="3886200"/>
          </a:xfrm>
          <a:prstGeom prst="rect">
            <a:avLst/>
          </a:prstGeom>
        </p:spPr>
      </p:pic>
      <p:pic>
        <p:nvPicPr>
          <p:cNvPr id="6" name="图片 5"/>
          <p:cNvPicPr>
            <a:picLocks noChangeAspect="1"/>
          </p:cNvPicPr>
          <p:nvPr/>
        </p:nvPicPr>
        <p:blipFill>
          <a:blip r:embed="rId5"/>
          <a:stretch>
            <a:fillRect/>
          </a:stretch>
        </p:blipFill>
        <p:spPr>
          <a:xfrm>
            <a:off x="3390900" y="2971800"/>
            <a:ext cx="5410200" cy="3886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Delaunay</a:t>
            </a:r>
            <a:r>
              <a:rPr lang="zh-CN" altLang="en-US" dirty="0"/>
              <a:t>三角剖分对偶得</a:t>
            </a:r>
            <a:r>
              <a:rPr lang="en-US" altLang="zh-CN" dirty="0" err="1"/>
              <a:t>Voronoi</a:t>
            </a:r>
            <a:r>
              <a:rPr lang="zh-CN" altLang="en-US" dirty="0"/>
              <a:t>图</a:t>
            </a:r>
          </a:p>
        </p:txBody>
      </p:sp>
      <p:sp>
        <p:nvSpPr>
          <p:cNvPr id="3" name="内容占位符 2"/>
          <p:cNvSpPr>
            <a:spLocks noGrp="1"/>
          </p:cNvSpPr>
          <p:nvPr>
            <p:ph idx="1"/>
          </p:nvPr>
        </p:nvSpPr>
        <p:spPr/>
        <p:txBody>
          <a:bodyPr/>
          <a:lstStyle/>
          <a:p>
            <a:r>
              <a:rPr lang="zh-CN" altLang="en-US" dirty="0"/>
              <a:t>因为</a:t>
            </a:r>
            <a:r>
              <a:rPr lang="en-US" altLang="zh-CN" dirty="0" err="1"/>
              <a:t>Voronoi</a:t>
            </a:r>
            <a:r>
              <a:rPr lang="zh-CN" altLang="en-US" dirty="0"/>
              <a:t>点正好是三条</a:t>
            </a:r>
            <a:r>
              <a:rPr lang="en-US" altLang="zh-CN" dirty="0" err="1"/>
              <a:t>Voronoi</a:t>
            </a:r>
            <a:r>
              <a:rPr lang="zh-CN" altLang="en-US" dirty="0"/>
              <a:t>边的交点，也就是说</a:t>
            </a:r>
            <a:r>
              <a:rPr lang="en-US" altLang="zh-CN" dirty="0" err="1"/>
              <a:t>Voronoi</a:t>
            </a:r>
            <a:r>
              <a:rPr lang="zh-CN" altLang="en-US" dirty="0"/>
              <a:t>点是形成三边的三点的外接圆圆心。</a:t>
            </a:r>
            <a:endParaRPr lang="en-US" altLang="zh-CN" dirty="0"/>
          </a:p>
          <a:p>
            <a:endParaRPr lang="en-US" altLang="zh-CN" dirty="0"/>
          </a:p>
          <a:p>
            <a:r>
              <a:rPr lang="zh-CN" altLang="en-US" dirty="0"/>
              <a:t>那么对偶的方法就是：</a:t>
            </a:r>
            <a:endParaRPr lang="en-US" altLang="zh-CN" dirty="0"/>
          </a:p>
          <a:p>
            <a:pPr marL="971550" lvl="1" indent="-514350">
              <a:buFont typeface="+mj-lt"/>
              <a:buAutoNum type="arabicPeriod"/>
            </a:pPr>
            <a:r>
              <a:rPr lang="zh-CN" altLang="en-US" dirty="0"/>
              <a:t>先将每个</a:t>
            </a:r>
            <a:r>
              <a:rPr lang="en-US" altLang="zh-CN" dirty="0"/>
              <a:t>Delaunay</a:t>
            </a:r>
            <a:r>
              <a:rPr lang="zh-CN" altLang="en-US" dirty="0"/>
              <a:t>三角形的外接圆圆心求出。</a:t>
            </a:r>
            <a:endParaRPr lang="en-US" altLang="zh-CN" dirty="0"/>
          </a:p>
          <a:p>
            <a:pPr marL="971550" lvl="1" indent="-514350">
              <a:buFont typeface="+mj-lt"/>
              <a:buAutoNum type="arabicPeriod"/>
            </a:pPr>
            <a:r>
              <a:rPr lang="zh-CN" altLang="en-US" dirty="0"/>
              <a:t>如果两个三角形有公共边，那么在它们的外接圆圆心之间连一条边。</a:t>
            </a:r>
            <a:endParaRPr lang="en-US" altLang="zh-CN" dirty="0"/>
          </a:p>
          <a:p>
            <a:pPr marL="971550" lvl="1" indent="-514350">
              <a:buFont typeface="+mj-lt"/>
              <a:buAutoNum type="arabicPeriod"/>
            </a:pPr>
            <a:r>
              <a:rPr lang="zh-CN" altLang="en-US" dirty="0"/>
              <a:t>如果某一条</a:t>
            </a:r>
            <a:r>
              <a:rPr lang="en-US" altLang="zh-CN" dirty="0"/>
              <a:t>Delaunay</a:t>
            </a:r>
            <a:r>
              <a:rPr lang="zh-CN" altLang="en-US" dirty="0"/>
              <a:t>边在点集的凸包上，那么以这条边所在的三角形的外接圆圆心为起点，向该边做垂直射线。</a:t>
            </a:r>
            <a:endParaRPr lang="en-US" altLang="zh-CN" dirty="0"/>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Delaunay</a:t>
            </a:r>
            <a:r>
              <a:rPr lang="zh-CN" altLang="en-US" dirty="0"/>
              <a:t>三角剖分对偶得</a:t>
            </a:r>
            <a:r>
              <a:rPr lang="en-US" altLang="zh-CN" dirty="0" err="1"/>
              <a:t>Voronoi</a:t>
            </a:r>
            <a:r>
              <a:rPr lang="zh-CN" altLang="en-US" dirty="0"/>
              <a:t>图</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t>由于选点时过于玄学，导致</a:t>
                </a:r>
                <a14:m>
                  <m:oMath xmlns:m="http://schemas.openxmlformats.org/officeDocument/2006/math">
                    <m:r>
                      <a:rPr lang="en-US" altLang="zh-CN" i="1" dirty="0" smtClean="0">
                        <a:latin typeface="Cambria Math" panose="02040503050406030204" pitchFamily="18" charset="0"/>
                      </a:rPr>
                      <m:t>𝐴𝐵𝐶𝐷</m:t>
                    </m:r>
                  </m:oMath>
                </a14:m>
                <a:r>
                  <a:rPr lang="zh-CN" altLang="en-US" dirty="0"/>
                  <a:t>看起来很像四点共圆，但其实不是，</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𝑂</m:t>
                        </m:r>
                      </m:e>
                      <m:sub>
                        <m:r>
                          <a:rPr lang="en-US" altLang="zh-CN" b="0" i="1" smtClean="0">
                            <a:latin typeface="Cambria Math" panose="02040503050406030204" pitchFamily="18" charset="0"/>
                          </a:rPr>
                          <m:t>𝐴𝐵𝐷</m:t>
                        </m:r>
                      </m:sub>
                    </m:sSub>
                  </m:oMath>
                </a14:m>
                <a:r>
                  <a:rPr lang="zh-CN" altLang="en-US" dirty="0"/>
                  <a:t>稍比</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𝑂</m:t>
                        </m:r>
                      </m:e>
                      <m:sub>
                        <m:r>
                          <a:rPr lang="en-US" altLang="zh-CN" b="0" i="1" smtClean="0">
                            <a:latin typeface="Cambria Math" panose="02040503050406030204" pitchFamily="18" charset="0"/>
                          </a:rPr>
                          <m:t>𝐵𝐶𝐷</m:t>
                        </m:r>
                      </m:sub>
                    </m:sSub>
                  </m:oMath>
                </a14:m>
                <a:r>
                  <a:rPr lang="zh-CN" altLang="en-US" dirty="0"/>
                  <a:t>上一点点，可以看</a:t>
                </a:r>
                <a:r>
                  <a:rPr lang="en-US" altLang="zh-CN" dirty="0" err="1"/>
                  <a:t>Voronoi_Delaunay.ggb</a:t>
                </a:r>
                <a:r>
                  <a:rPr lang="zh-CN" altLang="en-US" dirty="0"/>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661"/>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3390900" y="2971800"/>
            <a:ext cx="5410200" cy="3886200"/>
          </a:xfrm>
          <a:prstGeom prst="rect">
            <a:avLst/>
          </a:prstGeom>
        </p:spPr>
      </p:pic>
      <p:pic>
        <p:nvPicPr>
          <p:cNvPr id="6" name="图片 5"/>
          <p:cNvPicPr>
            <a:picLocks noChangeAspect="1"/>
          </p:cNvPicPr>
          <p:nvPr/>
        </p:nvPicPr>
        <p:blipFill>
          <a:blip r:embed="rId4"/>
          <a:stretch>
            <a:fillRect/>
          </a:stretch>
        </p:blipFill>
        <p:spPr>
          <a:xfrm>
            <a:off x="3390900" y="2971800"/>
            <a:ext cx="5410200" cy="3886200"/>
          </a:xfrm>
          <a:prstGeom prst="rect">
            <a:avLst/>
          </a:prstGeom>
        </p:spPr>
      </p:pic>
      <p:pic>
        <p:nvPicPr>
          <p:cNvPr id="7" name="图片 6"/>
          <p:cNvPicPr>
            <a:picLocks noChangeAspect="1"/>
          </p:cNvPicPr>
          <p:nvPr/>
        </p:nvPicPr>
        <p:blipFill>
          <a:blip r:embed="rId5"/>
          <a:stretch>
            <a:fillRect/>
          </a:stretch>
        </p:blipFill>
        <p:spPr>
          <a:xfrm>
            <a:off x="3390900" y="2971800"/>
            <a:ext cx="5410200" cy="3886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平面图</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平面图是指能够画在平面上且能使边只在定点处相交的图。</a:t>
                </a:r>
                <a:endParaRPr lang="en-US" altLang="zh-CN" dirty="0"/>
              </a:p>
              <a:p>
                <a:endParaRPr lang="en-US" altLang="zh-CN" i="1" dirty="0">
                  <a:latin typeface="Cambria Math" panose="02040503050406030204" pitchFamily="18" charset="0"/>
                </a:endParaRPr>
              </a:p>
              <a:p>
                <a14:m>
                  <m:oMath xmlns:m="http://schemas.openxmlformats.org/officeDocument/2006/math">
                    <m:r>
                      <a:rPr lang="zh-CN" altLang="en-US" i="1" dirty="0" smtClean="0">
                        <a:latin typeface="Cambria Math" panose="02040503050406030204" pitchFamily="18" charset="0"/>
                      </a:rPr>
                      <m:t>点数</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边数</m:t>
                    </m:r>
                    <m:r>
                      <a:rPr lang="en-US" altLang="zh-CN" i="1" dirty="0" smtClean="0">
                        <a:latin typeface="Cambria Math" panose="02040503050406030204" pitchFamily="18" charset="0"/>
                      </a:rPr>
                      <m:t>+</m:t>
                    </m:r>
                    <m:r>
                      <a:rPr lang="zh-CN" altLang="en-US" b="0" i="1" dirty="0" smtClean="0">
                        <a:latin typeface="Cambria Math" panose="02040503050406030204" pitchFamily="18" charset="0"/>
                      </a:rPr>
                      <m:t>域</m:t>
                    </m:r>
                    <m:r>
                      <a:rPr lang="zh-CN" altLang="en-US" i="1" dirty="0" smtClean="0">
                        <a:latin typeface="Cambria Math" panose="02040503050406030204" pitchFamily="18" charset="0"/>
                      </a:rPr>
                      <m:t>数</m:t>
                    </m:r>
                    <m:r>
                      <a:rPr lang="en-US" altLang="zh-CN" b="0" i="1" dirty="0" smtClean="0">
                        <a:latin typeface="Cambria Math" panose="02040503050406030204" pitchFamily="18" charset="0"/>
                      </a:rPr>
                      <m:t>−</m:t>
                    </m:r>
                    <m:r>
                      <a:rPr lang="zh-CN" altLang="en-US" i="1" dirty="0">
                        <a:latin typeface="Cambria Math" panose="02040503050406030204" pitchFamily="18" charset="0"/>
                      </a:rPr>
                      <m:t>连通</m:t>
                    </m:r>
                    <m:r>
                      <a:rPr lang="zh-CN" altLang="en-US" i="1" dirty="0" smtClean="0">
                        <a:latin typeface="Cambria Math" panose="02040503050406030204" pitchFamily="18" charset="0"/>
                      </a:rPr>
                      <m:t>块数</m:t>
                    </m:r>
                    <m:r>
                      <a:rPr lang="en-US" altLang="zh-CN" i="1" dirty="0" smtClean="0">
                        <a:latin typeface="Cambria Math" panose="02040503050406030204" pitchFamily="18" charset="0"/>
                      </a:rPr>
                      <m:t>=</m:t>
                    </m:r>
                    <m:r>
                      <a:rPr lang="en-US" altLang="zh-CN" b="0" i="1" dirty="0" smtClean="0">
                        <a:latin typeface="Cambria Math" panose="02040503050406030204" pitchFamily="18" charset="0"/>
                      </a:rPr>
                      <m:t>1</m:t>
                    </m:r>
                  </m:oMath>
                </a14:m>
                <a:endParaRPr lang="en-US" altLang="zh-CN" dirty="0"/>
              </a:p>
              <a:p>
                <a14:m>
                  <m:oMath xmlns:m="http://schemas.openxmlformats.org/officeDocument/2006/math">
                    <m:r>
                      <a:rPr lang="zh-CN" altLang="en-US" b="0" i="1" dirty="0">
                        <a:latin typeface="Cambria Math" panose="02040503050406030204" pitchFamily="18" charset="0"/>
                      </a:rPr>
                      <m:t>边数</m:t>
                    </m:r>
                    <m:r>
                      <a:rPr lang="en-US" altLang="zh-CN" b="0" i="1" smtClean="0">
                        <a:latin typeface="Cambria Math" panose="02040503050406030204" pitchFamily="18" charset="0"/>
                      </a:rPr>
                      <m:t>≤</m:t>
                    </m:r>
                    <m:r>
                      <a:rPr lang="en-US" altLang="zh-CN" b="0" i="0" smtClean="0">
                        <a:latin typeface="Cambria Math" panose="02040503050406030204" pitchFamily="18" charset="0"/>
                      </a:rPr>
                      <m:t>3</m:t>
                    </m:r>
                    <m:r>
                      <a:rPr lang="zh-CN" altLang="en-US" b="0" i="1" smtClean="0">
                        <a:latin typeface="Cambria Math" panose="02040503050406030204" pitchFamily="18" charset="0"/>
                      </a:rPr>
                      <m:t>∗</m:t>
                    </m:r>
                    <m:r>
                      <a:rPr lang="zh-CN" altLang="en-US" i="1">
                        <a:latin typeface="Cambria Math" panose="02040503050406030204" pitchFamily="18" charset="0"/>
                      </a:rPr>
                      <m:t>点数</m:t>
                    </m:r>
                    <m:r>
                      <a:rPr lang="en-US" altLang="zh-CN" b="0" i="1" smtClean="0">
                        <a:latin typeface="Cambria Math" panose="02040503050406030204" pitchFamily="18" charset="0"/>
                      </a:rPr>
                      <m:t>−6</m:t>
                    </m:r>
                  </m:oMath>
                </a14:m>
                <a:endParaRPr lang="en-US" altLang="zh-CN" b="0" dirty="0"/>
              </a:p>
              <a:p>
                <a14:m>
                  <m:oMath xmlns:m="http://schemas.openxmlformats.org/officeDocument/2006/math">
                    <m:r>
                      <a:rPr lang="zh-CN" altLang="en-US" i="1" dirty="0" smtClean="0">
                        <a:latin typeface="Cambria Math" panose="02040503050406030204" pitchFamily="18" charset="0"/>
                      </a:rPr>
                      <m:t>域数</m:t>
                    </m:r>
                    <m:r>
                      <a:rPr lang="en-US" altLang="zh-CN" b="0" i="1" dirty="0" smtClean="0">
                        <a:latin typeface="Cambria Math" panose="02040503050406030204" pitchFamily="18" charset="0"/>
                      </a:rPr>
                      <m:t>≤2</m:t>
                    </m:r>
                    <m:r>
                      <a:rPr lang="zh-CN" altLang="en-US" b="0" i="1" dirty="0" smtClean="0">
                        <a:latin typeface="Cambria Math" panose="02040503050406030204" pitchFamily="18" charset="0"/>
                      </a:rPr>
                      <m:t>∗</m:t>
                    </m:r>
                    <m:r>
                      <a:rPr lang="zh-CN" altLang="en-US" i="1" dirty="0">
                        <a:latin typeface="Cambria Math" panose="02040503050406030204" pitchFamily="18" charset="0"/>
                      </a:rPr>
                      <m:t>点数</m:t>
                    </m:r>
                    <m:r>
                      <a:rPr lang="en-US" altLang="zh-CN" b="0" i="1" dirty="0" smtClean="0">
                        <a:latin typeface="Cambria Math" panose="02040503050406030204" pitchFamily="18" charset="0"/>
                      </a:rPr>
                      <m:t>−4</m:t>
                    </m:r>
                  </m:oMath>
                </a14:m>
                <a:endParaRPr lang="en-US" altLang="zh-CN" b="0" dirty="0"/>
              </a:p>
              <a:p>
                <a:endParaRPr lang="en-US" altLang="zh-CN" dirty="0"/>
              </a:p>
              <a:p>
                <a:r>
                  <a:rPr lang="zh-CN" altLang="en-US" b="0" dirty="0"/>
                  <a:t>即在平面图中点数、边数和域数是同级的。</a:t>
                </a:r>
                <a:endParaRPr lang="en-US" altLang="zh-CN" b="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94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平面图的基础操作</a:t>
            </a:r>
          </a:p>
        </p:txBody>
      </p:sp>
      <p:sp>
        <p:nvSpPr>
          <p:cNvPr id="3" name="内容占位符 2"/>
          <p:cNvSpPr>
            <a:spLocks noGrp="1"/>
          </p:cNvSpPr>
          <p:nvPr>
            <p:ph idx="1"/>
          </p:nvPr>
        </p:nvSpPr>
        <p:spPr>
          <a:xfrm>
            <a:off x="838200" y="1825625"/>
            <a:ext cx="10515600" cy="4351338"/>
          </a:xfrm>
        </p:spPr>
        <p:txBody>
          <a:bodyPr/>
          <a:lstStyle/>
          <a:p>
            <a:r>
              <a:rPr lang="zh-CN" altLang="en-US" dirty="0"/>
              <a:t>对于一个顶点查询其相邻的边。</a:t>
            </a:r>
            <a:endParaRPr lang="en-US" altLang="zh-CN" dirty="0"/>
          </a:p>
          <a:p>
            <a:pPr lvl="1"/>
            <a:r>
              <a:rPr lang="zh-CN" altLang="en-US" dirty="0"/>
              <a:t>邻接表。</a:t>
            </a:r>
            <a:endParaRPr lang="en-US" altLang="zh-CN" dirty="0"/>
          </a:p>
          <a:p>
            <a:r>
              <a:rPr lang="zh-CN" altLang="en-US" dirty="0"/>
              <a:t>对于一个域查询其周围的顶点和边。</a:t>
            </a:r>
            <a:endParaRPr lang="en-US" altLang="zh-CN" dirty="0"/>
          </a:p>
          <a:p>
            <a:pPr lvl="1"/>
            <a:r>
              <a:rPr lang="zh-CN" altLang="en-US" dirty="0"/>
              <a:t>对于每一个域建立一个列表，存储其周围的点和边。</a:t>
            </a:r>
            <a:endParaRPr lang="en-US" altLang="zh-CN" dirty="0"/>
          </a:p>
          <a:p>
            <a:r>
              <a:rPr lang="zh-CN" altLang="en-US" dirty="0"/>
              <a:t>对于一个域查询其相邻的域。</a:t>
            </a:r>
            <a:endParaRPr lang="en-US" altLang="zh-CN" dirty="0"/>
          </a:p>
          <a:p>
            <a:pPr lvl="1"/>
            <a:r>
              <a:rPr lang="zh-CN" altLang="en-US" dirty="0"/>
              <a:t>建立对偶图</a:t>
            </a:r>
            <a:endParaRPr lang="en-US" altLang="zh-CN" dirty="0"/>
          </a:p>
          <a:p>
            <a:r>
              <a:rPr lang="zh-CN" altLang="en-US" dirty="0"/>
              <a:t>对于一个不是顶点且不在边上的任意点查询其所在的域。</a:t>
            </a:r>
            <a:endParaRPr lang="en-US" altLang="zh-CN" dirty="0"/>
          </a:p>
          <a:p>
            <a:pPr lvl="1"/>
            <a:r>
              <a:rPr lang="zh-CN" altLang="en-US" dirty="0"/>
              <a:t>平面图点定位</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对偶图构造方法</a:t>
            </a:r>
          </a:p>
        </p:txBody>
      </p:sp>
      <p:sp>
        <p:nvSpPr>
          <p:cNvPr id="3" name="内容占位符 2"/>
          <p:cNvSpPr>
            <a:spLocks noGrp="1"/>
          </p:cNvSpPr>
          <p:nvPr>
            <p:ph idx="1"/>
          </p:nvPr>
        </p:nvSpPr>
        <p:spPr/>
        <p:txBody>
          <a:bodyPr/>
          <a:lstStyle/>
          <a:p>
            <a:endParaRPr lang="zh-CN" altLang="en-US" dirty="0"/>
          </a:p>
        </p:txBody>
      </p:sp>
      <p:pic>
        <p:nvPicPr>
          <p:cNvPr id="5" name="图片 4"/>
          <p:cNvPicPr>
            <a:picLocks noChangeAspect="1"/>
          </p:cNvPicPr>
          <p:nvPr/>
        </p:nvPicPr>
        <p:blipFill>
          <a:blip r:embed="rId2"/>
          <a:stretch>
            <a:fillRect/>
          </a:stretch>
        </p:blipFill>
        <p:spPr>
          <a:xfrm>
            <a:off x="3390900" y="2971800"/>
            <a:ext cx="5410200" cy="3886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对偶图构造方法</a:t>
            </a:r>
          </a:p>
        </p:txBody>
      </p:sp>
      <p:sp>
        <p:nvSpPr>
          <p:cNvPr id="3" name="内容占位符 2"/>
          <p:cNvSpPr>
            <a:spLocks noGrp="1"/>
          </p:cNvSpPr>
          <p:nvPr>
            <p:ph idx="1"/>
          </p:nvPr>
        </p:nvSpPr>
        <p:spPr/>
        <p:txBody>
          <a:bodyPr/>
          <a:lstStyle/>
          <a:p>
            <a:r>
              <a:rPr lang="zh-CN" altLang="en-US" dirty="0"/>
              <a:t>将每条边拆分成两条有向边。</a:t>
            </a:r>
            <a:endParaRPr lang="en-US" altLang="zh-CN" dirty="0"/>
          </a:p>
          <a:p>
            <a:r>
              <a:rPr lang="zh-CN" altLang="en-US" dirty="0"/>
              <a:t>并将每个点出发的有向边按顺时针排序。</a:t>
            </a:r>
          </a:p>
        </p:txBody>
      </p:sp>
      <p:pic>
        <p:nvPicPr>
          <p:cNvPr id="5" name="图片 4"/>
          <p:cNvPicPr>
            <a:picLocks noChangeAspect="1"/>
          </p:cNvPicPr>
          <p:nvPr/>
        </p:nvPicPr>
        <p:blipFill>
          <a:blip r:embed="rId2"/>
          <a:stretch>
            <a:fillRect/>
          </a:stretch>
        </p:blipFill>
        <p:spPr>
          <a:xfrm>
            <a:off x="3390900" y="2971800"/>
            <a:ext cx="5410200" cy="3886200"/>
          </a:xfrm>
          <a:prstGeom prst="rect">
            <a:avLst/>
          </a:prstGeom>
        </p:spPr>
      </p:pic>
      <p:pic>
        <p:nvPicPr>
          <p:cNvPr id="6" name="图片 5"/>
          <p:cNvPicPr>
            <a:picLocks noChangeAspect="1"/>
          </p:cNvPicPr>
          <p:nvPr/>
        </p:nvPicPr>
        <p:blipFill>
          <a:blip r:embed="rId3"/>
          <a:stretch>
            <a:fillRect/>
          </a:stretch>
        </p:blipFill>
        <p:spPr>
          <a:xfrm>
            <a:off x="3390900" y="2971800"/>
            <a:ext cx="5410200" cy="3886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对偶图构造方法</a:t>
            </a:r>
          </a:p>
        </p:txBody>
      </p:sp>
      <p:sp>
        <p:nvSpPr>
          <p:cNvPr id="3" name="内容占位符 2"/>
          <p:cNvSpPr>
            <a:spLocks noGrp="1"/>
          </p:cNvSpPr>
          <p:nvPr>
            <p:ph idx="1"/>
          </p:nvPr>
        </p:nvSpPr>
        <p:spPr/>
        <p:txBody>
          <a:bodyPr/>
          <a:lstStyle/>
          <a:p>
            <a:r>
              <a:rPr lang="zh-CN" altLang="en-US" dirty="0"/>
              <a:t>选择任意一条未访问的边出发，在每个节点处选择绕该点顺时针旋转遇到的第一条边为下一条边，直到回到初始边。这样就走完的一个域周围的边。</a:t>
            </a:r>
          </a:p>
        </p:txBody>
      </p:sp>
      <p:pic>
        <p:nvPicPr>
          <p:cNvPr id="4" name="图片 3"/>
          <p:cNvPicPr>
            <a:picLocks noChangeAspect="1"/>
          </p:cNvPicPr>
          <p:nvPr/>
        </p:nvPicPr>
        <p:blipFill>
          <a:blip r:embed="rId2"/>
          <a:stretch>
            <a:fillRect/>
          </a:stretch>
        </p:blipFill>
        <p:spPr>
          <a:xfrm>
            <a:off x="3390900" y="2971800"/>
            <a:ext cx="5410200" cy="3886200"/>
          </a:xfrm>
          <a:prstGeom prst="rect">
            <a:avLst/>
          </a:prstGeom>
        </p:spPr>
      </p:pic>
      <p:pic>
        <p:nvPicPr>
          <p:cNvPr id="5" name="图片 4"/>
          <p:cNvPicPr>
            <a:picLocks noChangeAspect="1"/>
          </p:cNvPicPr>
          <p:nvPr/>
        </p:nvPicPr>
        <p:blipFill>
          <a:blip r:embed="rId3"/>
          <a:stretch>
            <a:fillRect/>
          </a:stretch>
        </p:blipFill>
        <p:spPr>
          <a:xfrm>
            <a:off x="3390900" y="2971800"/>
            <a:ext cx="5410200" cy="3886200"/>
          </a:xfrm>
          <a:prstGeom prst="rect">
            <a:avLst/>
          </a:prstGeom>
        </p:spPr>
      </p:pic>
      <p:pic>
        <p:nvPicPr>
          <p:cNvPr id="6" name="图片 5"/>
          <p:cNvPicPr>
            <a:picLocks noChangeAspect="1"/>
          </p:cNvPicPr>
          <p:nvPr/>
        </p:nvPicPr>
        <p:blipFill>
          <a:blip r:embed="rId4"/>
          <a:stretch>
            <a:fillRect/>
          </a:stretch>
        </p:blipFill>
        <p:spPr>
          <a:xfrm>
            <a:off x="3390900" y="2971800"/>
            <a:ext cx="5410200" cy="3886200"/>
          </a:xfrm>
          <a:prstGeom prst="rect">
            <a:avLst/>
          </a:prstGeom>
        </p:spPr>
      </p:pic>
      <p:pic>
        <p:nvPicPr>
          <p:cNvPr id="7" name="图片 6"/>
          <p:cNvPicPr>
            <a:picLocks noChangeAspect="1"/>
          </p:cNvPicPr>
          <p:nvPr/>
        </p:nvPicPr>
        <p:blipFill>
          <a:blip r:embed="rId5"/>
          <a:stretch>
            <a:fillRect/>
          </a:stretch>
        </p:blipFill>
        <p:spPr>
          <a:xfrm>
            <a:off x="3390900" y="2971800"/>
            <a:ext cx="5410200" cy="3886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对偶图构造方法</a:t>
            </a:r>
          </a:p>
        </p:txBody>
      </p:sp>
      <p:sp>
        <p:nvSpPr>
          <p:cNvPr id="3" name="内容占位符 2"/>
          <p:cNvSpPr>
            <a:spLocks noGrp="1"/>
          </p:cNvSpPr>
          <p:nvPr>
            <p:ph idx="1"/>
          </p:nvPr>
        </p:nvSpPr>
        <p:spPr/>
        <p:txBody>
          <a:bodyPr/>
          <a:lstStyle/>
          <a:p>
            <a:r>
              <a:rPr lang="zh-CN" altLang="en-US" dirty="0"/>
              <a:t>不断重复，直到所有边均被走过。</a:t>
            </a:r>
            <a:endParaRPr lang="en-US" altLang="zh-CN" dirty="0"/>
          </a:p>
        </p:txBody>
      </p:sp>
      <p:pic>
        <p:nvPicPr>
          <p:cNvPr id="4" name="图片 3"/>
          <p:cNvPicPr>
            <a:picLocks noChangeAspect="1"/>
          </p:cNvPicPr>
          <p:nvPr/>
        </p:nvPicPr>
        <p:blipFill>
          <a:blip r:embed="rId2"/>
          <a:stretch>
            <a:fillRect/>
          </a:stretch>
        </p:blipFill>
        <p:spPr>
          <a:xfrm>
            <a:off x="3390900" y="2971800"/>
            <a:ext cx="5410200" cy="3886200"/>
          </a:xfrm>
          <a:prstGeom prst="rect">
            <a:avLst/>
          </a:prstGeom>
        </p:spPr>
      </p:pic>
      <p:pic>
        <p:nvPicPr>
          <p:cNvPr id="5" name="图片 4"/>
          <p:cNvPicPr>
            <a:picLocks noChangeAspect="1"/>
          </p:cNvPicPr>
          <p:nvPr/>
        </p:nvPicPr>
        <p:blipFill>
          <a:blip r:embed="rId3"/>
          <a:stretch>
            <a:fillRect/>
          </a:stretch>
        </p:blipFill>
        <p:spPr>
          <a:xfrm>
            <a:off x="3390900" y="2971800"/>
            <a:ext cx="5410200" cy="3886200"/>
          </a:xfrm>
          <a:prstGeom prst="rect">
            <a:avLst/>
          </a:prstGeom>
        </p:spPr>
      </p:pic>
      <p:pic>
        <p:nvPicPr>
          <p:cNvPr id="6" name="图片 5"/>
          <p:cNvPicPr>
            <a:picLocks noChangeAspect="1"/>
          </p:cNvPicPr>
          <p:nvPr/>
        </p:nvPicPr>
        <p:blipFill>
          <a:blip r:embed="rId4"/>
          <a:stretch>
            <a:fillRect/>
          </a:stretch>
        </p:blipFill>
        <p:spPr>
          <a:xfrm>
            <a:off x="3390900" y="2971800"/>
            <a:ext cx="5410200" cy="3886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对偶图构造方法</a:t>
            </a:r>
          </a:p>
        </p:txBody>
      </p:sp>
      <p:sp>
        <p:nvSpPr>
          <p:cNvPr id="3" name="内容占位符 2"/>
          <p:cNvSpPr>
            <a:spLocks noGrp="1"/>
          </p:cNvSpPr>
          <p:nvPr>
            <p:ph idx="1"/>
          </p:nvPr>
        </p:nvSpPr>
        <p:spPr/>
        <p:txBody>
          <a:bodyPr/>
          <a:lstStyle/>
          <a:p>
            <a:r>
              <a:rPr lang="zh-CN" altLang="en-US" dirty="0"/>
              <a:t>为每个域建立一个点。</a:t>
            </a:r>
            <a:endParaRPr lang="en-US" altLang="zh-CN" dirty="0"/>
          </a:p>
          <a:p>
            <a:r>
              <a:rPr lang="zh-CN" altLang="en-US" dirty="0"/>
              <a:t>如果一条无向边被两个域共用，那么在这两个域之间连上这条边。</a:t>
            </a:r>
          </a:p>
        </p:txBody>
      </p:sp>
      <p:pic>
        <p:nvPicPr>
          <p:cNvPr id="4" name="图片 3"/>
          <p:cNvPicPr>
            <a:picLocks noChangeAspect="1"/>
          </p:cNvPicPr>
          <p:nvPr/>
        </p:nvPicPr>
        <p:blipFill>
          <a:blip r:embed="rId2"/>
          <a:stretch>
            <a:fillRect/>
          </a:stretch>
        </p:blipFill>
        <p:spPr>
          <a:xfrm>
            <a:off x="3390900" y="2971800"/>
            <a:ext cx="5410200" cy="3886200"/>
          </a:xfrm>
          <a:prstGeom prst="rect">
            <a:avLst/>
          </a:prstGeom>
        </p:spPr>
      </p:pic>
      <p:pic>
        <p:nvPicPr>
          <p:cNvPr id="6" name="图片 5"/>
          <p:cNvPicPr>
            <a:picLocks noChangeAspect="1"/>
          </p:cNvPicPr>
          <p:nvPr/>
        </p:nvPicPr>
        <p:blipFill>
          <a:blip r:embed="rId3"/>
          <a:stretch>
            <a:fillRect/>
          </a:stretch>
        </p:blipFill>
        <p:spPr>
          <a:xfrm>
            <a:off x="3390900" y="2971800"/>
            <a:ext cx="5410200" cy="3886200"/>
          </a:xfrm>
          <a:prstGeom prst="rect">
            <a:avLst/>
          </a:prstGeom>
        </p:spPr>
      </p:pic>
      <p:pic>
        <p:nvPicPr>
          <p:cNvPr id="5" name="图片 4"/>
          <p:cNvPicPr>
            <a:picLocks noChangeAspect="1"/>
          </p:cNvPicPr>
          <p:nvPr/>
        </p:nvPicPr>
        <p:blipFill>
          <a:blip r:embed="rId4"/>
          <a:stretch>
            <a:fillRect/>
          </a:stretch>
        </p:blipFill>
        <p:spPr>
          <a:xfrm>
            <a:off x="3390900" y="2971800"/>
            <a:ext cx="5410200" cy="3886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特殊情况</a:t>
            </a:r>
          </a:p>
        </p:txBody>
      </p:sp>
      <p:sp>
        <p:nvSpPr>
          <p:cNvPr id="3" name="内容占位符 2"/>
          <p:cNvSpPr>
            <a:spLocks noGrp="1"/>
          </p:cNvSpPr>
          <p:nvPr>
            <p:ph idx="1"/>
          </p:nvPr>
        </p:nvSpPr>
        <p:spPr/>
        <p:txBody>
          <a:bodyPr/>
          <a:lstStyle/>
          <a:p>
            <a:r>
              <a:rPr lang="zh-CN" altLang="en-US" dirty="0"/>
              <a:t>如果遇到这种不连通的情况怎么处理？</a:t>
            </a:r>
            <a:endParaRPr lang="en-US" altLang="zh-CN" dirty="0"/>
          </a:p>
          <a:p>
            <a:r>
              <a:rPr lang="zh-CN" altLang="en-US" dirty="0"/>
              <a:t>添加一些边就可以了。</a:t>
            </a:r>
          </a:p>
        </p:txBody>
      </p:sp>
      <p:pic>
        <p:nvPicPr>
          <p:cNvPr id="4" name="图片 3"/>
          <p:cNvPicPr>
            <a:picLocks noChangeAspect="1"/>
          </p:cNvPicPr>
          <p:nvPr/>
        </p:nvPicPr>
        <p:blipFill>
          <a:blip r:embed="rId2"/>
          <a:stretch>
            <a:fillRect/>
          </a:stretch>
        </p:blipFill>
        <p:spPr>
          <a:xfrm>
            <a:off x="3390900" y="2971800"/>
            <a:ext cx="5410200" cy="3886200"/>
          </a:xfrm>
          <a:prstGeom prst="rect">
            <a:avLst/>
          </a:prstGeom>
        </p:spPr>
      </p:pic>
      <p:pic>
        <p:nvPicPr>
          <p:cNvPr id="5" name="图片 4"/>
          <p:cNvPicPr>
            <a:picLocks noChangeAspect="1"/>
          </p:cNvPicPr>
          <p:nvPr/>
        </p:nvPicPr>
        <p:blipFill>
          <a:blip r:embed="rId3"/>
          <a:stretch>
            <a:fillRect/>
          </a:stretch>
        </p:blipFill>
        <p:spPr>
          <a:xfrm>
            <a:off x="3390900" y="2971800"/>
            <a:ext cx="5410200" cy="3886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平面图点定位</a:t>
            </a:r>
          </a:p>
        </p:txBody>
      </p:sp>
      <p:sp>
        <p:nvSpPr>
          <p:cNvPr id="3" name="内容占位符 2"/>
          <p:cNvSpPr>
            <a:spLocks noGrp="1"/>
          </p:cNvSpPr>
          <p:nvPr>
            <p:ph idx="1"/>
          </p:nvPr>
        </p:nvSpPr>
        <p:spPr/>
        <p:txBody>
          <a:bodyPr/>
          <a:lstStyle/>
          <a:p>
            <a:r>
              <a:rPr lang="zh-CN" altLang="en-US" dirty="0"/>
              <a:t>离线算法：扫描线</a:t>
            </a:r>
            <a:r>
              <a:rPr lang="en-US" altLang="zh-CN" dirty="0"/>
              <a:t>+</a:t>
            </a:r>
            <a:r>
              <a:rPr lang="zh-CN" altLang="en-US" dirty="0"/>
              <a:t>平衡树</a:t>
            </a:r>
            <a:endParaRPr lang="en-US" altLang="zh-CN" dirty="0"/>
          </a:p>
          <a:p>
            <a:r>
              <a:rPr lang="zh-CN" altLang="en-US" dirty="0"/>
              <a:t>在线算法：暴力；扫描线</a:t>
            </a:r>
            <a:r>
              <a:rPr lang="en-US" altLang="zh-CN" dirty="0"/>
              <a:t>+</a:t>
            </a:r>
            <a:r>
              <a:rPr lang="zh-CN" altLang="en-US" dirty="0"/>
              <a:t>可持久化平衡树；梯形剖分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WC2013 </a:t>
            </a:r>
            <a:r>
              <a:rPr lang="zh-CN" altLang="en-US" dirty="0"/>
              <a:t>平面图</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给你一个</a:t>
                </a:r>
                <a14:m>
                  <m:oMath xmlns:m="http://schemas.openxmlformats.org/officeDocument/2006/math">
                    <m:r>
                      <a:rPr lang="en-US" altLang="zh-CN" i="1" dirty="0" smtClean="0">
                        <a:latin typeface="Cambria Math" panose="02040503050406030204" pitchFamily="18" charset="0"/>
                      </a:rPr>
                      <m:t>𝑛</m:t>
                    </m:r>
                  </m:oMath>
                </a14:m>
                <a:r>
                  <a:rPr lang="zh-CN" altLang="en-US" dirty="0"/>
                  <a:t>个点</a:t>
                </a:r>
                <a14:m>
                  <m:oMath xmlns:m="http://schemas.openxmlformats.org/officeDocument/2006/math">
                    <m:r>
                      <a:rPr lang="en-US" altLang="zh-CN" i="1" dirty="0" smtClean="0">
                        <a:latin typeface="Cambria Math" panose="02040503050406030204" pitchFamily="18" charset="0"/>
                      </a:rPr>
                      <m:t>𝑚</m:t>
                    </m:r>
                  </m:oMath>
                </a14:m>
                <a:r>
                  <a:rPr lang="zh-CN" altLang="en-US" dirty="0"/>
                  <a:t>条线段且线段有权值的平面图。每次给你两个既不是顶点也不在边上的点，请画一条连接这两点的曲线，要求曲线不经过无穷域且不经过顶点，使得曲线穿过的线段中的权值最大值最小。（不强制在线）</a:t>
                </a:r>
                <a:endParaRPr lang="en-US" altLang="zh-CN" dirty="0"/>
              </a:p>
              <a:p>
                <a:endParaRPr lang="en-US" altLang="zh-CN" dirty="0"/>
              </a:p>
              <a:p>
                <a:r>
                  <a:rPr lang="zh-CN" altLang="en-US" dirty="0"/>
                  <a:t>现将平面图的对偶图求出来，然后用离线点定位求出每个询问点所在的域。这样，问题就转化为了在一张图上，使得两点路径最大值最小。直接</a:t>
                </a:r>
                <a:r>
                  <a:rPr lang="en-US" altLang="zh-CN" dirty="0"/>
                  <a:t>MST+</a:t>
                </a:r>
                <a:r>
                  <a:rPr lang="zh-CN" altLang="en-US" dirty="0"/>
                  <a:t>倍增解决。</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66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Hard Problems</a:t>
            </a:r>
            <a:endParaRPr lang="zh-CN" altLang="en-US" dirty="0"/>
          </a:p>
        </p:txBody>
      </p:sp>
      <p:sp>
        <p:nvSpPr>
          <p:cNvPr id="3" name="内容占位符 2"/>
          <p:cNvSpPr>
            <a:spLocks noGrp="1"/>
          </p:cNvSpPr>
          <p:nvPr>
            <p:ph idx="1"/>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Picks cyclotron</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给你</a:t>
                </a:r>
                <a:r>
                  <a:rPr lang="en-US" altLang="zh-CN" dirty="0"/>
                  <a:t>N</a:t>
                </a:r>
                <a:r>
                  <a:rPr lang="zh-CN" altLang="en-US" dirty="0"/>
                  <a:t>个不经过原点的圆。让你求一个过原点的圆，使得与它有交点的圆尽量多。（所求的圆可以退化为直线）</a:t>
                </a:r>
                <a:endParaRPr lang="en-US" altLang="zh-CN" dirty="0"/>
              </a:p>
              <a:p>
                <a14:m>
                  <m:oMath xmlns:m="http://schemas.openxmlformats.org/officeDocument/2006/math">
                    <m:r>
                      <m:rPr>
                        <m:sty m:val="p"/>
                      </m:rPr>
                      <a:rPr lang="en-US" altLang="zh-CN" dirty="0">
                        <a:latin typeface="Cambria Math" panose="02040503050406030204" pitchFamily="18" charset="0"/>
                      </a:rPr>
                      <m:t>N</m:t>
                    </m:r>
                    <m:r>
                      <a:rPr lang="en-US" altLang="zh-CN"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1000</m:t>
                    </m:r>
                  </m:oMath>
                </a14:m>
                <a:r>
                  <a:rPr lang="zh-CN" altLang="en-US" dirty="0"/>
                  <a:t>。</a:t>
                </a: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94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Codechef</a:t>
            </a:r>
            <a:r>
              <a:rPr lang="en-US" altLang="zh-CN" dirty="0"/>
              <a:t> QPOINT</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在二维平面内，给定</a:t>
                </a:r>
                <a14:m>
                  <m:oMath xmlns:m="http://schemas.openxmlformats.org/officeDocument/2006/math">
                    <m:r>
                      <a:rPr lang="en-US" altLang="zh-CN" i="1" dirty="0" smtClean="0">
                        <a:latin typeface="Cambria Math" panose="02040503050406030204" pitchFamily="18" charset="0"/>
                      </a:rPr>
                      <m:t>𝑁</m:t>
                    </m:r>
                  </m:oMath>
                </a14:m>
                <a:r>
                  <a:rPr lang="zh-CN" altLang="en-US" dirty="0"/>
                  <a:t>个没有公共点的简单多边形。每次询问一个点，回答这个点属于哪个简单多边形。</a:t>
                </a:r>
                <a:endParaRPr lang="en-US" altLang="zh-CN" dirty="0"/>
              </a:p>
              <a:p>
                <a14:m>
                  <m:oMath xmlns:m="http://schemas.openxmlformats.org/officeDocument/2006/math">
                    <m:r>
                      <a:rPr lang="en-US" altLang="zh-CN" b="0" i="1" smtClean="0">
                        <a:latin typeface="Cambria Math" panose="02040503050406030204" pitchFamily="18" charset="0"/>
                      </a:rPr>
                      <m:t>𝑁</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5</m:t>
                        </m:r>
                      </m:sup>
                    </m:sSup>
                  </m:oMath>
                </a14:m>
                <a:r>
                  <a:rPr lang="zh-CN" altLang="en-US" dirty="0"/>
                  <a:t>，简单多边形的顶点数之和</a:t>
                </a:r>
                <a14:m>
                  <m:oMath xmlns:m="http://schemas.openxmlformats.org/officeDocument/2006/math">
                    <m:r>
                      <a:rPr lang="en-US" altLang="zh-CN" b="0" i="1" smtClean="0">
                        <a:latin typeface="Cambria Math" panose="02040503050406030204" pitchFamily="18" charset="0"/>
                      </a:rPr>
                      <m:t>≤3∗</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5</m:t>
                        </m:r>
                      </m:sup>
                    </m:sSup>
                  </m:oMath>
                </a14:m>
                <a:r>
                  <a:rPr lang="zh-CN" altLang="en-US" dirty="0"/>
                  <a:t>，询问个数</a:t>
                </a:r>
                <a14:m>
                  <m:oMath xmlns:m="http://schemas.openxmlformats.org/officeDocument/2006/math">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5</m:t>
                        </m:r>
                      </m:sup>
                    </m:sSup>
                  </m:oMath>
                </a14:m>
                <a:r>
                  <a:rPr lang="zh-CN" altLang="en-US" dirty="0"/>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661" r="-580"/>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Codechef</a:t>
            </a:r>
            <a:r>
              <a:rPr lang="en-US" altLang="zh-CN" dirty="0"/>
              <a:t> ANNOOR</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有一个全黑的二维平面。先将四个点</a:t>
                </a:r>
                <a14:m>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0,0</m:t>
                        </m:r>
                      </m:e>
                    </m:d>
                    <m:r>
                      <a:rPr lang="zh-CN" altLang="en-US"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𝑊</m:t>
                        </m:r>
                        <m:r>
                          <a:rPr lang="en-US" altLang="zh-CN" b="0" i="1" smtClean="0">
                            <a:latin typeface="Cambria Math" panose="02040503050406030204" pitchFamily="18" charset="0"/>
                          </a:rPr>
                          <m:t>,0</m:t>
                        </m:r>
                      </m:e>
                    </m:d>
                    <m:r>
                      <a:rPr lang="zh-CN" altLang="en-US"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m:t>
                        </m:r>
                        <m:r>
                          <a:rPr lang="en-US" altLang="zh-CN" b="0" i="1" smtClean="0">
                            <a:latin typeface="Cambria Math" panose="02040503050406030204" pitchFamily="18" charset="0"/>
                          </a:rPr>
                          <m:t>𝐻</m:t>
                        </m:r>
                      </m:e>
                    </m:d>
                    <m:r>
                      <a:rPr lang="zh-CN" altLang="en-US" b="0" i="1" smtClean="0">
                        <a:latin typeface="Cambria Math" panose="02040503050406030204" pitchFamily="18" charset="0"/>
                      </a:rPr>
                      <m:t>，</m:t>
                    </m:r>
                    <m:r>
                      <a:rPr lang="en-US" altLang="zh-CN" b="0" i="1" smtClean="0">
                        <a:latin typeface="Cambria Math" panose="02040503050406030204" pitchFamily="18" charset="0"/>
                      </a:rPr>
                      <m:t>(</m:t>
                    </m:r>
                    <m:r>
                      <a:rPr lang="en-US" altLang="zh-CN" b="0" i="1" smtClean="0">
                        <a:latin typeface="Cambria Math" panose="02040503050406030204" pitchFamily="18" charset="0"/>
                      </a:rPr>
                      <m:t>𝑊</m:t>
                    </m:r>
                    <m:r>
                      <a:rPr lang="en-US" altLang="zh-CN" b="0" i="1" smtClean="0">
                        <a:latin typeface="Cambria Math" panose="02040503050406030204" pitchFamily="18" charset="0"/>
                      </a:rPr>
                      <m:t>,</m:t>
                    </m:r>
                    <m:r>
                      <a:rPr lang="en-US" altLang="zh-CN" b="0" i="1" smtClean="0">
                        <a:latin typeface="Cambria Math" panose="02040503050406030204" pitchFamily="18" charset="0"/>
                      </a:rPr>
                      <m:t>𝐻</m:t>
                    </m:r>
                    <m:r>
                      <a:rPr lang="en-US" altLang="zh-CN" b="0" i="1" smtClean="0">
                        <a:latin typeface="Cambria Math" panose="02040503050406030204" pitchFamily="18" charset="0"/>
                      </a:rPr>
                      <m:t>)</m:t>
                    </m:r>
                  </m:oMath>
                </a14:m>
                <a:r>
                  <a:rPr lang="zh-CN" altLang="en-US" dirty="0"/>
                  <a:t>确定的矩形内部涂成白色，在给定</a:t>
                </a:r>
                <a14:m>
                  <m:oMath xmlns:m="http://schemas.openxmlformats.org/officeDocument/2006/math">
                    <m:r>
                      <m:rPr>
                        <m:sty m:val="p"/>
                      </m:rPr>
                      <a:rPr lang="en-US" altLang="zh-CN" dirty="0">
                        <a:latin typeface="Cambria Math" panose="02040503050406030204" pitchFamily="18" charset="0"/>
                      </a:rPr>
                      <m:t>N</m:t>
                    </m:r>
                  </m:oMath>
                </a14:m>
                <a:r>
                  <a:rPr lang="zh-CN" altLang="en-US" dirty="0"/>
                  <a:t>个圆，把每个圆内部涂成黑色。求出白色区域的周长，但只有严格在矩形内部的轮廓才被计算在内。</a:t>
                </a:r>
                <a:endParaRPr lang="en-US" altLang="zh-CN" dirty="0"/>
              </a:p>
              <a:p>
                <a:r>
                  <a:rPr lang="zh-CN" altLang="en-US" dirty="0"/>
                  <a:t>数据组数</a:t>
                </a:r>
                <a14:m>
                  <m:oMath xmlns:m="http://schemas.openxmlformats.org/officeDocument/2006/math">
                    <m:r>
                      <a:rPr lang="en-US" altLang="zh-CN" b="0" i="1" smtClean="0">
                        <a:latin typeface="Cambria Math" panose="02040503050406030204" pitchFamily="18" charset="0"/>
                      </a:rPr>
                      <m:t>≤1000</m:t>
                    </m:r>
                  </m:oMath>
                </a14:m>
                <a:r>
                  <a:rPr lang="zh-CN" altLang="en-US" dirty="0"/>
                  <a:t>，</a:t>
                </a:r>
                <a14:m>
                  <m:oMath xmlns:m="http://schemas.openxmlformats.org/officeDocument/2006/math">
                    <m:r>
                      <a:rPr lang="en-US" altLang="zh-CN" b="0" i="1" dirty="0" smtClean="0">
                        <a:latin typeface="Cambria Math" panose="02040503050406030204" pitchFamily="18" charset="0"/>
                      </a:rPr>
                      <m:t>𝑊</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𝐻</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𝑁</m:t>
                    </m:r>
                    <m:r>
                      <a:rPr lang="en-US" altLang="zh-CN" b="0" i="1" dirty="0" smtClean="0">
                        <a:latin typeface="Cambria Math" panose="02040503050406030204" pitchFamily="18" charset="0"/>
                      </a:rPr>
                      <m:t>≤1000</m:t>
                    </m:r>
                  </m:oMath>
                </a14:m>
                <a:r>
                  <a:rPr lang="zh-CN" altLang="en-US" dirty="0"/>
                  <a:t>。</a:t>
                </a: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66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445</TotalTime>
  <Words>4735</Words>
  <Application>Microsoft Office PowerPoint</Application>
  <PresentationFormat>宽屏</PresentationFormat>
  <Paragraphs>473</Paragraphs>
  <Slides>97</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97</vt:i4>
      </vt:variant>
    </vt:vector>
  </HeadingPairs>
  <TitlesOfParts>
    <vt:vector size="104" baseType="lpstr">
      <vt:lpstr>Microsoft YaHei UI</vt:lpstr>
      <vt:lpstr>宋体</vt:lpstr>
      <vt:lpstr>Arial</vt:lpstr>
      <vt:lpstr>Calibri</vt:lpstr>
      <vt:lpstr>Calibri Light</vt:lpstr>
      <vt:lpstr>Cambria Math</vt:lpstr>
      <vt:lpstr>Office 主题</vt:lpstr>
      <vt:lpstr>PowerPoint 演示文稿</vt:lpstr>
      <vt:lpstr>内容</vt:lpstr>
      <vt:lpstr>向量</vt:lpstr>
      <vt:lpstr>向量</vt:lpstr>
      <vt:lpstr>向量</vt:lpstr>
      <vt:lpstr>向量点积</vt:lpstr>
      <vt:lpstr>向量点积</vt:lpstr>
      <vt:lpstr>向量叉积</vt:lpstr>
      <vt:lpstr>向量叉积</vt:lpstr>
      <vt:lpstr>点积与叉积的应用</vt:lpstr>
      <vt:lpstr>基本操作</vt:lpstr>
      <vt:lpstr>基本操作</vt:lpstr>
      <vt:lpstr>基本操作</vt:lpstr>
      <vt:lpstr>基本操作</vt:lpstr>
      <vt:lpstr>基本操作</vt:lpstr>
      <vt:lpstr>基本操作</vt:lpstr>
      <vt:lpstr>基本操作</vt:lpstr>
      <vt:lpstr>基本操作</vt:lpstr>
      <vt:lpstr>HDU 1115 Lifting the Stone</vt:lpstr>
      <vt:lpstr>HDU 1115 Lifting the Stone</vt:lpstr>
      <vt:lpstr>基本操作</vt:lpstr>
      <vt:lpstr>基本操作</vt:lpstr>
      <vt:lpstr>基本操作</vt:lpstr>
      <vt:lpstr>POJ 2824 Bohemian Rhapsody</vt:lpstr>
      <vt:lpstr>POJ 2824 Bohemian Rhapsody</vt:lpstr>
      <vt:lpstr>凸包</vt:lpstr>
      <vt:lpstr>凸包</vt:lpstr>
      <vt:lpstr>凸包</vt:lpstr>
      <vt:lpstr>凸包</vt:lpstr>
      <vt:lpstr>凸包</vt:lpstr>
      <vt:lpstr>凸包</vt:lpstr>
      <vt:lpstr>凸包</vt:lpstr>
      <vt:lpstr>凸包</vt:lpstr>
      <vt:lpstr>凸包</vt:lpstr>
      <vt:lpstr>CodeForces 536C</vt:lpstr>
      <vt:lpstr>CodeForces 536C</vt:lpstr>
      <vt:lpstr>凸包</vt:lpstr>
      <vt:lpstr>凸包</vt:lpstr>
      <vt:lpstr>凸包</vt:lpstr>
      <vt:lpstr>凸包</vt:lpstr>
      <vt:lpstr>凸包</vt:lpstr>
      <vt:lpstr>凸包</vt:lpstr>
      <vt:lpstr>凸包</vt:lpstr>
      <vt:lpstr>凸包</vt:lpstr>
      <vt:lpstr>凸包</vt:lpstr>
      <vt:lpstr>POJ 2079 Triangle</vt:lpstr>
      <vt:lpstr>半平面交</vt:lpstr>
      <vt:lpstr>半平面交</vt:lpstr>
      <vt:lpstr>半平面交</vt:lpstr>
      <vt:lpstr>半平面交</vt:lpstr>
      <vt:lpstr>半平面交</vt:lpstr>
      <vt:lpstr>半平面交</vt:lpstr>
      <vt:lpstr>半平面交</vt:lpstr>
      <vt:lpstr>POJ 3384 Feng Shui</vt:lpstr>
      <vt:lpstr>BZOJ 2732 射箭</vt:lpstr>
      <vt:lpstr>BZOJ 2732 射箭</vt:lpstr>
      <vt:lpstr>反演</vt:lpstr>
      <vt:lpstr>HDU4773 Problem of Apollonius</vt:lpstr>
      <vt:lpstr>HDU4773 Problem of Apollonius</vt:lpstr>
      <vt:lpstr>三维计算几何</vt:lpstr>
      <vt:lpstr>三维叉积</vt:lpstr>
      <vt:lpstr>左手系与右手系</vt:lpstr>
      <vt:lpstr>混合积</vt:lpstr>
      <vt:lpstr>三维直线</vt:lpstr>
      <vt:lpstr>空间直线的距离</vt:lpstr>
      <vt:lpstr>三维平面</vt:lpstr>
      <vt:lpstr>基础计算</vt:lpstr>
      <vt:lpstr>三维凸包</vt:lpstr>
      <vt:lpstr>增量法</vt:lpstr>
      <vt:lpstr>Voronoi图</vt:lpstr>
      <vt:lpstr>Voronoi图的定义</vt:lpstr>
      <vt:lpstr>Voronoi图的构造</vt:lpstr>
      <vt:lpstr>三角剖分</vt:lpstr>
      <vt:lpstr>Delaunay三角剖分</vt:lpstr>
      <vt:lpstr>分治法构建Delaunay三角剖分</vt:lpstr>
      <vt:lpstr>分治法构建Delaunay三角剖分</vt:lpstr>
      <vt:lpstr>分治法构建Delaunay三角剖分</vt:lpstr>
      <vt:lpstr>分治法构建Delaunay三角剖分</vt:lpstr>
      <vt:lpstr>分治法构建Delaunay三角剖分</vt:lpstr>
      <vt:lpstr>分治法构建Delaunay三角剖分</vt:lpstr>
      <vt:lpstr>分治法构建Delaunay三角剖分</vt:lpstr>
      <vt:lpstr>Delaunay三角剖分对偶得Voronoi图</vt:lpstr>
      <vt:lpstr>Delaunay三角剖分对偶得Voronoi图</vt:lpstr>
      <vt:lpstr>平面图</vt:lpstr>
      <vt:lpstr>平面图的基础操作</vt:lpstr>
      <vt:lpstr>对偶图构造方法</vt:lpstr>
      <vt:lpstr>对偶图构造方法</vt:lpstr>
      <vt:lpstr>对偶图构造方法</vt:lpstr>
      <vt:lpstr>对偶图构造方法</vt:lpstr>
      <vt:lpstr>对偶图构造方法</vt:lpstr>
      <vt:lpstr>特殊情况</vt:lpstr>
      <vt:lpstr>平面图点定位</vt:lpstr>
      <vt:lpstr>WC2013 平面图</vt:lpstr>
      <vt:lpstr>Hard Problems</vt:lpstr>
      <vt:lpstr>Picks cyclotron</vt:lpstr>
      <vt:lpstr>Codechef QPOINT</vt:lpstr>
      <vt:lpstr>Codechef ANNOOR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cjoier</dc:creator>
  <cp:lastModifiedBy>老夫</cp:lastModifiedBy>
  <cp:revision>83</cp:revision>
  <dcterms:created xsi:type="dcterms:W3CDTF">2016-08-03T02:21:11Z</dcterms:created>
  <dcterms:modified xsi:type="dcterms:W3CDTF">2017-08-20T07:35:15Z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2052-10.1.0.5639</vt:lpwstr>
  </property>
</Properties>
</file>