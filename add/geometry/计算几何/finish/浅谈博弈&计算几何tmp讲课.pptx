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s/slide76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s/slide83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slides/slide7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slides/slide70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9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68.xml" ContentType="application/vnd.openxmlformats-officedocument.presentationml.slide+xml"/>
  <Override PartName="/ppt/slides/slide7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s/slide66.xml" ContentType="application/vnd.openxmlformats-officedocument.presentationml.slide+xml"/>
  <Override PartName="/ppt/slides/slide75.xml" ContentType="application/vnd.openxmlformats-officedocument.presentationml.slide+xml"/>
  <Override PartName="/ppt/slides/slide86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slides/slide73.xml" ContentType="application/vnd.openxmlformats-officedocument.presentationml.slide+xml"/>
  <Override PartName="/ppt/slides/slide84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s/slide71.xml" ContentType="application/vnd.openxmlformats-officedocument.presentationml.slide+xml"/>
  <Override PartName="/ppt/slides/slide80.xml" ContentType="application/vnd.openxmlformats-officedocument.presentationml.slide+xml"/>
  <Override PartName="/ppt/slides/slide82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slides/slide69.xml" ContentType="application/vnd.openxmlformats-officedocument.presentationml.slide+xml"/>
  <Override PartName="/ppt/slides/slide78.xml" ContentType="application/vnd.openxmlformats-officedocument.presentationml.slide+xml"/>
  <Override PartName="/ppt/slides/slide87.xml" ContentType="application/vnd.openxmlformats-officedocument.presentationml.slide+xml"/>
  <Override PartName="/ppt/handoutMasters/handoutMaster1.xml" ContentType="application/vnd.openxmlformats-officedocument.presentationml.handoutMaster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s/slide85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s/slide74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81.xml" ContentType="application/vnd.openxmlformats-officedocument.presentationml.slide+xml"/>
  <Default Extension="rels" ContentType="application/vnd.openxmlformats-package.relationship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handoutMasterIdLst>
    <p:handoutMasterId r:id="rId89"/>
  </p:handoutMasterIdLst>
  <p:sldIdLst>
    <p:sldId id="256" r:id="rId2"/>
    <p:sldId id="326" r:id="rId3"/>
    <p:sldId id="257" r:id="rId4"/>
    <p:sldId id="260" r:id="rId5"/>
    <p:sldId id="316" r:id="rId6"/>
    <p:sldId id="317" r:id="rId7"/>
    <p:sldId id="318" r:id="rId8"/>
    <p:sldId id="263" r:id="rId9"/>
    <p:sldId id="319" r:id="rId10"/>
    <p:sldId id="320" r:id="rId11"/>
    <p:sldId id="321" r:id="rId12"/>
    <p:sldId id="322" r:id="rId13"/>
    <p:sldId id="323" r:id="rId14"/>
    <p:sldId id="259" r:id="rId15"/>
    <p:sldId id="303" r:id="rId16"/>
    <p:sldId id="304" r:id="rId17"/>
    <p:sldId id="261" r:id="rId18"/>
    <p:sldId id="305" r:id="rId19"/>
    <p:sldId id="306" r:id="rId20"/>
    <p:sldId id="307" r:id="rId21"/>
    <p:sldId id="308" r:id="rId22"/>
    <p:sldId id="309" r:id="rId23"/>
    <p:sldId id="310" r:id="rId24"/>
    <p:sldId id="311" r:id="rId25"/>
    <p:sldId id="312" r:id="rId26"/>
    <p:sldId id="314" r:id="rId27"/>
    <p:sldId id="315" r:id="rId28"/>
    <p:sldId id="313" r:id="rId29"/>
    <p:sldId id="346" r:id="rId30"/>
    <p:sldId id="324" r:id="rId31"/>
    <p:sldId id="264" r:id="rId32"/>
    <p:sldId id="325" r:id="rId33"/>
    <p:sldId id="265" r:id="rId34"/>
    <p:sldId id="266" r:id="rId35"/>
    <p:sldId id="268" r:id="rId36"/>
    <p:sldId id="269" r:id="rId37"/>
    <p:sldId id="270" r:id="rId38"/>
    <p:sldId id="271" r:id="rId39"/>
    <p:sldId id="272" r:id="rId40"/>
    <p:sldId id="267" r:id="rId41"/>
    <p:sldId id="273" r:id="rId42"/>
    <p:sldId id="347" r:id="rId43"/>
    <p:sldId id="276" r:id="rId44"/>
    <p:sldId id="277" r:id="rId45"/>
    <p:sldId id="348" r:id="rId46"/>
    <p:sldId id="278" r:id="rId47"/>
    <p:sldId id="349" r:id="rId48"/>
    <p:sldId id="345" r:id="rId49"/>
    <p:sldId id="327" r:id="rId50"/>
    <p:sldId id="282" r:id="rId51"/>
    <p:sldId id="275" r:id="rId52"/>
    <p:sldId id="279" r:id="rId53"/>
    <p:sldId id="280" r:id="rId54"/>
    <p:sldId id="283" r:id="rId55"/>
    <p:sldId id="292" r:id="rId56"/>
    <p:sldId id="290" r:id="rId57"/>
    <p:sldId id="291" r:id="rId58"/>
    <p:sldId id="284" r:id="rId59"/>
    <p:sldId id="351" r:id="rId60"/>
    <p:sldId id="286" r:id="rId61"/>
    <p:sldId id="287" r:id="rId62"/>
    <p:sldId id="294" r:id="rId63"/>
    <p:sldId id="288" r:id="rId64"/>
    <p:sldId id="296" r:id="rId65"/>
    <p:sldId id="295" r:id="rId66"/>
    <p:sldId id="289" r:id="rId67"/>
    <p:sldId id="297" r:id="rId68"/>
    <p:sldId id="293" r:id="rId69"/>
    <p:sldId id="298" r:id="rId70"/>
    <p:sldId id="299" r:id="rId71"/>
    <p:sldId id="300" r:id="rId72"/>
    <p:sldId id="301" r:id="rId73"/>
    <p:sldId id="330" r:id="rId74"/>
    <p:sldId id="331" r:id="rId75"/>
    <p:sldId id="332" r:id="rId76"/>
    <p:sldId id="333" r:id="rId77"/>
    <p:sldId id="334" r:id="rId78"/>
    <p:sldId id="335" r:id="rId79"/>
    <p:sldId id="336" r:id="rId80"/>
    <p:sldId id="337" r:id="rId81"/>
    <p:sldId id="338" r:id="rId82"/>
    <p:sldId id="339" r:id="rId83"/>
    <p:sldId id="341" r:id="rId84"/>
    <p:sldId id="342" r:id="rId85"/>
    <p:sldId id="343" r:id="rId86"/>
    <p:sldId id="344" r:id="rId87"/>
    <p:sldId id="340" r:id="rId88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84" d="100"/>
          <a:sy n="84" d="100"/>
        </p:scale>
        <p:origin x="-1554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41" d="100"/>
          <a:sy n="41" d="100"/>
        </p:scale>
        <p:origin x="-2676" y="-120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05BBF1-793E-4EBE-B97A-058747301026}" type="datetimeFigureOut">
              <a:rPr lang="zh-CN" altLang="en-US" smtClean="0"/>
              <a:pPr/>
              <a:t>2017/6/17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E7B63F-2EF7-4D16-A9A8-73C6D661494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EB6F2-E1CF-4993-9C88-2F0C81ABBF69}" type="datetimeFigureOut">
              <a:rPr lang="zh-CN" altLang="en-US" smtClean="0"/>
              <a:pPr/>
              <a:t>2017/6/17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DD5EF-C9CB-4D5D-9D7C-9883B739820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EB6F2-E1CF-4993-9C88-2F0C81ABBF69}" type="datetimeFigureOut">
              <a:rPr lang="zh-CN" altLang="en-US" smtClean="0"/>
              <a:pPr/>
              <a:t>2017/6/17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DD5EF-C9CB-4D5D-9D7C-9883B739820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EB6F2-E1CF-4993-9C88-2F0C81ABBF69}" type="datetimeFigureOut">
              <a:rPr lang="zh-CN" altLang="en-US" smtClean="0"/>
              <a:pPr/>
              <a:t>2017/6/17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DD5EF-C9CB-4D5D-9D7C-9883B739820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EB6F2-E1CF-4993-9C88-2F0C81ABBF69}" type="datetimeFigureOut">
              <a:rPr lang="zh-CN" altLang="en-US" smtClean="0"/>
              <a:pPr/>
              <a:t>2017/6/17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DD5EF-C9CB-4D5D-9D7C-9883B739820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EB6F2-E1CF-4993-9C88-2F0C81ABBF69}" type="datetimeFigureOut">
              <a:rPr lang="zh-CN" altLang="en-US" smtClean="0"/>
              <a:pPr/>
              <a:t>2017/6/17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DD5EF-C9CB-4D5D-9D7C-9883B739820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EB6F2-E1CF-4993-9C88-2F0C81ABBF69}" type="datetimeFigureOut">
              <a:rPr lang="zh-CN" altLang="en-US" smtClean="0"/>
              <a:pPr/>
              <a:t>2017/6/17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DD5EF-C9CB-4D5D-9D7C-9883B739820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EB6F2-E1CF-4993-9C88-2F0C81ABBF69}" type="datetimeFigureOut">
              <a:rPr lang="zh-CN" altLang="en-US" smtClean="0"/>
              <a:pPr/>
              <a:t>2017/6/17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DD5EF-C9CB-4D5D-9D7C-9883B739820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EB6F2-E1CF-4993-9C88-2F0C81ABBF69}" type="datetimeFigureOut">
              <a:rPr lang="zh-CN" altLang="en-US" smtClean="0"/>
              <a:pPr/>
              <a:t>2017/6/17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DD5EF-C9CB-4D5D-9D7C-9883B739820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EB6F2-E1CF-4993-9C88-2F0C81ABBF69}" type="datetimeFigureOut">
              <a:rPr lang="zh-CN" altLang="en-US" smtClean="0"/>
              <a:pPr/>
              <a:t>2017/6/17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DD5EF-C9CB-4D5D-9D7C-9883B739820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EB6F2-E1CF-4993-9C88-2F0C81ABBF69}" type="datetimeFigureOut">
              <a:rPr lang="zh-CN" altLang="en-US" smtClean="0"/>
              <a:pPr/>
              <a:t>2017/6/17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DD5EF-C9CB-4D5D-9D7C-9883B739820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EB6F2-E1CF-4993-9C88-2F0C81ABBF69}" type="datetimeFigureOut">
              <a:rPr lang="zh-CN" altLang="en-US" smtClean="0"/>
              <a:pPr/>
              <a:t>2017/6/17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DD5EF-C9CB-4D5D-9D7C-9883B739820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AEB6F2-E1CF-4993-9C88-2F0C81ABBF69}" type="datetimeFigureOut">
              <a:rPr lang="zh-CN" altLang="en-US" smtClean="0"/>
              <a:pPr/>
              <a:t>2017/6/17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FDD5EF-C9CB-4D5D-9D7C-9883B739820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hyperlink" Target="&#12304;&#38598;&#35757;&#38431;&#20114;&#27979;2015&#12305;&#26368;&#20248;&#20915;&#31574;%20-%20&#39064;&#30446;%20-%20Universal%20Online%20Judge.html" TargetMode="Externa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hyperlink" Target="&#12304;&#38598;&#35757;&#38431;&#20114;&#27979;2015&#12305;&#26368;&#20248;&#20915;&#31574;%20-%20&#39064;&#30446;%20-%20Universal%20Online%20Judge.html" TargetMode="Externa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hyperlink" Target="&#12304;&#38598;&#35757;&#38431;&#20114;&#27979;2015&#12305;&#26368;&#20248;&#20915;&#31574;%20-%20&#39064;&#30446;%20-%20Universal%20Online%20Judge.html" TargetMode="Externa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hyperlink" Target="&#12304;&#38598;&#35757;&#38431;&#20114;&#27979;2015&#12305;&#26368;&#20248;&#20915;&#31574;%20-%20&#39064;&#30446;%20-%20Universal%20Online%20Judge.html" TargetMode="Externa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hyperlink" Target="&#12304;&#38598;&#35757;&#38431;&#20114;&#27979;2015&#12305;&#26368;&#20248;&#20915;&#31574;%20-%20&#39064;&#30446;%20-%20Universal%20Online%20Judge.html" TargetMode="Externa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hyperlink" Target="&#12304;&#38598;&#35757;&#38431;&#20114;&#27979;2015&#12305;&#26368;&#20248;&#20915;&#31574;%20-%20&#39064;&#30446;%20-%20Universal%20Online%20Judge.html" TargetMode="Externa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hyperlink" Target="&#12304;&#38598;&#35757;&#38431;&#20114;&#27979;2015&#12305;&#26368;&#20248;&#20915;&#31574;%20-%20&#39064;&#30446;%20-%20Universal%20Online%20Judge.html" TargetMode="Externa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hyperlink" Target="&#12304;&#38598;&#35757;&#38431;&#20114;&#27979;2015&#12305;&#26368;&#20248;&#20915;&#31574;%20-%20&#39064;&#30446;%20-%20Universal%20Online%20Judge.html" TargetMode="Externa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hyperlink" Target="http://uoj.ac/problem/44" TargetMode="External"/><Relationship Id="rId2" Type="http://schemas.openxmlformats.org/officeDocument/2006/relationships/hyperlink" Target="&#12304;&#28165;&#21326;&#38598;&#35757;2014&#12305;Breaking%20Bomber%20-%20&#39064;&#30446;%20-%20Universal%20Online%20Judge.html" TargetMode="Externa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hyperlink" Target="&#12298;robot&#12299;&#35299;&#39064;&#25253;&#21578;.doc" TargetMode="Externa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smtClean="0"/>
              <a:t>浅谈博弈</a:t>
            </a:r>
            <a:r>
              <a:rPr lang="en-US" altLang="zh-CN" dirty="0" smtClean="0"/>
              <a:t>&amp;</a:t>
            </a:r>
            <a:r>
              <a:rPr lang="zh-CN" altLang="en-US" dirty="0" smtClean="0"/>
              <a:t>计算几何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 err="1" smtClean="0"/>
              <a:t>tmp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博弈</a:t>
            </a:r>
            <a:endParaRPr lang="zh-CN" altLang="en-US" dirty="0"/>
          </a:p>
        </p:txBody>
      </p:sp>
      <p:sp>
        <p:nvSpPr>
          <p:cNvPr id="7" name="副标题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博弈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巴什博弈</a:t>
            </a:r>
            <a:r>
              <a:rPr lang="en-US" altLang="zh-CN" dirty="0" smtClean="0"/>
              <a:t>(</a:t>
            </a:r>
            <a:r>
              <a:rPr lang="zh-CN" altLang="en-US" dirty="0" smtClean="0"/>
              <a:t>略</a:t>
            </a:r>
            <a:r>
              <a:rPr lang="en-US" altLang="zh-CN" dirty="0" smtClean="0"/>
              <a:t>)</a:t>
            </a:r>
          </a:p>
          <a:p>
            <a:r>
              <a:rPr lang="zh-CN" altLang="en-US" dirty="0"/>
              <a:t>威佐夫</a:t>
            </a:r>
            <a:r>
              <a:rPr lang="zh-CN" altLang="en-US" dirty="0" smtClean="0"/>
              <a:t>博弈</a:t>
            </a:r>
            <a:r>
              <a:rPr lang="en-US" altLang="zh-CN" dirty="0" smtClean="0"/>
              <a:t>(</a:t>
            </a:r>
            <a:r>
              <a:rPr lang="zh-CN" altLang="en-US" dirty="0" smtClean="0"/>
              <a:t>略</a:t>
            </a:r>
            <a:r>
              <a:rPr lang="en-US" altLang="zh-CN" dirty="0" smtClean="0"/>
              <a:t>)</a:t>
            </a:r>
          </a:p>
          <a:p>
            <a:r>
              <a:rPr lang="zh-CN" altLang="en-US" dirty="0"/>
              <a:t>尼姆</a:t>
            </a:r>
            <a:r>
              <a:rPr lang="zh-CN" altLang="en-US" dirty="0" smtClean="0"/>
              <a:t>博弈</a:t>
            </a:r>
            <a:r>
              <a:rPr lang="en-US" altLang="zh-CN" dirty="0" smtClean="0"/>
              <a:t>(</a:t>
            </a:r>
            <a:r>
              <a:rPr lang="zh-CN" altLang="en-US" dirty="0" smtClean="0"/>
              <a:t>略</a:t>
            </a:r>
            <a:r>
              <a:rPr lang="en-US" altLang="zh-CN" dirty="0" smtClean="0"/>
              <a:t>)</a:t>
            </a:r>
          </a:p>
          <a:p>
            <a:r>
              <a:rPr lang="en-US" altLang="zh-CN" dirty="0" smtClean="0"/>
              <a:t>K</a:t>
            </a:r>
            <a:r>
              <a:rPr lang="zh-CN" altLang="en-US" dirty="0" smtClean="0"/>
              <a:t>倍动态减法游戏</a:t>
            </a:r>
            <a:r>
              <a:rPr lang="en-US" altLang="zh-CN" dirty="0" smtClean="0"/>
              <a:t>(k</a:t>
            </a:r>
            <a:r>
              <a:rPr lang="zh-CN" altLang="en-US" dirty="0" smtClean="0"/>
              <a:t>倍取石子游戏</a:t>
            </a:r>
            <a:r>
              <a:rPr lang="en-US" altLang="zh-CN" dirty="0" smtClean="0"/>
              <a:t>)</a:t>
            </a:r>
          </a:p>
          <a:p>
            <a:r>
              <a:rPr lang="zh-CN" altLang="en-US" dirty="0"/>
              <a:t>翻印</a:t>
            </a:r>
            <a:r>
              <a:rPr lang="zh-CN" altLang="en-US" dirty="0" smtClean="0"/>
              <a:t>币</a:t>
            </a:r>
            <a:endParaRPr lang="en-US" altLang="zh-CN" dirty="0" smtClean="0"/>
          </a:p>
          <a:p>
            <a:r>
              <a:rPr lang="zh-CN" altLang="en-US" dirty="0"/>
              <a:t>零和博弈</a:t>
            </a:r>
            <a:r>
              <a:rPr lang="zh-CN" altLang="en-US" dirty="0" smtClean="0"/>
              <a:t>（纳什均衡）</a:t>
            </a:r>
            <a:r>
              <a:rPr lang="en-US" altLang="zh-CN" dirty="0" smtClean="0"/>
              <a:t>(</a:t>
            </a:r>
            <a:r>
              <a:rPr lang="zh-CN" altLang="en-US" dirty="0" smtClean="0"/>
              <a:t>也许不算</a:t>
            </a:r>
            <a:r>
              <a:rPr lang="en-US" altLang="zh-CN" dirty="0" smtClean="0"/>
              <a:t>)</a:t>
            </a:r>
          </a:p>
          <a:p>
            <a:r>
              <a:rPr lang="zh-CN" altLang="en-US" dirty="0"/>
              <a:t>一些简单的</a:t>
            </a:r>
            <a:r>
              <a:rPr lang="en-US" altLang="zh-CN" dirty="0"/>
              <a:t>/</a:t>
            </a:r>
            <a:r>
              <a:rPr lang="en-US" altLang="zh-CN" dirty="0" err="1" smtClean="0"/>
              <a:t>yml</a:t>
            </a:r>
            <a:r>
              <a:rPr lang="zh-CN" altLang="en-US" dirty="0" smtClean="0"/>
              <a:t>会讲的就不详写了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 smtClean="0"/>
              <a:t>尼姆博弈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SGU 429 Problem </a:t>
            </a:r>
            <a:r>
              <a:rPr lang="en-US" dirty="0" smtClean="0"/>
              <a:t>Stacks</a:t>
            </a:r>
            <a:r>
              <a:rPr lang="en-US" altLang="zh-CN" dirty="0" smtClean="0"/>
              <a:t>(2009</a:t>
            </a:r>
            <a:r>
              <a:rPr lang="zh-CN" altLang="en-US" dirty="0" smtClean="0"/>
              <a:t>姜碧野</a:t>
            </a:r>
            <a:r>
              <a:rPr lang="en-US" altLang="zh-CN" dirty="0" smtClean="0"/>
              <a:t>)</a:t>
            </a:r>
            <a:endParaRPr lang="zh-CN" altLang="en-US" dirty="0"/>
          </a:p>
          <a:p>
            <a:r>
              <a:rPr lang="zh-CN" altLang="en-US" dirty="0"/>
              <a:t>题目大意</a:t>
            </a:r>
            <a:r>
              <a:rPr lang="en-US" dirty="0"/>
              <a:t>:</a:t>
            </a:r>
            <a:endParaRPr lang="zh-CN" altLang="en-US" dirty="0"/>
          </a:p>
          <a:p>
            <a:r>
              <a:rPr lang="zh-CN" altLang="en-US" dirty="0"/>
              <a:t>有</a:t>
            </a:r>
            <a:r>
              <a:rPr lang="en-US" i="1" dirty="0"/>
              <a:t>N</a:t>
            </a:r>
            <a:r>
              <a:rPr lang="zh-CN" altLang="en-US" dirty="0"/>
              <a:t>堆石子，开始时石子个数为</a:t>
            </a:r>
            <a:r>
              <a:rPr lang="en-US" i="1" dirty="0"/>
              <a:t>A</a:t>
            </a:r>
            <a:r>
              <a:rPr lang="en-US" i="1" baseline="-25000" dirty="0"/>
              <a:t>1</a:t>
            </a:r>
            <a:r>
              <a:rPr lang="en-US" dirty="0"/>
              <a:t>,</a:t>
            </a:r>
            <a:r>
              <a:rPr lang="en-US" i="1" dirty="0"/>
              <a:t>A</a:t>
            </a:r>
            <a:r>
              <a:rPr lang="en-US" i="1" baseline="-25000" dirty="0"/>
              <a:t>2</a:t>
            </a:r>
            <a:r>
              <a:rPr lang="en-US" dirty="0"/>
              <a:t>…</a:t>
            </a:r>
            <a:r>
              <a:rPr lang="en-US" i="1" dirty="0"/>
              <a:t>A</a:t>
            </a:r>
            <a:r>
              <a:rPr lang="en-US" i="1" baseline="-25000" dirty="0"/>
              <a:t>N</a:t>
            </a:r>
            <a:r>
              <a:rPr lang="zh-CN" altLang="en-US" dirty="0"/>
              <a:t>。</a:t>
            </a:r>
            <a:r>
              <a:rPr lang="en-US" dirty="0"/>
              <a:t>(</a:t>
            </a:r>
            <a:r>
              <a:rPr lang="zh-CN" altLang="en-US" dirty="0"/>
              <a:t>从左到右编号</a:t>
            </a:r>
            <a:r>
              <a:rPr lang="en-US" dirty="0"/>
              <a:t>)</a:t>
            </a:r>
            <a:r>
              <a:rPr lang="zh-CN" altLang="en-US" dirty="0"/>
              <a:t>。两人轮流取石子，每次只能在当前非空堆中最左或最右的堆中</a:t>
            </a:r>
            <a:r>
              <a:rPr lang="en-US" dirty="0"/>
              <a:t>(</a:t>
            </a:r>
            <a:r>
              <a:rPr lang="zh-CN" altLang="en-US" dirty="0"/>
              <a:t>即当前数列的任意一端</a:t>
            </a:r>
            <a:r>
              <a:rPr lang="en-US" dirty="0"/>
              <a:t>)</a:t>
            </a:r>
            <a:r>
              <a:rPr lang="zh-CN" altLang="en-US" dirty="0"/>
              <a:t>取任意多个，不能不取。最先不能取的输。</a:t>
            </a:r>
            <a:r>
              <a:rPr lang="en-US" dirty="0"/>
              <a:t>(</a:t>
            </a:r>
            <a:r>
              <a:rPr lang="en-US" i="1" dirty="0"/>
              <a:t>N</a:t>
            </a:r>
            <a:r>
              <a:rPr lang="en-US" dirty="0"/>
              <a:t>&lt;=5,</a:t>
            </a:r>
            <a:r>
              <a:rPr lang="en-US" i="1" dirty="0"/>
              <a:t>A</a:t>
            </a:r>
            <a:r>
              <a:rPr lang="en-US" i="1" baseline="-25000" dirty="0"/>
              <a:t>i</a:t>
            </a:r>
            <a:r>
              <a:rPr lang="en-US" dirty="0"/>
              <a:t>&lt;=100000)</a:t>
            </a: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 smtClean="0"/>
              <a:t>尼姆博弈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只会</a:t>
            </a:r>
            <a:r>
              <a:rPr lang="en-US" altLang="zh-CN" dirty="0" smtClean="0"/>
              <a:t>f[l][r][x][y]</a:t>
            </a:r>
            <a:r>
              <a:rPr lang="zh-CN" altLang="en-US" dirty="0" smtClean="0"/>
              <a:t>暴力</a:t>
            </a:r>
            <a:r>
              <a:rPr lang="en-US" altLang="zh-CN" dirty="0" err="1" smtClean="0"/>
              <a:t>dp</a:t>
            </a:r>
            <a:r>
              <a:rPr lang="zh-CN" altLang="en-US" dirty="0" smtClean="0"/>
              <a:t>已经没戏了。</a:t>
            </a:r>
            <a:endParaRPr lang="en-US" altLang="zh-CN" dirty="0" smtClean="0"/>
          </a:p>
          <a:p>
            <a:r>
              <a:rPr lang="zh-CN" altLang="en-US" dirty="0" smtClean="0"/>
              <a:t>稍微考虑一下肯定不用这么多状态。</a:t>
            </a:r>
            <a:endParaRPr lang="en-US" altLang="zh-CN" dirty="0" smtClean="0"/>
          </a:p>
          <a:p>
            <a:r>
              <a:rPr lang="zh-CN" altLang="en-US" dirty="0" smtClean="0"/>
              <a:t>考虑一些想法，比如</a:t>
            </a:r>
            <a:endParaRPr lang="en-US" altLang="zh-CN" dirty="0" smtClean="0"/>
          </a:p>
          <a:p>
            <a:r>
              <a:rPr lang="en-US" altLang="zh-CN" dirty="0" smtClean="0"/>
              <a:t>f[l][r][</a:t>
            </a:r>
            <a:r>
              <a:rPr lang="en-US" altLang="zh-CN" dirty="0" err="1" smtClean="0"/>
              <a:t>x^y</a:t>
            </a:r>
            <a:r>
              <a:rPr lang="en-US" altLang="zh-CN" dirty="0" smtClean="0"/>
              <a:t>]??</a:t>
            </a:r>
          </a:p>
          <a:p>
            <a:r>
              <a:rPr lang="en-US" altLang="zh-CN" dirty="0" smtClean="0"/>
              <a:t>F[l][r][al][y],f[l][r][x][</a:t>
            </a:r>
            <a:r>
              <a:rPr lang="en-US" altLang="zh-CN" dirty="0" err="1" smtClean="0"/>
              <a:t>ar</a:t>
            </a:r>
            <a:r>
              <a:rPr lang="en-US" altLang="zh-CN" dirty="0" smtClean="0"/>
              <a:t>]??</a:t>
            </a:r>
          </a:p>
          <a:p>
            <a:r>
              <a:rPr lang="en-US" altLang="zh-CN" dirty="0" smtClean="0"/>
              <a:t>F[l][r][0][y],f[l][r][x][0]??(</a:t>
            </a:r>
            <a:r>
              <a:rPr lang="zh-CN" altLang="en-US" dirty="0" smtClean="0"/>
              <a:t>没有意义？？等价于</a:t>
            </a:r>
            <a:r>
              <a:rPr lang="en-US" altLang="zh-CN" dirty="0" smtClean="0"/>
              <a:t>F[l][r][al+1][y],f[l][r][x][ar-1])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 smtClean="0"/>
              <a:t>尼姆博弈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如果</a:t>
            </a:r>
            <a:r>
              <a:rPr lang="en-US" altLang="zh-CN" dirty="0" smtClean="0"/>
              <a:t>f[l][r][0][x&gt;0],f[l][r][y&gt;0][0]</a:t>
            </a:r>
            <a:r>
              <a:rPr lang="zh-CN" altLang="en-US" dirty="0" smtClean="0"/>
              <a:t>或必败，那么</a:t>
            </a:r>
            <a:r>
              <a:rPr lang="en-US" altLang="zh-CN" dirty="0" smtClean="0"/>
              <a:t>f[l][r][x&gt;0][y&gt;0]</a:t>
            </a:r>
            <a:r>
              <a:rPr lang="zh-CN" altLang="en-US" dirty="0" smtClean="0"/>
              <a:t>绝对先手必胜</a:t>
            </a:r>
            <a:endParaRPr lang="en-US" altLang="zh-CN" dirty="0" smtClean="0"/>
          </a:p>
          <a:p>
            <a:r>
              <a:rPr lang="zh-CN" altLang="en-US" dirty="0" smtClean="0"/>
              <a:t>否则</a:t>
            </a:r>
            <a:r>
              <a:rPr lang="en-US" altLang="zh-CN" dirty="0" smtClean="0"/>
              <a:t>(</a:t>
            </a:r>
            <a:r>
              <a:rPr lang="zh-CN" altLang="en-US" dirty="0" smtClean="0"/>
              <a:t>非绝对必胜</a:t>
            </a:r>
            <a:r>
              <a:rPr lang="en-US" altLang="zh-CN" dirty="0" smtClean="0"/>
              <a:t>)</a:t>
            </a:r>
            <a:r>
              <a:rPr lang="zh-CN" altLang="en-US" dirty="0" smtClean="0"/>
              <a:t>有三种转移</a:t>
            </a:r>
            <a:endParaRPr lang="en-US" altLang="zh-CN" dirty="0" smtClean="0"/>
          </a:p>
          <a:p>
            <a:r>
              <a:rPr lang="en-US" altLang="zh-CN" dirty="0" smtClean="0"/>
              <a:t>1</a:t>
            </a:r>
            <a:r>
              <a:rPr lang="zh-CN" altLang="en-US" dirty="0" smtClean="0"/>
              <a:t>、转到绝对先手必胜（显然不会）</a:t>
            </a:r>
            <a:endParaRPr lang="en-US" altLang="zh-CN" dirty="0" smtClean="0"/>
          </a:p>
          <a:p>
            <a:r>
              <a:rPr lang="en-US" altLang="zh-CN" dirty="0" smtClean="0"/>
              <a:t>2</a:t>
            </a:r>
            <a:r>
              <a:rPr lang="zh-CN" altLang="en-US" dirty="0" smtClean="0"/>
              <a:t>、取完（但都不是必败显然也不会）</a:t>
            </a:r>
            <a:endParaRPr lang="en-US" altLang="zh-CN" dirty="0" smtClean="0"/>
          </a:p>
          <a:p>
            <a:r>
              <a:rPr lang="en-US" altLang="zh-CN" dirty="0" smtClean="0"/>
              <a:t>3</a:t>
            </a:r>
            <a:r>
              <a:rPr lang="zh-CN" altLang="en-US" dirty="0" smtClean="0"/>
              <a:t>、转移到</a:t>
            </a:r>
            <a:r>
              <a:rPr lang="en-US" altLang="zh-CN" dirty="0" smtClean="0"/>
              <a:t>f[l][r][x’&gt;0][y’&gt;0]</a:t>
            </a:r>
          </a:p>
          <a:p>
            <a:r>
              <a:rPr lang="zh-CN" altLang="en-US" dirty="0" smtClean="0"/>
              <a:t>注意非绝对必胜满足的性质</a:t>
            </a:r>
            <a:r>
              <a:rPr lang="en-US" altLang="zh-CN" dirty="0" smtClean="0"/>
              <a:t>f[l][r][0][x&gt;0],f[l][r][y&gt;0][0]</a:t>
            </a:r>
            <a:r>
              <a:rPr lang="zh-CN" altLang="en-US" dirty="0" smtClean="0"/>
              <a:t>都必胜！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 smtClean="0"/>
              <a:t>尼姆博弈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把可能的</a:t>
            </a:r>
            <a:r>
              <a:rPr lang="en-US" altLang="zh-CN" dirty="0" smtClean="0"/>
              <a:t>x</a:t>
            </a:r>
            <a:r>
              <a:rPr lang="zh-CN" altLang="en-US" dirty="0" smtClean="0"/>
              <a:t>、</a:t>
            </a:r>
            <a:r>
              <a:rPr lang="en-US" altLang="zh-CN" dirty="0" smtClean="0"/>
              <a:t>y</a:t>
            </a:r>
            <a:r>
              <a:rPr lang="zh-CN" altLang="en-US" dirty="0" smtClean="0"/>
              <a:t>提出来，（</a:t>
            </a:r>
            <a:r>
              <a:rPr lang="en-US" altLang="zh-CN" dirty="0" smtClean="0"/>
              <a:t>x1,x2,….xl,y1,y2..yr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r>
              <a:rPr lang="zh-CN" altLang="en-US" dirty="0" smtClean="0"/>
              <a:t>只有当（</a:t>
            </a:r>
            <a:r>
              <a:rPr lang="en-US" altLang="zh-CN" dirty="0" smtClean="0"/>
              <a:t>xi</a:t>
            </a:r>
            <a:r>
              <a:rPr lang="zh-CN" altLang="en-US" dirty="0" smtClean="0"/>
              <a:t>，</a:t>
            </a:r>
            <a:r>
              <a:rPr lang="en-US" altLang="zh-CN" dirty="0" err="1" smtClean="0"/>
              <a:t>yj</a:t>
            </a:r>
            <a:r>
              <a:rPr lang="zh-CN" altLang="en-US" dirty="0" smtClean="0"/>
              <a:t>）使得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==j</a:t>
            </a:r>
            <a:r>
              <a:rPr lang="zh-CN" altLang="en-US" dirty="0" smtClean="0"/>
              <a:t>时才必败，否则必胜。（这个应该容易理解（相当于普通取石子游戏），注意不是</a:t>
            </a:r>
            <a:r>
              <a:rPr lang="en-US" altLang="zh-CN" dirty="0" smtClean="0"/>
              <a:t>x==y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r>
              <a:rPr lang="zh-CN" altLang="en-US" dirty="0" smtClean="0"/>
              <a:t>所以我们</a:t>
            </a:r>
            <a:r>
              <a:rPr lang="en-US" altLang="zh-CN" dirty="0" err="1" smtClean="0"/>
              <a:t>dp</a:t>
            </a:r>
            <a:r>
              <a:rPr lang="zh-CN" altLang="en-US" dirty="0" smtClean="0"/>
              <a:t>记录必胜态及是第几个必胜态。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尼姆博弈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Zjoi2009stone</a:t>
            </a:r>
          </a:p>
          <a:p>
            <a:r>
              <a:rPr lang="zh-CN" altLang="en-US" dirty="0" smtClean="0"/>
              <a:t>问题同上</a:t>
            </a:r>
            <a:endParaRPr lang="en-US" altLang="zh-CN" dirty="0" smtClean="0"/>
          </a:p>
          <a:p>
            <a:r>
              <a:rPr lang="en-US" altLang="zh-CN" dirty="0" smtClean="0"/>
              <a:t>30%T&lt;=10,</a:t>
            </a:r>
            <a:r>
              <a:rPr lang="zh-CN" altLang="en-US" dirty="0" smtClean="0"/>
              <a:t>数据规模同上</a:t>
            </a:r>
            <a:endParaRPr lang="en-US" altLang="zh-CN" dirty="0" smtClean="0"/>
          </a:p>
          <a:p>
            <a:r>
              <a:rPr lang="en-US" altLang="zh-CN" dirty="0" smtClean="0"/>
              <a:t>100%</a:t>
            </a:r>
            <a:r>
              <a:rPr lang="zh-CN" altLang="en-US" dirty="0" smtClean="0"/>
              <a:t> </a:t>
            </a:r>
            <a:r>
              <a:rPr lang="en-US" altLang="zh-CN" dirty="0" smtClean="0"/>
              <a:t>T≤10 n≤1000 </a:t>
            </a:r>
            <a:r>
              <a:rPr lang="zh-CN" altLang="en-US" dirty="0" smtClean="0"/>
              <a:t>每堆的石子数目≤</a:t>
            </a:r>
            <a:r>
              <a:rPr lang="en-US" altLang="zh-CN" dirty="0" smtClean="0"/>
              <a:t>10^9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尼姆博弈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怎么做？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尼姆博弈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怎么做？上述方法也不管用了。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尼姆博弈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怎么做？上述方法也不管用了。</a:t>
            </a:r>
            <a:endParaRPr lang="en-US" altLang="zh-CN" dirty="0" smtClean="0"/>
          </a:p>
          <a:p>
            <a:r>
              <a:rPr lang="zh-CN" altLang="en-US" dirty="0" smtClean="0"/>
              <a:t>一个想法：用</a:t>
            </a:r>
            <a:r>
              <a:rPr lang="en-US" altLang="zh-CN" dirty="0" smtClean="0"/>
              <a:t>[</a:t>
            </a:r>
            <a:r>
              <a:rPr lang="en-US" altLang="zh-CN" dirty="0" err="1" smtClean="0"/>
              <a:t>l,r</a:t>
            </a:r>
            <a:r>
              <a:rPr lang="en-US" altLang="zh-CN" dirty="0" smtClean="0"/>
              <a:t>]</a:t>
            </a:r>
            <a:r>
              <a:rPr lang="zh-CN" altLang="en-US" dirty="0" smtClean="0"/>
              <a:t>表示</a:t>
            </a:r>
            <a:r>
              <a:rPr lang="en-US" altLang="zh-CN" dirty="0" smtClean="0"/>
              <a:t>[</a:t>
            </a:r>
            <a:r>
              <a:rPr lang="en-US" altLang="zh-CN" dirty="0" err="1" smtClean="0"/>
              <a:t>l,r</a:t>
            </a:r>
            <a:r>
              <a:rPr lang="en-US" altLang="zh-CN" dirty="0" smtClean="0"/>
              <a:t>]</a:t>
            </a:r>
            <a:r>
              <a:rPr lang="zh-CN" altLang="en-US" dirty="0" smtClean="0"/>
              <a:t>都是必胜态，这样子存储效果怎么样呢？</a:t>
            </a:r>
            <a:endParaRPr lang="en-US" altLang="zh-CN" dirty="0" smtClean="0"/>
          </a:p>
          <a:p>
            <a:r>
              <a:rPr lang="zh-CN" altLang="en-US" dirty="0" smtClean="0"/>
              <a:t>结果发现又没有</a:t>
            </a:r>
            <a:r>
              <a:rPr lang="en-US" altLang="zh-CN" dirty="0" err="1" smtClean="0"/>
              <a:t>mle</a:t>
            </a:r>
            <a:r>
              <a:rPr lang="zh-CN" altLang="en-US" dirty="0" smtClean="0"/>
              <a:t>又没有</a:t>
            </a:r>
            <a:r>
              <a:rPr lang="en-US" altLang="zh-CN" dirty="0" err="1" smtClean="0"/>
              <a:t>tle</a:t>
            </a:r>
            <a:r>
              <a:rPr lang="zh-CN" altLang="en-US" dirty="0" smtClean="0"/>
              <a:t>（除非写丑了，比如没有合并什么的）</a:t>
            </a:r>
            <a:endParaRPr lang="en-US" altLang="zh-CN" dirty="0" smtClean="0"/>
          </a:p>
          <a:p>
            <a:r>
              <a:rPr lang="zh-CN" altLang="en-US" dirty="0" smtClean="0"/>
              <a:t>为什么？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尼姆博弈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在已知</a:t>
            </a:r>
            <a:r>
              <a:rPr lang="en-US" altLang="zh-CN" dirty="0" err="1" smtClean="0"/>
              <a:t>Al~Ar</a:t>
            </a:r>
            <a:r>
              <a:rPr lang="zh-CN" altLang="en-US" dirty="0" smtClean="0"/>
              <a:t>情况下，如果左边或右边有一个</a:t>
            </a:r>
            <a:r>
              <a:rPr lang="en-US" altLang="zh-CN" dirty="0" smtClean="0"/>
              <a:t>X</a:t>
            </a:r>
            <a:r>
              <a:rPr lang="zh-CN" altLang="en-US" dirty="0" smtClean="0"/>
              <a:t>，必然只有一个</a:t>
            </a:r>
            <a:r>
              <a:rPr lang="en-US" altLang="zh-CN" dirty="0" smtClean="0"/>
              <a:t>X</a:t>
            </a:r>
            <a:r>
              <a:rPr lang="zh-CN" altLang="en-US" dirty="0" smtClean="0"/>
              <a:t>是必败态（否则大的必败态可以转到小的必败态，矛盾）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尼姆博弈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所以说只有最多两段必胜态</a:t>
            </a:r>
            <a:r>
              <a:rPr lang="en-US" altLang="zh-CN" dirty="0" smtClean="0"/>
              <a:t>log=1</a:t>
            </a:r>
          </a:p>
          <a:p>
            <a:r>
              <a:rPr lang="zh-CN" altLang="en-US" dirty="0" smtClean="0"/>
              <a:t>但是实际上根本不用记录必胜态，记录必败的</a:t>
            </a:r>
            <a:r>
              <a:rPr lang="en-US" altLang="zh-CN" dirty="0" smtClean="0"/>
              <a:t>X</a:t>
            </a:r>
            <a:r>
              <a:rPr lang="zh-CN" altLang="en-US" dirty="0" smtClean="0"/>
              <a:t>即可。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 smtClean="0"/>
              <a:t>K</a:t>
            </a:r>
            <a:r>
              <a:rPr lang="zh-CN" altLang="en-US" dirty="0" smtClean="0"/>
              <a:t>倍动态减法游戏</a:t>
            </a:r>
            <a:r>
              <a:rPr lang="en-US" altLang="zh-CN" dirty="0" smtClean="0"/>
              <a:t>(k</a:t>
            </a:r>
            <a:r>
              <a:rPr lang="zh-CN" altLang="en-US" dirty="0" smtClean="0"/>
              <a:t>倍取石子游戏</a:t>
            </a:r>
            <a:r>
              <a:rPr lang="en-US" altLang="zh-CN" dirty="0" smtClean="0"/>
              <a:t>)</a:t>
            </a:r>
            <a:br>
              <a:rPr lang="en-US" altLang="zh-CN" dirty="0" smtClean="0"/>
            </a:b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CN" dirty="0" smtClean="0"/>
              <a:t>Hn2015</a:t>
            </a:r>
            <a:r>
              <a:rPr lang="zh-CN" altLang="en-US" dirty="0" smtClean="0"/>
              <a:t>省队集训</a:t>
            </a:r>
            <a:r>
              <a:rPr lang="en-US" altLang="zh-CN" dirty="0" smtClean="0"/>
              <a:t>7.10</a:t>
            </a:r>
            <a:r>
              <a:rPr lang="zh-CN" altLang="en-US" dirty="0"/>
              <a:t> </a:t>
            </a:r>
            <a:r>
              <a:rPr lang="zh-CN" altLang="en-US" dirty="0" smtClean="0"/>
              <a:t>樱之诗</a:t>
            </a:r>
            <a:r>
              <a:rPr lang="en-US" altLang="zh-CN" dirty="0" err="1" smtClean="0"/>
              <a:t>sakura</a:t>
            </a:r>
            <a:endParaRPr lang="en-US" altLang="zh-CN" dirty="0" smtClean="0"/>
          </a:p>
          <a:p>
            <a:r>
              <a:rPr lang="en-US" altLang="zh-CN" dirty="0" err="1" smtClean="0"/>
              <a:t>Sakara</a:t>
            </a:r>
            <a:r>
              <a:rPr lang="en-US" altLang="zh-CN" dirty="0" smtClean="0"/>
              <a:t>:</a:t>
            </a:r>
            <a:r>
              <a:rPr lang="zh-CN" altLang="en-US" dirty="0" smtClean="0"/>
              <a:t>普通多堆石子取石子游戏</a:t>
            </a:r>
            <a:endParaRPr lang="en-US" altLang="zh-CN" dirty="0" smtClean="0"/>
          </a:p>
          <a:p>
            <a:r>
              <a:rPr lang="en-US" altLang="zh-CN" dirty="0" smtClean="0"/>
              <a:t>Dividable:</a:t>
            </a:r>
            <a:r>
              <a:rPr lang="zh-CN" altLang="en-US" dirty="0" smtClean="0"/>
              <a:t>：允许放弃，分割数量大于 </a:t>
            </a:r>
            <a:r>
              <a:rPr lang="en-US" altLang="zh-CN" dirty="0" smtClean="0"/>
              <a:t>1 </a:t>
            </a:r>
            <a:r>
              <a:rPr lang="zh-CN" altLang="en-US" dirty="0" smtClean="0"/>
              <a:t>的一堆为大小不为 </a:t>
            </a:r>
            <a:r>
              <a:rPr lang="en-US" altLang="zh-CN" dirty="0" smtClean="0"/>
              <a:t>0 </a:t>
            </a:r>
            <a:r>
              <a:rPr lang="zh-CN" altLang="en-US" dirty="0" smtClean="0"/>
              <a:t>的任意两堆。 </a:t>
            </a:r>
            <a:endParaRPr lang="en-US" altLang="zh-CN" dirty="0" smtClean="0"/>
          </a:p>
          <a:p>
            <a:r>
              <a:rPr lang="en-US" altLang="zh-CN" dirty="0" smtClean="0"/>
              <a:t>Limit-k:</a:t>
            </a:r>
            <a:r>
              <a:rPr lang="zh-CN" altLang="en-US" dirty="0" smtClean="0"/>
              <a:t>将所有堆合为一堆，第一个人随便取，不可取完，之后每个人不能取超过上一个 人的 𝑘倍。（</a:t>
            </a:r>
            <a:r>
              <a:rPr lang="en-US" altLang="zh-CN" dirty="0" smtClean="0"/>
              <a:t>1 ≤ </a:t>
            </a:r>
            <a:r>
              <a:rPr lang="zh-CN" altLang="en-US" dirty="0" smtClean="0"/>
              <a:t>𝑘 ≤ </a:t>
            </a:r>
            <a:r>
              <a:rPr lang="en-US" altLang="zh-CN" dirty="0" smtClean="0"/>
              <a:t>500</a:t>
            </a:r>
            <a:r>
              <a:rPr lang="zh-CN" altLang="en-US" dirty="0" smtClean="0"/>
              <a:t>，𝑘 ∈ 𝑁） </a:t>
            </a:r>
            <a:r>
              <a:rPr lang="en-US" altLang="zh-CN" dirty="0" smtClean="0"/>
              <a:t>,</a:t>
            </a:r>
            <a:r>
              <a:rPr lang="zh-CN" altLang="en-US" dirty="0" smtClean="0"/>
              <a:t>如果必胜问先手第一步最少要取多少花瓣</a:t>
            </a:r>
            <a:endParaRPr lang="en-US" altLang="zh-CN" dirty="0" smtClean="0"/>
          </a:p>
          <a:p>
            <a:r>
              <a:rPr lang="en-US" altLang="zh-CN" dirty="0" smtClean="0"/>
              <a:t>N(</a:t>
            </a:r>
            <a:r>
              <a:rPr lang="zh-CN" altLang="en-US" dirty="0" smtClean="0"/>
              <a:t>最多堆数</a:t>
            </a:r>
            <a:r>
              <a:rPr lang="en-US" altLang="zh-CN" dirty="0" smtClean="0"/>
              <a:t>),q(</a:t>
            </a:r>
            <a:r>
              <a:rPr lang="zh-CN" altLang="en-US" dirty="0" smtClean="0"/>
              <a:t>询问</a:t>
            </a:r>
            <a:r>
              <a:rPr lang="en-US" altLang="zh-CN" dirty="0" smtClean="0"/>
              <a:t>)&lt;=10^5,</a:t>
            </a:r>
            <a:r>
              <a:rPr lang="zh-CN" altLang="en-US" dirty="0" smtClean="0"/>
              <a:t>每次询问石子数总和不超过</a:t>
            </a:r>
            <a:r>
              <a:rPr lang="en-US" altLang="zh-CN" dirty="0" smtClean="0"/>
              <a:t>10^12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Dividable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允许放弃，分割数量大于 </a:t>
            </a:r>
            <a:r>
              <a:rPr lang="en-US" altLang="zh-CN" dirty="0" smtClean="0"/>
              <a:t>1 </a:t>
            </a:r>
            <a:r>
              <a:rPr lang="zh-CN" altLang="en-US" dirty="0" smtClean="0"/>
              <a:t>的一堆为大小不为 </a:t>
            </a:r>
            <a:r>
              <a:rPr lang="en-US" altLang="zh-CN" dirty="0" smtClean="0"/>
              <a:t>0 </a:t>
            </a:r>
            <a:r>
              <a:rPr lang="zh-CN" altLang="en-US" dirty="0" smtClean="0"/>
              <a:t>的任意两堆。</a:t>
            </a:r>
            <a:endParaRPr lang="en-US" altLang="zh-CN" dirty="0" smtClean="0"/>
          </a:p>
          <a:p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Dividable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允许放弃，分割数量大于 </a:t>
            </a:r>
            <a:r>
              <a:rPr lang="en-US" altLang="zh-CN" dirty="0" smtClean="0"/>
              <a:t>1 </a:t>
            </a:r>
            <a:r>
              <a:rPr lang="zh-CN" altLang="en-US" dirty="0" smtClean="0"/>
              <a:t>的一堆为大小不为 </a:t>
            </a:r>
            <a:r>
              <a:rPr lang="en-US" altLang="zh-CN" dirty="0" smtClean="0"/>
              <a:t>0 </a:t>
            </a:r>
            <a:r>
              <a:rPr lang="zh-CN" altLang="en-US" dirty="0" smtClean="0"/>
              <a:t>的任意两堆。</a:t>
            </a:r>
            <a:endParaRPr lang="en-US" altLang="zh-CN" dirty="0" smtClean="0"/>
          </a:p>
          <a:p>
            <a:r>
              <a:rPr lang="zh-CN" altLang="en-US" dirty="0" smtClean="0"/>
              <a:t>稍微想一下肯定可以用</a:t>
            </a:r>
            <a:r>
              <a:rPr lang="en-US" altLang="zh-CN" dirty="0" err="1" smtClean="0"/>
              <a:t>sg</a:t>
            </a:r>
            <a:r>
              <a:rPr lang="zh-CN" altLang="en-US" dirty="0" smtClean="0"/>
              <a:t>函数做。大力打表一下很有规律（建议这种题不要自己手推）</a:t>
            </a:r>
            <a:endParaRPr lang="en-US" altLang="zh-CN" dirty="0" smtClean="0"/>
          </a:p>
          <a:p>
            <a:r>
              <a:rPr lang="en-US" altLang="zh-CN" dirty="0" err="1" smtClean="0"/>
              <a:t>Sg</a:t>
            </a:r>
            <a:r>
              <a:rPr lang="en-US" altLang="zh-CN" dirty="0" smtClean="0"/>
              <a:t>=0</a:t>
            </a:r>
            <a:r>
              <a:rPr lang="zh-CN" altLang="en-US" dirty="0" smtClean="0"/>
              <a:t> </a:t>
            </a:r>
            <a:r>
              <a:rPr lang="nn-NO" altLang="zh-CN" dirty="0" smtClean="0"/>
              <a:t>1 2 4 3 5 6 8 7 </a:t>
            </a:r>
            <a:r>
              <a:rPr lang="zh-CN" altLang="en-US" dirty="0" smtClean="0"/>
              <a:t>。。。。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K</a:t>
            </a:r>
            <a:r>
              <a:rPr lang="zh-CN" altLang="en-US" dirty="0" smtClean="0"/>
              <a:t>倍动态减法游戏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K=1</a:t>
            </a:r>
            <a:r>
              <a:rPr lang="en-US" altLang="zh-CN" dirty="0"/>
              <a:t>?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K=1</a:t>
            </a:r>
            <a:r>
              <a:rPr lang="zh-CN" altLang="en-US" dirty="0" smtClean="0"/>
              <a:t>倍动态减法游戏解法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打表发现</a:t>
            </a:r>
            <a:r>
              <a:rPr lang="en-US" altLang="zh-CN" dirty="0" smtClean="0"/>
              <a:t>1~8</a:t>
            </a:r>
          </a:p>
          <a:p>
            <a:r>
              <a:rPr lang="en-US" altLang="zh-CN" dirty="0" smtClean="0"/>
              <a:t>-1 -1 1 -1 1 1 1 -1(-1</a:t>
            </a:r>
            <a:r>
              <a:rPr lang="zh-CN" altLang="en-US" dirty="0" smtClean="0"/>
              <a:t>败</a:t>
            </a:r>
            <a:r>
              <a:rPr lang="en-US" altLang="zh-CN" dirty="0" smtClean="0"/>
              <a:t>1</a:t>
            </a:r>
            <a:r>
              <a:rPr lang="zh-CN" altLang="en-US" dirty="0" smtClean="0"/>
              <a:t>胜</a:t>
            </a:r>
            <a:r>
              <a:rPr lang="en-US" altLang="zh-CN" dirty="0" smtClean="0"/>
              <a:t>)</a:t>
            </a:r>
          </a:p>
          <a:p>
            <a:r>
              <a:rPr lang="zh-CN" altLang="en-US" dirty="0" smtClean="0"/>
              <a:t>结论：</a:t>
            </a:r>
            <a:r>
              <a:rPr lang="en-US" altLang="zh-CN" dirty="0" smtClean="0"/>
              <a:t>2^k</a:t>
            </a:r>
            <a:r>
              <a:rPr lang="zh-CN" altLang="en-US" dirty="0" smtClean="0"/>
              <a:t>为必败态</a:t>
            </a:r>
            <a:endParaRPr lang="en-US" altLang="zh-CN" dirty="0" smtClean="0"/>
          </a:p>
          <a:p>
            <a:r>
              <a:rPr lang="zh-CN" altLang="en-US" dirty="0" smtClean="0"/>
              <a:t>怎么分析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K=1</a:t>
            </a:r>
            <a:r>
              <a:rPr lang="zh-CN" altLang="en-US" dirty="0" smtClean="0"/>
              <a:t>动态减法游戏解法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zh-CN" altLang="en-US" dirty="0" smtClean="0"/>
              <a:t>分析：用二进制表示。</a:t>
            </a:r>
            <a:endParaRPr lang="en-US" altLang="zh-CN" dirty="0" smtClean="0"/>
          </a:p>
          <a:p>
            <a:r>
              <a:rPr lang="zh-CN" altLang="en-US" dirty="0" smtClean="0"/>
              <a:t>比如：</a:t>
            </a:r>
            <a:r>
              <a:rPr lang="en-US" altLang="zh-CN" dirty="0" smtClean="0"/>
              <a:t>1000</a:t>
            </a:r>
            <a:r>
              <a:rPr lang="zh-CN" altLang="en-US" dirty="0" smtClean="0"/>
              <a:t> </a:t>
            </a:r>
            <a:r>
              <a:rPr lang="en-US" altLang="zh-CN" dirty="0" smtClean="0"/>
              <a:t>100</a:t>
            </a:r>
            <a:r>
              <a:rPr lang="zh-CN" altLang="en-US" dirty="0" smtClean="0"/>
              <a:t> </a:t>
            </a:r>
            <a:r>
              <a:rPr lang="en-US" altLang="zh-CN" dirty="0" smtClean="0"/>
              <a:t>100</a:t>
            </a:r>
          </a:p>
          <a:p>
            <a:r>
              <a:rPr lang="zh-CN" altLang="en-US" dirty="0" smtClean="0"/>
              <a:t>先手</a:t>
            </a:r>
            <a:r>
              <a:rPr lang="en-US" altLang="zh-CN" dirty="0" smtClean="0"/>
              <a:t>A</a:t>
            </a:r>
            <a:r>
              <a:rPr lang="zh-CN" altLang="en-US" dirty="0" smtClean="0"/>
              <a:t>必然获胜的策略是取成</a:t>
            </a:r>
            <a:r>
              <a:rPr lang="en-US" altLang="zh-CN" dirty="0" smtClean="0"/>
              <a:t>1000</a:t>
            </a:r>
            <a:r>
              <a:rPr lang="zh-CN" altLang="en-US" dirty="0" smtClean="0"/>
              <a:t> </a:t>
            </a:r>
            <a:r>
              <a:rPr lang="en-US" altLang="zh-CN" dirty="0" smtClean="0"/>
              <a:t>100</a:t>
            </a:r>
            <a:r>
              <a:rPr lang="zh-CN" altLang="en-US" dirty="0" smtClean="0"/>
              <a:t> </a:t>
            </a:r>
            <a:r>
              <a:rPr lang="en-US" altLang="zh-CN" dirty="0" smtClean="0"/>
              <a:t>000</a:t>
            </a:r>
          </a:p>
          <a:p>
            <a:r>
              <a:rPr lang="zh-CN" altLang="en-US" dirty="0" smtClean="0"/>
              <a:t>后手</a:t>
            </a:r>
            <a:r>
              <a:rPr lang="en-US" altLang="zh-CN" dirty="0" smtClean="0"/>
              <a:t>B</a:t>
            </a:r>
            <a:r>
              <a:rPr lang="zh-CN" altLang="en-US" dirty="0" smtClean="0"/>
              <a:t>如果继续这样取，明显还能做偶数次（必败）</a:t>
            </a:r>
            <a:endParaRPr lang="en-US" altLang="zh-CN" dirty="0" smtClean="0"/>
          </a:p>
          <a:p>
            <a:r>
              <a:rPr lang="zh-CN" altLang="en-US" dirty="0" smtClean="0"/>
              <a:t>后手</a:t>
            </a:r>
            <a:r>
              <a:rPr lang="en-US" altLang="zh-CN" dirty="0" smtClean="0"/>
              <a:t>B</a:t>
            </a:r>
            <a:r>
              <a:rPr lang="zh-CN" altLang="en-US" dirty="0" smtClean="0"/>
              <a:t>如果取更少，必然会生成一个更小的</a:t>
            </a:r>
            <a:r>
              <a:rPr lang="en-US" altLang="zh-CN" dirty="0" smtClean="0"/>
              <a:t>1</a:t>
            </a:r>
          </a:p>
          <a:p>
            <a:r>
              <a:rPr lang="zh-CN" altLang="en-US" dirty="0" smtClean="0"/>
              <a:t>如：</a:t>
            </a:r>
            <a:r>
              <a:rPr lang="en-US" altLang="zh-CN" dirty="0" smtClean="0"/>
              <a:t>1000011110</a:t>
            </a:r>
            <a:r>
              <a:rPr lang="zh-CN" altLang="en-US" dirty="0" smtClean="0"/>
              <a:t>，先手再取最小的</a:t>
            </a:r>
            <a:r>
              <a:rPr lang="en-US" altLang="zh-CN" dirty="0" smtClean="0"/>
              <a:t>1</a:t>
            </a:r>
            <a:r>
              <a:rPr lang="zh-CN" altLang="en-US" dirty="0" smtClean="0"/>
              <a:t>，如此博弈后手就败了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K=1</a:t>
            </a:r>
            <a:r>
              <a:rPr lang="zh-CN" altLang="en-US" dirty="0" smtClean="0"/>
              <a:t>动态减法游戏解法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分析：用二进制表示。</a:t>
            </a:r>
            <a:endParaRPr lang="en-US" altLang="zh-CN" dirty="0" smtClean="0"/>
          </a:p>
          <a:p>
            <a:r>
              <a:rPr lang="zh-CN" altLang="en-US" dirty="0" smtClean="0"/>
              <a:t>比如：</a:t>
            </a:r>
            <a:r>
              <a:rPr lang="en-US" altLang="zh-CN" dirty="0" smtClean="0"/>
              <a:t>1000</a:t>
            </a:r>
            <a:r>
              <a:rPr lang="zh-CN" altLang="en-US" dirty="0" smtClean="0"/>
              <a:t> </a:t>
            </a:r>
            <a:r>
              <a:rPr lang="en-US" altLang="zh-CN" dirty="0" smtClean="0"/>
              <a:t>100</a:t>
            </a:r>
            <a:r>
              <a:rPr lang="zh-CN" altLang="en-US" dirty="0" smtClean="0"/>
              <a:t> </a:t>
            </a:r>
            <a:r>
              <a:rPr lang="en-US" altLang="zh-CN" dirty="0" smtClean="0"/>
              <a:t>100</a:t>
            </a:r>
          </a:p>
          <a:p>
            <a:r>
              <a:rPr lang="zh-CN" altLang="en-US" dirty="0" smtClean="0"/>
              <a:t>题外话：所以说</a:t>
            </a:r>
            <a:r>
              <a:rPr lang="en-US" altLang="zh-CN" dirty="0" smtClean="0"/>
              <a:t>B</a:t>
            </a:r>
            <a:r>
              <a:rPr lang="zh-CN" altLang="en-US" dirty="0" smtClean="0"/>
              <a:t>知道自己必败干脆拖时间算了（直接取</a:t>
            </a:r>
            <a:r>
              <a:rPr lang="en-US" altLang="zh-CN" dirty="0" smtClean="0"/>
              <a:t>1</a:t>
            </a:r>
            <a:r>
              <a:rPr lang="zh-CN" altLang="en-US" dirty="0" smtClean="0"/>
              <a:t>个）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K=2</a:t>
            </a:r>
            <a:r>
              <a:rPr lang="zh-CN" altLang="en-US" dirty="0" smtClean="0"/>
              <a:t>动态减法游戏解法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Fibonacci</a:t>
            </a:r>
          </a:p>
          <a:p>
            <a:r>
              <a:rPr lang="zh-CN" altLang="en-US" dirty="0" smtClean="0"/>
              <a:t>有必要详细分析一下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K=2</a:t>
            </a:r>
            <a:r>
              <a:rPr lang="zh-CN" altLang="en-US" dirty="0" smtClean="0"/>
              <a:t>动态减法游戏解法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f(</a:t>
            </a:r>
            <a:r>
              <a:rPr lang="en-US" dirty="0" smtClean="0"/>
              <a:t>Fibonacci)(1,2,3,5,8,…)</a:t>
            </a:r>
            <a:r>
              <a:rPr lang="zh-CN" altLang="en-US" dirty="0" smtClean="0"/>
              <a:t>，</a:t>
            </a:r>
            <a:endParaRPr lang="en-US" altLang="zh-CN" dirty="0" smtClean="0"/>
          </a:p>
          <a:p>
            <a:pPr>
              <a:buNone/>
            </a:pP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K=2</a:t>
            </a:r>
            <a:r>
              <a:rPr lang="zh-CN" altLang="en-US" dirty="0" smtClean="0"/>
              <a:t>动态减法游戏解法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假设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&lt;</a:t>
            </a:r>
            <a:r>
              <a:rPr lang="en-US" altLang="zh-CN" dirty="0" err="1" smtClean="0"/>
              <a:t>k,f</a:t>
            </a:r>
            <a:r>
              <a:rPr lang="en-US" altLang="zh-CN" dirty="0" smtClean="0"/>
              <a:t>[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]</a:t>
            </a:r>
            <a:r>
              <a:rPr lang="zh-CN" altLang="en-US" dirty="0" smtClean="0"/>
              <a:t>必败</a:t>
            </a:r>
            <a:endParaRPr lang="en-US" altLang="zh-CN" dirty="0" smtClean="0"/>
          </a:p>
          <a:p>
            <a:r>
              <a:rPr lang="en-US" altLang="zh-CN" dirty="0" smtClean="0"/>
              <a:t>f[i+1]=f[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]+f[i-1],(</a:t>
            </a:r>
            <a:r>
              <a:rPr lang="zh-CN" altLang="en-US" dirty="0" smtClean="0"/>
              <a:t>两堆</a:t>
            </a:r>
            <a:r>
              <a:rPr lang="en-US" altLang="zh-CN" dirty="0" smtClean="0"/>
              <a:t>)</a:t>
            </a:r>
          </a:p>
          <a:p>
            <a:r>
              <a:rPr lang="zh-CN" altLang="en-US" dirty="0" smtClean="0"/>
              <a:t>分析一下，如果总共取的数</a:t>
            </a:r>
            <a:r>
              <a:rPr lang="en-US" altLang="zh-CN" dirty="0" smtClean="0"/>
              <a:t>&lt;f[i-1],</a:t>
            </a:r>
            <a:r>
              <a:rPr lang="zh-CN" altLang="en-US" dirty="0" smtClean="0"/>
              <a:t>我们可以认为都在</a:t>
            </a:r>
            <a:r>
              <a:rPr lang="en-US" altLang="zh-CN" dirty="0" smtClean="0"/>
              <a:t>f[i-1]</a:t>
            </a:r>
            <a:r>
              <a:rPr lang="zh-CN" altLang="en-US" dirty="0" smtClean="0"/>
              <a:t>中取。</a:t>
            </a:r>
            <a:endParaRPr lang="en-US" altLang="zh-CN" dirty="0" smtClean="0"/>
          </a:p>
          <a:p>
            <a:r>
              <a:rPr lang="zh-CN" altLang="en-US" dirty="0" smtClean="0"/>
              <a:t>后手可以取完</a:t>
            </a:r>
            <a:r>
              <a:rPr lang="en-US" altLang="zh-CN" dirty="0" smtClean="0"/>
              <a:t>f[i-1],</a:t>
            </a:r>
            <a:r>
              <a:rPr lang="zh-CN" altLang="en-US" dirty="0" smtClean="0"/>
              <a:t>前提是先手要取超过</a:t>
            </a:r>
            <a:r>
              <a:rPr lang="en-US" altLang="zh-CN" dirty="0" smtClean="0"/>
              <a:t>1/3*f[i-1].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K=2</a:t>
            </a:r>
            <a:r>
              <a:rPr lang="zh-CN" altLang="en-US" dirty="0" smtClean="0"/>
              <a:t>动态减法游戏解法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即使后手一次性取了</a:t>
            </a:r>
            <a:r>
              <a:rPr lang="en-US" altLang="zh-CN" dirty="0" smtClean="0"/>
              <a:t>2/3*f[i-1]</a:t>
            </a:r>
            <a:r>
              <a:rPr lang="zh-CN" altLang="en-US" dirty="0" smtClean="0"/>
              <a:t>（反正就是把</a:t>
            </a:r>
            <a:r>
              <a:rPr lang="en-US" altLang="zh-CN" dirty="0" smtClean="0"/>
              <a:t>f[i-1]</a:t>
            </a:r>
            <a:r>
              <a:rPr lang="zh-CN" altLang="en-US" dirty="0" smtClean="0"/>
              <a:t>取完）</a:t>
            </a:r>
            <a:r>
              <a:rPr lang="en-US" altLang="zh-CN" dirty="0" smtClean="0"/>
              <a:t>,</a:t>
            </a:r>
            <a:r>
              <a:rPr lang="zh-CN" altLang="en-US" dirty="0" smtClean="0"/>
              <a:t>先手下一轮只能取</a:t>
            </a:r>
            <a:endParaRPr lang="en-US" altLang="zh-CN" dirty="0" smtClean="0"/>
          </a:p>
          <a:p>
            <a:r>
              <a:rPr lang="en-US" altLang="zh-CN" dirty="0" smtClean="0"/>
              <a:t>4/3</a:t>
            </a:r>
            <a:r>
              <a:rPr lang="zh-CN" altLang="en-US" dirty="0" smtClean="0"/>
              <a:t>*</a:t>
            </a:r>
            <a:r>
              <a:rPr lang="en-US" altLang="zh-CN" dirty="0" smtClean="0"/>
              <a:t>f[i-1]&lt;3/2*f[i-1]&lt;=f[i-2]+f[i-1]=f[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]</a:t>
            </a:r>
          </a:p>
          <a:p>
            <a:r>
              <a:rPr lang="zh-CN" altLang="en-US" dirty="0" smtClean="0"/>
              <a:t>所以先手还是不能立刻把</a:t>
            </a:r>
            <a:r>
              <a:rPr lang="en-US" altLang="zh-CN" dirty="0" smtClean="0"/>
              <a:t>f[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]</a:t>
            </a:r>
            <a:r>
              <a:rPr lang="zh-CN" altLang="en-US" dirty="0" smtClean="0"/>
              <a:t>取掉。</a:t>
            </a:r>
            <a:endParaRPr lang="en-US" altLang="zh-CN" dirty="0" smtClean="0"/>
          </a:p>
          <a:p>
            <a:r>
              <a:rPr lang="zh-CN" altLang="en-US" dirty="0" smtClean="0"/>
              <a:t>那么放缩递归到子问题</a:t>
            </a:r>
            <a:r>
              <a:rPr lang="en-US" altLang="zh-CN" dirty="0" smtClean="0"/>
              <a:t>f[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]</a:t>
            </a:r>
            <a:r>
              <a:rPr lang="zh-CN" altLang="en-US" dirty="0" smtClean="0"/>
              <a:t>完全成立。故必败。</a:t>
            </a:r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K=2</a:t>
            </a:r>
            <a:r>
              <a:rPr lang="zh-CN" altLang="en-US" dirty="0" smtClean="0"/>
              <a:t>动态减法游戏解法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至于先手第一次没有取</a:t>
            </a:r>
            <a:r>
              <a:rPr lang="en-US" altLang="zh-CN" dirty="0" smtClean="0"/>
              <a:t>&gt;1/3f[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]</a:t>
            </a:r>
            <a:r>
              <a:rPr lang="zh-CN" altLang="en-US" dirty="0" smtClean="0"/>
              <a:t>，由归纳假设后手必然取到</a:t>
            </a:r>
            <a:r>
              <a:rPr lang="en-US" altLang="zh-CN" dirty="0" smtClean="0"/>
              <a:t>f[i-1],</a:t>
            </a:r>
            <a:r>
              <a:rPr lang="zh-CN" altLang="en-US" dirty="0" smtClean="0"/>
              <a:t>且最后一次取的也不可能超过</a:t>
            </a:r>
            <a:r>
              <a:rPr lang="en-US" altLang="zh-CN" dirty="0" smtClean="0"/>
              <a:t>2/3f[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],</a:t>
            </a:r>
            <a:r>
              <a:rPr lang="zh-CN" altLang="en-US" dirty="0" smtClean="0"/>
              <a:t>所以没有问题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K=2</a:t>
            </a:r>
            <a:r>
              <a:rPr lang="zh-CN" altLang="en-US" dirty="0" smtClean="0"/>
              <a:t>动态减法游戏解法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 dirty="0" smtClean="0"/>
              <a:t>先手在必胜态的策略</a:t>
            </a:r>
            <a:endParaRPr lang="en-US" altLang="zh-CN" dirty="0" smtClean="0"/>
          </a:p>
          <a:p>
            <a:r>
              <a:rPr lang="zh-CN" altLang="en-US" dirty="0" smtClean="0"/>
              <a:t>“</a:t>
            </a:r>
            <a:r>
              <a:rPr lang="en-US" altLang="zh-CN" dirty="0" err="1" smtClean="0"/>
              <a:t>Zeckendorf</a:t>
            </a:r>
            <a:r>
              <a:rPr lang="zh-CN" altLang="en-US" dirty="0" smtClean="0"/>
              <a:t>定理”（齐肯多夫定理）：任何正整数可以表示为若干个不连续的</a:t>
            </a:r>
            <a:r>
              <a:rPr lang="en-US" altLang="zh-CN" dirty="0" err="1" smtClean="0"/>
              <a:t>Fibona</a:t>
            </a:r>
            <a:endParaRPr lang="en-US" altLang="zh-CN" dirty="0" smtClean="0"/>
          </a:p>
          <a:p>
            <a:r>
              <a:rPr lang="en-US" altLang="zh-CN" dirty="0" err="1" smtClean="0"/>
              <a:t>cci</a:t>
            </a:r>
            <a:r>
              <a:rPr lang="zh-CN" altLang="en-US" dirty="0" smtClean="0"/>
              <a:t>数之和。</a:t>
            </a:r>
            <a:endParaRPr lang="en-US" altLang="zh-CN" dirty="0" smtClean="0"/>
          </a:p>
          <a:p>
            <a:r>
              <a:rPr lang="zh-CN" altLang="en-US" dirty="0" smtClean="0"/>
              <a:t>也就是说</a:t>
            </a:r>
            <a:r>
              <a:rPr lang="en-US" altLang="zh-CN" dirty="0" smtClean="0"/>
              <a:t>A=f[c[1]]+f[c[2]]+….</a:t>
            </a:r>
          </a:p>
          <a:p>
            <a:r>
              <a:rPr lang="en-US" altLang="zh-CN" dirty="0" smtClean="0"/>
              <a:t>C[1]&gt;c[2]+1,c[2]&gt;c[3]+1….</a:t>
            </a:r>
          </a:p>
          <a:p>
            <a:r>
              <a:rPr lang="en-US" altLang="zh-CN" dirty="0" smtClean="0"/>
              <a:t>f[c[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]]&gt;f[c[i+1]]*2</a:t>
            </a:r>
          </a:p>
          <a:p>
            <a:r>
              <a:rPr lang="zh-CN" altLang="en-US" dirty="0" smtClean="0"/>
              <a:t>那么显然从小到大处理每个</a:t>
            </a:r>
            <a:r>
              <a:rPr lang="en-US" altLang="zh-CN" dirty="0" smtClean="0"/>
              <a:t>f</a:t>
            </a:r>
            <a:r>
              <a:rPr lang="zh-CN" altLang="en-US" dirty="0" smtClean="0"/>
              <a:t>就可以了（保证先后取每个</a:t>
            </a:r>
            <a:r>
              <a:rPr lang="en-US" altLang="zh-CN" dirty="0" smtClean="0"/>
              <a:t>f</a:t>
            </a:r>
            <a:r>
              <a:rPr lang="zh-CN" altLang="en-US" dirty="0" smtClean="0"/>
              <a:t>的最后一个）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K=2</a:t>
            </a:r>
            <a:r>
              <a:rPr lang="zh-CN" altLang="en-US" dirty="0" smtClean="0"/>
              <a:t>动态减法游戏解法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先手在必胜态的策略</a:t>
            </a:r>
            <a:endParaRPr lang="en-US" altLang="zh-CN" dirty="0" smtClean="0"/>
          </a:p>
          <a:p>
            <a:r>
              <a:rPr lang="zh-CN" altLang="en-US" dirty="0" smtClean="0"/>
              <a:t>先手取最小的</a:t>
            </a:r>
            <a:r>
              <a:rPr lang="en-US" altLang="zh-CN" dirty="0" smtClean="0"/>
              <a:t>f</a:t>
            </a:r>
            <a:r>
              <a:rPr lang="zh-CN" altLang="en-US" dirty="0" smtClean="0"/>
              <a:t>，以使后手必须对付某一个</a:t>
            </a:r>
            <a:r>
              <a:rPr lang="en-US" altLang="zh-CN" dirty="0" smtClean="0"/>
              <a:t>f</a:t>
            </a:r>
            <a:r>
              <a:rPr lang="zh-CN" altLang="en-US" dirty="0" smtClean="0"/>
              <a:t>且不能取完。于是就是一些子游戏且先手必定可以取到每个</a:t>
            </a:r>
            <a:r>
              <a:rPr lang="en-US" altLang="zh-CN" dirty="0" smtClean="0"/>
              <a:t>f</a:t>
            </a:r>
            <a:r>
              <a:rPr lang="zh-CN" altLang="en-US" dirty="0" smtClean="0"/>
              <a:t>的最后一个数字 。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K</a:t>
            </a:r>
            <a:r>
              <a:rPr lang="zh-CN" altLang="en-US" dirty="0" smtClean="0"/>
              <a:t>动态减法游戏解法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一般的，用</a:t>
            </a:r>
            <a:r>
              <a:rPr lang="en-US" altLang="zh-CN" dirty="0" smtClean="0"/>
              <a:t>a</a:t>
            </a:r>
            <a:r>
              <a:rPr lang="zh-CN" altLang="en-US" dirty="0" smtClean="0"/>
              <a:t>表示被求的数列（必败态），</a:t>
            </a:r>
            <a:r>
              <a:rPr lang="en-US" altLang="zh-CN" dirty="0" smtClean="0"/>
              <a:t>b[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]</a:t>
            </a:r>
            <a:r>
              <a:rPr lang="zh-CN" altLang="en-US" dirty="0" smtClean="0"/>
              <a:t>表示</a:t>
            </a:r>
            <a:r>
              <a:rPr lang="en-US" altLang="zh-CN" dirty="0" smtClean="0"/>
              <a:t>a[1~i]</a:t>
            </a:r>
            <a:r>
              <a:rPr lang="zh-CN" altLang="en-US" dirty="0" smtClean="0"/>
              <a:t>能够表示的最大数字，但“表示”必须满足从大往小贪的形式，且还要合法（类似</a:t>
            </a:r>
            <a:r>
              <a:rPr lang="en-US" altLang="zh-CN" dirty="0" err="1" smtClean="0"/>
              <a:t>Zeckendorf</a:t>
            </a:r>
            <a:r>
              <a:rPr lang="zh-CN" altLang="en-US" dirty="0" smtClean="0"/>
              <a:t>定理的意义）。</a:t>
            </a:r>
            <a:endParaRPr lang="en-US" altLang="zh-CN" dirty="0" smtClean="0"/>
          </a:p>
          <a:p>
            <a:r>
              <a:rPr lang="zh-CN" altLang="en-US" dirty="0" smtClean="0"/>
              <a:t>比如</a:t>
            </a:r>
            <a:r>
              <a:rPr lang="en-US" altLang="zh-CN" dirty="0" smtClean="0"/>
              <a:t>k=2</a:t>
            </a:r>
            <a:r>
              <a:rPr lang="zh-CN" altLang="en-US" dirty="0" smtClean="0"/>
              <a:t>，</a:t>
            </a:r>
            <a:r>
              <a:rPr lang="en-US" altLang="zh-CN" dirty="0" smtClean="0"/>
              <a:t>6=5+1</a:t>
            </a:r>
            <a:r>
              <a:rPr lang="zh-CN" altLang="en-US" dirty="0" smtClean="0"/>
              <a:t>（而不是</a:t>
            </a:r>
            <a:r>
              <a:rPr lang="en-US" altLang="zh-CN" dirty="0" smtClean="0"/>
              <a:t>1+2+3</a:t>
            </a:r>
            <a:r>
              <a:rPr lang="zh-CN" altLang="en-US" dirty="0" smtClean="0"/>
              <a:t>）。</a:t>
            </a:r>
            <a:endParaRPr lang="en-US" altLang="zh-CN" dirty="0" smtClean="0"/>
          </a:p>
          <a:p>
            <a:r>
              <a:rPr lang="zh-CN" altLang="en-US" dirty="0" smtClean="0"/>
              <a:t>但</a:t>
            </a:r>
            <a:r>
              <a:rPr lang="en-US" altLang="zh-CN" dirty="0" smtClean="0"/>
              <a:t>5=3+2</a:t>
            </a:r>
            <a:r>
              <a:rPr lang="zh-CN" altLang="en-US" dirty="0" smtClean="0"/>
              <a:t>也是非法的（要求</a:t>
            </a:r>
            <a:r>
              <a:rPr lang="en-US" altLang="zh-CN" dirty="0" smtClean="0"/>
              <a:t>2*2&lt;3</a:t>
            </a:r>
            <a:r>
              <a:rPr lang="zh-CN" altLang="en-US" dirty="0" smtClean="0"/>
              <a:t>）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K</a:t>
            </a:r>
            <a:r>
              <a:rPr lang="zh-CN" altLang="en-US" dirty="0" smtClean="0"/>
              <a:t>动态减法游戏解法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构造方法：</a:t>
            </a:r>
            <a:endParaRPr lang="en-US" altLang="zh-CN" dirty="0" smtClean="0"/>
          </a:p>
          <a:p>
            <a:r>
              <a:rPr lang="en-US" altLang="zh-CN" dirty="0" smtClean="0"/>
              <a:t>B[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]=a[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]+b[t](a[t]*k&lt;a[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])</a:t>
            </a:r>
            <a:r>
              <a:rPr lang="zh-CN" altLang="en-US" dirty="0" smtClean="0"/>
              <a:t>（为了满足一般划分后</a:t>
            </a:r>
            <a:r>
              <a:rPr lang="en-US" altLang="zh-CN" dirty="0" smtClean="0"/>
              <a:t>num=a[c[1]]+a[c[2]]+…,a[c[1]]&gt;a[c[2]]*k,…</a:t>
            </a:r>
            <a:r>
              <a:rPr lang="zh-CN" altLang="en-US" dirty="0" smtClean="0"/>
              <a:t>以防止对最小的</a:t>
            </a:r>
            <a:r>
              <a:rPr lang="en-US" altLang="zh-CN" dirty="0" smtClean="0"/>
              <a:t>a</a:t>
            </a:r>
            <a:r>
              <a:rPr lang="zh-CN" altLang="en-US" dirty="0" smtClean="0"/>
              <a:t>处理时改变大的</a:t>
            </a:r>
            <a:r>
              <a:rPr lang="en-US" altLang="zh-CN" dirty="0" smtClean="0"/>
              <a:t>a</a:t>
            </a:r>
            <a:r>
              <a:rPr lang="zh-CN" altLang="en-US" dirty="0" smtClean="0"/>
              <a:t>的）</a:t>
            </a:r>
            <a:endParaRPr lang="en-US" altLang="zh-CN" dirty="0" smtClean="0"/>
          </a:p>
          <a:p>
            <a:r>
              <a:rPr lang="zh-CN" altLang="en-US" dirty="0" smtClean="0"/>
              <a:t>第一步最少取的个数即拆分后的最小的</a:t>
            </a:r>
            <a:r>
              <a:rPr lang="en-US" altLang="zh-CN" dirty="0" smtClean="0"/>
              <a:t>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K</a:t>
            </a:r>
            <a:r>
              <a:rPr lang="zh-CN" altLang="en-US" dirty="0" smtClean="0"/>
              <a:t>动态减法游戏解法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构造方法：</a:t>
            </a:r>
            <a:endParaRPr lang="en-US" altLang="zh-CN" dirty="0" smtClean="0"/>
          </a:p>
          <a:p>
            <a:r>
              <a:rPr lang="en-US" altLang="zh-CN" dirty="0" smtClean="0"/>
              <a:t>B[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]=a[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]+b[t](a[t]*k&lt;a[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])</a:t>
            </a:r>
            <a:r>
              <a:rPr lang="zh-CN" altLang="en-US" dirty="0" smtClean="0"/>
              <a:t>（为了满足一般划分后</a:t>
            </a:r>
            <a:r>
              <a:rPr lang="en-US" altLang="zh-CN" dirty="0" smtClean="0"/>
              <a:t>num=a[c[1]]+a[c[2]]+…,a[c[1]]&gt;a[c[2]]*k,…</a:t>
            </a:r>
            <a:r>
              <a:rPr lang="zh-CN" altLang="en-US" dirty="0" smtClean="0"/>
              <a:t>以防止取走小的</a:t>
            </a:r>
            <a:r>
              <a:rPr lang="en-US" altLang="zh-CN" dirty="0" smtClean="0"/>
              <a:t>a</a:t>
            </a:r>
            <a:r>
              <a:rPr lang="zh-CN" altLang="en-US" dirty="0" smtClean="0"/>
              <a:t>后对方可以一次性把大的</a:t>
            </a:r>
            <a:r>
              <a:rPr lang="en-US" altLang="zh-CN" dirty="0" smtClean="0"/>
              <a:t>a</a:t>
            </a:r>
            <a:r>
              <a:rPr lang="zh-CN" altLang="en-US" dirty="0" smtClean="0"/>
              <a:t>取走）</a:t>
            </a:r>
            <a:endParaRPr lang="en-US" altLang="zh-CN" dirty="0" smtClean="0"/>
          </a:p>
          <a:p>
            <a:r>
              <a:rPr lang="zh-CN" altLang="en-US" dirty="0" smtClean="0"/>
              <a:t>第一步最少取的个数即拆分后的最小的</a:t>
            </a:r>
            <a:r>
              <a:rPr lang="en-US" altLang="zh-CN" dirty="0" smtClean="0"/>
              <a:t>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 smtClean="0"/>
              <a:t>零和博弈（纳什均衡）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百度一下：</a:t>
            </a:r>
            <a:endParaRPr lang="en-US" altLang="zh-CN" dirty="0" smtClean="0"/>
          </a:p>
          <a:p>
            <a:r>
              <a:rPr lang="zh-CN" altLang="en-US" dirty="0"/>
              <a:t>零和</a:t>
            </a:r>
            <a:r>
              <a:rPr lang="zh-CN" altLang="en-US" dirty="0" smtClean="0"/>
              <a:t>博弈：</a:t>
            </a:r>
            <a:r>
              <a:rPr lang="zh-CN" altLang="en-US" dirty="0"/>
              <a:t>在严格竞争下，一方的收益必然意味着另一方的损失，博弈各方的收益和损失相加总和永远为“零”，双方不存在合作的可能</a:t>
            </a:r>
            <a:r>
              <a:rPr lang="zh-CN" altLang="en-US" dirty="0" smtClean="0"/>
              <a:t>。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 smtClean="0"/>
              <a:t>零和博弈（纳什均衡）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百度一下：</a:t>
            </a:r>
            <a:endParaRPr lang="en-US" altLang="zh-CN" dirty="0" smtClean="0"/>
          </a:p>
          <a:p>
            <a:r>
              <a:rPr lang="zh-CN" altLang="en-US" dirty="0" smtClean="0"/>
              <a:t>纳什均衡：</a:t>
            </a:r>
            <a:r>
              <a:rPr lang="zh-CN" altLang="en-US" dirty="0"/>
              <a:t>非合作博弈均衡</a:t>
            </a:r>
            <a:r>
              <a:rPr lang="zh-CN" altLang="en-US" dirty="0" smtClean="0"/>
              <a:t>，</a:t>
            </a:r>
            <a:r>
              <a:rPr lang="zh-CN" altLang="en-US" dirty="0"/>
              <a:t>是一种策略组合，使得同一时间内每个参与人的策略是对其他参与人策略的最优反应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/>
              <a:t>“纯战略纳什均衡</a:t>
            </a:r>
            <a:r>
              <a:rPr lang="zh-CN" altLang="en-US" dirty="0" smtClean="0"/>
              <a:t>”</a:t>
            </a:r>
            <a:endParaRPr lang="en-US" altLang="zh-CN" dirty="0" smtClean="0"/>
          </a:p>
          <a:p>
            <a:r>
              <a:rPr lang="zh-CN" altLang="en-US" dirty="0" smtClean="0"/>
              <a:t>“</a:t>
            </a:r>
            <a:r>
              <a:rPr lang="zh-CN" altLang="en-US" dirty="0"/>
              <a:t>混合战略纳什均衡”。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纳什均衡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假设有</a:t>
            </a:r>
            <a:r>
              <a:rPr lang="en-US" altLang="zh-CN" dirty="0" smtClean="0"/>
              <a:t>n</a:t>
            </a:r>
            <a:r>
              <a:rPr lang="zh-CN" altLang="en-US" dirty="0" smtClean="0"/>
              <a:t>个局中人参与博弈，如果某情况下无一参与者可以独自行动而增加收益（即为了自身利益的最大化，没有任何单独的一方愿意改变其策略的，则此策略组合被称为纳什均衡。</a:t>
            </a:r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纳什均衡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骗分导论上提到了一个例子</a:t>
            </a:r>
            <a:r>
              <a:rPr lang="zh-CN" altLang="en-US" dirty="0" smtClean="0">
                <a:sym typeface="Wingdings" pitchFamily="2" charset="2"/>
              </a:rPr>
              <a:t>（</a:t>
            </a:r>
            <a:r>
              <a:rPr lang="zh-CN" altLang="en-US" dirty="0" smtClean="0"/>
              <a:t>智猪博弈）</a:t>
            </a:r>
            <a:endParaRPr lang="en-US" altLang="zh-CN" dirty="0" smtClean="0"/>
          </a:p>
          <a:p>
            <a:r>
              <a:rPr lang="zh-CN" altLang="en-US" dirty="0" smtClean="0"/>
              <a:t>两只猪被关在一个猪圈中，猪圈的一侧有一个踏 板，另一侧是食槽。任何一只猪去踩踏板，都会立即在食槽中喂食。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纳什均衡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Case1</a:t>
            </a:r>
            <a:r>
              <a:rPr lang="zh-CN" altLang="en-US" dirty="0" smtClean="0"/>
              <a:t>：若大猪踩了踏板，小猪 会先开始吃，等到大猪赶回来时，还有</a:t>
            </a:r>
            <a:r>
              <a:rPr lang="en-US" altLang="zh-CN" dirty="0" smtClean="0"/>
              <a:t>3/4</a:t>
            </a:r>
            <a:r>
              <a:rPr lang="zh-CN" altLang="en-US" dirty="0" smtClean="0"/>
              <a:t>食料留给大猪；若小猪踩踏板，大猪在小猪回来 时刚好将食吃完。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纳什均衡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Case2</a:t>
            </a:r>
            <a:r>
              <a:rPr lang="zh-CN" altLang="en-US" dirty="0" smtClean="0"/>
              <a:t>：若大猪踩了踏板，小猪 会先开始吃，等到大猪赶回来时，还有</a:t>
            </a:r>
            <a:r>
              <a:rPr lang="en-US" altLang="zh-CN" dirty="0" smtClean="0"/>
              <a:t>1/2</a:t>
            </a:r>
            <a:r>
              <a:rPr lang="zh-CN" altLang="en-US" dirty="0" smtClean="0"/>
              <a:t>食料留给大猪；若小猪踩踏板，大猪在小猪回来 时刚好将食吃完。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纳什均衡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Case3</a:t>
            </a:r>
            <a:r>
              <a:rPr lang="zh-CN" altLang="en-US" dirty="0" smtClean="0"/>
              <a:t>：若大猪踩了踏板，小猪 会先开始吃，等到大猪赶回来时，还有</a:t>
            </a:r>
            <a:r>
              <a:rPr lang="en-US" altLang="zh-CN" dirty="0" smtClean="0"/>
              <a:t>1/4</a:t>
            </a:r>
            <a:r>
              <a:rPr lang="zh-CN" altLang="en-US" dirty="0" smtClean="0"/>
              <a:t>食料留给大猪；若小猪踩踏板，大猪在小猪回来 时刚好将食吃完。</a:t>
            </a:r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纳什均衡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Case4</a:t>
            </a:r>
            <a:r>
              <a:rPr lang="zh-CN" altLang="en-US" dirty="0" smtClean="0"/>
              <a:t>：若小猪踩踏板，大猪与小猪平分食料；若大猪踩踏板，小猪占四分之一，大 猪占四分之三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纳什均衡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Case5</a:t>
            </a:r>
            <a:r>
              <a:rPr lang="zh-CN" altLang="en-US" dirty="0" smtClean="0"/>
              <a:t>：如果小猪、大猪踩踏板都会被对方抢完食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纳什均衡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>
                <a:hlinkClick r:id="rId2" action="ppaction://hlinkfile"/>
              </a:rPr>
              <a:t>Uoj97</a:t>
            </a:r>
            <a:r>
              <a:rPr lang="zh-CN" altLang="en-US" dirty="0" smtClean="0">
                <a:hlinkClick r:id="rId2" action="ppaction://hlinkfile"/>
              </a:rPr>
              <a:t>最优决策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纳什均衡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>
                <a:hlinkClick r:id="rId2" action="ppaction://hlinkfile"/>
              </a:rPr>
              <a:t>Uoj97</a:t>
            </a:r>
            <a:r>
              <a:rPr lang="zh-CN" altLang="en-US" dirty="0" smtClean="0">
                <a:hlinkClick r:id="rId2" action="ppaction://hlinkfile"/>
              </a:rPr>
              <a:t>最优决策</a:t>
            </a:r>
            <a:endParaRPr lang="en-US" altLang="zh-CN" dirty="0" smtClean="0"/>
          </a:p>
          <a:p>
            <a:r>
              <a:rPr lang="zh-CN" altLang="en-US" dirty="0" smtClean="0"/>
              <a:t>注意数据是随机生成</a:t>
            </a:r>
            <a:endParaRPr lang="en-US" altLang="zh-CN" dirty="0" smtClean="0"/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纳什均衡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>
                <a:hlinkClick r:id="rId2" action="ppaction://hlinkfile"/>
              </a:rPr>
              <a:t>Uoj97</a:t>
            </a:r>
            <a:r>
              <a:rPr lang="zh-CN" altLang="en-US" dirty="0" smtClean="0">
                <a:hlinkClick r:id="rId2" action="ppaction://hlinkfile"/>
              </a:rPr>
              <a:t>最优决策</a:t>
            </a:r>
            <a:endParaRPr lang="en-US" altLang="zh-CN" dirty="0" smtClean="0"/>
          </a:p>
          <a:p>
            <a:r>
              <a:rPr lang="zh-CN" altLang="en-US" dirty="0" smtClean="0"/>
              <a:t>注意数据是随机生成</a:t>
            </a:r>
            <a:endParaRPr lang="en-US" altLang="zh-CN" dirty="0" smtClean="0"/>
          </a:p>
          <a:p>
            <a:r>
              <a:rPr lang="zh-CN" altLang="en-US" dirty="0" smtClean="0"/>
              <a:t>状态</a:t>
            </a:r>
            <a:r>
              <a:rPr lang="en-US" altLang="zh-CN" dirty="0" smtClean="0"/>
              <a:t>:f[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][j]:</a:t>
            </a:r>
            <a:r>
              <a:rPr lang="zh-CN" altLang="en-US" dirty="0" smtClean="0"/>
              <a:t>自己和对方的能量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纳什均衡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>
                <a:hlinkClick r:id="rId2" action="ppaction://hlinkfile"/>
              </a:rPr>
              <a:t>Uoj97</a:t>
            </a:r>
            <a:r>
              <a:rPr lang="zh-CN" altLang="en-US" dirty="0" smtClean="0">
                <a:hlinkClick r:id="rId2" action="ppaction://hlinkfile"/>
              </a:rPr>
              <a:t>最优决策</a:t>
            </a:r>
            <a:endParaRPr lang="en-US" altLang="zh-CN" dirty="0" smtClean="0"/>
          </a:p>
          <a:p>
            <a:r>
              <a:rPr lang="zh-CN" altLang="en-US" dirty="0" smtClean="0"/>
              <a:t>注意数据是随机生成</a:t>
            </a:r>
            <a:endParaRPr lang="en-US" altLang="zh-CN" dirty="0" smtClean="0"/>
          </a:p>
          <a:p>
            <a:r>
              <a:rPr lang="zh-CN" altLang="en-US" dirty="0" smtClean="0"/>
              <a:t>金策：两个表都给出了，高斯消元？</a:t>
            </a:r>
            <a:endParaRPr lang="en-US" altLang="zh-CN" dirty="0" smtClean="0"/>
          </a:p>
          <a:p>
            <a:r>
              <a:rPr lang="zh-CN" altLang="en-US" dirty="0"/>
              <a:t> </a:t>
            </a:r>
            <a:r>
              <a:rPr lang="zh-CN" altLang="en-US" dirty="0" smtClean="0"/>
              <a:t>   不过讲道理随机数据，迭代几十盘基本上概率就稳定了（兹瓷）</a:t>
            </a:r>
            <a:endParaRPr lang="en-US" altLang="zh-CN" dirty="0" smtClean="0"/>
          </a:p>
          <a:p>
            <a:r>
              <a:rPr lang="en-US" altLang="zh-CN" dirty="0" smtClean="0"/>
              <a:t>(</a:t>
            </a:r>
            <a:r>
              <a:rPr lang="zh-CN" altLang="en-US" dirty="0" smtClean="0"/>
              <a:t>具体实现时认为几十轮后双方胜率接近</a:t>
            </a:r>
            <a:r>
              <a:rPr lang="en-US" altLang="zh-CN" dirty="0" smtClean="0"/>
              <a:t>50%</a:t>
            </a:r>
            <a:r>
              <a:rPr lang="zh-CN" altLang="en-US" dirty="0" smtClean="0"/>
              <a:t>，用下一盘迭代上一盘</a:t>
            </a:r>
            <a:r>
              <a:rPr lang="en-US" altLang="zh-CN" dirty="0" smtClean="0"/>
              <a:t>)</a:t>
            </a:r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纳什均衡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>
                <a:hlinkClick r:id="rId2" action="ppaction://hlinkfile"/>
              </a:rPr>
              <a:t>Uoj97</a:t>
            </a:r>
            <a:r>
              <a:rPr lang="zh-CN" altLang="en-US" dirty="0" smtClean="0">
                <a:hlinkClick r:id="rId2" action="ppaction://hlinkfile"/>
              </a:rPr>
              <a:t>最优决策</a:t>
            </a:r>
            <a:endParaRPr lang="en-US" altLang="zh-CN" dirty="0" smtClean="0"/>
          </a:p>
          <a:p>
            <a:r>
              <a:rPr lang="zh-CN" altLang="en-US" dirty="0" smtClean="0"/>
              <a:t>注意数据是随机生成</a:t>
            </a:r>
            <a:endParaRPr lang="en-US" altLang="zh-CN" dirty="0" smtClean="0"/>
          </a:p>
          <a:p>
            <a:r>
              <a:rPr lang="zh-CN" altLang="en-US" dirty="0" smtClean="0"/>
              <a:t>计策：知道对方的决策表，然而对方决策是有概率的。</a:t>
            </a:r>
            <a:endParaRPr lang="en-US" altLang="zh-CN" dirty="0" smtClean="0"/>
          </a:p>
          <a:p>
            <a:r>
              <a:rPr lang="zh-CN" altLang="en-US" dirty="0"/>
              <a:t>怎么</a:t>
            </a:r>
            <a:r>
              <a:rPr lang="zh-CN" altLang="en-US" dirty="0" smtClean="0"/>
              <a:t>做？</a:t>
            </a:r>
            <a:endParaRPr lang="en-US" altLang="zh-CN" dirty="0" smtClean="0"/>
          </a:p>
          <a:p>
            <a:r>
              <a:rPr lang="zh-CN" altLang="en-US" dirty="0"/>
              <a:t>虽然对方是混杂的</a:t>
            </a:r>
            <a:r>
              <a:rPr lang="zh-CN" altLang="en-US" dirty="0" smtClean="0"/>
              <a:t>概率，但是凭直觉一定存在一种最优方案使得自己只做一种策略是最优的（不混杂其他策略）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纳什均衡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>
                <a:hlinkClick r:id="rId2" action="ppaction://hlinkfile"/>
              </a:rPr>
              <a:t>Uoj97</a:t>
            </a:r>
            <a:r>
              <a:rPr lang="zh-CN" altLang="en-US" dirty="0" smtClean="0">
                <a:hlinkClick r:id="rId2" action="ppaction://hlinkfile"/>
              </a:rPr>
              <a:t>最优决策</a:t>
            </a:r>
            <a:endParaRPr lang="en-US" altLang="zh-CN" dirty="0" smtClean="0"/>
          </a:p>
          <a:p>
            <a:r>
              <a:rPr lang="zh-CN" altLang="en-US" dirty="0" smtClean="0"/>
              <a:t>注意数据是随机生成</a:t>
            </a:r>
            <a:endParaRPr lang="en-US" altLang="zh-CN" dirty="0" smtClean="0"/>
          </a:p>
          <a:p>
            <a:r>
              <a:rPr lang="zh-CN" altLang="en-US" dirty="0" smtClean="0"/>
              <a:t>计策：知道对方的决策表，然而对方决策是有概率的。</a:t>
            </a:r>
            <a:endParaRPr lang="en-US" altLang="zh-CN" dirty="0" smtClean="0"/>
          </a:p>
          <a:p>
            <a:r>
              <a:rPr lang="zh-CN" altLang="en-US" dirty="0"/>
              <a:t>怎么</a:t>
            </a:r>
            <a:r>
              <a:rPr lang="zh-CN" altLang="en-US" dirty="0" smtClean="0"/>
              <a:t>做？</a:t>
            </a:r>
            <a:endParaRPr lang="en-US" altLang="zh-CN" dirty="0" smtClean="0"/>
          </a:p>
          <a:p>
            <a:r>
              <a:rPr lang="zh-CN" altLang="en-US" dirty="0" smtClean="0"/>
              <a:t>迭代找最优决策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纳什均衡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>
                <a:hlinkClick r:id="rId2" action="ppaction://hlinkfile"/>
              </a:rPr>
              <a:t>Uoj97</a:t>
            </a:r>
            <a:r>
              <a:rPr lang="zh-CN" altLang="en-US" dirty="0" smtClean="0">
                <a:hlinkClick r:id="rId2" action="ppaction://hlinkfile"/>
              </a:rPr>
              <a:t>最优决策</a:t>
            </a:r>
            <a:endParaRPr lang="en-US" altLang="zh-CN" dirty="0" smtClean="0"/>
          </a:p>
          <a:p>
            <a:r>
              <a:rPr lang="zh-CN" altLang="en-US" dirty="0" smtClean="0"/>
              <a:t>注意数据是随机生成</a:t>
            </a:r>
            <a:endParaRPr lang="en-US" altLang="zh-CN" dirty="0" smtClean="0"/>
          </a:p>
          <a:p>
            <a:r>
              <a:rPr lang="zh-CN" altLang="en-US" dirty="0" smtClean="0"/>
              <a:t>决策：欲求万胜之术（胜率</a:t>
            </a:r>
            <a:r>
              <a:rPr lang="en-US" altLang="zh-CN" dirty="0" smtClean="0"/>
              <a:t>&gt;50%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r>
              <a:rPr lang="zh-CN" altLang="en-US" dirty="0"/>
              <a:t>解不定方程组（单纯型）</a:t>
            </a:r>
            <a:r>
              <a:rPr lang="zh-CN" altLang="en-US" dirty="0" smtClean="0"/>
              <a:t>迭代</a:t>
            </a:r>
            <a:endParaRPr lang="en-US" altLang="zh-CN" dirty="0" smtClean="0"/>
          </a:p>
          <a:p>
            <a:r>
              <a:rPr lang="zh-CN" altLang="en-US" dirty="0" smtClean="0"/>
              <a:t>怎么列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纳什均衡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>
                <a:hlinkClick r:id="rId2" action="ppaction://hlinkfile"/>
              </a:rPr>
              <a:t>Uoj97</a:t>
            </a:r>
            <a:r>
              <a:rPr lang="zh-CN" altLang="en-US" dirty="0" smtClean="0">
                <a:hlinkClick r:id="rId2" action="ppaction://hlinkfile"/>
              </a:rPr>
              <a:t>最优决策</a:t>
            </a:r>
            <a:endParaRPr lang="en-US" altLang="zh-CN" dirty="0" smtClean="0"/>
          </a:p>
          <a:p>
            <a:r>
              <a:rPr lang="zh-CN" altLang="en-US" dirty="0" smtClean="0"/>
              <a:t>注意数据是随机生成</a:t>
            </a:r>
            <a:endParaRPr lang="en-US" altLang="zh-CN" dirty="0" smtClean="0"/>
          </a:p>
          <a:p>
            <a:r>
              <a:rPr lang="zh-CN" altLang="en-US" dirty="0" smtClean="0"/>
              <a:t>决策：欲求万胜之术（胜率</a:t>
            </a:r>
            <a:r>
              <a:rPr lang="en-US" altLang="zh-CN" dirty="0" smtClean="0"/>
              <a:t>&gt;50%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r>
              <a:rPr lang="en-US" altLang="zh-CN" dirty="0" smtClean="0"/>
              <a:t>M</a:t>
            </a:r>
            <a:r>
              <a:rPr lang="zh-CN" altLang="en-US" dirty="0" smtClean="0"/>
              <a:t>个变量记录自己做某个决策的概率，另一个变量记录</a:t>
            </a:r>
            <a:r>
              <a:rPr lang="en-US" altLang="zh-CN" dirty="0" err="1" smtClean="0"/>
              <a:t>ans</a:t>
            </a:r>
            <a:endParaRPr lang="en-US" altLang="zh-CN" dirty="0" smtClean="0"/>
          </a:p>
          <a:p>
            <a:r>
              <a:rPr lang="en-US" altLang="zh-CN" dirty="0" smtClean="0"/>
              <a:t>1</a:t>
            </a:r>
            <a:r>
              <a:rPr lang="zh-CN" altLang="en-US" dirty="0" smtClean="0"/>
              <a:t>、决策概率和</a:t>
            </a:r>
            <a:r>
              <a:rPr lang="en-US" altLang="zh-CN" dirty="0" smtClean="0"/>
              <a:t>=1</a:t>
            </a:r>
          </a:p>
          <a:p>
            <a:r>
              <a:rPr lang="en-US" altLang="zh-CN" dirty="0" smtClean="0"/>
              <a:t>2</a:t>
            </a:r>
            <a:r>
              <a:rPr lang="zh-CN" altLang="en-US" dirty="0" smtClean="0"/>
              <a:t>、对方每种决策（显然对方会用一种决策破解）自己胜率</a:t>
            </a:r>
            <a:r>
              <a:rPr lang="en-US" altLang="zh-CN" dirty="0" smtClean="0"/>
              <a:t>&gt;</a:t>
            </a:r>
            <a:r>
              <a:rPr lang="en-US" altLang="zh-CN" dirty="0" err="1" smtClean="0"/>
              <a:t>ans</a:t>
            </a:r>
            <a:r>
              <a:rPr lang="en-US" altLang="zh-CN" dirty="0" smtClean="0"/>
              <a:t>,</a:t>
            </a:r>
            <a:r>
              <a:rPr lang="zh-CN" altLang="en-US" dirty="0" smtClean="0"/>
              <a:t>最大化</a:t>
            </a:r>
            <a:r>
              <a:rPr lang="en-US" altLang="zh-CN" dirty="0" err="1" smtClean="0"/>
              <a:t>ans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博弈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小结：</a:t>
            </a:r>
            <a:endParaRPr lang="en-US" altLang="zh-CN" dirty="0" smtClean="0"/>
          </a:p>
          <a:p>
            <a:r>
              <a:rPr lang="zh-CN" altLang="en-US" dirty="0" smtClean="0"/>
              <a:t>除了纳什均衡，其他题目推荐先打表。</a:t>
            </a:r>
            <a:endParaRPr lang="en-US" altLang="zh-CN" dirty="0" smtClean="0"/>
          </a:p>
          <a:p>
            <a:r>
              <a:rPr lang="zh-CN" altLang="en-US" dirty="0"/>
              <a:t>多积累一些经典问题</a:t>
            </a:r>
            <a:r>
              <a:rPr lang="zh-CN" altLang="en-US" dirty="0" smtClean="0"/>
              <a:t>，</a:t>
            </a:r>
            <a:r>
              <a:rPr lang="zh-CN" altLang="en-US" dirty="0"/>
              <a:t>多积累一些优化</a:t>
            </a:r>
            <a:r>
              <a:rPr lang="zh-CN" altLang="en-US" dirty="0" smtClean="0"/>
              <a:t>方法。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计算几何</a:t>
            </a:r>
            <a:endParaRPr lang="zh-CN" altLang="en-US" dirty="0"/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计算几何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二维计算几何：灵活运用点积叉积</a:t>
            </a:r>
            <a:endParaRPr lang="en-US" altLang="zh-CN" dirty="0" smtClean="0"/>
          </a:p>
          <a:p>
            <a:r>
              <a:rPr lang="zh-CN" altLang="en-US" dirty="0" smtClean="0"/>
              <a:t>三维计算几何：灵活运用点积叉积法向量</a:t>
            </a:r>
            <a:endParaRPr lang="en-US" altLang="zh-CN" dirty="0" smtClean="0"/>
          </a:p>
          <a:p>
            <a:r>
              <a:rPr lang="zh-CN" altLang="en-US" dirty="0" smtClean="0"/>
              <a:t>解法多种多样，尽量少用三角函数（产生误差）、解方程（繁琐）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自适应辛普森</a:t>
            </a:r>
            <a:endParaRPr lang="en-US" altLang="zh-CN" dirty="0" smtClean="0"/>
          </a:p>
          <a:p>
            <a:r>
              <a:rPr lang="zh-CN" altLang="en-US" dirty="0" smtClean="0"/>
              <a:t>说实话可以看</a:t>
            </a:r>
            <a:r>
              <a:rPr lang="en-US" altLang="zh-CN" dirty="0" smtClean="0"/>
              <a:t>ld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wy</a:t>
            </a:r>
            <a:r>
              <a:rPr lang="zh-CN" altLang="en-US" dirty="0"/>
              <a:t>、</a:t>
            </a:r>
            <a:r>
              <a:rPr lang="en-US" altLang="zh-CN" dirty="0" err="1" smtClean="0"/>
              <a:t>cyb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lrj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yml</a:t>
            </a:r>
            <a:r>
              <a:rPr lang="zh-CN" altLang="en-US" dirty="0" smtClean="0"/>
              <a:t>以前的</a:t>
            </a:r>
            <a:r>
              <a:rPr lang="en-US" altLang="zh-CN" dirty="0" err="1" smtClean="0"/>
              <a:t>ppt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二维计算几何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CN" altLang="en-US" dirty="0" smtClean="0"/>
              <a:t>点积叉积</a:t>
            </a:r>
            <a:endParaRPr lang="en-US" altLang="zh-CN" dirty="0" smtClean="0"/>
          </a:p>
          <a:p>
            <a:r>
              <a:rPr lang="zh-CN" altLang="en-US" dirty="0" smtClean="0"/>
              <a:t>凸包</a:t>
            </a:r>
            <a:endParaRPr lang="en-US" altLang="zh-CN" dirty="0" smtClean="0"/>
          </a:p>
          <a:p>
            <a:r>
              <a:rPr lang="zh-CN" altLang="en-US" dirty="0"/>
              <a:t>半平面</a:t>
            </a:r>
            <a:r>
              <a:rPr lang="zh-CN" altLang="en-US" dirty="0" smtClean="0"/>
              <a:t>交</a:t>
            </a:r>
            <a:endParaRPr lang="en-US" altLang="zh-CN" dirty="0" smtClean="0"/>
          </a:p>
          <a:p>
            <a:r>
              <a:rPr lang="zh-CN" altLang="en-US" dirty="0"/>
              <a:t>旋转</a:t>
            </a:r>
            <a:r>
              <a:rPr lang="zh-CN" altLang="en-US" dirty="0" smtClean="0"/>
              <a:t>卡壳</a:t>
            </a:r>
            <a:endParaRPr lang="en-US" altLang="zh-CN" dirty="0" smtClean="0"/>
          </a:p>
          <a:p>
            <a:r>
              <a:rPr lang="zh-CN" altLang="en-US" dirty="0" smtClean="0"/>
              <a:t>对偶</a:t>
            </a:r>
            <a:endParaRPr lang="en-US" altLang="zh-CN" dirty="0" smtClean="0"/>
          </a:p>
          <a:p>
            <a:r>
              <a:rPr lang="zh-CN" altLang="en-US" dirty="0" smtClean="0"/>
              <a:t>反演</a:t>
            </a:r>
            <a:endParaRPr lang="en-US" altLang="zh-CN" dirty="0" smtClean="0"/>
          </a:p>
          <a:p>
            <a:endParaRPr lang="en-US" altLang="zh-CN" dirty="0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zh-CN" altLang="en-US" dirty="0" smtClean="0"/>
              <a:t>以下略过</a:t>
            </a:r>
            <a:endParaRPr lang="en-US" altLang="zh-CN" dirty="0" smtClean="0"/>
          </a:p>
          <a:p>
            <a:r>
              <a:rPr lang="zh-CN" altLang="en-US" dirty="0" smtClean="0"/>
              <a:t>平面图</a:t>
            </a:r>
            <a:r>
              <a:rPr lang="zh-CN" altLang="en-US" dirty="0"/>
              <a:t>抠</a:t>
            </a:r>
            <a:r>
              <a:rPr lang="zh-CN" altLang="en-US" dirty="0" smtClean="0"/>
              <a:t>域</a:t>
            </a:r>
            <a:endParaRPr lang="en-US" altLang="zh-CN" dirty="0" smtClean="0"/>
          </a:p>
          <a:p>
            <a:r>
              <a:rPr lang="en-US" altLang="zh-CN" dirty="0" smtClean="0"/>
              <a:t>Delaunay</a:t>
            </a:r>
            <a:r>
              <a:rPr lang="zh-CN" altLang="en-US" dirty="0" smtClean="0"/>
              <a:t>三角剖分</a:t>
            </a:r>
            <a:endParaRPr lang="en-US" altLang="zh-CN" dirty="0" smtClean="0"/>
          </a:p>
          <a:p>
            <a:r>
              <a:rPr lang="en-US" altLang="zh-CN" dirty="0" err="1" smtClean="0"/>
              <a:t>Voronoi</a:t>
            </a:r>
            <a:r>
              <a:rPr lang="zh-CN" altLang="en-US" dirty="0" smtClean="0"/>
              <a:t>图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en-US" altLang="zh-CN" dirty="0" err="1" smtClean="0"/>
              <a:t>Yml</a:t>
            </a:r>
            <a:r>
              <a:rPr lang="zh-CN" altLang="en-US" dirty="0" smtClean="0"/>
              <a:t>上次讲过的就省略讲了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点积叉积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点积</a:t>
            </a:r>
            <a:r>
              <a:rPr lang="en-US" altLang="zh-CN" dirty="0" smtClean="0"/>
              <a:t>(Ax*</a:t>
            </a:r>
            <a:r>
              <a:rPr lang="en-US" altLang="zh-CN" dirty="0" err="1" smtClean="0"/>
              <a:t>Bx+Ay</a:t>
            </a:r>
            <a:r>
              <a:rPr lang="en-US" altLang="zh-CN" dirty="0" smtClean="0"/>
              <a:t>*By)</a:t>
            </a:r>
            <a:r>
              <a:rPr lang="zh-CN" altLang="en-US" dirty="0" smtClean="0"/>
              <a:t>判前后</a:t>
            </a:r>
            <a:r>
              <a:rPr lang="en-US" altLang="zh-CN" dirty="0" smtClean="0"/>
              <a:t>,</a:t>
            </a:r>
          </a:p>
          <a:p>
            <a:r>
              <a:rPr lang="zh-CN" altLang="en-US" dirty="0" smtClean="0"/>
              <a:t>叉积</a:t>
            </a:r>
            <a:r>
              <a:rPr lang="en-US" altLang="zh-CN" dirty="0" smtClean="0"/>
              <a:t>(Ax*By-Ay*</a:t>
            </a:r>
            <a:r>
              <a:rPr lang="en-US" altLang="zh-CN" dirty="0" err="1" smtClean="0"/>
              <a:t>Bx</a:t>
            </a:r>
            <a:r>
              <a:rPr lang="en-US" altLang="zh-CN" dirty="0" smtClean="0"/>
              <a:t>)</a:t>
            </a:r>
            <a:r>
              <a:rPr lang="zh-CN" altLang="en-US" dirty="0" smtClean="0"/>
              <a:t>判左右</a:t>
            </a:r>
            <a:r>
              <a:rPr lang="en-US" altLang="zh-CN" dirty="0" smtClean="0"/>
              <a:t>.</a:t>
            </a:r>
          </a:p>
          <a:p>
            <a:r>
              <a:rPr lang="zh-CN" altLang="en-US" dirty="0" smtClean="0"/>
              <a:t>应用</a:t>
            </a:r>
            <a:r>
              <a:rPr lang="en-US" altLang="zh-CN" dirty="0" smtClean="0"/>
              <a:t>:</a:t>
            </a:r>
          </a:p>
          <a:p>
            <a:r>
              <a:rPr lang="zh-CN" altLang="en-US" dirty="0" smtClean="0"/>
              <a:t>三角形有向面积</a:t>
            </a:r>
            <a:endParaRPr lang="en-US" altLang="zh-CN" dirty="0" smtClean="0"/>
          </a:p>
          <a:p>
            <a:r>
              <a:rPr lang="zh-CN" altLang="en-US" dirty="0" smtClean="0"/>
              <a:t>判断线段相交</a:t>
            </a:r>
            <a:endParaRPr lang="en-US" altLang="zh-CN" dirty="0" smtClean="0"/>
          </a:p>
          <a:p>
            <a:r>
              <a:rPr lang="zh-CN" altLang="en-US" dirty="0" smtClean="0"/>
              <a:t>求投影</a:t>
            </a:r>
            <a:endParaRPr lang="en-US" altLang="zh-CN" dirty="0" smtClean="0"/>
          </a:p>
          <a:p>
            <a:r>
              <a:rPr lang="zh-CN" altLang="en-US" dirty="0" smtClean="0"/>
              <a:t>求线段交点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凸包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构造就不用说了。</a:t>
            </a:r>
            <a:endParaRPr lang="en-US" altLang="zh-CN" dirty="0" smtClean="0"/>
          </a:p>
          <a:p>
            <a:r>
              <a:rPr lang="zh-CN" altLang="en-US" dirty="0" smtClean="0"/>
              <a:t>判断点是否在凸包内</a:t>
            </a:r>
            <a:endParaRPr lang="en-US" altLang="zh-CN" dirty="0" smtClean="0"/>
          </a:p>
          <a:p>
            <a:r>
              <a:rPr lang="zh-CN" altLang="en-US" dirty="0" smtClean="0"/>
              <a:t>判断直线是否穿过凸包</a:t>
            </a:r>
            <a:endParaRPr lang="en-US" altLang="zh-CN" dirty="0" smtClean="0"/>
          </a:p>
          <a:p>
            <a:r>
              <a:rPr lang="zh-CN" altLang="en-US" dirty="0" smtClean="0">
                <a:solidFill>
                  <a:schemeClr val="bg1"/>
                </a:solidFill>
              </a:rPr>
              <a:t>动态加点维护凸包？？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反演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只要记得怎么反演就可以了。</a:t>
            </a:r>
            <a:endParaRPr lang="en-US" altLang="zh-CN" dirty="0" smtClean="0"/>
          </a:p>
          <a:p>
            <a:r>
              <a:rPr lang="en-US" altLang="zh-CN" dirty="0" smtClean="0"/>
              <a:t>OP*OP’=k^2,</a:t>
            </a:r>
            <a:r>
              <a:rPr lang="zh-CN" altLang="en-US" dirty="0" smtClean="0"/>
              <a:t>且</a:t>
            </a:r>
            <a:r>
              <a:rPr lang="en-US" altLang="zh-CN" dirty="0" smtClean="0"/>
              <a:t>P’</a:t>
            </a:r>
            <a:r>
              <a:rPr lang="zh-CN" altLang="en-US" dirty="0" smtClean="0"/>
              <a:t>在</a:t>
            </a:r>
            <a:r>
              <a:rPr lang="en-US" altLang="zh-CN" dirty="0" smtClean="0"/>
              <a:t>OP</a:t>
            </a:r>
            <a:r>
              <a:rPr lang="zh-CN" altLang="en-US" dirty="0" smtClean="0"/>
              <a:t>的射线上。</a:t>
            </a:r>
            <a:endParaRPr lang="en-US" altLang="zh-CN" dirty="0" smtClean="0"/>
          </a:p>
          <a:p>
            <a:r>
              <a:rPr lang="zh-CN" altLang="en-US" dirty="0" smtClean="0"/>
              <a:t>至于对应的形状自己画一下就知道了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平面图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平面图欧拉定理 ：点数</a:t>
            </a:r>
            <a:r>
              <a:rPr lang="en-US" altLang="zh-CN" dirty="0" smtClean="0"/>
              <a:t>+</a:t>
            </a:r>
            <a:r>
              <a:rPr lang="zh-CN" altLang="en-US" dirty="0" smtClean="0"/>
              <a:t>域数</a:t>
            </a:r>
            <a:r>
              <a:rPr lang="en-US" altLang="zh-CN" dirty="0" smtClean="0"/>
              <a:t>-</a:t>
            </a:r>
            <a:r>
              <a:rPr lang="zh-CN" altLang="en-US" dirty="0" smtClean="0"/>
              <a:t>边数</a:t>
            </a:r>
            <a:r>
              <a:rPr lang="en-US" altLang="zh-CN" dirty="0" smtClean="0"/>
              <a:t>=2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Delaunay</a:t>
            </a:r>
            <a:r>
              <a:rPr lang="zh-CN" altLang="en-US" dirty="0" smtClean="0"/>
              <a:t>三角剖分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分治构造</a:t>
            </a:r>
            <a:endParaRPr lang="en-US" altLang="zh-CN" dirty="0" smtClean="0"/>
          </a:p>
          <a:p>
            <a:r>
              <a:rPr lang="zh-CN" altLang="en-US" dirty="0"/>
              <a:t>关键</a:t>
            </a:r>
            <a:r>
              <a:rPr lang="zh-CN" altLang="en-US" dirty="0" smtClean="0"/>
              <a:t>是合并</a:t>
            </a:r>
            <a:endParaRPr lang="en-US" altLang="zh-CN" dirty="0" smtClean="0"/>
          </a:p>
          <a:p>
            <a:r>
              <a:rPr lang="zh-CN" altLang="en-US" dirty="0"/>
              <a:t>找到正</a:t>
            </a:r>
            <a:r>
              <a:rPr lang="zh-CN" altLang="en-US" dirty="0" smtClean="0"/>
              <a:t>切线</a:t>
            </a:r>
            <a:r>
              <a:rPr lang="en-US" altLang="zh-CN" dirty="0" smtClean="0"/>
              <a:t>AB</a:t>
            </a:r>
            <a:r>
              <a:rPr lang="zh-CN" altLang="en-US" dirty="0" smtClean="0"/>
              <a:t>，作中垂线</a:t>
            </a:r>
            <a:r>
              <a:rPr lang="en-US" altLang="zh-CN" dirty="0" smtClean="0"/>
              <a:t>l</a:t>
            </a:r>
            <a:r>
              <a:rPr lang="zh-CN" altLang="en-US" dirty="0" smtClean="0"/>
              <a:t>，扫描</a:t>
            </a:r>
            <a:r>
              <a:rPr lang="en-US" altLang="zh-CN" dirty="0"/>
              <a:t>A</a:t>
            </a:r>
            <a:r>
              <a:rPr lang="zh-CN" altLang="en-US" dirty="0" smtClean="0"/>
              <a:t>、</a:t>
            </a:r>
            <a:r>
              <a:rPr lang="en-US" altLang="zh-CN" dirty="0" smtClean="0"/>
              <a:t>B</a:t>
            </a:r>
            <a:r>
              <a:rPr lang="zh-CN" altLang="en-US" dirty="0" smtClean="0"/>
              <a:t>上方邻边，如果邻边的中垂线与</a:t>
            </a:r>
            <a:r>
              <a:rPr lang="en-US" altLang="zh-CN" dirty="0" smtClean="0"/>
              <a:t>l</a:t>
            </a:r>
            <a:r>
              <a:rPr lang="zh-CN" altLang="en-US" dirty="0" smtClean="0"/>
              <a:t>相交，选择</a:t>
            </a:r>
            <a:r>
              <a:rPr lang="en-US" altLang="zh-CN" dirty="0" smtClean="0"/>
              <a:t>y</a:t>
            </a:r>
            <a:r>
              <a:rPr lang="zh-CN" altLang="en-US" dirty="0" smtClean="0"/>
              <a:t>最小的一个（记邻边为</a:t>
            </a:r>
            <a:r>
              <a:rPr lang="en-US" altLang="zh-CN" dirty="0" smtClean="0"/>
              <a:t>AC</a:t>
            </a:r>
            <a:r>
              <a:rPr lang="zh-CN" altLang="en-US" dirty="0" smtClean="0"/>
              <a:t>），连接</a:t>
            </a:r>
            <a:r>
              <a:rPr lang="en-US" altLang="zh-CN" dirty="0" smtClean="0"/>
              <a:t>AC</a:t>
            </a:r>
            <a:r>
              <a:rPr lang="zh-CN" altLang="en-US" dirty="0" smtClean="0"/>
              <a:t>并删掉与</a:t>
            </a:r>
            <a:r>
              <a:rPr lang="en-US" altLang="zh-CN" dirty="0" smtClean="0"/>
              <a:t>AC</a:t>
            </a:r>
            <a:r>
              <a:rPr lang="zh-CN" altLang="en-US" dirty="0" smtClean="0"/>
              <a:t>相交的边。</a:t>
            </a:r>
            <a:endParaRPr lang="en-US" altLang="zh-CN" dirty="0" smtClean="0"/>
          </a:p>
          <a:p>
            <a:r>
              <a:rPr lang="zh-CN" altLang="en-US" dirty="0"/>
              <a:t>用</a:t>
            </a:r>
            <a:r>
              <a:rPr lang="en-US" altLang="zh-CN" dirty="0" smtClean="0"/>
              <a:t>AC</a:t>
            </a:r>
            <a:r>
              <a:rPr lang="zh-CN" altLang="en-US" dirty="0" smtClean="0"/>
              <a:t>取代</a:t>
            </a:r>
            <a:r>
              <a:rPr lang="en-US" altLang="zh-CN" dirty="0" smtClean="0"/>
              <a:t>AB</a:t>
            </a:r>
            <a:r>
              <a:rPr lang="zh-CN" altLang="en-US" dirty="0" smtClean="0"/>
              <a:t>重复上述过程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Voronoi</a:t>
            </a:r>
            <a:r>
              <a:rPr lang="zh-CN" altLang="en-US" dirty="0" smtClean="0"/>
              <a:t>图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只讲</a:t>
            </a:r>
            <a:r>
              <a:rPr lang="en-US" altLang="zh-CN" dirty="0" smtClean="0"/>
              <a:t>Delaunay</a:t>
            </a:r>
            <a:r>
              <a:rPr lang="zh-CN" altLang="en-US" dirty="0" smtClean="0"/>
              <a:t>三角剖分对偶成</a:t>
            </a:r>
            <a:r>
              <a:rPr lang="en-US" altLang="zh-CN" dirty="0" err="1" smtClean="0"/>
              <a:t>Voronoi</a:t>
            </a:r>
            <a:r>
              <a:rPr lang="zh-CN" altLang="en-US" dirty="0" smtClean="0"/>
              <a:t>图的方法</a:t>
            </a:r>
            <a:endParaRPr lang="en-US" altLang="zh-CN" dirty="0" smtClean="0"/>
          </a:p>
          <a:p>
            <a:r>
              <a:rPr lang="en-US" altLang="zh-CN" dirty="0" smtClean="0"/>
              <a:t>1</a:t>
            </a:r>
            <a:r>
              <a:rPr lang="zh-CN" altLang="en-US" dirty="0" smtClean="0"/>
              <a:t>、求出三角形的外心，对于边相邻两个域所代表的圆心连边（如果是无穷域就做中垂线）</a:t>
            </a:r>
            <a:endParaRPr lang="en-US" altLang="zh-CN" dirty="0" smtClean="0"/>
          </a:p>
          <a:p>
            <a:r>
              <a:rPr lang="en-US" altLang="zh-CN" dirty="0" smtClean="0"/>
              <a:t>2</a:t>
            </a:r>
            <a:r>
              <a:rPr lang="zh-CN" altLang="en-US" dirty="0" smtClean="0"/>
              <a:t>、再跑一下</a:t>
            </a:r>
            <a:r>
              <a:rPr lang="en-US" altLang="zh-CN" dirty="0" err="1" smtClean="0"/>
              <a:t>Voronoi</a:t>
            </a:r>
            <a:r>
              <a:rPr lang="zh-CN" altLang="en-US" dirty="0" smtClean="0"/>
              <a:t>图，判断每个域是属于原来哪一个点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三维计算几何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点积叉积法向量</a:t>
            </a:r>
            <a:endParaRPr lang="en-US" altLang="zh-CN" dirty="0" smtClean="0"/>
          </a:p>
          <a:p>
            <a:r>
              <a:rPr lang="zh-CN" altLang="en-US" dirty="0" smtClean="0"/>
              <a:t>凸包</a:t>
            </a:r>
            <a:endParaRPr lang="en-US" altLang="zh-CN" dirty="0" smtClean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点积叉积法向量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 smtClean="0"/>
              <a:t>叉积的计算</a:t>
            </a:r>
            <a:endParaRPr lang="en-US" altLang="zh-CN" dirty="0" smtClean="0"/>
          </a:p>
          <a:p>
            <a:r>
              <a:rPr lang="zh-CN" altLang="en-US" dirty="0" smtClean="0"/>
              <a:t>（</a:t>
            </a:r>
            <a:r>
              <a:rPr lang="en-US" altLang="zh-CN" dirty="0" smtClean="0"/>
              <a:t>Ay</a:t>
            </a:r>
            <a:r>
              <a:rPr lang="zh-CN" altLang="en-US" dirty="0" smtClean="0"/>
              <a:t>*</a:t>
            </a:r>
            <a:r>
              <a:rPr lang="en-US" altLang="zh-CN" dirty="0" err="1" smtClean="0"/>
              <a:t>Bz-Az</a:t>
            </a:r>
            <a:r>
              <a:rPr lang="en-US" altLang="zh-CN" dirty="0" smtClean="0"/>
              <a:t>*</a:t>
            </a:r>
            <a:r>
              <a:rPr lang="en-US" altLang="zh-CN" dirty="0" err="1" smtClean="0"/>
              <a:t>By,Az</a:t>
            </a:r>
            <a:r>
              <a:rPr lang="en-US" altLang="zh-CN" dirty="0" smtClean="0"/>
              <a:t>*</a:t>
            </a:r>
            <a:r>
              <a:rPr lang="en-US" altLang="zh-CN" dirty="0" err="1" smtClean="0"/>
              <a:t>Bx</a:t>
            </a:r>
            <a:r>
              <a:rPr lang="en-US" altLang="zh-CN" dirty="0" smtClean="0"/>
              <a:t>-Ax*</a:t>
            </a:r>
            <a:r>
              <a:rPr lang="en-US" altLang="zh-CN" dirty="0" err="1" smtClean="0"/>
              <a:t>Bz,Ax</a:t>
            </a:r>
            <a:r>
              <a:rPr lang="en-US" altLang="zh-CN" dirty="0" smtClean="0"/>
              <a:t>*By-Ay*</a:t>
            </a:r>
            <a:r>
              <a:rPr lang="en-US" altLang="zh-CN" dirty="0" err="1" smtClean="0"/>
              <a:t>Bx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r>
              <a:rPr lang="zh-CN" altLang="en-US" dirty="0" smtClean="0"/>
              <a:t>求体积</a:t>
            </a:r>
            <a:endParaRPr lang="en-US" altLang="zh-CN" dirty="0" smtClean="0"/>
          </a:p>
          <a:p>
            <a:r>
              <a:rPr lang="zh-CN" altLang="en-US" dirty="0" smtClean="0"/>
              <a:t>求投影</a:t>
            </a:r>
            <a:endParaRPr lang="en-US" altLang="zh-CN" dirty="0" smtClean="0"/>
          </a:p>
          <a:p>
            <a:r>
              <a:rPr lang="en-US" altLang="zh-CN" dirty="0" smtClean="0"/>
              <a:t>CTSC2017</a:t>
            </a:r>
            <a:r>
              <a:rPr lang="zh-CN" altLang="en-US" dirty="0" smtClean="0"/>
              <a:t>投影：</a:t>
            </a:r>
            <a:endParaRPr lang="en-US" altLang="zh-CN" dirty="0" smtClean="0"/>
          </a:p>
          <a:p>
            <a:r>
              <a:rPr lang="en-US" altLang="zh-CN" dirty="0" smtClean="0"/>
              <a:t>1</a:t>
            </a:r>
            <a:r>
              <a:rPr lang="zh-CN" altLang="en-US" dirty="0" smtClean="0"/>
              <a:t>、二维的点投影到直线上</a:t>
            </a:r>
            <a:endParaRPr lang="en-US" altLang="zh-CN" dirty="0" smtClean="0"/>
          </a:p>
          <a:p>
            <a:r>
              <a:rPr lang="en-US" altLang="zh-CN" dirty="0" smtClean="0"/>
              <a:t>2</a:t>
            </a:r>
            <a:r>
              <a:rPr lang="zh-CN" altLang="en-US" dirty="0" smtClean="0"/>
              <a:t>、三维的点投影到直线上</a:t>
            </a:r>
            <a:endParaRPr lang="en-US" altLang="zh-CN" dirty="0" smtClean="0"/>
          </a:p>
          <a:p>
            <a:r>
              <a:rPr lang="en-US" altLang="zh-CN" dirty="0" smtClean="0"/>
              <a:t>3</a:t>
            </a:r>
            <a:r>
              <a:rPr lang="zh-CN" altLang="en-US" dirty="0" smtClean="0"/>
              <a:t>、三维的点投影到平面上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点积叉积法向量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CTSC2017</a:t>
            </a:r>
            <a:r>
              <a:rPr lang="zh-CN" altLang="en-US" dirty="0" smtClean="0"/>
              <a:t>投影：</a:t>
            </a:r>
            <a:endParaRPr lang="en-US" altLang="zh-CN" dirty="0" smtClean="0"/>
          </a:p>
          <a:p>
            <a:r>
              <a:rPr lang="en-US" altLang="zh-CN" dirty="0" smtClean="0"/>
              <a:t>1</a:t>
            </a:r>
            <a:r>
              <a:rPr lang="zh-CN" altLang="en-US" dirty="0" smtClean="0"/>
              <a:t>、二维的点投影到直线上（点积）</a:t>
            </a:r>
            <a:endParaRPr lang="en-US" altLang="zh-CN" dirty="0" smtClean="0"/>
          </a:p>
          <a:p>
            <a:r>
              <a:rPr lang="en-US" altLang="zh-CN" dirty="0" smtClean="0"/>
              <a:t>2</a:t>
            </a:r>
            <a:r>
              <a:rPr lang="zh-CN" altLang="en-US" dirty="0" smtClean="0"/>
              <a:t>、三维的点投影到直线上（点积）</a:t>
            </a:r>
            <a:endParaRPr lang="en-US" altLang="zh-CN" dirty="0" smtClean="0"/>
          </a:p>
          <a:p>
            <a:r>
              <a:rPr lang="en-US" altLang="zh-CN" dirty="0" smtClean="0"/>
              <a:t>3</a:t>
            </a:r>
            <a:r>
              <a:rPr lang="zh-CN" altLang="en-US" dirty="0" smtClean="0"/>
              <a:t>、三维的点投影到平面上（对法向量求投影再平移法向量就可以对应到平面上）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点积叉积法向量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直线与平面的交点：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点积叉积法向量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直线与平面的交点：</a:t>
            </a:r>
            <a:r>
              <a:rPr lang="en-US" altLang="zh-CN" dirty="0" err="1" smtClean="0"/>
              <a:t>yml</a:t>
            </a:r>
            <a:r>
              <a:rPr lang="zh-CN" altLang="en-US" dirty="0" smtClean="0"/>
              <a:t>上次给了一个公式</a:t>
            </a:r>
            <a:r>
              <a:rPr lang="en-US" altLang="zh-CN" dirty="0" smtClean="0"/>
              <a:t>…</a:t>
            </a:r>
            <a:r>
              <a:rPr lang="zh-CN" altLang="en-US" dirty="0" smtClean="0"/>
              <a:t>不过要记许多三维计算几何的公式是比较难的。直接取两个点算到平面的距离。</a:t>
            </a:r>
            <a:r>
              <a:rPr lang="zh-CN" altLang="en-US" dirty="0"/>
              <a:t>然后</a:t>
            </a:r>
            <a:r>
              <a:rPr lang="zh-CN" altLang="en-US" dirty="0" smtClean="0"/>
              <a:t>直接求出交点。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点积叉积法向量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两直线的最近点对：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点积叉积法向量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两直线的最近点对：嗯嗯。首先连接这两个点的线段一定与两条直线垂直。再加上两个点分别在对应直线上可以解方程。公式有点难记。</a:t>
            </a:r>
            <a:endParaRPr lang="en-US" altLang="zh-CN" dirty="0" smtClean="0"/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点积叉积法向量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两直线的最近点对：</a:t>
            </a:r>
            <a:endParaRPr lang="en-US" altLang="zh-CN" dirty="0" smtClean="0"/>
          </a:p>
          <a:p>
            <a:r>
              <a:rPr lang="zh-CN" altLang="en-US" dirty="0" smtClean="0"/>
              <a:t>其他方法：取一个直线</a:t>
            </a:r>
            <a:r>
              <a:rPr lang="en-US" altLang="zh-CN" dirty="0" smtClean="0"/>
              <a:t>A</a:t>
            </a:r>
            <a:r>
              <a:rPr lang="zh-CN" altLang="en-US" dirty="0" smtClean="0"/>
              <a:t>上的一点，把另一个直线</a:t>
            </a:r>
            <a:r>
              <a:rPr lang="en-US" altLang="zh-CN" dirty="0" smtClean="0"/>
              <a:t>B</a:t>
            </a:r>
            <a:r>
              <a:rPr lang="zh-CN" altLang="en-US" dirty="0" smtClean="0"/>
              <a:t>平移过来（</a:t>
            </a:r>
            <a:r>
              <a:rPr lang="en-US" altLang="zh-CN" dirty="0" smtClean="0"/>
              <a:t>B’</a:t>
            </a:r>
            <a:r>
              <a:rPr lang="zh-CN" altLang="en-US" dirty="0" smtClean="0"/>
              <a:t>），求出平面，再求平面与直线</a:t>
            </a:r>
            <a:r>
              <a:rPr lang="en-US" altLang="zh-CN" dirty="0" smtClean="0"/>
              <a:t>B</a:t>
            </a:r>
            <a:r>
              <a:rPr lang="zh-CN" altLang="en-US" dirty="0" smtClean="0"/>
              <a:t>的距离（显然随便取直线上一个点就好了）。再按照距离平移</a:t>
            </a:r>
            <a:r>
              <a:rPr lang="en-US" altLang="zh-CN" dirty="0" smtClean="0"/>
              <a:t>A</a:t>
            </a:r>
            <a:r>
              <a:rPr lang="zh-CN" altLang="en-US" dirty="0" smtClean="0"/>
              <a:t>（</a:t>
            </a:r>
            <a:r>
              <a:rPr lang="en-US" altLang="zh-CN" dirty="0" smtClean="0"/>
              <a:t>A’</a:t>
            </a:r>
            <a:r>
              <a:rPr lang="zh-CN" altLang="en-US" dirty="0" smtClean="0"/>
              <a:t>），最后求</a:t>
            </a:r>
            <a:r>
              <a:rPr lang="en-US" altLang="zh-CN" dirty="0" smtClean="0"/>
              <a:t>A’</a:t>
            </a:r>
            <a:r>
              <a:rPr lang="zh-CN" altLang="en-US" dirty="0" smtClean="0"/>
              <a:t>与</a:t>
            </a:r>
            <a:r>
              <a:rPr lang="en-US" altLang="zh-CN" dirty="0" smtClean="0"/>
              <a:t>B’</a:t>
            </a:r>
            <a:r>
              <a:rPr lang="zh-CN" altLang="en-US" dirty="0" smtClean="0"/>
              <a:t>的交点（另一个也就出来了）</a:t>
            </a:r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点积叉积法向量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求两平面交线（</a:t>
            </a:r>
            <a:r>
              <a:rPr lang="en-US" altLang="zh-CN" dirty="0" err="1" smtClean="0"/>
              <a:t>yml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lrj</a:t>
            </a:r>
            <a:r>
              <a:rPr lang="zh-CN" altLang="en-US" dirty="0" smtClean="0"/>
              <a:t>都提到了，比较清楚）</a:t>
            </a:r>
            <a:endParaRPr lang="en-US" altLang="zh-CN" dirty="0" smtClean="0"/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点积叉积法向量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求两平面交线（</a:t>
            </a:r>
            <a:r>
              <a:rPr lang="en-US" altLang="zh-CN" dirty="0" err="1" smtClean="0"/>
              <a:t>yml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lrj</a:t>
            </a:r>
            <a:r>
              <a:rPr lang="zh-CN" altLang="en-US" dirty="0" smtClean="0"/>
              <a:t>都提到了，比较清楚）</a:t>
            </a:r>
            <a:endParaRPr lang="en-US" altLang="zh-CN" dirty="0" smtClean="0"/>
          </a:p>
          <a:p>
            <a:r>
              <a:rPr lang="zh-CN" altLang="en-US" dirty="0" smtClean="0"/>
              <a:t>求两个平面的法向量所在平面的法向量</a:t>
            </a:r>
            <a:r>
              <a:rPr lang="en-US" altLang="zh-CN" dirty="0" smtClean="0"/>
              <a:t>C</a:t>
            </a:r>
            <a:r>
              <a:rPr lang="zh-CN" altLang="en-US" dirty="0" smtClean="0"/>
              <a:t>，很明显交线与此平行。在</a:t>
            </a:r>
            <a:r>
              <a:rPr lang="en-US" altLang="zh-CN" dirty="0" smtClean="0"/>
              <a:t>A</a:t>
            </a:r>
            <a:r>
              <a:rPr lang="zh-CN" altLang="en-US" dirty="0" smtClean="0"/>
              <a:t>平面上随机取两个点形成直线求与</a:t>
            </a:r>
            <a:r>
              <a:rPr lang="en-US" altLang="zh-CN" dirty="0" smtClean="0"/>
              <a:t>B</a:t>
            </a:r>
            <a:r>
              <a:rPr lang="zh-CN" altLang="en-US" dirty="0" smtClean="0"/>
              <a:t>平面的交点</a:t>
            </a:r>
            <a:r>
              <a:rPr lang="en-US" altLang="zh-CN" dirty="0" smtClean="0"/>
              <a:t>D</a:t>
            </a:r>
            <a:r>
              <a:rPr lang="zh-CN" altLang="en-US" dirty="0" smtClean="0"/>
              <a:t>，把法向量平移过去就可以了</a:t>
            </a:r>
            <a:endParaRPr lang="en-US" altLang="zh-CN" dirty="0" smtClean="0"/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点积叉积法向量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小结：灵活运用点积叉积法向量，三维计算几何的一个复杂公式都不用记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三维凸包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构造？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三维凸包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构造？</a:t>
            </a:r>
            <a:endParaRPr lang="en-US" altLang="zh-CN" dirty="0" smtClean="0"/>
          </a:p>
          <a:p>
            <a:r>
              <a:rPr lang="zh-CN" altLang="en-US" dirty="0" smtClean="0"/>
              <a:t>我知道随机增量是</a:t>
            </a:r>
            <a:r>
              <a:rPr lang="en-US" altLang="zh-CN" dirty="0" err="1" smtClean="0"/>
              <a:t>nlogn</a:t>
            </a:r>
            <a:r>
              <a:rPr lang="zh-CN" altLang="en-US" dirty="0" smtClean="0"/>
              <a:t>的（</a:t>
            </a:r>
            <a:r>
              <a:rPr lang="en-US" altLang="zh-CN" dirty="0" err="1" smtClean="0"/>
              <a:t>yml</a:t>
            </a:r>
            <a:r>
              <a:rPr lang="zh-CN" altLang="en-US" dirty="0" smtClean="0"/>
              <a:t>上次写的是</a:t>
            </a:r>
            <a:r>
              <a:rPr lang="en-US" altLang="zh-CN" dirty="0" err="1" smtClean="0"/>
              <a:t>nsqrtn</a:t>
            </a:r>
            <a:r>
              <a:rPr lang="zh-CN" altLang="en-US" dirty="0" smtClean="0"/>
              <a:t>，但是</a:t>
            </a:r>
            <a:r>
              <a:rPr lang="en-US" altLang="zh-CN" dirty="0" err="1" smtClean="0"/>
              <a:t>lrj</a:t>
            </a:r>
            <a:r>
              <a:rPr lang="zh-CN" altLang="en-US" dirty="0" smtClean="0"/>
              <a:t>和大部分人都写的是</a:t>
            </a:r>
            <a:r>
              <a:rPr lang="en-US" altLang="zh-CN" dirty="0" err="1" smtClean="0"/>
              <a:t>nlogn</a:t>
            </a:r>
            <a:r>
              <a:rPr lang="zh-CN" altLang="en-US" dirty="0" smtClean="0"/>
              <a:t>），但是如果判断点</a:t>
            </a:r>
            <a:r>
              <a:rPr lang="en-US" altLang="zh-CN" dirty="0" smtClean="0"/>
              <a:t>”</a:t>
            </a:r>
            <a:r>
              <a:rPr lang="zh-CN" altLang="en-US" dirty="0" smtClean="0"/>
              <a:t>被平面看见</a:t>
            </a:r>
            <a:r>
              <a:rPr lang="en-US" altLang="zh-CN" dirty="0" smtClean="0"/>
              <a:t>”</a:t>
            </a:r>
            <a:r>
              <a:rPr lang="zh-CN" altLang="en-US" dirty="0" smtClean="0"/>
              <a:t>或平面</a:t>
            </a:r>
            <a:r>
              <a:rPr lang="en-US" altLang="zh-CN" dirty="0" smtClean="0"/>
              <a:t>”</a:t>
            </a:r>
            <a:r>
              <a:rPr lang="zh-CN" altLang="en-US" dirty="0" smtClean="0"/>
              <a:t>看见了哪些点</a:t>
            </a:r>
            <a:r>
              <a:rPr lang="en-US" altLang="zh-CN" dirty="0" smtClean="0"/>
              <a:t>”</a:t>
            </a:r>
            <a:r>
              <a:rPr lang="zh-CN" altLang="en-US" dirty="0" smtClean="0"/>
              <a:t>速度太慢复杂度就不太对了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三维凸包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构造？</a:t>
            </a:r>
            <a:endParaRPr lang="en-US" altLang="zh-CN" dirty="0" smtClean="0"/>
          </a:p>
          <a:p>
            <a:r>
              <a:rPr lang="en-US" altLang="zh-CN" dirty="0" smtClean="0"/>
              <a:t>N^3??</a:t>
            </a:r>
          </a:p>
          <a:p>
            <a:r>
              <a:rPr lang="zh-CN" altLang="en-US" dirty="0" smtClean="0"/>
              <a:t>什么情况</a:t>
            </a:r>
            <a:endParaRPr lang="en-US" altLang="zh-CN" dirty="0" smtClean="0"/>
          </a:p>
          <a:p>
            <a:r>
              <a:rPr lang="en-US" altLang="zh-CN" dirty="0" smtClean="0"/>
              <a:t>N^2??</a:t>
            </a:r>
          </a:p>
          <a:p>
            <a:r>
              <a:rPr lang="zh-CN" altLang="en-US" dirty="0" smtClean="0"/>
              <a:t>枚举点，只要在这个平面对应的半空间外即可（在凸包外部，且可以被该平面看见）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三维凸包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构造？</a:t>
            </a:r>
            <a:endParaRPr lang="en-US" altLang="zh-CN" dirty="0" smtClean="0"/>
          </a:p>
          <a:p>
            <a:r>
              <a:rPr lang="zh-CN" altLang="en-US" dirty="0" smtClean="0"/>
              <a:t>首先前</a:t>
            </a:r>
            <a:r>
              <a:rPr lang="en-US" altLang="zh-CN" dirty="0" smtClean="0"/>
              <a:t>4</a:t>
            </a:r>
            <a:r>
              <a:rPr lang="zh-CN" altLang="en-US" dirty="0" smtClean="0"/>
              <a:t>个点乱构造（随便选四个点构成立体凸包）</a:t>
            </a:r>
            <a:endParaRPr lang="en-US" altLang="zh-CN" dirty="0" smtClean="0"/>
          </a:p>
          <a:p>
            <a:r>
              <a:rPr lang="en-US" altLang="zh-CN" dirty="0" smtClean="0"/>
              <a:t>1</a:t>
            </a:r>
            <a:r>
              <a:rPr lang="zh-CN" altLang="en-US" dirty="0" smtClean="0"/>
              <a:t>、调整各平面点的顺序，一般做到法向量向外（即凸包内的点与法向量点积</a:t>
            </a:r>
            <a:r>
              <a:rPr lang="en-US" altLang="zh-CN" dirty="0" smtClean="0"/>
              <a:t>&lt;0</a:t>
            </a:r>
            <a:r>
              <a:rPr lang="zh-CN" altLang="en-US" dirty="0" smtClean="0"/>
              <a:t>）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三维凸包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构造？</a:t>
            </a:r>
            <a:endParaRPr lang="en-US" altLang="zh-CN" dirty="0" smtClean="0"/>
          </a:p>
          <a:p>
            <a:r>
              <a:rPr lang="zh-CN" altLang="en-US" dirty="0" smtClean="0"/>
              <a:t>首先前</a:t>
            </a:r>
            <a:r>
              <a:rPr lang="en-US" altLang="zh-CN" dirty="0" smtClean="0"/>
              <a:t>4</a:t>
            </a:r>
            <a:r>
              <a:rPr lang="zh-CN" altLang="en-US" dirty="0" smtClean="0"/>
              <a:t>个点乱构造（随便选四个点构成立体凸包）</a:t>
            </a:r>
            <a:endParaRPr lang="en-US" altLang="zh-CN" dirty="0" smtClean="0"/>
          </a:p>
          <a:p>
            <a:r>
              <a:rPr lang="en-US" altLang="zh-CN" dirty="0" smtClean="0"/>
              <a:t>1</a:t>
            </a:r>
            <a:r>
              <a:rPr lang="zh-CN" altLang="en-US" dirty="0" smtClean="0"/>
              <a:t>、调整各平面点的顺序，一般做到法向量向外（即凸包内的点与法向量点积</a:t>
            </a:r>
            <a:r>
              <a:rPr lang="en-US" altLang="zh-CN" dirty="0" smtClean="0"/>
              <a:t>&lt;0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r>
              <a:rPr lang="en-US" altLang="zh-CN" dirty="0" smtClean="0"/>
              <a:t>2</a:t>
            </a:r>
            <a:r>
              <a:rPr lang="zh-CN" altLang="en-US" dirty="0" smtClean="0"/>
              <a:t>、记录邻边对应的面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三维凸包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构造？</a:t>
            </a:r>
            <a:endParaRPr lang="en-US" altLang="zh-CN" dirty="0" smtClean="0"/>
          </a:p>
          <a:p>
            <a:r>
              <a:rPr lang="zh-CN" altLang="en-US" dirty="0" smtClean="0"/>
              <a:t>首先前</a:t>
            </a:r>
            <a:r>
              <a:rPr lang="en-US" altLang="zh-CN" dirty="0" smtClean="0"/>
              <a:t>4</a:t>
            </a:r>
            <a:r>
              <a:rPr lang="zh-CN" altLang="en-US" dirty="0" smtClean="0"/>
              <a:t>个点乱构造（随便选四个点构成立体凸包）</a:t>
            </a:r>
            <a:endParaRPr lang="en-US" altLang="zh-CN" dirty="0" smtClean="0"/>
          </a:p>
          <a:p>
            <a:r>
              <a:rPr lang="en-US" altLang="zh-CN" dirty="0" smtClean="0"/>
              <a:t>1</a:t>
            </a:r>
            <a:r>
              <a:rPr lang="zh-CN" altLang="en-US" dirty="0" smtClean="0"/>
              <a:t>、调整各平面点的顺序，一般做到法向量向外（即凸包内的点与法向量点积</a:t>
            </a:r>
            <a:r>
              <a:rPr lang="en-US" altLang="zh-CN" dirty="0" smtClean="0"/>
              <a:t>&lt;0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r>
              <a:rPr lang="en-US" altLang="zh-CN" dirty="0" smtClean="0"/>
              <a:t>2</a:t>
            </a:r>
            <a:r>
              <a:rPr lang="zh-CN" altLang="en-US" dirty="0" smtClean="0"/>
              <a:t>、记录邻边对应的面</a:t>
            </a:r>
            <a:endParaRPr lang="en-US" altLang="zh-CN" dirty="0" smtClean="0"/>
          </a:p>
          <a:p>
            <a:r>
              <a:rPr lang="en-US" altLang="zh-CN" dirty="0" smtClean="0"/>
              <a:t>3</a:t>
            </a:r>
            <a:r>
              <a:rPr lang="zh-CN" altLang="en-US" dirty="0" smtClean="0"/>
              <a:t>、暴力判断其他点被哪些面看到（为了快速要记录点看到的平面和面看到的点）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三维凸包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增量？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三维凸包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增量？设点为</a:t>
            </a:r>
            <a:r>
              <a:rPr lang="en-US" altLang="zh-CN" dirty="0" smtClean="0"/>
              <a:t>P</a:t>
            </a:r>
          </a:p>
          <a:p>
            <a:r>
              <a:rPr lang="en-US" altLang="zh-CN" dirty="0" smtClean="0"/>
              <a:t>4</a:t>
            </a:r>
            <a:r>
              <a:rPr lang="zh-CN" altLang="en-US" dirty="0" smtClean="0"/>
              <a:t>、随机</a:t>
            </a:r>
            <a:r>
              <a:rPr lang="zh-CN" altLang="en-US" dirty="0"/>
              <a:t>顺序</a:t>
            </a:r>
            <a:r>
              <a:rPr lang="zh-CN" altLang="en-US" dirty="0" smtClean="0"/>
              <a:t>增量，如果发现一个点不能被任何一个面看见说明它在凸包内。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三维凸包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增量？设点为</a:t>
            </a:r>
            <a:r>
              <a:rPr lang="en-US" altLang="zh-CN" dirty="0" smtClean="0"/>
              <a:t>P</a:t>
            </a:r>
          </a:p>
          <a:p>
            <a:r>
              <a:rPr lang="en-US" altLang="zh-CN" dirty="0" smtClean="0"/>
              <a:t>5</a:t>
            </a:r>
            <a:r>
              <a:rPr lang="zh-CN" altLang="en-US" dirty="0" smtClean="0"/>
              <a:t>、否则，对所有看到的面打上标记（要删掉）。</a:t>
            </a:r>
            <a:endParaRPr lang="en-US" altLang="zh-CN" dirty="0" smtClean="0"/>
          </a:p>
          <a:p>
            <a:r>
              <a:rPr lang="en-US" altLang="zh-CN" dirty="0" smtClean="0"/>
              <a:t>6</a:t>
            </a:r>
            <a:r>
              <a:rPr lang="zh-CN" altLang="en-US" dirty="0" smtClean="0"/>
              <a:t>、枚举这些面的边，如果另一侧没有被删掉那么这条边与点</a:t>
            </a:r>
            <a:r>
              <a:rPr lang="en-US" altLang="zh-CN" dirty="0" smtClean="0"/>
              <a:t>P</a:t>
            </a:r>
            <a:r>
              <a:rPr lang="zh-CN" altLang="en-US" dirty="0"/>
              <a:t>会构成一个新的</a:t>
            </a:r>
            <a:r>
              <a:rPr lang="zh-CN" altLang="en-US" dirty="0" smtClean="0"/>
              <a:t>面。</a:t>
            </a:r>
            <a:endParaRPr lang="en-US" altLang="zh-CN" dirty="0" smtClean="0"/>
          </a:p>
          <a:p>
            <a:r>
              <a:rPr lang="en-US" altLang="zh-CN" dirty="0" smtClean="0"/>
              <a:t>7</a:t>
            </a:r>
            <a:r>
              <a:rPr lang="zh-CN" altLang="en-US" dirty="0" smtClean="0"/>
              <a:t>、快速维护更新邻边对应的面（想不清直接用</a:t>
            </a:r>
            <a:r>
              <a:rPr lang="en-US" altLang="zh-CN" dirty="0" smtClean="0"/>
              <a:t>hash</a:t>
            </a:r>
            <a:r>
              <a:rPr lang="zh-CN" altLang="en-US" dirty="0" smtClean="0"/>
              <a:t>快速找到也行）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三维凸包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增量？设点为</a:t>
            </a:r>
            <a:r>
              <a:rPr lang="en-US" altLang="zh-CN" dirty="0" smtClean="0"/>
              <a:t>P</a:t>
            </a:r>
          </a:p>
          <a:p>
            <a:r>
              <a:rPr lang="en-US" altLang="zh-CN" dirty="0" smtClean="0"/>
              <a:t>8</a:t>
            </a:r>
            <a:r>
              <a:rPr lang="zh-CN" altLang="en-US" dirty="0" smtClean="0"/>
              <a:t>、重要的问题：如何维护凸包（点）可以看见的点（凸包）。</a:t>
            </a:r>
            <a:endParaRPr lang="en-US" altLang="zh-CN" dirty="0" smtClean="0"/>
          </a:p>
          <a:p>
            <a:r>
              <a:rPr lang="zh-CN" altLang="en-US" dirty="0"/>
              <a:t>重要</a:t>
            </a:r>
            <a:r>
              <a:rPr lang="zh-CN" altLang="en-US" dirty="0" smtClean="0"/>
              <a:t>结论：</a:t>
            </a:r>
            <a:endParaRPr lang="en-US" altLang="zh-CN" dirty="0" smtClean="0"/>
          </a:p>
          <a:p>
            <a:r>
              <a:rPr lang="en-US" altLang="zh-CN" dirty="0"/>
              <a:t>A</a:t>
            </a:r>
            <a:r>
              <a:rPr lang="zh-CN" altLang="en-US" dirty="0"/>
              <a:t>、</a:t>
            </a:r>
            <a:r>
              <a:rPr lang="zh-CN" altLang="en-US" dirty="0" smtClean="0"/>
              <a:t>新凸包能看到的点一定是其一条边能看到的点的子集</a:t>
            </a:r>
            <a:r>
              <a:rPr lang="zh-CN" altLang="en-US" dirty="0" smtClean="0">
                <a:solidFill>
                  <a:schemeClr val="bg1"/>
                </a:solidFill>
              </a:rPr>
              <a:t>（废话）</a:t>
            </a:r>
            <a:endParaRPr lang="en-US" altLang="zh-CN" dirty="0" smtClean="0">
              <a:solidFill>
                <a:schemeClr val="bg1"/>
              </a:solidFill>
            </a:endParaRPr>
          </a:p>
          <a:p>
            <a:r>
              <a:rPr lang="en-US" altLang="zh-CN" dirty="0"/>
              <a:t>B</a:t>
            </a:r>
            <a:r>
              <a:rPr lang="zh-CN" altLang="en-US" dirty="0" smtClean="0"/>
              <a:t>、能看到一条边的点一定是该边两个相邻面所能看到的点的并集</a:t>
            </a:r>
            <a:r>
              <a:rPr lang="zh-CN" altLang="en-US" dirty="0" smtClean="0">
                <a:solidFill>
                  <a:schemeClr val="bg1"/>
                </a:solidFill>
              </a:rPr>
              <a:t>（废话）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三维凸包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 smtClean="0"/>
              <a:t>增量？设点为</a:t>
            </a:r>
            <a:r>
              <a:rPr lang="en-US" altLang="zh-CN" dirty="0" smtClean="0"/>
              <a:t>P</a:t>
            </a:r>
          </a:p>
          <a:p>
            <a:r>
              <a:rPr lang="en-US" altLang="zh-CN" dirty="0" smtClean="0"/>
              <a:t>8</a:t>
            </a:r>
            <a:r>
              <a:rPr lang="zh-CN" altLang="en-US" dirty="0" smtClean="0"/>
              <a:t>、重要的问题：如何维护凸包（点）可以看见的点（凸包）。</a:t>
            </a:r>
            <a:endParaRPr lang="en-US" altLang="zh-CN" dirty="0" smtClean="0"/>
          </a:p>
          <a:p>
            <a:r>
              <a:rPr lang="en-US" altLang="zh-CN" dirty="0" smtClean="0"/>
              <a:t>Step</a:t>
            </a:r>
            <a:r>
              <a:rPr lang="zh-CN" altLang="en-US" dirty="0" smtClean="0"/>
              <a:t> </a:t>
            </a:r>
            <a:r>
              <a:rPr lang="en-US" altLang="zh-CN" dirty="0" smtClean="0"/>
              <a:t>a</a:t>
            </a:r>
            <a:r>
              <a:rPr lang="zh-CN" altLang="en-US" dirty="0" smtClean="0"/>
              <a:t>：令被删的面</a:t>
            </a:r>
            <a:r>
              <a:rPr lang="en-US" altLang="zh-CN" dirty="0" smtClean="0"/>
              <a:t>A</a:t>
            </a:r>
            <a:r>
              <a:rPr lang="zh-CN" altLang="en-US" dirty="0" smtClean="0"/>
              <a:t>所看到的点是</a:t>
            </a:r>
            <a:r>
              <a:rPr lang="en-US" altLang="zh-CN" dirty="0" smtClean="0"/>
              <a:t>B</a:t>
            </a:r>
            <a:r>
              <a:rPr lang="zh-CN" altLang="en-US" dirty="0" smtClean="0"/>
              <a:t>，在</a:t>
            </a:r>
            <a:r>
              <a:rPr lang="en-US" altLang="zh-CN" dirty="0" smtClean="0"/>
              <a:t>B</a:t>
            </a:r>
            <a:r>
              <a:rPr lang="zh-CN" altLang="en-US" dirty="0" smtClean="0"/>
              <a:t>看到的面的集合中删掉</a:t>
            </a:r>
            <a:r>
              <a:rPr lang="en-US" altLang="zh-CN" dirty="0" smtClean="0"/>
              <a:t>A</a:t>
            </a:r>
          </a:p>
          <a:p>
            <a:r>
              <a:rPr lang="en-US" altLang="zh-CN" dirty="0" smtClean="0"/>
              <a:t>Step</a:t>
            </a:r>
            <a:r>
              <a:rPr lang="zh-CN" altLang="en-US" dirty="0" smtClean="0"/>
              <a:t> </a:t>
            </a:r>
            <a:r>
              <a:rPr lang="en-US" altLang="zh-CN" dirty="0" smtClean="0"/>
              <a:t>b</a:t>
            </a:r>
            <a:r>
              <a:rPr lang="zh-CN" altLang="en-US" dirty="0" smtClean="0"/>
              <a:t>：令新的面为</a:t>
            </a:r>
            <a:r>
              <a:rPr lang="en-US" altLang="zh-CN" dirty="0" smtClean="0"/>
              <a:t>C</a:t>
            </a:r>
            <a:r>
              <a:rPr lang="zh-CN" altLang="en-US" dirty="0" smtClean="0"/>
              <a:t>，其原有边为</a:t>
            </a:r>
            <a:r>
              <a:rPr lang="en-US" altLang="zh-CN" dirty="0" smtClean="0"/>
              <a:t>D</a:t>
            </a:r>
            <a:r>
              <a:rPr lang="zh-CN" altLang="en-US" dirty="0" smtClean="0"/>
              <a:t>，原有边原来相邻的面为</a:t>
            </a:r>
            <a:r>
              <a:rPr lang="en-US" altLang="zh-CN" dirty="0" smtClean="0"/>
              <a:t>E</a:t>
            </a:r>
            <a:r>
              <a:rPr lang="zh-CN" altLang="en-US" dirty="0" smtClean="0"/>
              <a:t>、</a:t>
            </a:r>
            <a:r>
              <a:rPr lang="en-US" altLang="zh-CN" dirty="0" smtClean="0"/>
              <a:t>F</a:t>
            </a:r>
            <a:r>
              <a:rPr lang="zh-CN" altLang="en-US" dirty="0" smtClean="0"/>
              <a:t>，提取</a:t>
            </a:r>
            <a:r>
              <a:rPr lang="en-US" altLang="zh-CN" dirty="0" smtClean="0"/>
              <a:t>E</a:t>
            </a:r>
            <a:r>
              <a:rPr lang="zh-CN" altLang="en-US" dirty="0" smtClean="0"/>
              <a:t>、</a:t>
            </a:r>
            <a:r>
              <a:rPr lang="en-US" altLang="zh-CN" dirty="0" smtClean="0"/>
              <a:t>F</a:t>
            </a:r>
            <a:r>
              <a:rPr lang="zh-CN" altLang="en-US" dirty="0" smtClean="0"/>
              <a:t>可以看到的点（注意可能重复），判断是否在</a:t>
            </a:r>
            <a:r>
              <a:rPr lang="en-US" altLang="zh-CN" dirty="0" smtClean="0"/>
              <a:t>C</a:t>
            </a:r>
            <a:r>
              <a:rPr lang="zh-CN" altLang="en-US" dirty="0" smtClean="0"/>
              <a:t>平面外。同时更新点和凸包可见关系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三维凸包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会增量法构造只能解决少量问题。</a:t>
            </a:r>
            <a:endParaRPr lang="en-US" altLang="zh-CN" dirty="0" smtClean="0"/>
          </a:p>
          <a:p>
            <a:r>
              <a:rPr lang="zh-CN" altLang="en-US" dirty="0"/>
              <a:t>甚至如果是</a:t>
            </a:r>
            <a:r>
              <a:rPr lang="zh-CN" altLang="en-US" dirty="0" smtClean="0"/>
              <a:t>张恒捷三维乘积生成树之类的问题又退化成普通构造了（因为点是动态给的）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三维凸包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如何快速判断点是否在凸包上。</a:t>
            </a:r>
            <a:endParaRPr lang="en-US" altLang="zh-CN" dirty="0" smtClean="0"/>
          </a:p>
          <a:p>
            <a:r>
              <a:rPr lang="zh-CN" altLang="en-US" dirty="0"/>
              <a:t>注意</a:t>
            </a:r>
            <a:r>
              <a:rPr lang="zh-CN" altLang="en-US" dirty="0" smtClean="0"/>
              <a:t>如果当前点</a:t>
            </a:r>
            <a:r>
              <a:rPr lang="en-US" altLang="zh-CN" dirty="0" smtClean="0"/>
              <a:t>A</a:t>
            </a:r>
            <a:r>
              <a:rPr lang="zh-CN" altLang="en-US" dirty="0" smtClean="0"/>
              <a:t>在平面</a:t>
            </a:r>
            <a:r>
              <a:rPr lang="en-US" altLang="zh-CN" dirty="0" smtClean="0"/>
              <a:t>C</a:t>
            </a:r>
            <a:r>
              <a:rPr lang="zh-CN" altLang="en-US" dirty="0" smtClean="0"/>
              <a:t>外，只要</a:t>
            </a:r>
            <a:r>
              <a:rPr lang="en-US" altLang="zh-CN" dirty="0" smtClean="0"/>
              <a:t>C</a:t>
            </a:r>
            <a:r>
              <a:rPr lang="zh-CN" altLang="en-US" dirty="0" smtClean="0"/>
              <a:t>没有被取代点</a:t>
            </a:r>
            <a:r>
              <a:rPr lang="en-US" altLang="zh-CN" dirty="0" smtClean="0"/>
              <a:t>A</a:t>
            </a:r>
            <a:r>
              <a:rPr lang="zh-CN" altLang="en-US" dirty="0" smtClean="0"/>
              <a:t>一定还是在平面</a:t>
            </a:r>
            <a:r>
              <a:rPr lang="en-US" altLang="zh-CN" dirty="0" smtClean="0"/>
              <a:t>C</a:t>
            </a:r>
            <a:r>
              <a:rPr lang="zh-CN" altLang="en-US" dirty="0" smtClean="0"/>
              <a:t>外。</a:t>
            </a:r>
            <a:endParaRPr lang="en-US" altLang="zh-CN" dirty="0" smtClean="0"/>
          </a:p>
          <a:p>
            <a:r>
              <a:rPr lang="zh-CN" altLang="en-US" dirty="0" smtClean="0"/>
              <a:t>所以只要关心取代</a:t>
            </a:r>
            <a:r>
              <a:rPr lang="en-US" altLang="zh-CN" dirty="0" smtClean="0"/>
              <a:t>C</a:t>
            </a:r>
            <a:r>
              <a:rPr lang="zh-CN" altLang="en-US" dirty="0" smtClean="0"/>
              <a:t>的面即可（如果判断</a:t>
            </a:r>
            <a:r>
              <a:rPr lang="en-US" altLang="zh-CN" dirty="0" smtClean="0"/>
              <a:t>A</a:t>
            </a:r>
            <a:r>
              <a:rPr lang="zh-CN" altLang="en-US" dirty="0" smtClean="0"/>
              <a:t>在这多个面内显然也就在凸包内了）</a:t>
            </a:r>
            <a:endParaRPr lang="en-US" altLang="zh-CN" dirty="0" smtClean="0"/>
          </a:p>
          <a:p>
            <a:r>
              <a:rPr lang="zh-CN" altLang="en-US" dirty="0">
                <a:solidFill>
                  <a:schemeClr val="bg1"/>
                </a:solidFill>
              </a:rPr>
              <a:t>所以说张恒</a:t>
            </a:r>
            <a:r>
              <a:rPr lang="zh-CN" altLang="en-US" dirty="0" smtClean="0">
                <a:solidFill>
                  <a:schemeClr val="bg1"/>
                </a:solidFill>
              </a:rPr>
              <a:t>捷</a:t>
            </a:r>
            <a:r>
              <a:rPr lang="en-US" altLang="zh-CN" dirty="0" smtClean="0">
                <a:solidFill>
                  <a:schemeClr val="bg1"/>
                </a:solidFill>
              </a:rPr>
              <a:t>n^2</a:t>
            </a:r>
            <a:r>
              <a:rPr lang="zh-CN" altLang="en-US" dirty="0" smtClean="0">
                <a:solidFill>
                  <a:schemeClr val="bg1"/>
                </a:solidFill>
              </a:rPr>
              <a:t>做法明显可以改进（虽然</a:t>
            </a:r>
            <a:r>
              <a:rPr lang="en-US" altLang="zh-CN" dirty="0" smtClean="0">
                <a:solidFill>
                  <a:schemeClr val="bg1"/>
                </a:solidFill>
              </a:rPr>
              <a:t>ld</a:t>
            </a:r>
            <a:r>
              <a:rPr lang="zh-CN" altLang="en-US" dirty="0" smtClean="0">
                <a:solidFill>
                  <a:schemeClr val="bg1"/>
                </a:solidFill>
              </a:rPr>
              <a:t>出题是在下一年）</a:t>
            </a:r>
            <a:endParaRPr lang="en-US" altLang="zh-CN" dirty="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三维凸包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板子题</a:t>
            </a:r>
            <a:endParaRPr lang="en-US" altLang="zh-CN" dirty="0" smtClean="0"/>
          </a:p>
          <a:p>
            <a:r>
              <a:rPr lang="en-US" dirty="0">
                <a:hlinkClick r:id="rId2" action="ppaction://hlinkfile"/>
              </a:rPr>
              <a:t>Breaking </a:t>
            </a:r>
            <a:r>
              <a:rPr lang="en-US" dirty="0" smtClean="0">
                <a:hlinkClick r:id="rId2" action="ppaction://hlinkfile"/>
              </a:rPr>
              <a:t>Bomber</a:t>
            </a:r>
            <a:endParaRPr lang="en-US" altLang="zh-CN" dirty="0" smtClean="0"/>
          </a:p>
          <a:p>
            <a:r>
              <a:rPr lang="en-US" altLang="zh-CN" dirty="0" smtClean="0">
                <a:hlinkClick r:id="rId3"/>
              </a:rPr>
              <a:t>http://uoj.ac/problem/44</a:t>
            </a:r>
            <a:endParaRPr lang="en-US" altLang="zh-CN" dirty="0" smtClean="0"/>
          </a:p>
          <a:p>
            <a:r>
              <a:rPr lang="zh-CN" altLang="en-US" dirty="0"/>
              <a:t>大家可以参考一下程序</a:t>
            </a:r>
            <a:r>
              <a:rPr lang="zh-CN" altLang="en-US" dirty="0">
                <a:solidFill>
                  <a:schemeClr val="bg1"/>
                </a:solidFill>
              </a:rPr>
              <a:t>（我也是基本照着参考</a:t>
            </a:r>
            <a:r>
              <a:rPr lang="zh-CN" altLang="en-US" dirty="0" smtClean="0">
                <a:solidFill>
                  <a:schemeClr val="bg1"/>
                </a:solidFill>
              </a:rPr>
              <a:t>，</a:t>
            </a:r>
            <a:r>
              <a:rPr lang="zh-CN" altLang="en-US" dirty="0">
                <a:solidFill>
                  <a:schemeClr val="bg1"/>
                </a:solidFill>
              </a:rPr>
              <a:t>不然不好调</a:t>
            </a:r>
            <a:r>
              <a:rPr lang="zh-CN" altLang="en-US" dirty="0" smtClean="0">
                <a:solidFill>
                  <a:schemeClr val="bg1"/>
                </a:solidFill>
              </a:rPr>
              <a:t>）</a:t>
            </a:r>
            <a:endParaRPr lang="en-US" altLang="zh-CN" dirty="0" smtClean="0">
              <a:solidFill>
                <a:schemeClr val="bg1"/>
              </a:solidFill>
            </a:endParaRPr>
          </a:p>
          <a:p>
            <a:r>
              <a:rPr lang="zh-CN" altLang="en-US" dirty="0" smtClean="0"/>
              <a:t>如果维护边难以理解直接用</a:t>
            </a:r>
            <a:r>
              <a:rPr lang="en-US" altLang="zh-CN" dirty="0" smtClean="0"/>
              <a:t>hash</a:t>
            </a:r>
            <a:r>
              <a:rPr lang="zh-CN" altLang="en-US" dirty="0" smtClean="0"/>
              <a:t>存也可以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0034" y="714356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zh-CN" altLang="en-US" sz="4900" dirty="0" smtClean="0"/>
              <a:t>自适应辛普森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endParaRPr lang="zh-CN" altLang="en-US" dirty="0"/>
          </a:p>
        </p:txBody>
      </p:sp>
      <p:pic>
        <p:nvPicPr>
          <p:cNvPr id="4" name="内容占位符 3" descr="自适应辛普森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1472" y="2643182"/>
            <a:ext cx="7929586" cy="2000264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自适应辛普森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S’=|S(</a:t>
            </a:r>
            <a:r>
              <a:rPr lang="en-US" altLang="zh-CN" dirty="0" err="1" smtClean="0"/>
              <a:t>a,c</a:t>
            </a:r>
            <a:r>
              <a:rPr lang="en-US" altLang="zh-CN" dirty="0" smtClean="0"/>
              <a:t>)+S(</a:t>
            </a:r>
            <a:r>
              <a:rPr lang="en-US" altLang="zh-CN" dirty="0" err="1" smtClean="0"/>
              <a:t>c,b</a:t>
            </a:r>
            <a:r>
              <a:rPr lang="en-US" altLang="zh-CN" dirty="0" smtClean="0"/>
              <a:t>)-S(</a:t>
            </a:r>
            <a:r>
              <a:rPr lang="en-US" altLang="zh-CN" dirty="0" err="1" smtClean="0"/>
              <a:t>a,b</a:t>
            </a:r>
            <a:r>
              <a:rPr lang="en-US" altLang="zh-CN" dirty="0" smtClean="0"/>
              <a:t>)|/15</a:t>
            </a:r>
          </a:p>
          <a:p>
            <a:r>
              <a:rPr lang="zh-CN" altLang="en-US" dirty="0" smtClean="0"/>
              <a:t>如果</a:t>
            </a:r>
            <a:r>
              <a:rPr lang="en-US" altLang="zh-CN" dirty="0" smtClean="0"/>
              <a:t>S’&gt;</a:t>
            </a:r>
            <a:r>
              <a:rPr lang="en-US" altLang="zh-CN" dirty="0" err="1" smtClean="0"/>
              <a:t>eps</a:t>
            </a:r>
            <a:r>
              <a:rPr lang="zh-CN" altLang="en-US" dirty="0" smtClean="0"/>
              <a:t>递归</a:t>
            </a:r>
            <a:r>
              <a:rPr lang="en-US" altLang="zh-CN" dirty="0" smtClean="0"/>
              <a:t>,</a:t>
            </a:r>
          </a:p>
          <a:p>
            <a:r>
              <a:rPr lang="zh-CN" altLang="en-US" dirty="0" smtClean="0"/>
              <a:t>否则返回</a:t>
            </a:r>
            <a:r>
              <a:rPr lang="en-US" altLang="zh-CN" dirty="0" smtClean="0"/>
              <a:t>S(</a:t>
            </a:r>
            <a:r>
              <a:rPr lang="en-US" altLang="zh-CN" dirty="0" err="1" smtClean="0"/>
              <a:t>a,c</a:t>
            </a:r>
            <a:r>
              <a:rPr lang="en-US" altLang="zh-CN" dirty="0" smtClean="0"/>
              <a:t>)+S(</a:t>
            </a:r>
            <a:r>
              <a:rPr lang="en-US" altLang="zh-CN" dirty="0" err="1" smtClean="0"/>
              <a:t>c,b</a:t>
            </a:r>
            <a:r>
              <a:rPr lang="en-US" altLang="zh-CN" dirty="0" smtClean="0"/>
              <a:t>)+S’</a:t>
            </a:r>
          </a:p>
          <a:p>
            <a:endParaRPr lang="en-US" altLang="zh-CN" dirty="0" smtClean="0"/>
          </a:p>
          <a:p>
            <a:r>
              <a:rPr lang="zh-CN" altLang="en-US" dirty="0" smtClean="0"/>
              <a:t>细节：</a:t>
            </a:r>
            <a:r>
              <a:rPr lang="en-US" altLang="zh-CN" dirty="0" smtClean="0"/>
              <a:t>1</a:t>
            </a:r>
            <a:r>
              <a:rPr lang="zh-CN" altLang="en-US" dirty="0" smtClean="0"/>
              <a:t>、设置递归最少层数或精度减半</a:t>
            </a:r>
            <a:endParaRPr lang="en-US" altLang="zh-CN" dirty="0" smtClean="0"/>
          </a:p>
          <a:p>
            <a:r>
              <a:rPr lang="zh-CN" altLang="en-US" dirty="0"/>
              <a:t> </a:t>
            </a:r>
            <a:r>
              <a:rPr lang="zh-CN" altLang="en-US" dirty="0" smtClean="0"/>
              <a:t>             </a:t>
            </a:r>
            <a:r>
              <a:rPr lang="en-US" altLang="zh-CN" dirty="0" smtClean="0"/>
              <a:t>2</a:t>
            </a:r>
            <a:r>
              <a:rPr lang="zh-CN" altLang="en-US" dirty="0" smtClean="0"/>
              <a:t>、小心中间空（小）两边极大等情况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计算几何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小结：</a:t>
            </a:r>
            <a:endParaRPr lang="en-US" altLang="zh-CN" dirty="0" smtClean="0"/>
          </a:p>
          <a:p>
            <a:r>
              <a:rPr lang="zh-CN" altLang="en-US" dirty="0"/>
              <a:t>首先要熟练掌握基础</a:t>
            </a:r>
            <a:r>
              <a:rPr lang="zh-CN" altLang="en-US" dirty="0" smtClean="0"/>
              <a:t>内容。</a:t>
            </a:r>
            <a:endParaRPr lang="en-US" altLang="zh-CN" dirty="0" smtClean="0"/>
          </a:p>
          <a:p>
            <a:r>
              <a:rPr lang="zh-CN" altLang="en-US" dirty="0"/>
              <a:t>有的题目就是板子</a:t>
            </a:r>
            <a:r>
              <a:rPr lang="zh-CN" altLang="en-US" dirty="0" smtClean="0"/>
              <a:t>体。。。</a:t>
            </a:r>
            <a:endParaRPr lang="en-US" altLang="zh-CN" dirty="0" smtClean="0"/>
          </a:p>
          <a:p>
            <a:r>
              <a:rPr lang="zh-CN" altLang="en-US" dirty="0"/>
              <a:t>有</a:t>
            </a:r>
            <a:r>
              <a:rPr lang="zh-CN" altLang="en-US" dirty="0" smtClean="0"/>
              <a:t>的题目是论文题。。。</a:t>
            </a:r>
            <a:endParaRPr lang="en-US" altLang="zh-CN" dirty="0" smtClean="0"/>
          </a:p>
          <a:p>
            <a:r>
              <a:rPr lang="zh-CN" altLang="en-US" dirty="0" smtClean="0"/>
              <a:t>有的题目需要分析性质，比如有一年许多集训队员的集训队作业中都有这道题的解题报告</a:t>
            </a:r>
            <a:r>
              <a:rPr lang="en-US" altLang="zh-CN" dirty="0" smtClean="0">
                <a:hlinkClick r:id="rId2" action="ppaction://hlinkfile"/>
              </a:rPr>
              <a:t>《robot》</a:t>
            </a:r>
            <a:r>
              <a:rPr lang="zh-CN" altLang="en-US" dirty="0" smtClean="0"/>
              <a:t>，实际上重点不是计算几何。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计算几何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小结：</a:t>
            </a:r>
            <a:endParaRPr lang="en-US" altLang="zh-CN" dirty="0" smtClean="0"/>
          </a:p>
          <a:p>
            <a:r>
              <a:rPr lang="zh-CN" altLang="en-US" dirty="0" smtClean="0"/>
              <a:t>历来</a:t>
            </a:r>
            <a:r>
              <a:rPr lang="zh-CN" altLang="en-US" dirty="0"/>
              <a:t>喜欢</a:t>
            </a:r>
            <a:r>
              <a:rPr lang="zh-CN" altLang="en-US" dirty="0" smtClean="0"/>
              <a:t>出题答题，这时要巧妙分析性质，但要注意合理分配时间，尤其是因为计算几何很容易写挂；有的题目想不清楚直接模拟退火，爬山，粒子群分数也不低，不要放弃信仰。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谢谢大家</a:t>
            </a:r>
            <a:endParaRPr lang="zh-CN" altLang="en-US" dirty="0"/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487</TotalTime>
  <Words>3898</Words>
  <Application>Microsoft Office PowerPoint</Application>
  <PresentationFormat>全屏显示(4:3)</PresentationFormat>
  <Paragraphs>353</Paragraphs>
  <Slides>87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87</vt:i4>
      </vt:variant>
    </vt:vector>
  </HeadingPairs>
  <TitlesOfParts>
    <vt:vector size="88" baseType="lpstr">
      <vt:lpstr>Office 主题</vt:lpstr>
      <vt:lpstr>浅谈博弈&amp;计算几何</vt:lpstr>
      <vt:lpstr>博弈</vt:lpstr>
      <vt:lpstr>博弈</vt:lpstr>
      <vt:lpstr>尼姆博弈 </vt:lpstr>
      <vt:lpstr>尼姆博弈 </vt:lpstr>
      <vt:lpstr>尼姆博弈 </vt:lpstr>
      <vt:lpstr>尼姆博弈 </vt:lpstr>
      <vt:lpstr>尼姆博弈</vt:lpstr>
      <vt:lpstr>尼姆博弈</vt:lpstr>
      <vt:lpstr>尼姆博弈</vt:lpstr>
      <vt:lpstr>尼姆博弈</vt:lpstr>
      <vt:lpstr>尼姆博弈</vt:lpstr>
      <vt:lpstr>尼姆博弈</vt:lpstr>
      <vt:lpstr>K倍动态减法游戏(k倍取石子游戏) </vt:lpstr>
      <vt:lpstr>Dividable</vt:lpstr>
      <vt:lpstr>Dividable</vt:lpstr>
      <vt:lpstr>K倍动态减法游戏</vt:lpstr>
      <vt:lpstr>K=1倍动态减法游戏解法</vt:lpstr>
      <vt:lpstr>K=1动态减法游戏解法</vt:lpstr>
      <vt:lpstr>K=1动态减法游戏解法</vt:lpstr>
      <vt:lpstr>K=2动态减法游戏解法</vt:lpstr>
      <vt:lpstr>K=2动态减法游戏解法</vt:lpstr>
      <vt:lpstr>K=2动态减法游戏解法</vt:lpstr>
      <vt:lpstr>K=2动态减法游戏解法</vt:lpstr>
      <vt:lpstr>K=2动态减法游戏解法</vt:lpstr>
      <vt:lpstr>K=2动态减法游戏解法</vt:lpstr>
      <vt:lpstr>K=2动态减法游戏解法</vt:lpstr>
      <vt:lpstr>K动态减法游戏解法</vt:lpstr>
      <vt:lpstr>K动态减法游戏解法</vt:lpstr>
      <vt:lpstr>K动态减法游戏解法</vt:lpstr>
      <vt:lpstr>零和博弈（纳什均衡） </vt:lpstr>
      <vt:lpstr>零和博弈（纳什均衡） </vt:lpstr>
      <vt:lpstr>纳什均衡</vt:lpstr>
      <vt:lpstr>纳什均衡</vt:lpstr>
      <vt:lpstr>纳什均衡</vt:lpstr>
      <vt:lpstr>纳什均衡</vt:lpstr>
      <vt:lpstr>纳什均衡</vt:lpstr>
      <vt:lpstr>纳什均衡</vt:lpstr>
      <vt:lpstr>纳什均衡</vt:lpstr>
      <vt:lpstr>纳什均衡</vt:lpstr>
      <vt:lpstr>纳什均衡</vt:lpstr>
      <vt:lpstr>纳什均衡</vt:lpstr>
      <vt:lpstr>纳什均衡</vt:lpstr>
      <vt:lpstr>纳什均衡</vt:lpstr>
      <vt:lpstr>纳什均衡</vt:lpstr>
      <vt:lpstr>纳什均衡</vt:lpstr>
      <vt:lpstr>纳什均衡</vt:lpstr>
      <vt:lpstr>博弈</vt:lpstr>
      <vt:lpstr>计算几何</vt:lpstr>
      <vt:lpstr>计算几何</vt:lpstr>
      <vt:lpstr>二维计算几何</vt:lpstr>
      <vt:lpstr>点积叉积</vt:lpstr>
      <vt:lpstr>凸包</vt:lpstr>
      <vt:lpstr>反演</vt:lpstr>
      <vt:lpstr>平面图</vt:lpstr>
      <vt:lpstr>Delaunay三角剖分</vt:lpstr>
      <vt:lpstr>Voronoi图</vt:lpstr>
      <vt:lpstr>三维计算几何</vt:lpstr>
      <vt:lpstr>点积叉积法向量</vt:lpstr>
      <vt:lpstr>点积叉积法向量</vt:lpstr>
      <vt:lpstr>点积叉积法向量</vt:lpstr>
      <vt:lpstr>点积叉积法向量</vt:lpstr>
      <vt:lpstr>点积叉积法向量</vt:lpstr>
      <vt:lpstr>点积叉积法向量</vt:lpstr>
      <vt:lpstr>点积叉积法向量</vt:lpstr>
      <vt:lpstr>点积叉积法向量</vt:lpstr>
      <vt:lpstr>点积叉积法向量</vt:lpstr>
      <vt:lpstr>点积叉积法向量</vt:lpstr>
      <vt:lpstr>三维凸包</vt:lpstr>
      <vt:lpstr>三维凸包</vt:lpstr>
      <vt:lpstr>三维凸包</vt:lpstr>
      <vt:lpstr>三维凸包</vt:lpstr>
      <vt:lpstr>三维凸包</vt:lpstr>
      <vt:lpstr>三维凸包</vt:lpstr>
      <vt:lpstr>三维凸包</vt:lpstr>
      <vt:lpstr>三维凸包</vt:lpstr>
      <vt:lpstr>三维凸包</vt:lpstr>
      <vt:lpstr>三维凸包</vt:lpstr>
      <vt:lpstr>三维凸包</vt:lpstr>
      <vt:lpstr>三维凸包</vt:lpstr>
      <vt:lpstr>三维凸包</vt:lpstr>
      <vt:lpstr>三维凸包</vt:lpstr>
      <vt:lpstr>自适应辛普森 </vt:lpstr>
      <vt:lpstr>自适应辛普森</vt:lpstr>
      <vt:lpstr>计算几何</vt:lpstr>
      <vt:lpstr>计算几何</vt:lpstr>
      <vt:lpstr>谢谢大家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博弈&amp;计算几何</dc:title>
  <dc:creator>lenovo</dc:creator>
  <cp:lastModifiedBy>lenovo</cp:lastModifiedBy>
  <cp:revision>106</cp:revision>
  <dcterms:created xsi:type="dcterms:W3CDTF">2017-06-15T12:22:38Z</dcterms:created>
  <dcterms:modified xsi:type="dcterms:W3CDTF">2017-06-17T09:56:32Z</dcterms:modified>
</cp:coreProperties>
</file>